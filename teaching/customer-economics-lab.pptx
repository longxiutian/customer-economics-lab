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slides/charts/chart4.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5.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07e5bee66564d36" /><Relationship Type="http://schemas.openxmlformats.org/officeDocument/2006/relationships/extended-properties" Target="/docProps/app.xml" Id="R1c7c9030b6c248ba" /><Relationship Type="http://schemas.openxmlformats.org/officeDocument/2006/relationships/officeDocument" Target="/ppt/presentation.xml" Id="R4fc82788999d4792" /></Relationships>
</file>

<file path=ppt/presentation.xml><?xml version="1.0" encoding="utf-8"?>
<p:presentation xmlns:p="http://schemas.openxmlformats.org/presentationml/2006/main">
  <p:sldMasterIdLst>
    <p:sldMasterId xmlns:r="http://schemas.openxmlformats.org/officeDocument/2006/relationships" id="2147483648" r:id="R01334c59999141c2"/>
  </p:sldMasterIdLst>
  <p:notesMasterIdLst>
    <p:notesMasterId xmlns:r="http://schemas.openxmlformats.org/officeDocument/2006/relationships" r:id="R9139feddb0304648"/>
  </p:notesMasterIdLst>
  <p:sldIdLst>
    <p:sldId xmlns:r="http://schemas.openxmlformats.org/officeDocument/2006/relationships" id="256" r:id="Rbef2db27256948f2"/>
    <p:sldId xmlns:r="http://schemas.openxmlformats.org/officeDocument/2006/relationships" id="257" r:id="Reb37945ed94645a3"/>
    <p:sldId xmlns:r="http://schemas.openxmlformats.org/officeDocument/2006/relationships" id="258" r:id="R0a6ae2b91ee446ba"/>
    <p:sldId xmlns:r="http://schemas.openxmlformats.org/officeDocument/2006/relationships" id="259" r:id="R70aab04b931b4bc5"/>
    <p:sldId xmlns:r="http://schemas.openxmlformats.org/officeDocument/2006/relationships" id="260" r:id="R19f9744029ed4c4c"/>
    <p:sldId xmlns:r="http://schemas.openxmlformats.org/officeDocument/2006/relationships" id="261" r:id="R4870dc90deff4358"/>
    <p:sldId xmlns:r="http://schemas.openxmlformats.org/officeDocument/2006/relationships" id="262" r:id="R0726eb9fab134477"/>
    <p:sldId xmlns:r="http://schemas.openxmlformats.org/officeDocument/2006/relationships" id="263" r:id="R549a046501d74faa"/>
    <p:sldId xmlns:r="http://schemas.openxmlformats.org/officeDocument/2006/relationships" id="264" r:id="Rbd8e80e7c4df4813"/>
    <p:sldId xmlns:r="http://schemas.openxmlformats.org/officeDocument/2006/relationships" id="265" r:id="Rdd4b88e1cb4b4408"/>
    <p:sldId xmlns:r="http://schemas.openxmlformats.org/officeDocument/2006/relationships" id="266" r:id="R8a5df0145f4442b6"/>
    <p:sldId xmlns:r="http://schemas.openxmlformats.org/officeDocument/2006/relationships" id="267" r:id="R16c77cfda388455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7e82c5fa9954a1c" /><Relationship Type="http://schemas.openxmlformats.org/officeDocument/2006/relationships/slideMaster" Target="/ppt/slideMasters/slideMaster1.xml" Id="R01334c59999141c2" /><Relationship Type="http://schemas.openxmlformats.org/officeDocument/2006/relationships/notesMaster" Target="/ppt/notesMasters/notesMaster1.xml" Id="R9139feddb0304648" /><Relationship Type="http://schemas.openxmlformats.org/officeDocument/2006/relationships/presProps" Target="/ppt/presProps.xml" Id="Rf0a1c351de504be3" /><Relationship Type="http://schemas.openxmlformats.org/officeDocument/2006/relationships/tableStyles" Target="/ppt/tableStyles.xml" Id="Rb1858890fecd4a33" /><Relationship Type="http://schemas.openxmlformats.org/officeDocument/2006/relationships/slide" Target="/ppt/slides/slide1.xml" Id="Rbef2db27256948f2" /><Relationship Type="http://schemas.openxmlformats.org/officeDocument/2006/relationships/slide" Target="/ppt/slides/slide2.xml" Id="Reb37945ed94645a3" /><Relationship Type="http://schemas.openxmlformats.org/officeDocument/2006/relationships/slide" Target="/ppt/slides/slide3.xml" Id="R0a6ae2b91ee446ba" /><Relationship Type="http://schemas.openxmlformats.org/officeDocument/2006/relationships/slide" Target="/ppt/slides/slide4.xml" Id="R70aab04b931b4bc5" /><Relationship Type="http://schemas.openxmlformats.org/officeDocument/2006/relationships/slide" Target="/ppt/slides/slide5.xml" Id="R19f9744029ed4c4c" /><Relationship Type="http://schemas.openxmlformats.org/officeDocument/2006/relationships/slide" Target="/ppt/slides/slide6.xml" Id="R4870dc90deff4358" /><Relationship Type="http://schemas.openxmlformats.org/officeDocument/2006/relationships/slide" Target="/ppt/slides/slide7.xml" Id="R0726eb9fab134477" /><Relationship Type="http://schemas.openxmlformats.org/officeDocument/2006/relationships/slide" Target="/ppt/slides/slide8.xml" Id="R549a046501d74faa" /><Relationship Type="http://schemas.openxmlformats.org/officeDocument/2006/relationships/slide" Target="/ppt/slides/slide9.xml" Id="Rbd8e80e7c4df4813" /><Relationship Type="http://schemas.openxmlformats.org/officeDocument/2006/relationships/slide" Target="/ppt/slides/slide10.xml" Id="Rdd4b88e1cb4b4408" /><Relationship Type="http://schemas.openxmlformats.org/officeDocument/2006/relationships/slide" Target="/ppt/slides/slide11.xml" Id="R8a5df0145f4442b6" /><Relationship Type="http://schemas.openxmlformats.org/officeDocument/2006/relationships/slide" Target="/ppt/slides/slide12.xml" Id="R16c77cfda388455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1be99e711f94ec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bb758ff04714e48" /><Relationship Type="http://schemas.openxmlformats.org/officeDocument/2006/relationships/notesMaster" Target="/ppt/notesMasters/notesMaster1.xml" Id="Rd17a6277853f4ebd" /></Relationships>
</file>

<file path=ppt/notesSlides/_rels/notesSlide2.xml.rels>&#65279;<?xml version="1.0" encoding="utf-8"?><Relationships xmlns="http://schemas.openxmlformats.org/package/2006/relationships"><Relationship Type="http://schemas.openxmlformats.org/officeDocument/2006/relationships/slide" Target="/ppt/slides/slide2.xml" Id="Re0a37647112442cd" /><Relationship Type="http://schemas.openxmlformats.org/officeDocument/2006/relationships/notesMaster" Target="/ppt/notesMasters/notesMaster1.xml" Id="R00b990601d424e58" /></Relationships>
</file>

<file path=ppt/notesSlides/_rels/notesSlide3.xml.rels>&#65279;<?xml version="1.0" encoding="utf-8"?><Relationships xmlns="http://schemas.openxmlformats.org/package/2006/relationships"><Relationship Type="http://schemas.openxmlformats.org/officeDocument/2006/relationships/slide" Target="/ppt/slides/slide3.xml" Id="R304c3d2bdbbe400a" /><Relationship Type="http://schemas.openxmlformats.org/officeDocument/2006/relationships/notesMaster" Target="/ppt/notesMasters/notesMaster1.xml" Id="Rf1ac4d35208e4ec0" /></Relationships>
</file>

<file path=ppt/notesSlides/_rels/notesSlide4.xml.rels>&#65279;<?xml version="1.0" encoding="utf-8"?><Relationships xmlns="http://schemas.openxmlformats.org/package/2006/relationships"><Relationship Type="http://schemas.openxmlformats.org/officeDocument/2006/relationships/slide" Target="/ppt/slides/slide4.xml" Id="Ra9ed3f71398444e2" /><Relationship Type="http://schemas.openxmlformats.org/officeDocument/2006/relationships/notesMaster" Target="/ppt/notesMasters/notesMaster1.xml" Id="R80ae84319d0b4cd9" /></Relationships>
</file>

<file path=ppt/notesSlides/_rels/notesSlide5.xml.rels>&#65279;<?xml version="1.0" encoding="utf-8"?><Relationships xmlns="http://schemas.openxmlformats.org/package/2006/relationships"><Relationship Type="http://schemas.openxmlformats.org/officeDocument/2006/relationships/slide" Target="/ppt/slides/slide5.xml" Id="Rc8816ca0df15476a" /><Relationship Type="http://schemas.openxmlformats.org/officeDocument/2006/relationships/notesMaster" Target="/ppt/notesMasters/notesMaster1.xml" Id="R7f24d2247e964a3c" /></Relationships>
</file>

<file path=ppt/notesSlides/_rels/notesSlide6.xml.rels>&#65279;<?xml version="1.0" encoding="utf-8"?><Relationships xmlns="http://schemas.openxmlformats.org/package/2006/relationships"><Relationship Type="http://schemas.openxmlformats.org/officeDocument/2006/relationships/slide" Target="/ppt/slides/slide6.xml" Id="R5312ff67d2764a9b" /><Relationship Type="http://schemas.openxmlformats.org/officeDocument/2006/relationships/notesMaster" Target="/ppt/notesMasters/notesMaster1.xml" Id="R80d6513218a54ab8" /></Relationships>
</file>

<file path=ppt/notesSlides/_rels/notesSlide7.xml.rels>&#65279;<?xml version="1.0" encoding="utf-8"?><Relationships xmlns="http://schemas.openxmlformats.org/package/2006/relationships"><Relationship Type="http://schemas.openxmlformats.org/officeDocument/2006/relationships/slide" Target="/ppt/slides/slide7.xml" Id="R5dfb903876b84a9d" /><Relationship Type="http://schemas.openxmlformats.org/officeDocument/2006/relationships/notesMaster" Target="/ppt/notesMasters/notesMaster1.xml" Id="R7988598c18694a14" /></Relationships>
</file>

<file path=ppt/notesSlides/_rels/notesSlide8.xml.rels>&#65279;<?xml version="1.0" encoding="utf-8"?><Relationships xmlns="http://schemas.openxmlformats.org/package/2006/relationships"><Relationship Type="http://schemas.openxmlformats.org/officeDocument/2006/relationships/slide" Target="/ppt/slides/slide8.xml" Id="Rf4a2437520744d11" /><Relationship Type="http://schemas.openxmlformats.org/officeDocument/2006/relationships/notesMaster" Target="/ppt/notesMasters/notesMaster1.xml" Id="R2d6fa0317a5a4e99" /></Relationships>
</file>

<file path=ppt/notesSlides/_rels/notesSlide9.xml.rels>&#65279;<?xml version="1.0" encoding="utf-8"?><Relationships xmlns="http://schemas.openxmlformats.org/package/2006/relationships"><Relationship Type="http://schemas.openxmlformats.org/officeDocument/2006/relationships/slide" Target="/ppt/slides/slide9.xml" Id="R87a3b5e0cd8444c3" /><Relationship Type="http://schemas.openxmlformats.org/officeDocument/2006/relationships/notesMaster" Target="/ppt/notesMasters/notesMaster1.xml" Id="R259d7367446d49d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0ab1d5f2c784eb5" /><Relationship Type="http://schemas.openxmlformats.org/officeDocument/2006/relationships/notesMaster" Target="/ppt/notesMasters/notesMaster1.xml" Id="R229426236c0245c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eaaf9b534e74fc9" /><Relationship Type="http://schemas.openxmlformats.org/officeDocument/2006/relationships/notesMaster" Target="/ppt/notesMasters/notesMaster1.xml" Id="R514c8dd9c40245d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56ce988765d418b" /><Relationship Type="http://schemas.openxmlformats.org/officeDocument/2006/relationships/notesMaster" Target="/ppt/notesMasters/notesMaster1.xml" Id="R57f655b3c5d4478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class: complete the frozen Python environment, Node20+, pinned Playwright/Chromium, TeX and model smoke tests. The public ZIP works without Git. Use the bundled executive-report skill and style assets. This lab begins with eight raw CSVs, not a prejoined database. Keep one AI conversation and pause after each stage until the group says next.</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colors identify the teaching task. Labels repeat the color meaning so the deck does not rely on color perception alone.</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80-minute route: setup2; inspect/mapCSV12; customer reasoning10; SQL/cohorts16; charts10; experiment10; model12; report8. Dependencies must be installed before class. These are time budgets, not an invitation to skip a stage automatically.</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Stage1 produces a separate UCV table for every source: Identifiers, Engagement, Relationship, Perception. Every actual field appears once; justify ambiguous operational metadata and leave absent categories empty. In this example, age_band, household_type and region are profile descriptors in Identifiers. primary_need is self-reported before acquisition. The two timestamps are relationship/provenance metadata, not acquisition dates. Open diagrams/ucv-tables.json and source-tables.html. The full ERD retains all fields, SQL types, keys and cardinality; campaign_metadata is explicitly derived. One person links to many cycles, transactions, events and responses. Aggregate campaign spending independently before joining customer outcomes.</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Stage2 group decision, about3minutes. Stated need directly describes the intended onboarding objective, so it is the more defensible starting representation for this design. It does not prove everyone with the same need wants the identical experience, nor establish a causal benefit of tailored onboarding. The two conceptual maps are hypotheses. At stage4 inspect the actual six-month within-group variance; the v2 results must be inspected rather than assuming an old ranking persists. Do not announce a predictive finding before constructing the SQL evidence.</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stage3. Inspect executed.sql and at least one named derived view. The return values are not sufficient: ask the AI to explain why it joins that grain and which assertions protect the money and eligible-person denominators.</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percentage uses the original acquired cohort as denominator. Contractual retention is derived from renewal status; it is not interchangeable with a product event or payment in a particular month. Age0 is the first paid month. Selected observed rows are displayed without interpolation.</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Saved SQL output: tables/cohort_totals.csv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Stage4 group decision, about3minutes. Every panel uses the same retained-share scale and age0–11 axis. Each curve is conditional on one joining cohort, channel and pre-acquisition need. July2025 ends at observed age5; missing future values are gaps, never zeros. At age5, July2025 improves in three cells but search/save_time falls from63.0% to60.7%. Progress is therefore uneven. Distinguish changes within groups from a changing acquisition mix. This is descriptive, not a causal channel effect. The report separately contrasts retained people with retained revenue.</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Saved SQL output: tables/cohort_age_summary.csv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Stage4. All24 monthly joining cohorts appear. Exact SQL cohort layers sum to company totals. Blank pre-acquisition months are displayed as zero because those customers do not yet belong to the firm. This differs from a cohort triangle’s unobserved future ages. Inspect acquisition spending and contribution as separate company series.</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Saved SQL output: tables/company_month.csv</a:t>
            </a:r>
          </a:p>
          <a:p xmlns:a="http://schemas.openxmlformats.org/drawingml/2006/main">
            <a:r>
              <a:t>Saved SQL output: tables/company_totals.csv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Discuss4minutes at stage5. The search/save_time point estimate is$1.161 contribution after media per assigned treatment prospect; partner/build_skill is-$0.3612. Both95% intervals include zero. The experiments measure May1–June1 (31days) and September1–October1 (30days), respectively. These short windows do not determine lifetime campaign profitability when observed cohort cash recovery takes roughly5–6months. Recommend preserving the randomized groups and following their contribution longer, with a prespecified common evaluation horizon and uncertainty, before declaring either campaign a winner or loser. Do not infer incremental payback from cohort accounting payback. Different populations and periods also prevent a direct head-to-head ranking. All randomized prospects, including nonbuyers, stay in the denominator. Forecast buyerLTV is not an experimental lifetime treatment effect.</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Saved SQL output: tables/experiment_effects.csv</a:t>
            </a:r>
          </a:p>
          <a:p xmlns:a="http://schemas.openxmlformats.org/drawingml/2006/main">
            <a:r>
              <a:t>Saved SQL output: tables/experiment_summary.csv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Stage6. Data generation gives every member a persistent theta drawn from a two-component Beta mixture, followed by monthly renewal decisions. It does not redraw theta every month. A temporary March–April2025 service disruption raises churn odds while the underlying propensity persists. The main inference model is hierarchical single-Beta shifted Beta-Geometric (sBG), fitted with four-chain NumPyro NUTS; Gamma positive-revenue model shares the inference workflow. It is deliberately different from the DGP. The separate Orduz benchmark is an actual four-hidden-layer Bayesian neural network fitted with SVI; it is not the main sBG model and must not be described as the DGP. The v2 first-three-age retention holdout MAE is1.1124 customers/cell for the main model,1.1461 for BNN and1.8942 for the naive baseline. Confirm the current output before discussing numbers. Observed contribution is used where available; forecasts extend only unobserved ages of a common12-month valuation horizon. Discount each month-end receipt at1% per month, with age0 discounted once. Net LTV subtracts CAC; cash payback is undiscounted. Model parameters, priors, sampler diagnostics, assumptions, intervals and chronological validation belong in the report appendix. Source adaptation: https://juanitorduz.github.io/revenue_retention_numpyro/; Lee,Fader,Hardie2007 contractual churn model. Model performance does not establish marketing incrementality.</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Saved SQL output: tables/forecast_curve.csv</a:t>
            </a:r>
          </a:p>
          <a:p xmlns:a="http://schemas.openxmlformats.org/drawingml/2006/main">
            <a:r>
              <a:t>Saved SQL output: tables/cohort_valuation.csv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Stage7. Write final_verdict and recommended_action in the same chat; the skill must wait for next between stages. The opening executive summary describes Studio North and states a bounded managerial recommendation before technical methods. Explain the model before presenting its results. The appendix is mandatory: parameters, units, priors, uncertainty, validation, every per-dataset UCV table, source grains/keys, and reproducibility evidence. The public project carries the Source Sans / forest-green / ochre LaTeX style and executive-report skill, so students do not need the instructor’s private skill directory. No Git installation is required. The report must distinguish observed, forecast and experimental evidence. Its figures and tables should not quietly replace a student’s supported judgment.</a:t>
            </a:r>
          </a:p>
          <a:p xmlns:a="http://schemas.openxmlformats.org/drawingml/2006/main">
            <a:r>
              <a:t/>
            </a:r>
          </a:p>
          <a:p xmlns:a="http://schemas.openxmlformats.org/drawingml/2006/main">
            <a:r>
              <a:t>[Sources]</a:t>
            </a:r>
          </a:p>
          <a:p xmlns:a="http://schemas.openxmlformats.org/drawingml/2006/main">
            <a:r>
              <a:t>Original synthetic lab data and original teaching visuals.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10b46a7217a4bc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17b4ac99db1447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2645eaf4bd140d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b31e915da8149c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bfca1f6d79348f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4019d812faf422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7183A9F-797F-4DC9-AEC9-5F94E4E57D3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587CCE4-98FD-4265-99B1-D6A02337545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2FCBBDC-8346-4429-9B09-446F44F9EA3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73658B4-D7B0-4ADF-A445-61D59346D57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45D7EC8-879C-4068-9014-09581910A99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E818029-1CFE-49A3-B41A-3AE9D09E6D6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F0C06AC-7E8D-40E2-9737-22D22F9854F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34B698F-17EA-4AF6-B3FC-99D465569A5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A919B63-9237-4DA0-ACDB-B66AC5EE786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B4DC977-F3EC-442E-B40A-FAF041E2E22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ef657f32972435b" /><Relationship Type="http://schemas.openxmlformats.org/officeDocument/2006/relationships/slideLayout" Target="/ppt/slideLayouts/slideLayout1.xml" Id="Rf1a84f586d8144c8" /><Relationship Type="http://schemas.openxmlformats.org/officeDocument/2006/relationships/slideLayout" Target="/ppt/slideLayouts/slideLayout2.xml" Id="R7202b3c3a1f54c2c" /><Relationship Type="http://schemas.openxmlformats.org/officeDocument/2006/relationships/slideLayout" Target="/ppt/slideLayouts/slideLayout3.xml" Id="R83cecbe8ec034c07" /><Relationship Type="http://schemas.openxmlformats.org/officeDocument/2006/relationships/slideLayout" Target="/ppt/slideLayouts/slideLayout4.xml" Id="R0bf1655a19e54d9c" /><Relationship Type="http://schemas.openxmlformats.org/officeDocument/2006/relationships/slideLayout" Target="/ppt/slideLayouts/slideLayout5.xml" Id="Rf700180f69e54f97" /><Relationship Type="http://schemas.openxmlformats.org/officeDocument/2006/relationships/slideLayout" Target="/ppt/slideLayouts/slideLayout6.xml" Id="Rc1adc8dce47a413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1a84f586d8144c8"/>
    <p:sldLayoutId xmlns:r="http://schemas.openxmlformats.org/officeDocument/2006/relationships" id="2147483650" r:id="R7202b3c3a1f54c2c"/>
    <p:sldLayoutId xmlns:r="http://schemas.openxmlformats.org/officeDocument/2006/relationships" id="2147483651" r:id="R83cecbe8ec034c07"/>
    <p:sldLayoutId xmlns:r="http://schemas.openxmlformats.org/officeDocument/2006/relationships" id="2147483652" r:id="R0bf1655a19e54d9c"/>
    <p:sldLayoutId xmlns:r="http://schemas.openxmlformats.org/officeDocument/2006/relationships" id="2147483653" r:id="Rf700180f69e54f97"/>
    <p:sldLayoutId xmlns:r="http://schemas.openxmlformats.org/officeDocument/2006/relationships" id="2147483654" r:id="Rc1adc8dce47a413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fdbf5b1210c4ec4" /><Relationship Type="http://schemas.openxmlformats.org/officeDocument/2006/relationships/notesSlide" Target="/ppt/notesSlides/notesSlide1.xml" Id="R9a6597e39cff43f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23b90ff45f44806" /><Relationship Type="http://schemas.openxmlformats.org/officeDocument/2006/relationships/notesSlide" Target="/ppt/notesSlides/notesSlide2.xml" Id="Rdc8d13e969a0480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8ccb7ff1368496f" /><Relationship Type="http://schemas.openxmlformats.org/officeDocument/2006/relationships/notesSlide" Target="/ppt/notesSlides/notesSlide3.xml" Id="Rac369adf13a3489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8d2cfbfc04d4649" /><Relationship Type="http://schemas.openxmlformats.org/officeDocument/2006/relationships/notesSlide" Target="/ppt/notesSlides/notesSlide4.xml" Id="R26110a3d20b5495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c3ca591ba1a47fb" /><Relationship Type="http://schemas.openxmlformats.org/officeDocument/2006/relationships/notesSlide" Target="/ppt/notesSlides/notesSlide5.xml" Id="R443f0f061b7648f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715a859e33d4af4" /><Relationship Type="http://schemas.openxmlformats.org/officeDocument/2006/relationships/notesSlide" Target="/ppt/notesSlides/notesSlide6.xml" Id="R23598174de464c0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a3851b93c9f4981" /><Relationship Type="http://schemas.openxmlformats.org/officeDocument/2006/relationships/notesSlide" Target="/ppt/notesSlides/notesSlide7.xml" Id="Rcf8419dd1aa64ac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189fe5a97214a97" /><Relationship Type="http://schemas.openxmlformats.org/officeDocument/2006/relationships/chart" Target="/ppt/slides/charts/chart1.xml" Id="R0c5128facb2947be" /><Relationship Type="http://schemas.openxmlformats.org/officeDocument/2006/relationships/chart" Target="/ppt/slides/charts/chart2.xml" Id="R3882b08676814721" /><Relationship Type="http://schemas.openxmlformats.org/officeDocument/2006/relationships/chart" Target="/ppt/slides/charts/chart3.xml" Id="R4cceba9dd3744065" /><Relationship Type="http://schemas.openxmlformats.org/officeDocument/2006/relationships/chart" Target="/ppt/slides/charts/chart4.xml" Id="R419cce86652d4e1a" /><Relationship Type="http://schemas.openxmlformats.org/officeDocument/2006/relationships/notesSlide" Target="/ppt/notesSlides/notesSlide8.xml" Id="R6bd4446a1069481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52a06b7e0d049ed" /><Relationship Type="http://schemas.openxmlformats.org/officeDocument/2006/relationships/chart" Target="/ppt/slides/charts/chart5.xml" Id="R5bbc165a84a84afc" /><Relationship Type="http://schemas.openxmlformats.org/officeDocument/2006/relationships/notesSlide" Target="/ppt/notesSlides/notesSlide9.xml" Id="Re1f5b92481d14f1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7647aa783934876" /><Relationship Type="http://schemas.openxmlformats.org/officeDocument/2006/relationships/notesSlide" Target="/ppt/notesSlides/notesSlide10.xml" Id="Rfc7fe648c1ad428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077e8ffcc6448a6" /><Relationship Type="http://schemas.openxmlformats.org/officeDocument/2006/relationships/notesSlide" Target="/ppt/notesSlides/notesSlide11.xml" Id="Re334ee85c8d4403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b5be8e0af8443e7" /><Relationship Type="http://schemas.openxmlformats.org/officeDocument/2006/relationships/notesSlide" Target="/ppt/notesSlides/notesSlide12.xml" Id="Rfbae5f29bdc6481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575" b="1">
                <a:solidFill>
                  <a:srgbClr val="172D3C"/>
                </a:solidFill>
                <a:latin typeface="Arial"/>
                <a:ea typeface="Arial"/>
                <a:cs typeface="Arial"/>
              </a:rPr>
              <a:t>search / save time</a:t>
            </a:r>
          </a:p>
        </c:rich>
      </c:tx>
      <c:overlay val="0"/>
      <c:txPr>
        <a:bodyPr xmlns:a="http://schemas.openxmlformats.org/drawingml/2006/main" anchorCtr="1"/>
        <a:lstStyle xmlns:a="http://schemas.openxmlformats.org/drawingml/2006/main"/>
        <a:p xmlns:a="http://schemas.openxmlformats.org/drawingml/2006/main">
          <a:pPr>
            <a:defRPr sz="1575" b="1">
              <a:solidFill>
                <a:srgbClr val="172D3C"/>
              </a:solidFill>
              <a:latin typeface="Arial"/>
              <a:ea typeface="Arial"/>
              <a:cs typeface="Arial"/>
            </a:defRPr>
          </a:pPr>
        </a:p>
      </c:txPr>
    </c:title>
    <c:plotArea>
      <c:lineChart>
        <c:grouping val="standard"/>
        <c:varyColors val="0"/>
        <c:ser>
          <c:idx val="0"/>
          <c:order val="0"/>
          <c:tx>
            <c:v>2024-01</c:v>
          </c:tx>
          <c:spPr>
            <a:ln xmlns:a="http://schemas.openxmlformats.org/drawingml/2006/main" w="19050">
              <a:solidFill>
                <a:srgbClr val="687780"/>
              </a:solidFill>
            </a:ln>
          </c:spPr>
          <c:marker>
            <c:symbol val="circle"/>
            <c:size val="4"/>
            <c:spPr>
              <a:solidFill xmlns:a="http://schemas.openxmlformats.org/drawingml/2006/main">
                <a:srgbClr val="687780"/>
              </a:solidFill>
            </c:spPr>
          </c:marker>
          <c:cat>
            <c:numRef>
              <c:f>'Chart Data'!$A$2:$A$13</c:f>
              <c:numCache>
                <c:formatCode>0</c:formatCode>
                <c:ptCount val="12"/>
                <c:pt idx="0">
                  <c:v>0</c:v>
                </c:pt>
                <c:pt idx="1">
                  <c:v>1</c:v>
                </c:pt>
                <c:pt idx="2">
                  <c:v>2</c:v>
                </c:pt>
                <c:pt idx="3">
                  <c:v>3</c:v>
                </c:pt>
                <c:pt idx="4">
                  <c:v>4</c:v>
                </c:pt>
                <c:pt idx="5">
                  <c:v>5</c:v>
                </c:pt>
                <c:pt idx="6">
                  <c:v>6</c:v>
                </c:pt>
                <c:pt idx="7">
                  <c:v>7</c:v>
                </c:pt>
                <c:pt idx="8">
                  <c:v>8</c:v>
                </c:pt>
                <c:pt idx="9">
                  <c:v>9</c:v>
                </c:pt>
                <c:pt idx="10">
                  <c:v>10</c:v>
                </c:pt>
                <c:pt idx="11">
                  <c:v>11</c:v>
                </c:pt>
              </c:numCache>
            </c:numRef>
          </c:cat>
          <c:val>
            <c:numRef>
              <c:f>'Chart Data'!$B$2:$B$13</c:f>
              <c:numCache>
                <c:formatCode>0%</c:formatCode>
                <c:ptCount val="12"/>
                <c:pt idx="0">
                  <c:v>1</c:v>
                </c:pt>
                <c:pt idx="1">
                  <c:v>0.891304347826</c:v>
                </c:pt>
                <c:pt idx="2">
                  <c:v>0.782608695652</c:v>
                </c:pt>
                <c:pt idx="3">
                  <c:v>0.760869565217</c:v>
                </c:pt>
                <c:pt idx="4">
                  <c:v>0.673913043478</c:v>
                </c:pt>
                <c:pt idx="5">
                  <c:v>0.630434782609</c:v>
                </c:pt>
                <c:pt idx="6">
                  <c:v>0.586956521739</c:v>
                </c:pt>
                <c:pt idx="7">
                  <c:v>0.54347826087</c:v>
                </c:pt>
                <c:pt idx="8">
                  <c:v>0.478260869565</c:v>
                </c:pt>
                <c:pt idx="9">
                  <c:v>0.45652173913</c:v>
                </c:pt>
                <c:pt idx="10">
                  <c:v>0.45652173913</c:v>
                </c:pt>
                <c:pt idx="11">
                  <c:v>0.434782608696</c:v>
                </c:pt>
              </c:numCache>
            </c:numRef>
          </c:val>
          <c:smooth val="0"/>
        </c:ser>
        <c:ser>
          <c:idx val="1"/>
          <c:order val="1"/>
          <c:tx>
            <c:v>2025-01</c:v>
          </c:tx>
          <c:spPr>
            <a:ln xmlns:a="http://schemas.openxmlformats.org/drawingml/2006/main" w="19050">
              <a:solidFill>
                <a:srgbClr val="B78431"/>
              </a:solidFill>
            </a:ln>
          </c:spPr>
          <c:marker>
            <c:symbol val="circle"/>
            <c:size val="4"/>
            <c:spPr>
              <a:solidFill xmlns:a="http://schemas.openxmlformats.org/drawingml/2006/main">
                <a:srgbClr val="B78431"/>
              </a:solidFill>
            </c:spPr>
          </c:marker>
          <c:cat>
            <c:numRef>
              <c:f>'Chart Data'!$C$2:$C$13</c:f>
              <c:numCache>
                <c:formatCode>0</c:formatCode>
                <c:ptCount val="12"/>
                <c:pt idx="0">
                  <c:v>0</c:v>
                </c:pt>
                <c:pt idx="1">
                  <c:v>1</c:v>
                </c:pt>
                <c:pt idx="2">
                  <c:v>2</c:v>
                </c:pt>
                <c:pt idx="3">
                  <c:v>3</c:v>
                </c:pt>
                <c:pt idx="4">
                  <c:v>4</c:v>
                </c:pt>
                <c:pt idx="5">
                  <c:v>5</c:v>
                </c:pt>
                <c:pt idx="6">
                  <c:v>6</c:v>
                </c:pt>
                <c:pt idx="7">
                  <c:v>7</c:v>
                </c:pt>
                <c:pt idx="8">
                  <c:v>8</c:v>
                </c:pt>
                <c:pt idx="9">
                  <c:v>9</c:v>
                </c:pt>
                <c:pt idx="10">
                  <c:v>10</c:v>
                </c:pt>
                <c:pt idx="11">
                  <c:v>11</c:v>
                </c:pt>
              </c:numCache>
            </c:numRef>
          </c:cat>
          <c:val>
            <c:numRef>
              <c:f>'Chart Data'!$D$2:$D$13</c:f>
              <c:numCache>
                <c:formatCode>0%</c:formatCode>
                <c:ptCount val="12"/>
                <c:pt idx="0">
                  <c:v>1</c:v>
                </c:pt>
                <c:pt idx="1">
                  <c:v>0.8</c:v>
                </c:pt>
                <c:pt idx="2">
                  <c:v>0.74</c:v>
                </c:pt>
                <c:pt idx="3">
                  <c:v>0.66</c:v>
                </c:pt>
                <c:pt idx="4">
                  <c:v>0.62</c:v>
                </c:pt>
                <c:pt idx="5">
                  <c:v>0.54</c:v>
                </c:pt>
                <c:pt idx="6">
                  <c:v>0.52</c:v>
                </c:pt>
                <c:pt idx="7">
                  <c:v>0.52</c:v>
                </c:pt>
                <c:pt idx="8">
                  <c:v>0.52</c:v>
                </c:pt>
                <c:pt idx="9">
                  <c:v>0.5</c:v>
                </c:pt>
                <c:pt idx="10">
                  <c:v>0.5</c:v>
                </c:pt>
                <c:pt idx="11">
                  <c:v>0.48</c:v>
                </c:pt>
              </c:numCache>
            </c:numRef>
          </c:val>
          <c:smooth val="0"/>
        </c:ser>
        <c:ser>
          <c:idx val="2"/>
          <c:order val="2"/>
          <c:tx>
            <c:v>2025-07</c:v>
          </c:tx>
          <c:spPr>
            <a:ln xmlns:a="http://schemas.openxmlformats.org/drawingml/2006/main" w="19050">
              <a:solidFill>
                <a:srgbClr val="087F8C"/>
              </a:solidFill>
            </a:ln>
          </c:spPr>
          <c:marker>
            <c:symbol val="circle"/>
            <c:size val="4"/>
            <c:spPr>
              <a:solidFill xmlns:a="http://schemas.openxmlformats.org/drawingml/2006/main">
                <a:srgbClr val="087F8C"/>
              </a:solidFill>
            </c:spPr>
          </c:marker>
          <c:cat>
            <c:numRef>
              <c:f>'Chart Data'!$E$2:$E$7</c:f>
              <c:numCache>
                <c:formatCode>0</c:formatCode>
                <c:ptCount val="6"/>
                <c:pt idx="0">
                  <c:v>0</c:v>
                </c:pt>
                <c:pt idx="1">
                  <c:v>1</c:v>
                </c:pt>
                <c:pt idx="2">
                  <c:v>2</c:v>
                </c:pt>
                <c:pt idx="3">
                  <c:v>3</c:v>
                </c:pt>
                <c:pt idx="4">
                  <c:v>4</c:v>
                </c:pt>
                <c:pt idx="5">
                  <c:v>5</c:v>
                </c:pt>
              </c:numCache>
            </c:numRef>
          </c:cat>
          <c:val>
            <c:numRef>
              <c:f>'Chart Data'!$F$2:$F$7</c:f>
              <c:numCache>
                <c:formatCode>0%</c:formatCode>
                <c:ptCount val="6"/>
                <c:pt idx="0">
                  <c:v>1</c:v>
                </c:pt>
                <c:pt idx="1">
                  <c:v>0.83606557377</c:v>
                </c:pt>
                <c:pt idx="2">
                  <c:v>0.770491803279</c:v>
                </c:pt>
                <c:pt idx="3">
                  <c:v>0.72131147541</c:v>
                </c:pt>
                <c:pt idx="4">
                  <c:v>0.622950819672</c:v>
                </c:pt>
                <c:pt idx="5">
                  <c:v>0.606557377049</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Age</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Retained</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Arial"/>
                <a:ea typeface="Arial"/>
                <a:cs typeface="Arial"/>
              </a:defRPr>
            </a:pPr>
          </a:p>
        </c:txPr>
        <c:crossAx val="48650112"/>
        <c:crossBetween val="between"/>
        <c:majorUnit val="0.5"/>
      </c:valAx>
    </c:plotArea>
    <c:plotVisOnly val="1"/>
    <c:dispBlanksAs val="gap"/>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575" b="1">
                <a:solidFill>
                  <a:srgbClr val="172D3C"/>
                </a:solidFill>
                <a:latin typeface="Arial"/>
                <a:ea typeface="Arial"/>
                <a:cs typeface="Arial"/>
              </a:rPr>
              <a:t>search / build skill</a:t>
            </a:r>
          </a:p>
        </c:rich>
      </c:tx>
      <c:overlay val="0"/>
      <c:txPr>
        <a:bodyPr xmlns:a="http://schemas.openxmlformats.org/drawingml/2006/main" anchorCtr="1"/>
        <a:lstStyle xmlns:a="http://schemas.openxmlformats.org/drawingml/2006/main"/>
        <a:p xmlns:a="http://schemas.openxmlformats.org/drawingml/2006/main">
          <a:pPr>
            <a:defRPr sz="1575" b="1">
              <a:solidFill>
                <a:srgbClr val="172D3C"/>
              </a:solidFill>
              <a:latin typeface="Arial"/>
              <a:ea typeface="Arial"/>
              <a:cs typeface="Arial"/>
            </a:defRPr>
          </a:pPr>
        </a:p>
      </c:txPr>
    </c:title>
    <c:plotArea>
      <c:lineChart>
        <c:grouping val="standard"/>
        <c:varyColors val="0"/>
        <c:ser>
          <c:idx val="0"/>
          <c:order val="0"/>
          <c:tx>
            <c:v>2024-01</c:v>
          </c:tx>
          <c:spPr>
            <a:ln xmlns:a="http://schemas.openxmlformats.org/drawingml/2006/main" w="19050">
              <a:solidFill>
                <a:srgbClr val="687780"/>
              </a:solidFill>
            </a:ln>
          </c:spPr>
          <c:marker>
            <c:symbol val="circle"/>
            <c:size val="4"/>
            <c:spPr>
              <a:solidFill xmlns:a="http://schemas.openxmlformats.org/drawingml/2006/main">
                <a:srgbClr val="687780"/>
              </a:solidFill>
            </c:spPr>
          </c:marker>
          <c:cat>
            <c:numRef>
              <c:f>'Chart Data'!$A$2:$A$13</c:f>
              <c:numCache>
                <c:formatCode>0</c:formatCode>
                <c:ptCount val="12"/>
                <c:pt idx="0">
                  <c:v>0</c:v>
                </c:pt>
                <c:pt idx="1">
                  <c:v>1</c:v>
                </c:pt>
                <c:pt idx="2">
                  <c:v>2</c:v>
                </c:pt>
                <c:pt idx="3">
                  <c:v>3</c:v>
                </c:pt>
                <c:pt idx="4">
                  <c:v>4</c:v>
                </c:pt>
                <c:pt idx="5">
                  <c:v>5</c:v>
                </c:pt>
                <c:pt idx="6">
                  <c:v>6</c:v>
                </c:pt>
                <c:pt idx="7">
                  <c:v>7</c:v>
                </c:pt>
                <c:pt idx="8">
                  <c:v>8</c:v>
                </c:pt>
                <c:pt idx="9">
                  <c:v>9</c:v>
                </c:pt>
                <c:pt idx="10">
                  <c:v>10</c:v>
                </c:pt>
                <c:pt idx="11">
                  <c:v>11</c:v>
                </c:pt>
              </c:numCache>
            </c:numRef>
          </c:cat>
          <c:val>
            <c:numRef>
              <c:f>'Chart Data'!$B$2:$B$13</c:f>
              <c:numCache>
                <c:formatCode>0%</c:formatCode>
                <c:ptCount val="12"/>
                <c:pt idx="0">
                  <c:v>1</c:v>
                </c:pt>
                <c:pt idx="1">
                  <c:v>0.871794871795</c:v>
                </c:pt>
                <c:pt idx="2">
                  <c:v>0.846153846154</c:v>
                </c:pt>
                <c:pt idx="3">
                  <c:v>0.769230769231</c:v>
                </c:pt>
                <c:pt idx="4">
                  <c:v>0.769230769231</c:v>
                </c:pt>
                <c:pt idx="5">
                  <c:v>0.717948717949</c:v>
                </c:pt>
                <c:pt idx="6">
                  <c:v>0.692307692308</c:v>
                </c:pt>
                <c:pt idx="7">
                  <c:v>0.666666666667</c:v>
                </c:pt>
                <c:pt idx="8">
                  <c:v>0.564102564103</c:v>
                </c:pt>
                <c:pt idx="9">
                  <c:v>0.564102564103</c:v>
                </c:pt>
                <c:pt idx="10">
                  <c:v>0.512820512821</c:v>
                </c:pt>
                <c:pt idx="11">
                  <c:v>0.512820512821</c:v>
                </c:pt>
              </c:numCache>
            </c:numRef>
          </c:val>
          <c:smooth val="0"/>
        </c:ser>
        <c:ser>
          <c:idx val="1"/>
          <c:order val="1"/>
          <c:tx>
            <c:v>2025-01</c:v>
          </c:tx>
          <c:spPr>
            <a:ln xmlns:a="http://schemas.openxmlformats.org/drawingml/2006/main" w="19050">
              <a:solidFill>
                <a:srgbClr val="B78431"/>
              </a:solidFill>
            </a:ln>
          </c:spPr>
          <c:marker>
            <c:symbol val="circle"/>
            <c:size val="4"/>
            <c:spPr>
              <a:solidFill xmlns:a="http://schemas.openxmlformats.org/drawingml/2006/main">
                <a:srgbClr val="B78431"/>
              </a:solidFill>
            </c:spPr>
          </c:marker>
          <c:cat>
            <c:numRef>
              <c:f>'Chart Data'!$C$2:$C$13</c:f>
              <c:numCache>
                <c:formatCode>0</c:formatCode>
                <c:ptCount val="12"/>
                <c:pt idx="0">
                  <c:v>0</c:v>
                </c:pt>
                <c:pt idx="1">
                  <c:v>1</c:v>
                </c:pt>
                <c:pt idx="2">
                  <c:v>2</c:v>
                </c:pt>
                <c:pt idx="3">
                  <c:v>3</c:v>
                </c:pt>
                <c:pt idx="4">
                  <c:v>4</c:v>
                </c:pt>
                <c:pt idx="5">
                  <c:v>5</c:v>
                </c:pt>
                <c:pt idx="6">
                  <c:v>6</c:v>
                </c:pt>
                <c:pt idx="7">
                  <c:v>7</c:v>
                </c:pt>
                <c:pt idx="8">
                  <c:v>8</c:v>
                </c:pt>
                <c:pt idx="9">
                  <c:v>9</c:v>
                </c:pt>
                <c:pt idx="10">
                  <c:v>10</c:v>
                </c:pt>
                <c:pt idx="11">
                  <c:v>11</c:v>
                </c:pt>
              </c:numCache>
            </c:numRef>
          </c:cat>
          <c:val>
            <c:numRef>
              <c:f>'Chart Data'!$D$2:$D$13</c:f>
              <c:numCache>
                <c:formatCode>0%</c:formatCode>
                <c:ptCount val="12"/>
                <c:pt idx="0">
                  <c:v>1</c:v>
                </c:pt>
                <c:pt idx="1">
                  <c:v>0.829787234043</c:v>
                </c:pt>
                <c:pt idx="2">
                  <c:v>0.787234042553</c:v>
                </c:pt>
                <c:pt idx="3">
                  <c:v>0.744680851064</c:v>
                </c:pt>
                <c:pt idx="4">
                  <c:v>0.68085106383</c:v>
                </c:pt>
                <c:pt idx="5">
                  <c:v>0.617021276596</c:v>
                </c:pt>
                <c:pt idx="6">
                  <c:v>0.574468085106</c:v>
                </c:pt>
                <c:pt idx="7">
                  <c:v>0.574468085106</c:v>
                </c:pt>
                <c:pt idx="8">
                  <c:v>0.553191489362</c:v>
                </c:pt>
                <c:pt idx="9">
                  <c:v>0.510638297872</c:v>
                </c:pt>
                <c:pt idx="10">
                  <c:v>0.489361702128</c:v>
                </c:pt>
                <c:pt idx="11">
                  <c:v>0.468085106383</c:v>
                </c:pt>
              </c:numCache>
            </c:numRef>
          </c:val>
          <c:smooth val="0"/>
        </c:ser>
        <c:ser>
          <c:idx val="2"/>
          <c:order val="2"/>
          <c:tx>
            <c:v>2025-07</c:v>
          </c:tx>
          <c:spPr>
            <a:ln xmlns:a="http://schemas.openxmlformats.org/drawingml/2006/main" w="19050">
              <a:solidFill>
                <a:srgbClr val="087F8C"/>
              </a:solidFill>
            </a:ln>
          </c:spPr>
          <c:marker>
            <c:symbol val="circle"/>
            <c:size val="4"/>
            <c:spPr>
              <a:solidFill xmlns:a="http://schemas.openxmlformats.org/drawingml/2006/main">
                <a:srgbClr val="087F8C"/>
              </a:solidFill>
            </c:spPr>
          </c:marker>
          <c:cat>
            <c:numRef>
              <c:f>'Chart Data'!$E$2:$E$7</c:f>
              <c:numCache>
                <c:formatCode>0</c:formatCode>
                <c:ptCount val="6"/>
                <c:pt idx="0">
                  <c:v>0</c:v>
                </c:pt>
                <c:pt idx="1">
                  <c:v>1</c:v>
                </c:pt>
                <c:pt idx="2">
                  <c:v>2</c:v>
                </c:pt>
                <c:pt idx="3">
                  <c:v>3</c:v>
                </c:pt>
                <c:pt idx="4">
                  <c:v>4</c:v>
                </c:pt>
                <c:pt idx="5">
                  <c:v>5</c:v>
                </c:pt>
              </c:numCache>
            </c:numRef>
          </c:cat>
          <c:val>
            <c:numRef>
              <c:f>'Chart Data'!$F$2:$F$7</c:f>
              <c:numCache>
                <c:formatCode>0%</c:formatCode>
                <c:ptCount val="6"/>
                <c:pt idx="0">
                  <c:v>1</c:v>
                </c:pt>
                <c:pt idx="1">
                  <c:v>0.918032786885</c:v>
                </c:pt>
                <c:pt idx="2">
                  <c:v>0.868852459016</c:v>
                </c:pt>
                <c:pt idx="3">
                  <c:v>0.786885245902</c:v>
                </c:pt>
                <c:pt idx="4">
                  <c:v>0.754098360656</c:v>
                </c:pt>
                <c:pt idx="5">
                  <c:v>0.737704918033</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Age</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Retained</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Arial"/>
                <a:ea typeface="Arial"/>
                <a:cs typeface="Arial"/>
              </a:defRPr>
            </a:pPr>
          </a:p>
        </c:txPr>
        <c:crossAx val="48650112"/>
        <c:crossBetween val="between"/>
        <c:majorUnit val="0.5"/>
      </c:valAx>
    </c:plotArea>
    <c:plotVisOnly val="1"/>
    <c:dispBlanksAs val="gap"/>
  </c:chart>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575" b="1">
                <a:solidFill>
                  <a:srgbClr val="172D3C"/>
                </a:solidFill>
                <a:latin typeface="Arial"/>
                <a:ea typeface="Arial"/>
                <a:cs typeface="Arial"/>
              </a:rPr>
              <a:t>partner / save time</a:t>
            </a:r>
          </a:p>
        </c:rich>
      </c:tx>
      <c:overlay val="0"/>
      <c:txPr>
        <a:bodyPr xmlns:a="http://schemas.openxmlformats.org/drawingml/2006/main" anchorCtr="1"/>
        <a:lstStyle xmlns:a="http://schemas.openxmlformats.org/drawingml/2006/main"/>
        <a:p xmlns:a="http://schemas.openxmlformats.org/drawingml/2006/main">
          <a:pPr>
            <a:defRPr sz="1575" b="1">
              <a:solidFill>
                <a:srgbClr val="172D3C"/>
              </a:solidFill>
              <a:latin typeface="Arial"/>
              <a:ea typeface="Arial"/>
              <a:cs typeface="Arial"/>
            </a:defRPr>
          </a:pPr>
        </a:p>
      </c:txPr>
    </c:title>
    <c:plotArea>
      <c:lineChart>
        <c:grouping val="standard"/>
        <c:varyColors val="0"/>
        <c:ser>
          <c:idx val="0"/>
          <c:order val="0"/>
          <c:tx>
            <c:v>2024-01</c:v>
          </c:tx>
          <c:spPr>
            <a:ln xmlns:a="http://schemas.openxmlformats.org/drawingml/2006/main" w="19050">
              <a:solidFill>
                <a:srgbClr val="687780"/>
              </a:solidFill>
            </a:ln>
          </c:spPr>
          <c:marker>
            <c:symbol val="circle"/>
            <c:size val="4"/>
            <c:spPr>
              <a:solidFill xmlns:a="http://schemas.openxmlformats.org/drawingml/2006/main">
                <a:srgbClr val="687780"/>
              </a:solidFill>
            </c:spPr>
          </c:marker>
          <c:cat>
            <c:numRef>
              <c:f>'Chart Data'!$A$2:$A$13</c:f>
              <c:numCache>
                <c:formatCode>0</c:formatCode>
                <c:ptCount val="12"/>
                <c:pt idx="0">
                  <c:v>0</c:v>
                </c:pt>
                <c:pt idx="1">
                  <c:v>1</c:v>
                </c:pt>
                <c:pt idx="2">
                  <c:v>2</c:v>
                </c:pt>
                <c:pt idx="3">
                  <c:v>3</c:v>
                </c:pt>
                <c:pt idx="4">
                  <c:v>4</c:v>
                </c:pt>
                <c:pt idx="5">
                  <c:v>5</c:v>
                </c:pt>
                <c:pt idx="6">
                  <c:v>6</c:v>
                </c:pt>
                <c:pt idx="7">
                  <c:v>7</c:v>
                </c:pt>
                <c:pt idx="8">
                  <c:v>8</c:v>
                </c:pt>
                <c:pt idx="9">
                  <c:v>9</c:v>
                </c:pt>
                <c:pt idx="10">
                  <c:v>10</c:v>
                </c:pt>
                <c:pt idx="11">
                  <c:v>11</c:v>
                </c:pt>
              </c:numCache>
            </c:numRef>
          </c:cat>
          <c:val>
            <c:numRef>
              <c:f>'Chart Data'!$B$2:$B$13</c:f>
              <c:numCache>
                <c:formatCode>0%</c:formatCode>
                <c:ptCount val="12"/>
                <c:pt idx="0">
                  <c:v>1</c:v>
                </c:pt>
                <c:pt idx="1">
                  <c:v>0.848484848485</c:v>
                </c:pt>
                <c:pt idx="2">
                  <c:v>0.69696969697</c:v>
                </c:pt>
                <c:pt idx="3">
                  <c:v>0.666666666667</c:v>
                </c:pt>
                <c:pt idx="4">
                  <c:v>0.636363636364</c:v>
                </c:pt>
                <c:pt idx="5">
                  <c:v>0.606060606061</c:v>
                </c:pt>
                <c:pt idx="6">
                  <c:v>0.545454545455</c:v>
                </c:pt>
                <c:pt idx="7">
                  <c:v>0.515151515152</c:v>
                </c:pt>
                <c:pt idx="8">
                  <c:v>0.515151515152</c:v>
                </c:pt>
                <c:pt idx="9">
                  <c:v>0.484848484848</c:v>
                </c:pt>
                <c:pt idx="10">
                  <c:v>0.484848484848</c:v>
                </c:pt>
                <c:pt idx="11">
                  <c:v>0.454545454545</c:v>
                </c:pt>
              </c:numCache>
            </c:numRef>
          </c:val>
          <c:smooth val="0"/>
        </c:ser>
        <c:ser>
          <c:idx val="1"/>
          <c:order val="1"/>
          <c:tx>
            <c:v>2025-01</c:v>
          </c:tx>
          <c:spPr>
            <a:ln xmlns:a="http://schemas.openxmlformats.org/drawingml/2006/main" w="19050">
              <a:solidFill>
                <a:srgbClr val="B78431"/>
              </a:solidFill>
            </a:ln>
          </c:spPr>
          <c:marker>
            <c:symbol val="circle"/>
            <c:size val="4"/>
            <c:spPr>
              <a:solidFill xmlns:a="http://schemas.openxmlformats.org/drawingml/2006/main">
                <a:srgbClr val="B78431"/>
              </a:solidFill>
            </c:spPr>
          </c:marker>
          <c:cat>
            <c:numRef>
              <c:f>'Chart Data'!$C$2:$C$13</c:f>
              <c:numCache>
                <c:formatCode>0</c:formatCode>
                <c:ptCount val="12"/>
                <c:pt idx="0">
                  <c:v>0</c:v>
                </c:pt>
                <c:pt idx="1">
                  <c:v>1</c:v>
                </c:pt>
                <c:pt idx="2">
                  <c:v>2</c:v>
                </c:pt>
                <c:pt idx="3">
                  <c:v>3</c:v>
                </c:pt>
                <c:pt idx="4">
                  <c:v>4</c:v>
                </c:pt>
                <c:pt idx="5">
                  <c:v>5</c:v>
                </c:pt>
                <c:pt idx="6">
                  <c:v>6</c:v>
                </c:pt>
                <c:pt idx="7">
                  <c:v>7</c:v>
                </c:pt>
                <c:pt idx="8">
                  <c:v>8</c:v>
                </c:pt>
                <c:pt idx="9">
                  <c:v>9</c:v>
                </c:pt>
                <c:pt idx="10">
                  <c:v>10</c:v>
                </c:pt>
                <c:pt idx="11">
                  <c:v>11</c:v>
                </c:pt>
              </c:numCache>
            </c:numRef>
          </c:cat>
          <c:val>
            <c:numRef>
              <c:f>'Chart Data'!$D$2:$D$13</c:f>
              <c:numCache>
                <c:formatCode>0%</c:formatCode>
                <c:ptCount val="12"/>
                <c:pt idx="0">
                  <c:v>1</c:v>
                </c:pt>
                <c:pt idx="1">
                  <c:v>0.883720930233</c:v>
                </c:pt>
                <c:pt idx="2">
                  <c:v>0.767441860465</c:v>
                </c:pt>
                <c:pt idx="3">
                  <c:v>0.697674418605</c:v>
                </c:pt>
                <c:pt idx="4">
                  <c:v>0.581395348837</c:v>
                </c:pt>
                <c:pt idx="5">
                  <c:v>0.581395348837</c:v>
                </c:pt>
                <c:pt idx="6">
                  <c:v>0.558139534884</c:v>
                </c:pt>
                <c:pt idx="7">
                  <c:v>0.558139534884</c:v>
                </c:pt>
                <c:pt idx="8">
                  <c:v>0.558139534884</c:v>
                </c:pt>
                <c:pt idx="9">
                  <c:v>0.558139534884</c:v>
                </c:pt>
                <c:pt idx="10">
                  <c:v>0.558139534884</c:v>
                </c:pt>
                <c:pt idx="11">
                  <c:v>0.53488372093</c:v>
                </c:pt>
              </c:numCache>
            </c:numRef>
          </c:val>
          <c:smooth val="0"/>
        </c:ser>
        <c:ser>
          <c:idx val="2"/>
          <c:order val="2"/>
          <c:tx>
            <c:v>2025-07</c:v>
          </c:tx>
          <c:spPr>
            <a:ln xmlns:a="http://schemas.openxmlformats.org/drawingml/2006/main" w="19050">
              <a:solidFill>
                <a:srgbClr val="087F8C"/>
              </a:solidFill>
            </a:ln>
          </c:spPr>
          <c:marker>
            <c:symbol val="circle"/>
            <c:size val="4"/>
            <c:spPr>
              <a:solidFill xmlns:a="http://schemas.openxmlformats.org/drawingml/2006/main">
                <a:srgbClr val="087F8C"/>
              </a:solidFill>
            </c:spPr>
          </c:marker>
          <c:cat>
            <c:numRef>
              <c:f>'Chart Data'!$E$2:$E$7</c:f>
              <c:numCache>
                <c:formatCode>0</c:formatCode>
                <c:ptCount val="6"/>
                <c:pt idx="0">
                  <c:v>0</c:v>
                </c:pt>
                <c:pt idx="1">
                  <c:v>1</c:v>
                </c:pt>
                <c:pt idx="2">
                  <c:v>2</c:v>
                </c:pt>
                <c:pt idx="3">
                  <c:v>3</c:v>
                </c:pt>
                <c:pt idx="4">
                  <c:v>4</c:v>
                </c:pt>
                <c:pt idx="5">
                  <c:v>5</c:v>
                </c:pt>
              </c:numCache>
            </c:numRef>
          </c:cat>
          <c:val>
            <c:numRef>
              <c:f>'Chart Data'!$F$2:$F$7</c:f>
              <c:numCache>
                <c:formatCode>0%</c:formatCode>
                <c:ptCount val="6"/>
                <c:pt idx="0">
                  <c:v>1</c:v>
                </c:pt>
                <c:pt idx="1">
                  <c:v>0.941176470588</c:v>
                </c:pt>
                <c:pt idx="2">
                  <c:v>0.803921568627</c:v>
                </c:pt>
                <c:pt idx="3">
                  <c:v>0.745098039216</c:v>
                </c:pt>
                <c:pt idx="4">
                  <c:v>0.686274509804</c:v>
                </c:pt>
                <c:pt idx="5">
                  <c:v>0.647058823529</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Age</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Retained</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Arial"/>
                <a:ea typeface="Arial"/>
                <a:cs typeface="Arial"/>
              </a:defRPr>
            </a:pPr>
          </a:p>
        </c:txPr>
        <c:crossAx val="48650112"/>
        <c:crossBetween val="between"/>
        <c:majorUnit val="0.5"/>
      </c:valAx>
    </c:plotArea>
    <c:plotVisOnly val="1"/>
    <c:dispBlanksAs val="gap"/>
  </c:chart>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575" b="1">
                <a:solidFill>
                  <a:srgbClr val="172D3C"/>
                </a:solidFill>
                <a:latin typeface="Arial"/>
                <a:ea typeface="Arial"/>
                <a:cs typeface="Arial"/>
              </a:rPr>
              <a:t>partner / build skill</a:t>
            </a:r>
          </a:p>
        </c:rich>
      </c:tx>
      <c:overlay val="0"/>
      <c:txPr>
        <a:bodyPr xmlns:a="http://schemas.openxmlformats.org/drawingml/2006/main" anchorCtr="1"/>
        <a:lstStyle xmlns:a="http://schemas.openxmlformats.org/drawingml/2006/main"/>
        <a:p xmlns:a="http://schemas.openxmlformats.org/drawingml/2006/main">
          <a:pPr>
            <a:defRPr sz="1575" b="1">
              <a:solidFill>
                <a:srgbClr val="172D3C"/>
              </a:solidFill>
              <a:latin typeface="Arial"/>
              <a:ea typeface="Arial"/>
              <a:cs typeface="Arial"/>
            </a:defRPr>
          </a:pPr>
        </a:p>
      </c:txPr>
    </c:title>
    <c:plotArea>
      <c:lineChart>
        <c:grouping val="standard"/>
        <c:varyColors val="0"/>
        <c:ser>
          <c:idx val="0"/>
          <c:order val="0"/>
          <c:tx>
            <c:v>2024-01</c:v>
          </c:tx>
          <c:spPr>
            <a:ln xmlns:a="http://schemas.openxmlformats.org/drawingml/2006/main" w="19050">
              <a:solidFill>
                <a:srgbClr val="687780"/>
              </a:solidFill>
            </a:ln>
          </c:spPr>
          <c:marker>
            <c:symbol val="circle"/>
            <c:size val="4"/>
            <c:spPr>
              <a:solidFill xmlns:a="http://schemas.openxmlformats.org/drawingml/2006/main">
                <a:srgbClr val="687780"/>
              </a:solidFill>
            </c:spPr>
          </c:marker>
          <c:cat>
            <c:numRef>
              <c:f>'Chart Data'!$A$2:$A$13</c:f>
              <c:numCache>
                <c:formatCode>0</c:formatCode>
                <c:ptCount val="12"/>
                <c:pt idx="0">
                  <c:v>0</c:v>
                </c:pt>
                <c:pt idx="1">
                  <c:v>1</c:v>
                </c:pt>
                <c:pt idx="2">
                  <c:v>2</c:v>
                </c:pt>
                <c:pt idx="3">
                  <c:v>3</c:v>
                </c:pt>
                <c:pt idx="4">
                  <c:v>4</c:v>
                </c:pt>
                <c:pt idx="5">
                  <c:v>5</c:v>
                </c:pt>
                <c:pt idx="6">
                  <c:v>6</c:v>
                </c:pt>
                <c:pt idx="7">
                  <c:v>7</c:v>
                </c:pt>
                <c:pt idx="8">
                  <c:v>8</c:v>
                </c:pt>
                <c:pt idx="9">
                  <c:v>9</c:v>
                </c:pt>
                <c:pt idx="10">
                  <c:v>10</c:v>
                </c:pt>
                <c:pt idx="11">
                  <c:v>11</c:v>
                </c:pt>
              </c:numCache>
            </c:numRef>
          </c:cat>
          <c:val>
            <c:numRef>
              <c:f>'Chart Data'!$B$2:$B$13</c:f>
              <c:numCache>
                <c:formatCode>0%</c:formatCode>
                <c:ptCount val="12"/>
                <c:pt idx="0">
                  <c:v>1</c:v>
                </c:pt>
                <c:pt idx="1">
                  <c:v>0.869565217391</c:v>
                </c:pt>
                <c:pt idx="2">
                  <c:v>0.782608695652</c:v>
                </c:pt>
                <c:pt idx="3">
                  <c:v>0.608695652174</c:v>
                </c:pt>
                <c:pt idx="4">
                  <c:v>0.608695652174</c:v>
                </c:pt>
                <c:pt idx="5">
                  <c:v>0.521739130435</c:v>
                </c:pt>
                <c:pt idx="6">
                  <c:v>0.521739130435</c:v>
                </c:pt>
                <c:pt idx="7">
                  <c:v>0.478260869565</c:v>
                </c:pt>
                <c:pt idx="8">
                  <c:v>0.478260869565</c:v>
                </c:pt>
                <c:pt idx="9">
                  <c:v>0.478260869565</c:v>
                </c:pt>
                <c:pt idx="10">
                  <c:v>0.478260869565</c:v>
                </c:pt>
                <c:pt idx="11">
                  <c:v>0.478260869565</c:v>
                </c:pt>
              </c:numCache>
            </c:numRef>
          </c:val>
          <c:smooth val="0"/>
        </c:ser>
        <c:ser>
          <c:idx val="1"/>
          <c:order val="1"/>
          <c:tx>
            <c:v>2025-01</c:v>
          </c:tx>
          <c:spPr>
            <a:ln xmlns:a="http://schemas.openxmlformats.org/drawingml/2006/main" w="19050">
              <a:solidFill>
                <a:srgbClr val="B78431"/>
              </a:solidFill>
            </a:ln>
          </c:spPr>
          <c:marker>
            <c:symbol val="circle"/>
            <c:size val="4"/>
            <c:spPr>
              <a:solidFill xmlns:a="http://schemas.openxmlformats.org/drawingml/2006/main">
                <a:srgbClr val="B78431"/>
              </a:solidFill>
            </c:spPr>
          </c:marker>
          <c:cat>
            <c:numRef>
              <c:f>'Chart Data'!$C$2:$C$13</c:f>
              <c:numCache>
                <c:formatCode>0</c:formatCode>
                <c:ptCount val="12"/>
                <c:pt idx="0">
                  <c:v>0</c:v>
                </c:pt>
                <c:pt idx="1">
                  <c:v>1</c:v>
                </c:pt>
                <c:pt idx="2">
                  <c:v>2</c:v>
                </c:pt>
                <c:pt idx="3">
                  <c:v>3</c:v>
                </c:pt>
                <c:pt idx="4">
                  <c:v>4</c:v>
                </c:pt>
                <c:pt idx="5">
                  <c:v>5</c:v>
                </c:pt>
                <c:pt idx="6">
                  <c:v>6</c:v>
                </c:pt>
                <c:pt idx="7">
                  <c:v>7</c:v>
                </c:pt>
                <c:pt idx="8">
                  <c:v>8</c:v>
                </c:pt>
                <c:pt idx="9">
                  <c:v>9</c:v>
                </c:pt>
                <c:pt idx="10">
                  <c:v>10</c:v>
                </c:pt>
                <c:pt idx="11">
                  <c:v>11</c:v>
                </c:pt>
              </c:numCache>
            </c:numRef>
          </c:cat>
          <c:val>
            <c:numRef>
              <c:f>'Chart Data'!$D$2:$D$13</c:f>
              <c:numCache>
                <c:formatCode>0%</c:formatCode>
                <c:ptCount val="12"/>
                <c:pt idx="0">
                  <c:v>1</c:v>
                </c:pt>
                <c:pt idx="1">
                  <c:v>0.926829268293</c:v>
                </c:pt>
                <c:pt idx="2">
                  <c:v>0.829268292683</c:v>
                </c:pt>
                <c:pt idx="3">
                  <c:v>0.80487804878</c:v>
                </c:pt>
                <c:pt idx="4">
                  <c:v>0.780487804878</c:v>
                </c:pt>
                <c:pt idx="5">
                  <c:v>0.731707317073</c:v>
                </c:pt>
                <c:pt idx="6">
                  <c:v>0.731707317073</c:v>
                </c:pt>
                <c:pt idx="7">
                  <c:v>0.707317073171</c:v>
                </c:pt>
                <c:pt idx="8">
                  <c:v>0.707317073171</c:v>
                </c:pt>
                <c:pt idx="9">
                  <c:v>0.658536585366</c:v>
                </c:pt>
                <c:pt idx="10">
                  <c:v>0.585365853659</c:v>
                </c:pt>
                <c:pt idx="11">
                  <c:v>0.560975609756</c:v>
                </c:pt>
              </c:numCache>
            </c:numRef>
          </c:val>
          <c:smooth val="0"/>
        </c:ser>
        <c:ser>
          <c:idx val="2"/>
          <c:order val="2"/>
          <c:tx>
            <c:v>2025-07</c:v>
          </c:tx>
          <c:spPr>
            <a:ln xmlns:a="http://schemas.openxmlformats.org/drawingml/2006/main" w="19050">
              <a:solidFill>
                <a:srgbClr val="087F8C"/>
              </a:solidFill>
            </a:ln>
          </c:spPr>
          <c:marker>
            <c:symbol val="circle"/>
            <c:size val="4"/>
            <c:spPr>
              <a:solidFill xmlns:a="http://schemas.openxmlformats.org/drawingml/2006/main">
                <a:srgbClr val="087F8C"/>
              </a:solidFill>
            </c:spPr>
          </c:marker>
          <c:cat>
            <c:numRef>
              <c:f>'Chart Data'!$E$2:$E$7</c:f>
              <c:numCache>
                <c:formatCode>0</c:formatCode>
                <c:ptCount val="6"/>
                <c:pt idx="0">
                  <c:v>0</c:v>
                </c:pt>
                <c:pt idx="1">
                  <c:v>1</c:v>
                </c:pt>
                <c:pt idx="2">
                  <c:v>2</c:v>
                </c:pt>
                <c:pt idx="3">
                  <c:v>3</c:v>
                </c:pt>
                <c:pt idx="4">
                  <c:v>4</c:v>
                </c:pt>
                <c:pt idx="5">
                  <c:v>5</c:v>
                </c:pt>
              </c:numCache>
            </c:numRef>
          </c:cat>
          <c:val>
            <c:numRef>
              <c:f>'Chart Data'!$F$2:$F$7</c:f>
              <c:numCache>
                <c:formatCode>0%</c:formatCode>
                <c:ptCount val="6"/>
                <c:pt idx="0">
                  <c:v>1</c:v>
                </c:pt>
                <c:pt idx="1">
                  <c:v>0.979166666667</c:v>
                </c:pt>
                <c:pt idx="2">
                  <c:v>0.833333333333</c:v>
                </c:pt>
                <c:pt idx="3">
                  <c:v>0.791666666667</c:v>
                </c:pt>
                <c:pt idx="4">
                  <c:v>0.75</c:v>
                </c:pt>
                <c:pt idx="5">
                  <c:v>0.729166666667</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Age</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Retained</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Arial"/>
                <a:ea typeface="Arial"/>
                <a:cs typeface="Arial"/>
              </a:defRPr>
            </a:pPr>
          </a:p>
        </c:txPr>
        <c:crossAx val="48650112"/>
        <c:crossBetween val="between"/>
        <c:majorUnit val="0.5"/>
      </c:valAx>
    </c:plotArea>
    <c:plotVisOnly val="1"/>
    <c:dispBlanksAs val="gap"/>
  </c:chart>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areaChart>
        <c:grouping val="stacked"/>
        <c:varyColors val="0"/>
        <c:ser>
          <c:idx val="0"/>
          <c:order val="0"/>
          <c:tx>
            <c:v>2024-01</c:v>
          </c:tx>
          <c:spPr>
            <a:solidFill xmlns:a="http://schemas.openxmlformats.org/drawingml/2006/main">
              <a:srgbClr val="364B6F"/>
            </a:solidFill>
            <a:ln xmlns:a="http://schemas.openxmlformats.org/drawingml/2006/main" w="3810">
              <a:solidFill>
                <a:srgbClr val="FFFFFF"/>
              </a:solidFill>
            </a:ln>
          </c:spPr>
          <c:cat>
            <c:strRef>
              <c:f>'Chart Data'!$A$2:$A$25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Data'!$B$2:$B$25</c:f>
              <c:numCache>
                <c:formatCode>#,##0</c:formatCode>
                <c:ptCount val="24"/>
                <c:pt idx="0">
                  <c:v>141</c:v>
                </c:pt>
                <c:pt idx="1">
                  <c:v>123</c:v>
                </c:pt>
                <c:pt idx="2">
                  <c:v>110</c:v>
                </c:pt>
                <c:pt idx="3">
                  <c:v>101</c:v>
                </c:pt>
                <c:pt idx="4">
                  <c:v>96</c:v>
                </c:pt>
                <c:pt idx="5">
                  <c:v>89</c:v>
                </c:pt>
                <c:pt idx="6">
                  <c:v>84</c:v>
                </c:pt>
                <c:pt idx="7">
                  <c:v>79</c:v>
                </c:pt>
                <c:pt idx="8">
                  <c:v>72</c:v>
                </c:pt>
                <c:pt idx="9">
                  <c:v>70</c:v>
                </c:pt>
                <c:pt idx="10">
                  <c:v>68</c:v>
                </c:pt>
                <c:pt idx="11">
                  <c:v>66</c:v>
                </c:pt>
                <c:pt idx="12">
                  <c:v>61</c:v>
                </c:pt>
                <c:pt idx="13">
                  <c:v>58</c:v>
                </c:pt>
                <c:pt idx="14">
                  <c:v>56</c:v>
                </c:pt>
                <c:pt idx="15">
                  <c:v>51</c:v>
                </c:pt>
                <c:pt idx="16">
                  <c:v>49</c:v>
                </c:pt>
                <c:pt idx="17">
                  <c:v>49</c:v>
                </c:pt>
                <c:pt idx="18">
                  <c:v>48</c:v>
                </c:pt>
                <c:pt idx="19">
                  <c:v>48</c:v>
                </c:pt>
                <c:pt idx="20">
                  <c:v>46</c:v>
                </c:pt>
                <c:pt idx="21">
                  <c:v>45</c:v>
                </c:pt>
                <c:pt idx="22">
                  <c:v>45</c:v>
                </c:pt>
                <c:pt idx="23">
                  <c:v>43</c:v>
                </c:pt>
              </c:numCache>
            </c:numRef>
          </c:val>
        </c:ser>
        <c:ser>
          <c:idx val="1"/>
          <c:order val="1"/>
          <c:tx>
            <c:v>2024-02</c:v>
          </c:tx>
          <c:spPr>
            <a:solidFill xmlns:a="http://schemas.openxmlformats.org/drawingml/2006/main">
              <a:srgbClr val="364F70"/>
            </a:solidFill>
            <a:ln xmlns:a="http://schemas.openxmlformats.org/drawingml/2006/main" w="3810">
              <a:solidFill>
                <a:srgbClr val="FFFFFF"/>
              </a:solidFill>
            </a:ln>
          </c:spPr>
          <c:cat>
            <c:strRef>
              <c:f>'Chart Data'!$C$2:$C$25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Data'!$D$2:$D$25</c:f>
              <c:numCache>
                <c:formatCode>#,##0</c:formatCode>
                <c:ptCount val="24"/>
                <c:pt idx="0">
                  <c:v>0</c:v>
                </c:pt>
                <c:pt idx="1">
                  <c:v>151</c:v>
                </c:pt>
                <c:pt idx="2">
                  <c:v>130</c:v>
                </c:pt>
                <c:pt idx="3">
                  <c:v>121</c:v>
                </c:pt>
                <c:pt idx="4">
                  <c:v>116</c:v>
                </c:pt>
                <c:pt idx="5">
                  <c:v>111</c:v>
                </c:pt>
                <c:pt idx="6">
                  <c:v>102</c:v>
                </c:pt>
                <c:pt idx="7">
                  <c:v>96</c:v>
                </c:pt>
                <c:pt idx="8">
                  <c:v>93</c:v>
                </c:pt>
                <c:pt idx="9">
                  <c:v>88</c:v>
                </c:pt>
                <c:pt idx="10">
                  <c:v>85</c:v>
                </c:pt>
                <c:pt idx="11">
                  <c:v>81</c:v>
                </c:pt>
                <c:pt idx="12">
                  <c:v>76</c:v>
                </c:pt>
                <c:pt idx="13">
                  <c:v>75</c:v>
                </c:pt>
                <c:pt idx="14">
                  <c:v>72</c:v>
                </c:pt>
                <c:pt idx="15">
                  <c:v>69</c:v>
                </c:pt>
                <c:pt idx="16">
                  <c:v>68</c:v>
                </c:pt>
                <c:pt idx="17">
                  <c:v>66</c:v>
                </c:pt>
                <c:pt idx="18">
                  <c:v>65</c:v>
                </c:pt>
                <c:pt idx="19">
                  <c:v>65</c:v>
                </c:pt>
                <c:pt idx="20">
                  <c:v>63</c:v>
                </c:pt>
                <c:pt idx="21">
                  <c:v>61</c:v>
                </c:pt>
                <c:pt idx="22">
                  <c:v>59</c:v>
                </c:pt>
                <c:pt idx="23">
                  <c:v>58</c:v>
                </c:pt>
              </c:numCache>
            </c:numRef>
          </c:val>
        </c:ser>
        <c:ser>
          <c:idx val="2"/>
          <c:order val="2"/>
          <c:tx>
            <c:v>2024-03</c:v>
          </c:tx>
          <c:spPr>
            <a:solidFill xmlns:a="http://schemas.openxmlformats.org/drawingml/2006/main">
              <a:srgbClr val="365471"/>
            </a:solidFill>
            <a:ln xmlns:a="http://schemas.openxmlformats.org/drawingml/2006/main" w="3810">
              <a:solidFill>
                <a:srgbClr val="FFFFFF"/>
              </a:solidFill>
            </a:ln>
          </c:spPr>
          <c:cat>
            <c:strRef>
              <c:f>'Chart Data'!$E$2:$E$25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Data'!$F$2:$F$25</c:f>
              <c:numCache>
                <c:formatCode>#,##0</c:formatCode>
                <c:ptCount val="24"/>
                <c:pt idx="0">
                  <c:v>0</c:v>
                </c:pt>
                <c:pt idx="1">
                  <c:v>0</c:v>
                </c:pt>
                <c:pt idx="2">
                  <c:v>158</c:v>
                </c:pt>
                <c:pt idx="3">
                  <c:v>133</c:v>
                </c:pt>
                <c:pt idx="4">
                  <c:v>114</c:v>
                </c:pt>
                <c:pt idx="5">
                  <c:v>105</c:v>
                </c:pt>
                <c:pt idx="6">
                  <c:v>97</c:v>
                </c:pt>
                <c:pt idx="7">
                  <c:v>93</c:v>
                </c:pt>
                <c:pt idx="8">
                  <c:v>92</c:v>
                </c:pt>
                <c:pt idx="9">
                  <c:v>84</c:v>
                </c:pt>
                <c:pt idx="10">
                  <c:v>77</c:v>
                </c:pt>
                <c:pt idx="11">
                  <c:v>76</c:v>
                </c:pt>
                <c:pt idx="12">
                  <c:v>70</c:v>
                </c:pt>
                <c:pt idx="13">
                  <c:v>65</c:v>
                </c:pt>
                <c:pt idx="14">
                  <c:v>58</c:v>
                </c:pt>
                <c:pt idx="15">
                  <c:v>51</c:v>
                </c:pt>
                <c:pt idx="16">
                  <c:v>49</c:v>
                </c:pt>
                <c:pt idx="17">
                  <c:v>49</c:v>
                </c:pt>
                <c:pt idx="18">
                  <c:v>47</c:v>
                </c:pt>
                <c:pt idx="19">
                  <c:v>47</c:v>
                </c:pt>
                <c:pt idx="20">
                  <c:v>44</c:v>
                </c:pt>
                <c:pt idx="21">
                  <c:v>42</c:v>
                </c:pt>
                <c:pt idx="22">
                  <c:v>40</c:v>
                </c:pt>
                <c:pt idx="23">
                  <c:v>40</c:v>
                </c:pt>
              </c:numCache>
            </c:numRef>
          </c:val>
        </c:ser>
        <c:ser>
          <c:idx val="3"/>
          <c:order val="3"/>
          <c:tx>
            <c:v>2024-04</c:v>
          </c:tx>
          <c:spPr>
            <a:solidFill xmlns:a="http://schemas.openxmlformats.org/drawingml/2006/main">
              <a:srgbClr val="365873"/>
            </a:solidFill>
            <a:ln xmlns:a="http://schemas.openxmlformats.org/drawingml/2006/main" w="3810">
              <a:solidFill>
                <a:srgbClr val="FFFFFF"/>
              </a:solidFill>
            </a:ln>
          </c:spPr>
          <c:cat>
            <c:strRef>
              <c:f>'Chart Data'!$G$2:$G$25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Data'!$H$2:$H$25</c:f>
              <c:numCache>
                <c:formatCode>#,##0</c:formatCode>
                <c:ptCount val="24"/>
                <c:pt idx="0">
                  <c:v>0</c:v>
                </c:pt>
                <c:pt idx="1">
                  <c:v>0</c:v>
                </c:pt>
                <c:pt idx="2">
                  <c:v>0</c:v>
                </c:pt>
                <c:pt idx="3">
                  <c:v>159</c:v>
                </c:pt>
                <c:pt idx="4">
                  <c:v>141</c:v>
                </c:pt>
                <c:pt idx="5">
                  <c:v>121</c:v>
                </c:pt>
                <c:pt idx="6">
                  <c:v>106</c:v>
                </c:pt>
                <c:pt idx="7">
                  <c:v>100</c:v>
                </c:pt>
                <c:pt idx="8">
                  <c:v>92</c:v>
                </c:pt>
                <c:pt idx="9">
                  <c:v>88</c:v>
                </c:pt>
                <c:pt idx="10">
                  <c:v>80</c:v>
                </c:pt>
                <c:pt idx="11">
                  <c:v>75</c:v>
                </c:pt>
                <c:pt idx="12">
                  <c:v>71</c:v>
                </c:pt>
                <c:pt idx="13">
                  <c:v>68</c:v>
                </c:pt>
                <c:pt idx="14">
                  <c:v>66</c:v>
                </c:pt>
                <c:pt idx="15">
                  <c:v>63</c:v>
                </c:pt>
                <c:pt idx="16">
                  <c:v>60</c:v>
                </c:pt>
                <c:pt idx="17">
                  <c:v>60</c:v>
                </c:pt>
                <c:pt idx="18">
                  <c:v>58</c:v>
                </c:pt>
                <c:pt idx="19">
                  <c:v>57</c:v>
                </c:pt>
                <c:pt idx="20">
                  <c:v>55</c:v>
                </c:pt>
                <c:pt idx="21">
                  <c:v>55</c:v>
                </c:pt>
                <c:pt idx="22">
                  <c:v>55</c:v>
                </c:pt>
                <c:pt idx="23">
                  <c:v>55</c:v>
                </c:pt>
              </c:numCache>
            </c:numRef>
          </c:val>
        </c:ser>
        <c:ser>
          <c:idx val="4"/>
          <c:order val="4"/>
          <c:tx>
            <c:v>2024-05</c:v>
          </c:tx>
          <c:spPr>
            <a:solidFill xmlns:a="http://schemas.openxmlformats.org/drawingml/2006/main">
              <a:srgbClr val="365C74"/>
            </a:solidFill>
            <a:ln xmlns:a="http://schemas.openxmlformats.org/drawingml/2006/main" w="3810">
              <a:solidFill>
                <a:srgbClr val="FFFFFF"/>
              </a:solidFill>
            </a:ln>
          </c:spPr>
          <c:cat>
            <c:strRef>
              <c:f>'Chart Data'!$I$2:$I$25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Data'!$J$2:$J$25</c:f>
              <c:numCache>
                <c:formatCode>#,##0</c:formatCode>
                <c:ptCount val="24"/>
                <c:pt idx="0">
                  <c:v>0</c:v>
                </c:pt>
                <c:pt idx="1">
                  <c:v>0</c:v>
                </c:pt>
                <c:pt idx="2">
                  <c:v>0</c:v>
                </c:pt>
                <c:pt idx="3">
                  <c:v>0</c:v>
                </c:pt>
                <c:pt idx="4">
                  <c:v>152</c:v>
                </c:pt>
                <c:pt idx="5">
                  <c:v>130</c:v>
                </c:pt>
                <c:pt idx="6">
                  <c:v>116</c:v>
                </c:pt>
                <c:pt idx="7">
                  <c:v>111</c:v>
                </c:pt>
                <c:pt idx="8">
                  <c:v>102</c:v>
                </c:pt>
                <c:pt idx="9">
                  <c:v>93</c:v>
                </c:pt>
                <c:pt idx="10">
                  <c:v>86</c:v>
                </c:pt>
                <c:pt idx="11">
                  <c:v>79</c:v>
                </c:pt>
                <c:pt idx="12">
                  <c:v>75</c:v>
                </c:pt>
                <c:pt idx="13">
                  <c:v>73</c:v>
                </c:pt>
                <c:pt idx="14">
                  <c:v>70</c:v>
                </c:pt>
                <c:pt idx="15">
                  <c:v>68</c:v>
                </c:pt>
                <c:pt idx="16">
                  <c:v>66</c:v>
                </c:pt>
                <c:pt idx="17">
                  <c:v>65</c:v>
                </c:pt>
                <c:pt idx="18">
                  <c:v>63</c:v>
                </c:pt>
                <c:pt idx="19">
                  <c:v>60</c:v>
                </c:pt>
                <c:pt idx="20">
                  <c:v>58</c:v>
                </c:pt>
                <c:pt idx="21">
                  <c:v>57</c:v>
                </c:pt>
                <c:pt idx="22">
                  <c:v>54</c:v>
                </c:pt>
                <c:pt idx="23">
                  <c:v>54</c:v>
                </c:pt>
              </c:numCache>
            </c:numRef>
          </c:val>
        </c:ser>
        <c:ser>
          <c:idx val="5"/>
          <c:order val="5"/>
          <c:tx>
            <c:v>2024-06</c:v>
          </c:tx>
          <c:spPr>
            <a:solidFill xmlns:a="http://schemas.openxmlformats.org/drawingml/2006/main">
              <a:srgbClr val="366175"/>
            </a:solidFill>
            <a:ln xmlns:a="http://schemas.openxmlformats.org/drawingml/2006/main" w="3810">
              <a:solidFill>
                <a:srgbClr val="FFFFFF"/>
              </a:solidFill>
            </a:ln>
          </c:spPr>
          <c:cat>
            <c:strRef>
              <c:f>'Chart Data'!$K$2:$K$25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Data'!$L$2:$L$25</c:f>
              <c:numCache>
                <c:formatCode>#,##0</c:formatCode>
                <c:ptCount val="24"/>
                <c:pt idx="0">
                  <c:v>0</c:v>
                </c:pt>
                <c:pt idx="1">
                  <c:v>0</c:v>
                </c:pt>
                <c:pt idx="2">
                  <c:v>0</c:v>
                </c:pt>
                <c:pt idx="3">
                  <c:v>0</c:v>
                </c:pt>
                <c:pt idx="4">
                  <c:v>0</c:v>
                </c:pt>
                <c:pt idx="5">
                  <c:v>148</c:v>
                </c:pt>
                <c:pt idx="6">
                  <c:v>130</c:v>
                </c:pt>
                <c:pt idx="7">
                  <c:v>115</c:v>
                </c:pt>
                <c:pt idx="8">
                  <c:v>109</c:v>
                </c:pt>
                <c:pt idx="9">
                  <c:v>102</c:v>
                </c:pt>
                <c:pt idx="10">
                  <c:v>92</c:v>
                </c:pt>
                <c:pt idx="11">
                  <c:v>86</c:v>
                </c:pt>
                <c:pt idx="12">
                  <c:v>83</c:v>
                </c:pt>
                <c:pt idx="13">
                  <c:v>79</c:v>
                </c:pt>
                <c:pt idx="14">
                  <c:v>75</c:v>
                </c:pt>
                <c:pt idx="15">
                  <c:v>73</c:v>
                </c:pt>
                <c:pt idx="16">
                  <c:v>71</c:v>
                </c:pt>
                <c:pt idx="17">
                  <c:v>68</c:v>
                </c:pt>
                <c:pt idx="18">
                  <c:v>65</c:v>
                </c:pt>
                <c:pt idx="19">
                  <c:v>63</c:v>
                </c:pt>
                <c:pt idx="20">
                  <c:v>61</c:v>
                </c:pt>
                <c:pt idx="21">
                  <c:v>59</c:v>
                </c:pt>
                <c:pt idx="22">
                  <c:v>57</c:v>
                </c:pt>
                <c:pt idx="23">
                  <c:v>54</c:v>
                </c:pt>
              </c:numCache>
            </c:numRef>
          </c:val>
        </c:ser>
        <c:ser>
          <c:idx val="6"/>
          <c:order val="6"/>
          <c:tx>
            <c:v>2024-07</c:v>
          </c:tx>
          <c:spPr>
            <a:solidFill xmlns:a="http://schemas.openxmlformats.org/drawingml/2006/main">
              <a:srgbClr val="376576"/>
            </a:solidFill>
            <a:ln xmlns:a="http://schemas.openxmlformats.org/drawingml/2006/main" w="3810">
              <a:solidFill>
                <a:srgbClr val="FFFFFF"/>
              </a:solidFill>
            </a:ln>
          </c:spPr>
          <c:cat>
            <c:strRef>
              <c:f>'Chart Data'!$M$2:$M$25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Data'!$N$2:$N$25</c:f>
              <c:numCache>
                <c:formatCode>#,##0</c:formatCode>
                <c:ptCount val="24"/>
                <c:pt idx="0">
                  <c:v>0</c:v>
                </c:pt>
                <c:pt idx="1">
                  <c:v>0</c:v>
                </c:pt>
                <c:pt idx="2">
                  <c:v>0</c:v>
                </c:pt>
                <c:pt idx="3">
                  <c:v>0</c:v>
                </c:pt>
                <c:pt idx="4">
                  <c:v>0</c:v>
                </c:pt>
                <c:pt idx="5">
                  <c:v>0</c:v>
                </c:pt>
                <c:pt idx="6">
                  <c:v>159</c:v>
                </c:pt>
                <c:pt idx="7">
                  <c:v>145</c:v>
                </c:pt>
                <c:pt idx="8">
                  <c:v>129</c:v>
                </c:pt>
                <c:pt idx="9">
                  <c:v>116</c:v>
                </c:pt>
                <c:pt idx="10">
                  <c:v>104</c:v>
                </c:pt>
                <c:pt idx="11">
                  <c:v>99</c:v>
                </c:pt>
                <c:pt idx="12">
                  <c:v>93</c:v>
                </c:pt>
                <c:pt idx="13">
                  <c:v>82</c:v>
                </c:pt>
                <c:pt idx="14">
                  <c:v>80</c:v>
                </c:pt>
                <c:pt idx="15">
                  <c:v>74</c:v>
                </c:pt>
                <c:pt idx="16">
                  <c:v>73</c:v>
                </c:pt>
                <c:pt idx="17">
                  <c:v>70</c:v>
                </c:pt>
                <c:pt idx="18">
                  <c:v>66</c:v>
                </c:pt>
                <c:pt idx="19">
                  <c:v>64</c:v>
                </c:pt>
                <c:pt idx="20">
                  <c:v>60</c:v>
                </c:pt>
                <c:pt idx="21">
                  <c:v>57</c:v>
                </c:pt>
                <c:pt idx="22">
                  <c:v>57</c:v>
                </c:pt>
                <c:pt idx="23">
                  <c:v>53</c:v>
                </c:pt>
              </c:numCache>
            </c:numRef>
          </c:val>
        </c:ser>
        <c:ser>
          <c:idx val="7"/>
          <c:order val="7"/>
          <c:tx>
            <c:v>2024-08</c:v>
          </c:tx>
          <c:spPr>
            <a:solidFill xmlns:a="http://schemas.openxmlformats.org/drawingml/2006/main">
              <a:srgbClr val="376978"/>
            </a:solidFill>
            <a:ln xmlns:a="http://schemas.openxmlformats.org/drawingml/2006/main" w="3810">
              <a:solidFill>
                <a:srgbClr val="FFFFFF"/>
              </a:solidFill>
            </a:ln>
          </c:spPr>
          <c:cat>
            <c:strRef>
              <c:f>'Chart Data'!$O$2:$O$25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Data'!$P$2:$P$25</c:f>
              <c:numCache>
                <c:formatCode>#,##0</c:formatCode>
                <c:ptCount val="24"/>
                <c:pt idx="0">
                  <c:v>0</c:v>
                </c:pt>
                <c:pt idx="1">
                  <c:v>0</c:v>
                </c:pt>
                <c:pt idx="2">
                  <c:v>0</c:v>
                </c:pt>
                <c:pt idx="3">
                  <c:v>0</c:v>
                </c:pt>
                <c:pt idx="4">
                  <c:v>0</c:v>
                </c:pt>
                <c:pt idx="5">
                  <c:v>0</c:v>
                </c:pt>
                <c:pt idx="6">
                  <c:v>0</c:v>
                </c:pt>
                <c:pt idx="7">
                  <c:v>158</c:v>
                </c:pt>
                <c:pt idx="8">
                  <c:v>141</c:v>
                </c:pt>
                <c:pt idx="9">
                  <c:v>126</c:v>
                </c:pt>
                <c:pt idx="10">
                  <c:v>118</c:v>
                </c:pt>
                <c:pt idx="11">
                  <c:v>109</c:v>
                </c:pt>
                <c:pt idx="12">
                  <c:v>98</c:v>
                </c:pt>
                <c:pt idx="13">
                  <c:v>91</c:v>
                </c:pt>
                <c:pt idx="14">
                  <c:v>86</c:v>
                </c:pt>
                <c:pt idx="15">
                  <c:v>84</c:v>
                </c:pt>
                <c:pt idx="16">
                  <c:v>82</c:v>
                </c:pt>
                <c:pt idx="17">
                  <c:v>78</c:v>
                </c:pt>
                <c:pt idx="18">
                  <c:v>75</c:v>
                </c:pt>
                <c:pt idx="19">
                  <c:v>73</c:v>
                </c:pt>
                <c:pt idx="20">
                  <c:v>73</c:v>
                </c:pt>
                <c:pt idx="21">
                  <c:v>73</c:v>
                </c:pt>
                <c:pt idx="22">
                  <c:v>67</c:v>
                </c:pt>
                <c:pt idx="23">
                  <c:v>67</c:v>
                </c:pt>
              </c:numCache>
            </c:numRef>
          </c:val>
        </c:ser>
        <c:ser>
          <c:idx val="8"/>
          <c:order val="8"/>
          <c:tx>
            <c:v>2024-09</c:v>
          </c:tx>
          <c:spPr>
            <a:solidFill xmlns:a="http://schemas.openxmlformats.org/drawingml/2006/main">
              <a:srgbClr val="376E79"/>
            </a:solidFill>
            <a:ln xmlns:a="http://schemas.openxmlformats.org/drawingml/2006/main" w="3810">
              <a:solidFill>
                <a:srgbClr val="FFFFFF"/>
              </a:solidFill>
            </a:ln>
          </c:spPr>
          <c:cat>
            <c:strRef>
              <c:f>'Chart Data'!$Q$2:$Q$25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Data'!$R$2:$R$25</c:f>
              <c:numCache>
                <c:formatCode>#,##0</c:formatCode>
                <c:ptCount val="24"/>
                <c:pt idx="0">
                  <c:v>0</c:v>
                </c:pt>
                <c:pt idx="1">
                  <c:v>0</c:v>
                </c:pt>
                <c:pt idx="2">
                  <c:v>0</c:v>
                </c:pt>
                <c:pt idx="3">
                  <c:v>0</c:v>
                </c:pt>
                <c:pt idx="4">
                  <c:v>0</c:v>
                </c:pt>
                <c:pt idx="5">
                  <c:v>0</c:v>
                </c:pt>
                <c:pt idx="6">
                  <c:v>0</c:v>
                </c:pt>
                <c:pt idx="7">
                  <c:v>0</c:v>
                </c:pt>
                <c:pt idx="8">
                  <c:v>174</c:v>
                </c:pt>
                <c:pt idx="9">
                  <c:v>159</c:v>
                </c:pt>
                <c:pt idx="10">
                  <c:v>150</c:v>
                </c:pt>
                <c:pt idx="11">
                  <c:v>136</c:v>
                </c:pt>
                <c:pt idx="12">
                  <c:v>127</c:v>
                </c:pt>
                <c:pt idx="13">
                  <c:v>123</c:v>
                </c:pt>
                <c:pt idx="14">
                  <c:v>113</c:v>
                </c:pt>
                <c:pt idx="15">
                  <c:v>105</c:v>
                </c:pt>
                <c:pt idx="16">
                  <c:v>98</c:v>
                </c:pt>
                <c:pt idx="17">
                  <c:v>95</c:v>
                </c:pt>
                <c:pt idx="18">
                  <c:v>94</c:v>
                </c:pt>
                <c:pt idx="19">
                  <c:v>91</c:v>
                </c:pt>
                <c:pt idx="20">
                  <c:v>88</c:v>
                </c:pt>
                <c:pt idx="21">
                  <c:v>83</c:v>
                </c:pt>
                <c:pt idx="22">
                  <c:v>83</c:v>
                </c:pt>
                <c:pt idx="23">
                  <c:v>83</c:v>
                </c:pt>
              </c:numCache>
            </c:numRef>
          </c:val>
        </c:ser>
        <c:ser>
          <c:idx val="9"/>
          <c:order val="9"/>
          <c:tx>
            <c:v>2024-10</c:v>
          </c:tx>
          <c:spPr>
            <a:solidFill xmlns:a="http://schemas.openxmlformats.org/drawingml/2006/main">
              <a:srgbClr val="37727A"/>
            </a:solidFill>
            <a:ln xmlns:a="http://schemas.openxmlformats.org/drawingml/2006/main" w="3810">
              <a:solidFill>
                <a:srgbClr val="FFFFFF"/>
              </a:solidFill>
            </a:ln>
          </c:spPr>
          <c:cat>
            <c:strRef>
              <c:f>'Chart Data'!$S$2:$S$25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Data'!$T$2:$T$25</c:f>
              <c:numCache>
                <c:formatCode>#,##0</c:formatCode>
                <c:ptCount val="24"/>
                <c:pt idx="0">
                  <c:v>0</c:v>
                </c:pt>
                <c:pt idx="1">
                  <c:v>0</c:v>
                </c:pt>
                <c:pt idx="2">
                  <c:v>0</c:v>
                </c:pt>
                <c:pt idx="3">
                  <c:v>0</c:v>
                </c:pt>
                <c:pt idx="4">
                  <c:v>0</c:v>
                </c:pt>
                <c:pt idx="5">
                  <c:v>0</c:v>
                </c:pt>
                <c:pt idx="6">
                  <c:v>0</c:v>
                </c:pt>
                <c:pt idx="7">
                  <c:v>0</c:v>
                </c:pt>
                <c:pt idx="8">
                  <c:v>0</c:v>
                </c:pt>
                <c:pt idx="9">
                  <c:v>187</c:v>
                </c:pt>
                <c:pt idx="10">
                  <c:v>161</c:v>
                </c:pt>
                <c:pt idx="11">
                  <c:v>152</c:v>
                </c:pt>
                <c:pt idx="12">
                  <c:v>140</c:v>
                </c:pt>
                <c:pt idx="13">
                  <c:v>134</c:v>
                </c:pt>
                <c:pt idx="14">
                  <c:v>123</c:v>
                </c:pt>
                <c:pt idx="15">
                  <c:v>116</c:v>
                </c:pt>
                <c:pt idx="16">
                  <c:v>110</c:v>
                </c:pt>
                <c:pt idx="17">
                  <c:v>105</c:v>
                </c:pt>
                <c:pt idx="18">
                  <c:v>99</c:v>
                </c:pt>
                <c:pt idx="19">
                  <c:v>94</c:v>
                </c:pt>
                <c:pt idx="20">
                  <c:v>93</c:v>
                </c:pt>
                <c:pt idx="21">
                  <c:v>89</c:v>
                </c:pt>
                <c:pt idx="22">
                  <c:v>84</c:v>
                </c:pt>
                <c:pt idx="23">
                  <c:v>83</c:v>
                </c:pt>
              </c:numCache>
            </c:numRef>
          </c:val>
        </c:ser>
        <c:ser>
          <c:idx val="10"/>
          <c:order val="10"/>
          <c:tx>
            <c:v>2024-11</c:v>
          </c:tx>
          <c:spPr>
            <a:solidFill xmlns:a="http://schemas.openxmlformats.org/drawingml/2006/main">
              <a:srgbClr val="37767B"/>
            </a:solidFill>
            <a:ln xmlns:a="http://schemas.openxmlformats.org/drawingml/2006/main" w="3810">
              <a:solidFill>
                <a:srgbClr val="FFFFFF"/>
              </a:solidFill>
            </a:ln>
          </c:spPr>
          <c:cat>
            <c:strRef>
              <c:f>'Chart Data'!$U$2:$U$25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Data'!$V$2:$V$25</c:f>
              <c:numCache>
                <c:formatCode>#,##0</c:formatCode>
                <c:ptCount val="24"/>
                <c:pt idx="0">
                  <c:v>0</c:v>
                </c:pt>
                <c:pt idx="1">
                  <c:v>0</c:v>
                </c:pt>
                <c:pt idx="2">
                  <c:v>0</c:v>
                </c:pt>
                <c:pt idx="3">
                  <c:v>0</c:v>
                </c:pt>
                <c:pt idx="4">
                  <c:v>0</c:v>
                </c:pt>
                <c:pt idx="5">
                  <c:v>0</c:v>
                </c:pt>
                <c:pt idx="6">
                  <c:v>0</c:v>
                </c:pt>
                <c:pt idx="7">
                  <c:v>0</c:v>
                </c:pt>
                <c:pt idx="8">
                  <c:v>0</c:v>
                </c:pt>
                <c:pt idx="9">
                  <c:v>0</c:v>
                </c:pt>
                <c:pt idx="10">
                  <c:v>178</c:v>
                </c:pt>
                <c:pt idx="11">
                  <c:v>161</c:v>
                </c:pt>
                <c:pt idx="12">
                  <c:v>149</c:v>
                </c:pt>
                <c:pt idx="13">
                  <c:v>134</c:v>
                </c:pt>
                <c:pt idx="14">
                  <c:v>123</c:v>
                </c:pt>
                <c:pt idx="15">
                  <c:v>115</c:v>
                </c:pt>
                <c:pt idx="16">
                  <c:v>108</c:v>
                </c:pt>
                <c:pt idx="17">
                  <c:v>105</c:v>
                </c:pt>
                <c:pt idx="18">
                  <c:v>101</c:v>
                </c:pt>
                <c:pt idx="19">
                  <c:v>99</c:v>
                </c:pt>
                <c:pt idx="20">
                  <c:v>98</c:v>
                </c:pt>
                <c:pt idx="21">
                  <c:v>95</c:v>
                </c:pt>
                <c:pt idx="22">
                  <c:v>91</c:v>
                </c:pt>
                <c:pt idx="23">
                  <c:v>89</c:v>
                </c:pt>
              </c:numCache>
            </c:numRef>
          </c:val>
        </c:ser>
        <c:ser>
          <c:idx val="11"/>
          <c:order val="11"/>
          <c:tx>
            <c:v>2024-12</c:v>
          </c:tx>
          <c:spPr>
            <a:solidFill xmlns:a="http://schemas.openxmlformats.org/drawingml/2006/main">
              <a:srgbClr val="377B7C"/>
            </a:solidFill>
            <a:ln xmlns:a="http://schemas.openxmlformats.org/drawingml/2006/main" w="3810">
              <a:solidFill>
                <a:srgbClr val="FFFFFF"/>
              </a:solidFill>
            </a:ln>
          </c:spPr>
          <c:cat>
            <c:strRef>
              <c:f>'Chart Data'!$W$2:$W$25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Data'!$X$2:$X$25</c:f>
              <c:numCache>
                <c:formatCode>#,##0</c:formatCode>
                <c:ptCount val="24"/>
                <c:pt idx="0">
                  <c:v>0</c:v>
                </c:pt>
                <c:pt idx="1">
                  <c:v>0</c:v>
                </c:pt>
                <c:pt idx="2">
                  <c:v>0</c:v>
                </c:pt>
                <c:pt idx="3">
                  <c:v>0</c:v>
                </c:pt>
                <c:pt idx="4">
                  <c:v>0</c:v>
                </c:pt>
                <c:pt idx="5">
                  <c:v>0</c:v>
                </c:pt>
                <c:pt idx="6">
                  <c:v>0</c:v>
                </c:pt>
                <c:pt idx="7">
                  <c:v>0</c:v>
                </c:pt>
                <c:pt idx="8">
                  <c:v>0</c:v>
                </c:pt>
                <c:pt idx="9">
                  <c:v>0</c:v>
                </c:pt>
                <c:pt idx="10">
                  <c:v>0</c:v>
                </c:pt>
                <c:pt idx="11">
                  <c:v>187</c:v>
                </c:pt>
                <c:pt idx="12">
                  <c:v>172</c:v>
                </c:pt>
                <c:pt idx="13">
                  <c:v>158</c:v>
                </c:pt>
                <c:pt idx="14">
                  <c:v>138</c:v>
                </c:pt>
                <c:pt idx="15">
                  <c:v>122</c:v>
                </c:pt>
                <c:pt idx="16">
                  <c:v>111</c:v>
                </c:pt>
                <c:pt idx="17">
                  <c:v>103</c:v>
                </c:pt>
                <c:pt idx="18">
                  <c:v>97</c:v>
                </c:pt>
                <c:pt idx="19">
                  <c:v>90</c:v>
                </c:pt>
                <c:pt idx="20">
                  <c:v>87</c:v>
                </c:pt>
                <c:pt idx="21">
                  <c:v>83</c:v>
                </c:pt>
                <c:pt idx="22">
                  <c:v>79</c:v>
                </c:pt>
                <c:pt idx="23">
                  <c:v>79</c:v>
                </c:pt>
              </c:numCache>
            </c:numRef>
          </c:val>
        </c:ser>
        <c:ser>
          <c:idx val="12"/>
          <c:order val="12"/>
          <c:tx>
            <c:v>2025-01</c:v>
          </c:tx>
          <c:spPr>
            <a:solidFill xmlns:a="http://schemas.openxmlformats.org/drawingml/2006/main">
              <a:srgbClr val="377F7E"/>
            </a:solidFill>
            <a:ln xmlns:a="http://schemas.openxmlformats.org/drawingml/2006/main" w="3810">
              <a:solidFill>
                <a:srgbClr val="FFFFFF"/>
              </a:solidFill>
            </a:ln>
          </c:spPr>
          <c:cat>
            <c:strRef>
              <c:f>'Chart Data'!$Y$2:$Y$25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Data'!$Z$2:$Z$25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181</c:v>
                </c:pt>
                <c:pt idx="13">
                  <c:v>155</c:v>
                </c:pt>
                <c:pt idx="14">
                  <c:v>141</c:v>
                </c:pt>
                <c:pt idx="15">
                  <c:v>131</c:v>
                </c:pt>
                <c:pt idx="16">
                  <c:v>120</c:v>
                </c:pt>
                <c:pt idx="17">
                  <c:v>111</c:v>
                </c:pt>
                <c:pt idx="18">
                  <c:v>107</c:v>
                </c:pt>
                <c:pt idx="19">
                  <c:v>106</c:v>
                </c:pt>
                <c:pt idx="20">
                  <c:v>105</c:v>
                </c:pt>
                <c:pt idx="21">
                  <c:v>100</c:v>
                </c:pt>
                <c:pt idx="22">
                  <c:v>96</c:v>
                </c:pt>
                <c:pt idx="23">
                  <c:v>92</c:v>
                </c:pt>
              </c:numCache>
            </c:numRef>
          </c:val>
        </c:ser>
        <c:ser>
          <c:idx val="13"/>
          <c:order val="13"/>
          <c:tx>
            <c:v>2025-02</c:v>
          </c:tx>
          <c:spPr>
            <a:solidFill xmlns:a="http://schemas.openxmlformats.org/drawingml/2006/main">
              <a:srgbClr val="37847F"/>
            </a:solidFill>
            <a:ln xmlns:a="http://schemas.openxmlformats.org/drawingml/2006/main" w="3810">
              <a:solidFill>
                <a:srgbClr val="FFFFFF"/>
              </a:solidFill>
            </a:ln>
          </c:spPr>
          <c:cat>
            <c:strRef>
              <c:f>'Chart Data'!$AA$2:$AA$25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Data'!$AB$2:$AB$25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185</c:v>
                </c:pt>
                <c:pt idx="14">
                  <c:v>156</c:v>
                </c:pt>
                <c:pt idx="15">
                  <c:v>141</c:v>
                </c:pt>
                <c:pt idx="16">
                  <c:v>121</c:v>
                </c:pt>
                <c:pt idx="17">
                  <c:v>118</c:v>
                </c:pt>
                <c:pt idx="18">
                  <c:v>110</c:v>
                </c:pt>
                <c:pt idx="19">
                  <c:v>100</c:v>
                </c:pt>
                <c:pt idx="20">
                  <c:v>96</c:v>
                </c:pt>
                <c:pt idx="21">
                  <c:v>90</c:v>
                </c:pt>
                <c:pt idx="22">
                  <c:v>87</c:v>
                </c:pt>
                <c:pt idx="23">
                  <c:v>83</c:v>
                </c:pt>
              </c:numCache>
            </c:numRef>
          </c:val>
        </c:ser>
        <c:ser>
          <c:idx val="14"/>
          <c:order val="14"/>
          <c:tx>
            <c:v>2025-03</c:v>
          </c:tx>
          <c:spPr>
            <a:solidFill xmlns:a="http://schemas.openxmlformats.org/drawingml/2006/main">
              <a:srgbClr val="378880"/>
            </a:solidFill>
            <a:ln xmlns:a="http://schemas.openxmlformats.org/drawingml/2006/main" w="3810">
              <a:solidFill>
                <a:srgbClr val="FFFFFF"/>
              </a:solidFill>
            </a:ln>
          </c:spPr>
          <c:cat>
            <c:strRef>
              <c:f>'Chart Data'!$AC$2:$AC$25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Data'!$AD$2:$AD$25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189</c:v>
                </c:pt>
                <c:pt idx="15">
                  <c:v>157</c:v>
                </c:pt>
                <c:pt idx="16">
                  <c:v>143</c:v>
                </c:pt>
                <c:pt idx="17">
                  <c:v>133</c:v>
                </c:pt>
                <c:pt idx="18">
                  <c:v>127</c:v>
                </c:pt>
                <c:pt idx="19">
                  <c:v>121</c:v>
                </c:pt>
                <c:pt idx="20">
                  <c:v>114</c:v>
                </c:pt>
                <c:pt idx="21">
                  <c:v>107</c:v>
                </c:pt>
                <c:pt idx="22">
                  <c:v>100</c:v>
                </c:pt>
                <c:pt idx="23">
                  <c:v>95</c:v>
                </c:pt>
              </c:numCache>
            </c:numRef>
          </c:val>
        </c:ser>
        <c:ser>
          <c:idx val="15"/>
          <c:order val="15"/>
          <c:tx>
            <c:v>2025-04</c:v>
          </c:tx>
          <c:spPr>
            <a:solidFill xmlns:a="http://schemas.openxmlformats.org/drawingml/2006/main">
              <a:srgbClr val="378C81"/>
            </a:solidFill>
            <a:ln xmlns:a="http://schemas.openxmlformats.org/drawingml/2006/main" w="3810">
              <a:solidFill>
                <a:srgbClr val="FFFFFF"/>
              </a:solidFill>
            </a:ln>
          </c:spPr>
          <c:cat>
            <c:strRef>
              <c:f>'Chart Data'!$AE$2:$AE$25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Data'!$AF$2:$AF$25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209</c:v>
                </c:pt>
                <c:pt idx="16">
                  <c:v>180</c:v>
                </c:pt>
                <c:pt idx="17">
                  <c:v>153</c:v>
                </c:pt>
                <c:pt idx="18">
                  <c:v>144</c:v>
                </c:pt>
                <c:pt idx="19">
                  <c:v>137</c:v>
                </c:pt>
                <c:pt idx="20">
                  <c:v>132</c:v>
                </c:pt>
                <c:pt idx="21">
                  <c:v>123</c:v>
                </c:pt>
                <c:pt idx="22">
                  <c:v>118</c:v>
                </c:pt>
                <c:pt idx="23">
                  <c:v>110</c:v>
                </c:pt>
              </c:numCache>
            </c:numRef>
          </c:val>
        </c:ser>
        <c:ser>
          <c:idx val="16"/>
          <c:order val="16"/>
          <c:tx>
            <c:v>2025-05</c:v>
          </c:tx>
          <c:spPr>
            <a:solidFill xmlns:a="http://schemas.openxmlformats.org/drawingml/2006/main">
              <a:srgbClr val="379182"/>
            </a:solidFill>
            <a:ln xmlns:a="http://schemas.openxmlformats.org/drawingml/2006/main" w="3810">
              <a:solidFill>
                <a:srgbClr val="FFFFFF"/>
              </a:solidFill>
            </a:ln>
          </c:spPr>
          <c:cat>
            <c:strRef>
              <c:f>'Chart Data'!$AG$2:$AG$25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Data'!$AH$2:$AH$25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306</c:v>
                </c:pt>
                <c:pt idx="17">
                  <c:v>268</c:v>
                </c:pt>
                <c:pt idx="18">
                  <c:v>242</c:v>
                </c:pt>
                <c:pt idx="19">
                  <c:v>225</c:v>
                </c:pt>
                <c:pt idx="20">
                  <c:v>199</c:v>
                </c:pt>
                <c:pt idx="21">
                  <c:v>191</c:v>
                </c:pt>
                <c:pt idx="22">
                  <c:v>172</c:v>
                </c:pt>
                <c:pt idx="23">
                  <c:v>158</c:v>
                </c:pt>
              </c:numCache>
            </c:numRef>
          </c:val>
        </c:ser>
        <c:ser>
          <c:idx val="17"/>
          <c:order val="17"/>
          <c:tx>
            <c:v>2025-06</c:v>
          </c:tx>
          <c:spPr>
            <a:solidFill xmlns:a="http://schemas.openxmlformats.org/drawingml/2006/main">
              <a:srgbClr val="379584"/>
            </a:solidFill>
            <a:ln xmlns:a="http://schemas.openxmlformats.org/drawingml/2006/main" w="3810">
              <a:solidFill>
                <a:srgbClr val="FFFFFF"/>
              </a:solidFill>
            </a:ln>
          </c:spPr>
          <c:cat>
            <c:strRef>
              <c:f>'Chart Data'!$AI$2:$AI$25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Data'!$AJ$2:$AJ$25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210</c:v>
                </c:pt>
                <c:pt idx="18">
                  <c:v>185</c:v>
                </c:pt>
                <c:pt idx="19">
                  <c:v>162</c:v>
                </c:pt>
                <c:pt idx="20">
                  <c:v>147</c:v>
                </c:pt>
                <c:pt idx="21">
                  <c:v>133</c:v>
                </c:pt>
                <c:pt idx="22">
                  <c:v>124</c:v>
                </c:pt>
                <c:pt idx="23">
                  <c:v>119</c:v>
                </c:pt>
              </c:numCache>
            </c:numRef>
          </c:val>
        </c:ser>
        <c:ser>
          <c:idx val="18"/>
          <c:order val="18"/>
          <c:tx>
            <c:v>2025-07</c:v>
          </c:tx>
          <c:spPr>
            <a:solidFill xmlns:a="http://schemas.openxmlformats.org/drawingml/2006/main">
              <a:srgbClr val="389985"/>
            </a:solidFill>
            <a:ln xmlns:a="http://schemas.openxmlformats.org/drawingml/2006/main" w="3810">
              <a:solidFill>
                <a:srgbClr val="FFFFFF"/>
              </a:solidFill>
            </a:ln>
          </c:spPr>
          <c:cat>
            <c:strRef>
              <c:f>'Chart Data'!$AK$2:$AK$25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Data'!$AL$2:$AL$25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221</c:v>
                </c:pt>
                <c:pt idx="19">
                  <c:v>202</c:v>
                </c:pt>
                <c:pt idx="20">
                  <c:v>181</c:v>
                </c:pt>
                <c:pt idx="21">
                  <c:v>168</c:v>
                </c:pt>
                <c:pt idx="22">
                  <c:v>155</c:v>
                </c:pt>
                <c:pt idx="23">
                  <c:v>150</c:v>
                </c:pt>
              </c:numCache>
            </c:numRef>
          </c:val>
        </c:ser>
        <c:ser>
          <c:idx val="19"/>
          <c:order val="19"/>
          <c:tx>
            <c:v>2025-08</c:v>
          </c:tx>
          <c:spPr>
            <a:solidFill xmlns:a="http://schemas.openxmlformats.org/drawingml/2006/main">
              <a:srgbClr val="389E86"/>
            </a:solidFill>
            <a:ln xmlns:a="http://schemas.openxmlformats.org/drawingml/2006/main" w="3810">
              <a:solidFill>
                <a:srgbClr val="FFFFFF"/>
              </a:solidFill>
            </a:ln>
          </c:spPr>
          <c:cat>
            <c:strRef>
              <c:f>'Chart Data'!$AM$2:$AM$25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Data'!$AN$2:$AN$25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217</c:v>
                </c:pt>
                <c:pt idx="20">
                  <c:v>195</c:v>
                </c:pt>
                <c:pt idx="21">
                  <c:v>176</c:v>
                </c:pt>
                <c:pt idx="22">
                  <c:v>162</c:v>
                </c:pt>
                <c:pt idx="23">
                  <c:v>152</c:v>
                </c:pt>
              </c:numCache>
            </c:numRef>
          </c:val>
        </c:ser>
        <c:ser>
          <c:idx val="20"/>
          <c:order val="20"/>
          <c:tx>
            <c:v>2025-09</c:v>
          </c:tx>
          <c:spPr>
            <a:solidFill xmlns:a="http://schemas.openxmlformats.org/drawingml/2006/main">
              <a:srgbClr val="38A287"/>
            </a:solidFill>
            <a:ln xmlns:a="http://schemas.openxmlformats.org/drawingml/2006/main" w="3810">
              <a:solidFill>
                <a:srgbClr val="FFFFFF"/>
              </a:solidFill>
            </a:ln>
          </c:spPr>
          <c:cat>
            <c:strRef>
              <c:f>'Chart Data'!$AO$2:$AO$25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Data'!$AP$2:$AP$25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307</c:v>
                </c:pt>
                <c:pt idx="21">
                  <c:v>269</c:v>
                </c:pt>
                <c:pt idx="22">
                  <c:v>245</c:v>
                </c:pt>
                <c:pt idx="23">
                  <c:v>229</c:v>
                </c:pt>
              </c:numCache>
            </c:numRef>
          </c:val>
        </c:ser>
        <c:ser>
          <c:idx val="21"/>
          <c:order val="21"/>
          <c:tx>
            <c:v>2025-10</c:v>
          </c:tx>
          <c:spPr>
            <a:solidFill xmlns:a="http://schemas.openxmlformats.org/drawingml/2006/main">
              <a:srgbClr val="38A689"/>
            </a:solidFill>
            <a:ln xmlns:a="http://schemas.openxmlformats.org/drawingml/2006/main" w="3810">
              <a:solidFill>
                <a:srgbClr val="FFFFFF"/>
              </a:solidFill>
            </a:ln>
          </c:spPr>
          <c:cat>
            <c:strRef>
              <c:f>'Chart Data'!$AQ$2:$AQ$25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Data'!$AR$2:$AR$25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222</c:v>
                </c:pt>
                <c:pt idx="22">
                  <c:v>197</c:v>
                </c:pt>
                <c:pt idx="23">
                  <c:v>175</c:v>
                </c:pt>
              </c:numCache>
            </c:numRef>
          </c:val>
        </c:ser>
        <c:ser>
          <c:idx val="22"/>
          <c:order val="22"/>
          <c:tx>
            <c:v>2025-11</c:v>
          </c:tx>
          <c:spPr>
            <a:solidFill xmlns:a="http://schemas.openxmlformats.org/drawingml/2006/main">
              <a:srgbClr val="38AB8A"/>
            </a:solidFill>
            <a:ln xmlns:a="http://schemas.openxmlformats.org/drawingml/2006/main" w="3810">
              <a:solidFill>
                <a:srgbClr val="FFFFFF"/>
              </a:solidFill>
            </a:ln>
          </c:spPr>
          <c:cat>
            <c:strRef>
              <c:f>'Chart Data'!$AS$2:$AS$25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Data'!$AT$2:$AT$25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230</c:v>
                </c:pt>
                <c:pt idx="23">
                  <c:v>200</c:v>
                </c:pt>
              </c:numCache>
            </c:numRef>
          </c:val>
        </c:ser>
        <c:ser>
          <c:idx val="23"/>
          <c:order val="23"/>
          <c:tx>
            <c:v>2025-12</c:v>
          </c:tx>
          <c:spPr>
            <a:solidFill xmlns:a="http://schemas.openxmlformats.org/drawingml/2006/main">
              <a:srgbClr val="38AF8B"/>
            </a:solidFill>
            <a:ln xmlns:a="http://schemas.openxmlformats.org/drawingml/2006/main" w="3810">
              <a:solidFill>
                <a:srgbClr val="FFFFFF"/>
              </a:solidFill>
            </a:ln>
          </c:spPr>
          <c:cat>
            <c:strRef>
              <c:f>'Chart Data'!$AU$2:$AU$25</c:f>
              <c:strCache>
                <c:ptCount val="24"/>
                <c:pt idx="0">
                  <c:v>24-01</c:v>
                </c:pt>
                <c:pt idx="1">
                  <c:v>24-02</c:v>
                </c:pt>
                <c:pt idx="2">
                  <c:v>24-03</c:v>
                </c:pt>
                <c:pt idx="3">
                  <c:v>24-04</c:v>
                </c:pt>
                <c:pt idx="4">
                  <c:v>24-05</c:v>
                </c:pt>
                <c:pt idx="5">
                  <c:v>24-06</c:v>
                </c:pt>
                <c:pt idx="6">
                  <c:v>24-07</c:v>
                </c:pt>
                <c:pt idx="7">
                  <c:v>24-08</c:v>
                </c:pt>
                <c:pt idx="8">
                  <c:v>24-09</c:v>
                </c:pt>
                <c:pt idx="9">
                  <c:v>24-10</c:v>
                </c:pt>
                <c:pt idx="10">
                  <c:v>24-11</c:v>
                </c:pt>
                <c:pt idx="11">
                  <c:v>24-12</c:v>
                </c:pt>
                <c:pt idx="12">
                  <c:v>25-01</c:v>
                </c:pt>
                <c:pt idx="13">
                  <c:v>25-02</c:v>
                </c:pt>
                <c:pt idx="14">
                  <c:v>25-03</c:v>
                </c:pt>
                <c:pt idx="15">
                  <c:v>25-04</c:v>
                </c:pt>
                <c:pt idx="16">
                  <c:v>25-05</c:v>
                </c:pt>
                <c:pt idx="17">
                  <c:v>25-06</c:v>
                </c:pt>
                <c:pt idx="18">
                  <c:v>25-07</c:v>
                </c:pt>
                <c:pt idx="19">
                  <c:v>25-08</c:v>
                </c:pt>
                <c:pt idx="20">
                  <c:v>25-09</c:v>
                </c:pt>
                <c:pt idx="21">
                  <c:v>25-10</c:v>
                </c:pt>
                <c:pt idx="22">
                  <c:v>25-11</c:v>
                </c:pt>
                <c:pt idx="23">
                  <c:v>25-12</c:v>
                </c:pt>
              </c:strCache>
            </c:strRef>
          </c:cat>
          <c:val>
            <c:numRef>
              <c:f>'Chart Data'!$AV$2:$AV$25</c:f>
              <c:numCache>
                <c:formatCode>#,##0</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243</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areaChart>
      <c:catAx>
        <c:axId val="48650112"/>
        <c:scaling>
          <c:orientation val="minMax"/>
        </c:scaling>
        <c:delete val="0"/>
        <c:axPos val="b"/>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Calendar month</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General"/>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1125">
                <a:solidFill>
                  <a:srgbClr val="687780"/>
                </a:solidFill>
                <a:latin typeface="Arial"/>
                <a:ea typeface="Arial"/>
                <a:cs typeface="Arial"/>
              </a:defRPr>
            </a:pPr>
          </a:p>
        </c:txPr>
        <c:crossAx val="48672768"/>
      </c:catAx>
      <c:valAx>
        <c:axId val="48672768"/>
        <c:scaling>
          <c:orientation val="minMax"/>
        </c:scaling>
        <c:delete val="0"/>
        <c:axPos val="l"/>
        <c:majorGridlines>
          <c:spPr>
            <a:ln xmlns:a="http://schemas.openxmlformats.org/drawingml/2006/main" w="9525">
              <a:solidFill>
                <a:srgbClr val="E7EDF0"/>
              </a:solidFill>
            </a:ln>
          </c:spPr>
        </c:majorGridlines>
        <c:title>
          <c:tx>
            <c:rich>
              <a:bodyPr xmlns:a="http://schemas.openxmlformats.org/drawingml/2006/main"/>
              <a:lstStyle xmlns:a="http://schemas.openxmlformats.org/drawingml/2006/main"/>
              <a:p xmlns:a="http://schemas.openxmlformats.org/drawingml/2006/main">
                <a:r>
                  <a:rPr sz="1200">
                    <a:solidFill>
                      <a:srgbClr val="172D3C"/>
                    </a:solidFill>
                    <a:latin typeface="Arial"/>
                    <a:ea typeface="Arial"/>
                    <a:cs typeface="Arial"/>
                  </a:rPr>
                  <a:t>Retained subscribers</a:t>
                </a:r>
              </a:p>
            </c:rich>
          </c:tx>
          <c:overlay val="0"/>
          <c:txPr>
            <a:bodyPr xmlns:a="http://schemas.openxmlformats.org/drawingml/2006/main" anchorCtr="1"/>
            <a:lstStyle xmlns:a="http://schemas.openxmlformats.org/drawingml/2006/main"/>
            <a:p xmlns:a="http://schemas.openxmlformats.org/drawingml/2006/main">
              <a:pPr>
                <a:defRPr sz="1200">
                  <a:solidFill>
                    <a:srgbClr val="172D3C"/>
                  </a:solidFill>
                  <a:latin typeface="Arial"/>
                  <a:ea typeface="Arial"/>
                  <a:cs typeface="Arial"/>
                </a:defRPr>
              </a:pPr>
            </a:p>
          </c:txPr>
        </c:title>
        <c:numFmt formatCode="#,##0"/>
        <c:majorTickMark val="none"/>
        <c:minorTickMark val="none"/>
        <c:spPr>
          <a:ln xmlns:a="http://schemas.openxmlformats.org/drawingml/2006/main" w="9525">
            <a:solidFill>
              <a:srgbClr val="D3DFE4"/>
            </a:solidFill>
          </a:ln>
        </c:spPr>
        <c:txPr>
          <a:bodyPr xmlns:a="http://schemas.openxmlformats.org/drawingml/2006/main" anchorCtr="1"/>
          <a:lstStyle xmlns:a="http://schemas.openxmlformats.org/drawingml/2006/main"/>
          <a:p xmlns:a="http://schemas.openxmlformats.org/drawingml/2006/main">
            <a:pPr>
              <a:defRPr sz="1125">
                <a:solidFill>
                  <a:srgbClr val="687780"/>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E88D1906-892E-4481-9786-D55FF294C719}"/>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6506C51-0615-4186-88E0-766B389B528D}"/>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Studio North: customer economics lab</a:t>
            </a:r>
          </a:p>
        </p:txBody>
      </p:sp>
      <p:sp>
        <p:nvSpPr>
          <p:cNvPr id="3" name="">
            <a:extLst xmlns:a="http://schemas.openxmlformats.org/drawingml/2006/main">
              <a:ext uri="{FF2B5EF4-FFF2-40B4-BE49-F238E27FC236}">
                <a16:creationId xmlns:a16="http://schemas.microsoft.com/office/drawing/2014/main" id="{C202C556-F200-4FAE-ACB1-6F95E21506A5}"/>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087F8C"/>
                </a:solidFill>
                <a:latin typeface="Arial"/>
                <a:ea typeface="Arial"/>
                <a:cs typeface="Arial"/>
              </a:defRPr>
            </a:defPPr>
            <a:lvl1pPr>
              <a:defRPr sz="900" b="1">
                <a:solidFill>
                  <a:srgbClr val="087F8C"/>
                </a:solidFill>
                <a:latin typeface="Arial"/>
                <a:ea typeface="Arial"/>
                <a:cs typeface="Arial"/>
              </a:defRPr>
            </a:lvl1pPr>
            <a:lvl2pPr>
              <a:defRPr sz="900" b="1">
                <a:solidFill>
                  <a:srgbClr val="087F8C"/>
                </a:solidFill>
                <a:latin typeface="Arial"/>
                <a:ea typeface="Arial"/>
                <a:cs typeface="Arial"/>
              </a:defRPr>
            </a:lvl2pPr>
            <a:lvl3pPr>
              <a:defRPr sz="900" b="1">
                <a:solidFill>
                  <a:srgbClr val="087F8C"/>
                </a:solidFill>
                <a:latin typeface="Arial"/>
                <a:ea typeface="Arial"/>
                <a:cs typeface="Arial"/>
              </a:defRPr>
            </a:lvl3pPr>
            <a:lvl4pPr>
              <a:defRPr sz="900" b="1">
                <a:solidFill>
                  <a:srgbClr val="087F8C"/>
                </a:solidFill>
                <a:latin typeface="Arial"/>
                <a:ea typeface="Arial"/>
                <a:cs typeface="Arial"/>
              </a:defRPr>
            </a:lvl4pPr>
            <a:lvl5pPr>
              <a:defRPr sz="900" b="1">
                <a:solidFill>
                  <a:srgbClr val="087F8C"/>
                </a:solidFill>
                <a:latin typeface="Arial"/>
                <a:ea typeface="Arial"/>
                <a:cs typeface="Arial"/>
              </a:defRPr>
            </a:lvl5pPr>
            <a:lvl6pPr>
              <a:defRPr sz="900" b="1">
                <a:solidFill>
                  <a:srgbClr val="087F8C"/>
                </a:solidFill>
                <a:latin typeface="Arial"/>
                <a:ea typeface="Arial"/>
                <a:cs typeface="Arial"/>
              </a:defRPr>
            </a:lvl6pPr>
            <a:lvl7pPr>
              <a:defRPr sz="900" b="1">
                <a:solidFill>
                  <a:srgbClr val="087F8C"/>
                </a:solidFill>
                <a:latin typeface="Arial"/>
                <a:ea typeface="Arial"/>
                <a:cs typeface="Arial"/>
              </a:defRPr>
            </a:lvl7pPr>
            <a:lvl8pPr>
              <a:defRPr sz="900" b="1">
                <a:solidFill>
                  <a:srgbClr val="087F8C"/>
                </a:solidFill>
                <a:latin typeface="Arial"/>
                <a:ea typeface="Arial"/>
                <a:cs typeface="Arial"/>
              </a:defRPr>
            </a:lvl8pPr>
            <a:lvl9pPr>
              <a:defRPr sz="900" b="1">
                <a:solidFill>
                  <a:srgbClr val="087F8C"/>
                </a:solidFill>
                <a:latin typeface="Arial"/>
                <a:ea typeface="Arial"/>
                <a:cs typeface="Arial"/>
              </a:defRPr>
            </a:lvl9pPr>
          </a:lstStyle>
          <a:p xmlns:a="http://schemas.openxmlformats.org/drawingml/2006/main">
            <a:pPr>
              <a:defRPr sz="900" b="1">
                <a:solidFill>
                  <a:srgbClr val="087F8C"/>
                </a:solidFill>
                <a:latin typeface="Arial"/>
                <a:ea typeface="Arial"/>
                <a:cs typeface="Arial"/>
              </a:defRPr>
            </a:pPr>
            <a:r>
              <a:rPr sz="900" b="1">
                <a:solidFill>
                  <a:srgbClr val="087F8C"/>
                </a:solidFill>
                <a:latin typeface="Arial"/>
                <a:ea typeface="Arial"/>
                <a:cs typeface="Arial"/>
              </a:rPr>
              <a:t>AI + SQL · 80 MINUTES</a:t>
            </a:r>
          </a:p>
        </p:txBody>
      </p:sp>
      <p:sp>
        <p:nvSpPr>
          <p:cNvPr id="4" name="">
            <a:extLst xmlns:a="http://schemas.openxmlformats.org/drawingml/2006/main">
              <a:ext uri="{FF2B5EF4-FFF2-40B4-BE49-F238E27FC236}">
                <a16:creationId xmlns:a16="http://schemas.microsoft.com/office/drawing/2014/main" id="{B2F883C0-8AB9-420C-87FD-9EE60EE5C33A}"/>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1</a:t>
            </a:r>
          </a:p>
        </p:txBody>
      </p:sp>
      <p:sp>
        <p:nvSpPr>
          <p:cNvPr id="5" name="">
            <a:extLst xmlns:a="http://schemas.openxmlformats.org/drawingml/2006/main">
              <a:ext uri="{FF2B5EF4-FFF2-40B4-BE49-F238E27FC236}">
                <a16:creationId xmlns:a16="http://schemas.microsoft.com/office/drawing/2014/main" id="{A473BDDC-A016-48D1-A494-7ACD0F84E500}"/>
              </a:ext>
            </a:extLst>
          </p:cNvPr>
          <p:cNvSpPr>
            <a:spLocks xmlns:a="http://schemas.openxmlformats.org/drawingml/2006/main" noGrp="1"/>
          </p:cNvSpPr>
          <p:nvPr/>
        </p:nvSpPr>
        <p:spPr>
          <a:xfrm xmlns:a="http://schemas.openxmlformats.org/drawingml/2006/main">
            <a:off x="609600" y="1571625"/>
            <a:ext cx="61912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3450" b="1">
                <a:solidFill>
                  <a:srgbClr val="172D3C"/>
                </a:solidFill>
                <a:latin typeface="Arial"/>
                <a:ea typeface="Arial"/>
                <a:cs typeface="Arial"/>
              </a:defRPr>
            </a:defPPr>
            <a:lvl1pPr>
              <a:defRPr sz="3450" b="1">
                <a:solidFill>
                  <a:srgbClr val="172D3C"/>
                </a:solidFill>
                <a:latin typeface="Arial"/>
                <a:ea typeface="Arial"/>
                <a:cs typeface="Arial"/>
              </a:defRPr>
            </a:lvl1pPr>
            <a:lvl2pPr>
              <a:defRPr sz="3450" b="1">
                <a:solidFill>
                  <a:srgbClr val="172D3C"/>
                </a:solidFill>
                <a:latin typeface="Arial"/>
                <a:ea typeface="Arial"/>
                <a:cs typeface="Arial"/>
              </a:defRPr>
            </a:lvl2pPr>
            <a:lvl3pPr>
              <a:defRPr sz="3450" b="1">
                <a:solidFill>
                  <a:srgbClr val="172D3C"/>
                </a:solidFill>
                <a:latin typeface="Arial"/>
                <a:ea typeface="Arial"/>
                <a:cs typeface="Arial"/>
              </a:defRPr>
            </a:lvl3pPr>
            <a:lvl4pPr>
              <a:defRPr sz="3450" b="1">
                <a:solidFill>
                  <a:srgbClr val="172D3C"/>
                </a:solidFill>
                <a:latin typeface="Arial"/>
                <a:ea typeface="Arial"/>
                <a:cs typeface="Arial"/>
              </a:defRPr>
            </a:lvl4pPr>
            <a:lvl5pPr>
              <a:defRPr sz="3450" b="1">
                <a:solidFill>
                  <a:srgbClr val="172D3C"/>
                </a:solidFill>
                <a:latin typeface="Arial"/>
                <a:ea typeface="Arial"/>
                <a:cs typeface="Arial"/>
              </a:defRPr>
            </a:lvl5pPr>
            <a:lvl6pPr>
              <a:defRPr sz="3450" b="1">
                <a:solidFill>
                  <a:srgbClr val="172D3C"/>
                </a:solidFill>
                <a:latin typeface="Arial"/>
                <a:ea typeface="Arial"/>
                <a:cs typeface="Arial"/>
              </a:defRPr>
            </a:lvl6pPr>
            <a:lvl7pPr>
              <a:defRPr sz="3450" b="1">
                <a:solidFill>
                  <a:srgbClr val="172D3C"/>
                </a:solidFill>
                <a:latin typeface="Arial"/>
                <a:ea typeface="Arial"/>
                <a:cs typeface="Arial"/>
              </a:defRPr>
            </a:lvl7pPr>
            <a:lvl8pPr>
              <a:defRPr sz="3450" b="1">
                <a:solidFill>
                  <a:srgbClr val="172D3C"/>
                </a:solidFill>
                <a:latin typeface="Arial"/>
                <a:ea typeface="Arial"/>
                <a:cs typeface="Arial"/>
              </a:defRPr>
            </a:lvl8pPr>
            <a:lvl9pPr>
              <a:defRPr sz="3450" b="1">
                <a:solidFill>
                  <a:srgbClr val="172D3C"/>
                </a:solidFill>
                <a:latin typeface="Arial"/>
                <a:ea typeface="Arial"/>
                <a:cs typeface="Arial"/>
              </a:defRPr>
            </a:lvl9pPr>
          </a:lstStyle>
          <a:p xmlns:a="http://schemas.openxmlformats.org/drawingml/2006/main">
            <a:pPr>
              <a:defRPr sz="3450" b="1">
                <a:solidFill>
                  <a:srgbClr val="172D3C"/>
                </a:solidFill>
                <a:latin typeface="Arial"/>
                <a:ea typeface="Arial"/>
                <a:cs typeface="Arial"/>
              </a:defRPr>
            </a:pPr>
            <a:r>
              <a:rPr sz="3450" b="1">
                <a:solidFill>
                  <a:srgbClr val="172D3C"/>
                </a:solidFill>
                <a:latin typeface="Arial"/>
                <a:ea typeface="Arial"/>
                <a:cs typeface="Arial"/>
              </a:rPr>
              <a:t>Are we moving in the right</a:t>
            </a:r>
          </a:p>
          <a:p xmlns:a="http://schemas.openxmlformats.org/drawingml/2006/main">
            <a:pPr>
              <a:defRPr sz="3450" b="1">
                <a:solidFill>
                  <a:srgbClr val="172D3C"/>
                </a:solidFill>
                <a:latin typeface="Arial"/>
                <a:ea typeface="Arial"/>
                <a:cs typeface="Arial"/>
              </a:defRPr>
            </a:pPr>
            <a:r>
              <a:rPr sz="3450" b="1">
                <a:solidFill>
                  <a:srgbClr val="172D3C"/>
                </a:solidFill>
                <a:latin typeface="Arial"/>
                <a:ea typeface="Arial"/>
                <a:cs typeface="Arial"/>
              </a:rPr>
              <a:t>direction as a company?</a:t>
            </a:r>
          </a:p>
        </p:txBody>
      </p:sp>
      <p:sp>
        <p:nvSpPr>
          <p:cNvPr id="6" name="">
            <a:extLst xmlns:a="http://schemas.openxmlformats.org/drawingml/2006/main">
              <a:ext uri="{FF2B5EF4-FFF2-40B4-BE49-F238E27FC236}">
                <a16:creationId xmlns:a16="http://schemas.microsoft.com/office/drawing/2014/main" id="{253775E4-9256-46D3-9AF1-F2865D90DF4B}"/>
              </a:ext>
            </a:extLst>
          </p:cNvPr>
          <p:cNvSpPr>
            <a:spLocks xmlns:a="http://schemas.openxmlformats.org/drawingml/2006/main" noGrp="1"/>
          </p:cNvSpPr>
          <p:nvPr/>
        </p:nvSpPr>
        <p:spPr>
          <a:xfrm xmlns:a="http://schemas.openxmlformats.org/drawingml/2006/main">
            <a:off x="638175" y="3257550"/>
            <a:ext cx="619125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725" b="1">
                <a:solidFill>
                  <a:srgbClr val="087F8C"/>
                </a:solidFill>
                <a:latin typeface="Arial"/>
                <a:ea typeface="Arial"/>
                <a:cs typeface="Arial"/>
              </a:defRPr>
            </a:defPPr>
            <a:lvl1pPr>
              <a:defRPr sz="1725" b="1">
                <a:solidFill>
                  <a:srgbClr val="087F8C"/>
                </a:solidFill>
                <a:latin typeface="Arial"/>
                <a:ea typeface="Arial"/>
                <a:cs typeface="Arial"/>
              </a:defRPr>
            </a:lvl1pPr>
            <a:lvl2pPr>
              <a:defRPr sz="1725" b="1">
                <a:solidFill>
                  <a:srgbClr val="087F8C"/>
                </a:solidFill>
                <a:latin typeface="Arial"/>
                <a:ea typeface="Arial"/>
                <a:cs typeface="Arial"/>
              </a:defRPr>
            </a:lvl2pPr>
            <a:lvl3pPr>
              <a:defRPr sz="1725" b="1">
                <a:solidFill>
                  <a:srgbClr val="087F8C"/>
                </a:solidFill>
                <a:latin typeface="Arial"/>
                <a:ea typeface="Arial"/>
                <a:cs typeface="Arial"/>
              </a:defRPr>
            </a:lvl3pPr>
            <a:lvl4pPr>
              <a:defRPr sz="1725" b="1">
                <a:solidFill>
                  <a:srgbClr val="087F8C"/>
                </a:solidFill>
                <a:latin typeface="Arial"/>
                <a:ea typeface="Arial"/>
                <a:cs typeface="Arial"/>
              </a:defRPr>
            </a:lvl4pPr>
            <a:lvl5pPr>
              <a:defRPr sz="1725" b="1">
                <a:solidFill>
                  <a:srgbClr val="087F8C"/>
                </a:solidFill>
                <a:latin typeface="Arial"/>
                <a:ea typeface="Arial"/>
                <a:cs typeface="Arial"/>
              </a:defRPr>
            </a:lvl5pPr>
            <a:lvl6pPr>
              <a:defRPr sz="1725" b="1">
                <a:solidFill>
                  <a:srgbClr val="087F8C"/>
                </a:solidFill>
                <a:latin typeface="Arial"/>
                <a:ea typeface="Arial"/>
                <a:cs typeface="Arial"/>
              </a:defRPr>
            </a:lvl6pPr>
            <a:lvl7pPr>
              <a:defRPr sz="1725" b="1">
                <a:solidFill>
                  <a:srgbClr val="087F8C"/>
                </a:solidFill>
                <a:latin typeface="Arial"/>
                <a:ea typeface="Arial"/>
                <a:cs typeface="Arial"/>
              </a:defRPr>
            </a:lvl7pPr>
            <a:lvl8pPr>
              <a:defRPr sz="1725" b="1">
                <a:solidFill>
                  <a:srgbClr val="087F8C"/>
                </a:solidFill>
                <a:latin typeface="Arial"/>
                <a:ea typeface="Arial"/>
                <a:cs typeface="Arial"/>
              </a:defRPr>
            </a:lvl8pPr>
            <a:lvl9pPr>
              <a:defRPr sz="1725" b="1">
                <a:solidFill>
                  <a:srgbClr val="087F8C"/>
                </a:solidFill>
                <a:latin typeface="Arial"/>
                <a:ea typeface="Arial"/>
                <a:cs typeface="Arial"/>
              </a:defRPr>
            </a:lvl9pPr>
          </a:lstStyle>
          <a:p xmlns:a="http://schemas.openxmlformats.org/drawingml/2006/main">
            <a:pPr>
              <a:defRPr sz="1725" b="1">
                <a:solidFill>
                  <a:srgbClr val="087F8C"/>
                </a:solidFill>
                <a:latin typeface="Arial"/>
                <a:ea typeface="Arial"/>
                <a:cs typeface="Arial"/>
              </a:defRPr>
            </a:pPr>
            <a:r>
              <a:rPr sz="1725" b="1">
                <a:solidFill>
                  <a:srgbClr val="087F8C"/>
                </a:solidFill>
                <a:latin typeface="Arial"/>
                <a:ea typeface="Arial"/>
                <a:cs typeface="Arial"/>
              </a:rPr>
              <a:t>Compare acquisition efficiency, contribution value and cash recovery across cohorts.</a:t>
            </a:r>
          </a:p>
        </p:txBody>
      </p:sp>
      <p:sp>
        <p:nvSpPr>
          <p:cNvPr id="7" name="">
            <a:extLst xmlns:a="http://schemas.openxmlformats.org/drawingml/2006/main">
              <a:ext uri="{FF2B5EF4-FFF2-40B4-BE49-F238E27FC236}">
                <a16:creationId xmlns:a16="http://schemas.microsoft.com/office/drawing/2014/main" id="{1EBACCCB-A1BB-4A7A-9074-444CA8851164}"/>
              </a:ext>
            </a:extLst>
          </p:cNvPr>
          <p:cNvSpPr>
            <a:spLocks xmlns:a="http://schemas.openxmlformats.org/drawingml/2006/main" noGrp="1"/>
          </p:cNvSpPr>
          <p:nvPr/>
        </p:nvSpPr>
        <p:spPr>
          <a:xfrm xmlns:a="http://schemas.openxmlformats.org/drawingml/2006/main">
            <a:off x="638175" y="4057650"/>
            <a:ext cx="619125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0">
                <a:solidFill>
                  <a:srgbClr val="172D3C"/>
                </a:solidFill>
                <a:latin typeface="Arial"/>
                <a:ea typeface="Arial"/>
                <a:cs typeface="Arial"/>
              </a:defRPr>
            </a:defPPr>
            <a:lvl1pPr>
              <a:defRPr sz="1575" b="0">
                <a:solidFill>
                  <a:srgbClr val="172D3C"/>
                </a:solidFill>
                <a:latin typeface="Arial"/>
                <a:ea typeface="Arial"/>
                <a:cs typeface="Arial"/>
              </a:defRPr>
            </a:lvl1pPr>
            <a:lvl2pPr>
              <a:defRPr sz="1575" b="0">
                <a:solidFill>
                  <a:srgbClr val="172D3C"/>
                </a:solidFill>
                <a:latin typeface="Arial"/>
                <a:ea typeface="Arial"/>
                <a:cs typeface="Arial"/>
              </a:defRPr>
            </a:lvl2pPr>
            <a:lvl3pPr>
              <a:defRPr sz="1575" b="0">
                <a:solidFill>
                  <a:srgbClr val="172D3C"/>
                </a:solidFill>
                <a:latin typeface="Arial"/>
                <a:ea typeface="Arial"/>
                <a:cs typeface="Arial"/>
              </a:defRPr>
            </a:lvl3pPr>
            <a:lvl4pPr>
              <a:defRPr sz="1575" b="0">
                <a:solidFill>
                  <a:srgbClr val="172D3C"/>
                </a:solidFill>
                <a:latin typeface="Arial"/>
                <a:ea typeface="Arial"/>
                <a:cs typeface="Arial"/>
              </a:defRPr>
            </a:lvl4pPr>
            <a:lvl5pPr>
              <a:defRPr sz="1575" b="0">
                <a:solidFill>
                  <a:srgbClr val="172D3C"/>
                </a:solidFill>
                <a:latin typeface="Arial"/>
                <a:ea typeface="Arial"/>
                <a:cs typeface="Arial"/>
              </a:defRPr>
            </a:lvl5pPr>
            <a:lvl6pPr>
              <a:defRPr sz="1575" b="0">
                <a:solidFill>
                  <a:srgbClr val="172D3C"/>
                </a:solidFill>
                <a:latin typeface="Arial"/>
                <a:ea typeface="Arial"/>
                <a:cs typeface="Arial"/>
              </a:defRPr>
            </a:lvl6pPr>
            <a:lvl7pPr>
              <a:defRPr sz="1575" b="0">
                <a:solidFill>
                  <a:srgbClr val="172D3C"/>
                </a:solidFill>
                <a:latin typeface="Arial"/>
                <a:ea typeface="Arial"/>
                <a:cs typeface="Arial"/>
              </a:defRPr>
            </a:lvl7pPr>
            <a:lvl8pPr>
              <a:defRPr sz="1575" b="0">
                <a:solidFill>
                  <a:srgbClr val="172D3C"/>
                </a:solidFill>
                <a:latin typeface="Arial"/>
                <a:ea typeface="Arial"/>
                <a:cs typeface="Arial"/>
              </a:defRPr>
            </a:lvl8pPr>
            <a:lvl9pPr>
              <a:defRPr sz="1575" b="0">
                <a:solidFill>
                  <a:srgbClr val="172D3C"/>
                </a:solidFill>
                <a:latin typeface="Arial"/>
                <a:ea typeface="Arial"/>
                <a:cs typeface="Arial"/>
              </a:defRPr>
            </a:lvl9pPr>
          </a:lstStyle>
          <a:p xmlns:a="http://schemas.openxmlformats.org/drawingml/2006/main">
            <a:pPr>
              <a:defRPr sz="1575" b="0">
                <a:solidFill>
                  <a:srgbClr val="172D3C"/>
                </a:solidFill>
                <a:latin typeface="Arial"/>
                <a:ea typeface="Arial"/>
                <a:cs typeface="Arial"/>
              </a:defRPr>
            </a:pPr>
            <a:r>
              <a:rPr sz="1575" b="0">
                <a:solidFill>
                  <a:srgbClr val="172D3C"/>
                </a:solidFill>
                <a:latin typeface="Arial"/>
                <a:ea typeface="Arial"/>
                <a:cs typeface="Arial"/>
              </a:rPr>
              <a:t>A monthly creative-work membership for independent professionals: templates save time, guided learning builds skills, and workshops add value.</a:t>
            </a:r>
          </a:p>
        </p:txBody>
      </p:sp>
      <p:sp>
        <p:nvSpPr>
          <p:cNvPr id="8" name="">
            <a:extLst xmlns:a="http://schemas.openxmlformats.org/drawingml/2006/main">
              <a:ext uri="{FF2B5EF4-FFF2-40B4-BE49-F238E27FC236}">
                <a16:creationId xmlns:a16="http://schemas.microsoft.com/office/drawing/2014/main" id="{EC536923-CF68-46A0-A156-C1B5794C88C5}"/>
              </a:ext>
            </a:extLst>
          </p:cNvPr>
          <p:cNvSpPr>
            <a:spLocks xmlns:a="http://schemas.openxmlformats.org/drawingml/2006/main" noGrp="1"/>
          </p:cNvSpPr>
          <p:nvPr/>
        </p:nvSpPr>
        <p:spPr>
          <a:xfrm xmlns:a="http://schemas.openxmlformats.org/drawingml/2006/main">
            <a:off x="638175" y="5095875"/>
            <a:ext cx="6191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275" b="0">
                <a:solidFill>
                  <a:srgbClr val="687780"/>
                </a:solidFill>
                <a:latin typeface="Arial"/>
                <a:ea typeface="Arial"/>
                <a:cs typeface="Arial"/>
              </a:defRPr>
            </a:defPPr>
            <a:lvl1pPr>
              <a:defRPr sz="1275" b="0">
                <a:solidFill>
                  <a:srgbClr val="687780"/>
                </a:solidFill>
                <a:latin typeface="Arial"/>
                <a:ea typeface="Arial"/>
                <a:cs typeface="Arial"/>
              </a:defRPr>
            </a:lvl1pPr>
            <a:lvl2pPr>
              <a:defRPr sz="1275" b="0">
                <a:solidFill>
                  <a:srgbClr val="687780"/>
                </a:solidFill>
                <a:latin typeface="Arial"/>
                <a:ea typeface="Arial"/>
                <a:cs typeface="Arial"/>
              </a:defRPr>
            </a:lvl2pPr>
            <a:lvl3pPr>
              <a:defRPr sz="1275" b="0">
                <a:solidFill>
                  <a:srgbClr val="687780"/>
                </a:solidFill>
                <a:latin typeface="Arial"/>
                <a:ea typeface="Arial"/>
                <a:cs typeface="Arial"/>
              </a:defRPr>
            </a:lvl3pPr>
            <a:lvl4pPr>
              <a:defRPr sz="1275" b="0">
                <a:solidFill>
                  <a:srgbClr val="687780"/>
                </a:solidFill>
                <a:latin typeface="Arial"/>
                <a:ea typeface="Arial"/>
                <a:cs typeface="Arial"/>
              </a:defRPr>
            </a:lvl4pPr>
            <a:lvl5pPr>
              <a:defRPr sz="1275" b="0">
                <a:solidFill>
                  <a:srgbClr val="687780"/>
                </a:solidFill>
                <a:latin typeface="Arial"/>
                <a:ea typeface="Arial"/>
                <a:cs typeface="Arial"/>
              </a:defRPr>
            </a:lvl5pPr>
            <a:lvl6pPr>
              <a:defRPr sz="1275" b="0">
                <a:solidFill>
                  <a:srgbClr val="687780"/>
                </a:solidFill>
                <a:latin typeface="Arial"/>
                <a:ea typeface="Arial"/>
                <a:cs typeface="Arial"/>
              </a:defRPr>
            </a:lvl6pPr>
            <a:lvl7pPr>
              <a:defRPr sz="1275" b="0">
                <a:solidFill>
                  <a:srgbClr val="687780"/>
                </a:solidFill>
                <a:latin typeface="Arial"/>
                <a:ea typeface="Arial"/>
                <a:cs typeface="Arial"/>
              </a:defRPr>
            </a:lvl7pPr>
            <a:lvl8pPr>
              <a:defRPr sz="1275" b="0">
                <a:solidFill>
                  <a:srgbClr val="687780"/>
                </a:solidFill>
                <a:latin typeface="Arial"/>
                <a:ea typeface="Arial"/>
                <a:cs typeface="Arial"/>
              </a:defRPr>
            </a:lvl8pPr>
            <a:lvl9pPr>
              <a:defRPr sz="1275" b="0">
                <a:solidFill>
                  <a:srgbClr val="687780"/>
                </a:solidFill>
                <a:latin typeface="Arial"/>
                <a:ea typeface="Arial"/>
                <a:cs typeface="Arial"/>
              </a:defRPr>
            </a:lvl9pPr>
          </a:lstStyle>
          <a:p xmlns:a="http://schemas.openxmlformats.org/drawingml/2006/main">
            <a:pPr>
              <a:defRPr sz="1275" b="0">
                <a:solidFill>
                  <a:srgbClr val="687780"/>
                </a:solidFill>
                <a:latin typeface="Arial"/>
                <a:ea typeface="Arial"/>
                <a:cs typeface="Arial"/>
              </a:defRPr>
            </a:pPr>
            <a:r>
              <a:rPr sz="1275" b="0">
                <a:solidFill>
                  <a:srgbClr val="687780"/>
                </a:solidFill>
                <a:latin typeface="Arial"/>
                <a:ea typeface="Arial"/>
                <a:cs typeface="Arial"/>
              </a:rPr>
              <a:t>24 joining cohorts: January 2024–December 2025.</a:t>
            </a:r>
          </a:p>
          <a:p xmlns:a="http://schemas.openxmlformats.org/drawingml/2006/main">
            <a:pPr>
              <a:defRPr sz="1275" b="0">
                <a:solidFill>
                  <a:srgbClr val="687780"/>
                </a:solidFill>
                <a:latin typeface="Arial"/>
                <a:ea typeface="Arial"/>
                <a:cs typeface="Arial"/>
              </a:defRPr>
            </a:pPr>
            <a:r>
              <a:rPr sz="1275" b="0">
                <a:solidFill>
                  <a:srgbClr val="687780"/>
                </a:solidFill>
                <a:latin typeface="Arial"/>
                <a:ea typeface="Arial"/>
                <a:cs typeface="Arial"/>
              </a:rPr>
              <a:t>Monthly renewals; cutoff January 1, 2026 (exclusive).</a:t>
            </a:r>
          </a:p>
        </p:txBody>
      </p:sp>
      <p:sp>
        <p:nvSpPr>
          <p:cNvPr id="9" name="">
            <a:extLst xmlns:a="http://schemas.openxmlformats.org/drawingml/2006/main">
              <a:ext uri="{FF2B5EF4-FFF2-40B4-BE49-F238E27FC236}">
                <a16:creationId xmlns:a16="http://schemas.microsoft.com/office/drawing/2014/main" id="{C955CD5F-7DA6-4816-B33B-C48581068DA3}"/>
              </a:ext>
            </a:extLst>
          </p:cNvPr>
          <p:cNvSpPr>
            <a:spLocks xmlns:a="http://schemas.openxmlformats.org/drawingml/2006/main" noGrp="1"/>
          </p:cNvSpPr>
          <p:nvPr/>
        </p:nvSpPr>
        <p:spPr>
          <a:xfrm xmlns:a="http://schemas.openxmlformats.org/drawingml/2006/main">
            <a:off x="7334250" y="1562100"/>
            <a:ext cx="1952625" cy="733425"/>
          </a:xfrm>
          <a:prstGeom xmlns:a="http://schemas.openxmlformats.org/drawingml/2006/main" prst="rect">
            <a:avLst/>
          </a:prstGeom>
          <a:solidFill xmlns:a="http://schemas.openxmlformats.org/drawingml/2006/main">
            <a:srgbClr val="ECF3F7"/>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EF53085-DCF9-417E-AF0C-EBE334CF6160}"/>
              </a:ext>
            </a:extLst>
          </p:cNvPr>
          <p:cNvSpPr>
            <a:spLocks xmlns:a="http://schemas.openxmlformats.org/drawingml/2006/main" noGrp="1"/>
          </p:cNvSpPr>
          <p:nvPr/>
        </p:nvSpPr>
        <p:spPr>
          <a:xfrm xmlns:a="http://schemas.openxmlformats.org/drawingml/2006/main">
            <a:off x="7467600" y="1657350"/>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defRPr sz="1500" b="1">
                <a:solidFill>
                  <a:srgbClr val="087F8C"/>
                </a:solidFill>
                <a:latin typeface="Arial"/>
                <a:ea typeface="Arial"/>
                <a:cs typeface="Arial"/>
              </a:defRPr>
            </a:lvl1pPr>
            <a:lvl2pPr>
              <a:defRPr sz="1500" b="1">
                <a:solidFill>
                  <a:srgbClr val="087F8C"/>
                </a:solidFill>
                <a:latin typeface="Arial"/>
                <a:ea typeface="Arial"/>
                <a:cs typeface="Arial"/>
              </a:defRPr>
            </a:lvl2pPr>
            <a:lvl3pPr>
              <a:defRPr sz="1500" b="1">
                <a:solidFill>
                  <a:srgbClr val="087F8C"/>
                </a:solidFill>
                <a:latin typeface="Arial"/>
                <a:ea typeface="Arial"/>
                <a:cs typeface="Arial"/>
              </a:defRPr>
            </a:lvl3pPr>
            <a:lvl4pPr>
              <a:defRPr sz="1500" b="1">
                <a:solidFill>
                  <a:srgbClr val="087F8C"/>
                </a:solidFill>
                <a:latin typeface="Arial"/>
                <a:ea typeface="Arial"/>
                <a:cs typeface="Arial"/>
              </a:defRPr>
            </a:lvl4pPr>
            <a:lvl5pPr>
              <a:defRPr sz="1500" b="1">
                <a:solidFill>
                  <a:srgbClr val="087F8C"/>
                </a:solidFill>
                <a:latin typeface="Arial"/>
                <a:ea typeface="Arial"/>
                <a:cs typeface="Arial"/>
              </a:defRPr>
            </a:lvl5pPr>
            <a:lvl6pPr>
              <a:defRPr sz="1500" b="1">
                <a:solidFill>
                  <a:srgbClr val="087F8C"/>
                </a:solidFill>
                <a:latin typeface="Arial"/>
                <a:ea typeface="Arial"/>
                <a:cs typeface="Arial"/>
              </a:defRPr>
            </a:lvl6pPr>
            <a:lvl7pPr>
              <a:defRPr sz="1500" b="1">
                <a:solidFill>
                  <a:srgbClr val="087F8C"/>
                </a:solidFill>
                <a:latin typeface="Arial"/>
                <a:ea typeface="Arial"/>
                <a:cs typeface="Arial"/>
              </a:defRPr>
            </a:lvl7pPr>
            <a:lvl8pPr>
              <a:defRPr sz="1500" b="1">
                <a:solidFill>
                  <a:srgbClr val="087F8C"/>
                </a:solidFill>
                <a:latin typeface="Arial"/>
                <a:ea typeface="Arial"/>
                <a:cs typeface="Arial"/>
              </a:defRPr>
            </a:lvl8pPr>
            <a:lvl9pPr>
              <a:defRPr sz="1500" b="1">
                <a:solidFill>
                  <a:srgbClr val="087F8C"/>
                </a:solidFill>
                <a:latin typeface="Arial"/>
                <a:ea typeface="Arial"/>
                <a:cs typeface="Arial"/>
              </a:defRPr>
            </a:lvl9pPr>
          </a:lstStyle>
          <a:p xmlns:a="http://schemas.openxmlformats.org/drawingml/2006/main">
            <a:pPr>
              <a:defRPr sz="1500" b="1">
                <a:solidFill>
                  <a:srgbClr val="087F8C"/>
                </a:solidFill>
                <a:latin typeface="Arial"/>
                <a:ea typeface="Arial"/>
                <a:cs typeface="Arial"/>
              </a:defRPr>
            </a:pPr>
            <a:r>
              <a:rPr sz="1500" b="1">
                <a:solidFill>
                  <a:srgbClr val="087F8C"/>
                </a:solidFill>
                <a:latin typeface="Arial"/>
                <a:ea typeface="Arial"/>
                <a:cs typeface="Arial"/>
              </a:rPr>
              <a:t>CRM</a:t>
            </a:r>
          </a:p>
        </p:txBody>
      </p:sp>
      <p:sp>
        <p:nvSpPr>
          <p:cNvPr id="11" name="">
            <a:extLst xmlns:a="http://schemas.openxmlformats.org/drawingml/2006/main">
              <a:ext uri="{FF2B5EF4-FFF2-40B4-BE49-F238E27FC236}">
                <a16:creationId xmlns:a16="http://schemas.microsoft.com/office/drawing/2014/main" id="{7248BD78-92F4-4C14-B0DB-243B3EB359FC}"/>
              </a:ext>
            </a:extLst>
          </p:cNvPr>
          <p:cNvSpPr>
            <a:spLocks xmlns:a="http://schemas.openxmlformats.org/drawingml/2006/main" noGrp="1"/>
          </p:cNvSpPr>
          <p:nvPr/>
        </p:nvSpPr>
        <p:spPr>
          <a:xfrm xmlns:a="http://schemas.openxmlformats.org/drawingml/2006/main">
            <a:off x="9429750" y="1562100"/>
            <a:ext cx="1952625" cy="73342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01691CD-50C2-408F-978C-BDD995F7F313}"/>
              </a:ext>
            </a:extLst>
          </p:cNvPr>
          <p:cNvSpPr>
            <a:spLocks xmlns:a="http://schemas.openxmlformats.org/drawingml/2006/main" noGrp="1"/>
          </p:cNvSpPr>
          <p:nvPr/>
        </p:nvSpPr>
        <p:spPr>
          <a:xfrm xmlns:a="http://schemas.openxmlformats.org/drawingml/2006/main">
            <a:off x="9563100" y="1657350"/>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defRPr sz="1500" b="1">
                <a:solidFill>
                  <a:srgbClr val="087F8C"/>
                </a:solidFill>
                <a:latin typeface="Arial"/>
                <a:ea typeface="Arial"/>
                <a:cs typeface="Arial"/>
              </a:defRPr>
            </a:lvl1pPr>
            <a:lvl2pPr>
              <a:defRPr sz="1500" b="1">
                <a:solidFill>
                  <a:srgbClr val="087F8C"/>
                </a:solidFill>
                <a:latin typeface="Arial"/>
                <a:ea typeface="Arial"/>
                <a:cs typeface="Arial"/>
              </a:defRPr>
            </a:lvl2pPr>
            <a:lvl3pPr>
              <a:defRPr sz="1500" b="1">
                <a:solidFill>
                  <a:srgbClr val="087F8C"/>
                </a:solidFill>
                <a:latin typeface="Arial"/>
                <a:ea typeface="Arial"/>
                <a:cs typeface="Arial"/>
              </a:defRPr>
            </a:lvl3pPr>
            <a:lvl4pPr>
              <a:defRPr sz="1500" b="1">
                <a:solidFill>
                  <a:srgbClr val="087F8C"/>
                </a:solidFill>
                <a:latin typeface="Arial"/>
                <a:ea typeface="Arial"/>
                <a:cs typeface="Arial"/>
              </a:defRPr>
            </a:lvl4pPr>
            <a:lvl5pPr>
              <a:defRPr sz="1500" b="1">
                <a:solidFill>
                  <a:srgbClr val="087F8C"/>
                </a:solidFill>
                <a:latin typeface="Arial"/>
                <a:ea typeface="Arial"/>
                <a:cs typeface="Arial"/>
              </a:defRPr>
            </a:lvl5pPr>
            <a:lvl6pPr>
              <a:defRPr sz="1500" b="1">
                <a:solidFill>
                  <a:srgbClr val="087F8C"/>
                </a:solidFill>
                <a:latin typeface="Arial"/>
                <a:ea typeface="Arial"/>
                <a:cs typeface="Arial"/>
              </a:defRPr>
            </a:lvl6pPr>
            <a:lvl7pPr>
              <a:defRPr sz="1500" b="1">
                <a:solidFill>
                  <a:srgbClr val="087F8C"/>
                </a:solidFill>
                <a:latin typeface="Arial"/>
                <a:ea typeface="Arial"/>
                <a:cs typeface="Arial"/>
              </a:defRPr>
            </a:lvl7pPr>
            <a:lvl8pPr>
              <a:defRPr sz="1500" b="1">
                <a:solidFill>
                  <a:srgbClr val="087F8C"/>
                </a:solidFill>
                <a:latin typeface="Arial"/>
                <a:ea typeface="Arial"/>
                <a:cs typeface="Arial"/>
              </a:defRPr>
            </a:lvl8pPr>
            <a:lvl9pPr>
              <a:defRPr sz="1500" b="1">
                <a:solidFill>
                  <a:srgbClr val="087F8C"/>
                </a:solidFill>
                <a:latin typeface="Arial"/>
                <a:ea typeface="Arial"/>
                <a:cs typeface="Arial"/>
              </a:defRPr>
            </a:lvl9pPr>
          </a:lstStyle>
          <a:p xmlns:a="http://schemas.openxmlformats.org/drawingml/2006/main">
            <a:pPr>
              <a:defRPr sz="1500" b="1">
                <a:solidFill>
                  <a:srgbClr val="087F8C"/>
                </a:solidFill>
                <a:latin typeface="Arial"/>
                <a:ea typeface="Arial"/>
                <a:cs typeface="Arial"/>
              </a:defRPr>
            </a:pPr>
            <a:r>
              <a:rPr sz="1500" b="1">
                <a:solidFill>
                  <a:srgbClr val="087F8C"/>
                </a:solidFill>
                <a:latin typeface="Arial"/>
                <a:ea typeface="Arial"/>
                <a:cs typeface="Arial"/>
              </a:rPr>
              <a:t>Renewals</a:t>
            </a:r>
          </a:p>
        </p:txBody>
      </p:sp>
      <p:sp>
        <p:nvSpPr>
          <p:cNvPr id="13" name="">
            <a:extLst xmlns:a="http://schemas.openxmlformats.org/drawingml/2006/main">
              <a:ext uri="{FF2B5EF4-FFF2-40B4-BE49-F238E27FC236}">
                <a16:creationId xmlns:a16="http://schemas.microsoft.com/office/drawing/2014/main" id="{75EA0847-0554-4571-88BB-87AA4BB30504}"/>
              </a:ext>
            </a:extLst>
          </p:cNvPr>
          <p:cNvSpPr>
            <a:spLocks xmlns:a="http://schemas.openxmlformats.org/drawingml/2006/main" noGrp="1"/>
          </p:cNvSpPr>
          <p:nvPr/>
        </p:nvSpPr>
        <p:spPr>
          <a:xfrm xmlns:a="http://schemas.openxmlformats.org/drawingml/2006/main">
            <a:off x="7334250" y="2466975"/>
            <a:ext cx="1952625" cy="733425"/>
          </a:xfrm>
          <a:prstGeom xmlns:a="http://schemas.openxmlformats.org/drawingml/2006/main" prst="rect">
            <a:avLst/>
          </a:prstGeom>
          <a:solidFill xmlns:a="http://schemas.openxmlformats.org/drawingml/2006/main">
            <a:srgbClr val="ECF3F7"/>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4EFFACE-A10E-488E-8E24-21F2A4CB5C14}"/>
              </a:ext>
            </a:extLst>
          </p:cNvPr>
          <p:cNvSpPr>
            <a:spLocks xmlns:a="http://schemas.openxmlformats.org/drawingml/2006/main" noGrp="1"/>
          </p:cNvSpPr>
          <p:nvPr/>
        </p:nvSpPr>
        <p:spPr>
          <a:xfrm xmlns:a="http://schemas.openxmlformats.org/drawingml/2006/main">
            <a:off x="7467600" y="2562225"/>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defRPr sz="1500" b="1">
                <a:solidFill>
                  <a:srgbClr val="087F8C"/>
                </a:solidFill>
                <a:latin typeface="Arial"/>
                <a:ea typeface="Arial"/>
                <a:cs typeface="Arial"/>
              </a:defRPr>
            </a:lvl1pPr>
            <a:lvl2pPr>
              <a:defRPr sz="1500" b="1">
                <a:solidFill>
                  <a:srgbClr val="087F8C"/>
                </a:solidFill>
                <a:latin typeface="Arial"/>
                <a:ea typeface="Arial"/>
                <a:cs typeface="Arial"/>
              </a:defRPr>
            </a:lvl2pPr>
            <a:lvl3pPr>
              <a:defRPr sz="1500" b="1">
                <a:solidFill>
                  <a:srgbClr val="087F8C"/>
                </a:solidFill>
                <a:latin typeface="Arial"/>
                <a:ea typeface="Arial"/>
                <a:cs typeface="Arial"/>
              </a:defRPr>
            </a:lvl3pPr>
            <a:lvl4pPr>
              <a:defRPr sz="1500" b="1">
                <a:solidFill>
                  <a:srgbClr val="087F8C"/>
                </a:solidFill>
                <a:latin typeface="Arial"/>
                <a:ea typeface="Arial"/>
                <a:cs typeface="Arial"/>
              </a:defRPr>
            </a:lvl4pPr>
            <a:lvl5pPr>
              <a:defRPr sz="1500" b="1">
                <a:solidFill>
                  <a:srgbClr val="087F8C"/>
                </a:solidFill>
                <a:latin typeface="Arial"/>
                <a:ea typeface="Arial"/>
                <a:cs typeface="Arial"/>
              </a:defRPr>
            </a:lvl5pPr>
            <a:lvl6pPr>
              <a:defRPr sz="1500" b="1">
                <a:solidFill>
                  <a:srgbClr val="087F8C"/>
                </a:solidFill>
                <a:latin typeface="Arial"/>
                <a:ea typeface="Arial"/>
                <a:cs typeface="Arial"/>
              </a:defRPr>
            </a:lvl6pPr>
            <a:lvl7pPr>
              <a:defRPr sz="1500" b="1">
                <a:solidFill>
                  <a:srgbClr val="087F8C"/>
                </a:solidFill>
                <a:latin typeface="Arial"/>
                <a:ea typeface="Arial"/>
                <a:cs typeface="Arial"/>
              </a:defRPr>
            </a:lvl7pPr>
            <a:lvl8pPr>
              <a:defRPr sz="1500" b="1">
                <a:solidFill>
                  <a:srgbClr val="087F8C"/>
                </a:solidFill>
                <a:latin typeface="Arial"/>
                <a:ea typeface="Arial"/>
                <a:cs typeface="Arial"/>
              </a:defRPr>
            </a:lvl8pPr>
            <a:lvl9pPr>
              <a:defRPr sz="1500" b="1">
                <a:solidFill>
                  <a:srgbClr val="087F8C"/>
                </a:solidFill>
                <a:latin typeface="Arial"/>
                <a:ea typeface="Arial"/>
                <a:cs typeface="Arial"/>
              </a:defRPr>
            </a:lvl9pPr>
          </a:lstStyle>
          <a:p xmlns:a="http://schemas.openxmlformats.org/drawingml/2006/main">
            <a:pPr>
              <a:defRPr sz="1500" b="1">
                <a:solidFill>
                  <a:srgbClr val="087F8C"/>
                </a:solidFill>
                <a:latin typeface="Arial"/>
                <a:ea typeface="Arial"/>
                <a:cs typeface="Arial"/>
              </a:defRPr>
            </a:pPr>
            <a:r>
              <a:rPr sz="1500" b="1">
                <a:solidFill>
                  <a:srgbClr val="087F8C"/>
                </a:solidFill>
                <a:latin typeface="Arial"/>
                <a:ea typeface="Arial"/>
                <a:cs typeface="Arial"/>
              </a:rPr>
              <a:t>Transactions</a:t>
            </a:r>
          </a:p>
        </p:txBody>
      </p:sp>
      <p:sp>
        <p:nvSpPr>
          <p:cNvPr id="15" name="">
            <a:extLst xmlns:a="http://schemas.openxmlformats.org/drawingml/2006/main">
              <a:ext uri="{FF2B5EF4-FFF2-40B4-BE49-F238E27FC236}">
                <a16:creationId xmlns:a16="http://schemas.microsoft.com/office/drawing/2014/main" id="{8964666D-CB34-484F-ABB5-70F2791910DE}"/>
              </a:ext>
            </a:extLst>
          </p:cNvPr>
          <p:cNvSpPr>
            <a:spLocks xmlns:a="http://schemas.openxmlformats.org/drawingml/2006/main" noGrp="1"/>
          </p:cNvSpPr>
          <p:nvPr/>
        </p:nvSpPr>
        <p:spPr>
          <a:xfrm xmlns:a="http://schemas.openxmlformats.org/drawingml/2006/main">
            <a:off x="9429750" y="2466975"/>
            <a:ext cx="1952625" cy="73342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0B3C0B3-B813-4BAD-ADBE-C57DF049F21B}"/>
              </a:ext>
            </a:extLst>
          </p:cNvPr>
          <p:cNvSpPr>
            <a:spLocks xmlns:a="http://schemas.openxmlformats.org/drawingml/2006/main" noGrp="1"/>
          </p:cNvSpPr>
          <p:nvPr/>
        </p:nvSpPr>
        <p:spPr>
          <a:xfrm xmlns:a="http://schemas.openxmlformats.org/drawingml/2006/main">
            <a:off x="9563100" y="2562225"/>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defRPr sz="1500" b="1">
                <a:solidFill>
                  <a:srgbClr val="087F8C"/>
                </a:solidFill>
                <a:latin typeface="Arial"/>
                <a:ea typeface="Arial"/>
                <a:cs typeface="Arial"/>
              </a:defRPr>
            </a:lvl1pPr>
            <a:lvl2pPr>
              <a:defRPr sz="1500" b="1">
                <a:solidFill>
                  <a:srgbClr val="087F8C"/>
                </a:solidFill>
                <a:latin typeface="Arial"/>
                <a:ea typeface="Arial"/>
                <a:cs typeface="Arial"/>
              </a:defRPr>
            </a:lvl2pPr>
            <a:lvl3pPr>
              <a:defRPr sz="1500" b="1">
                <a:solidFill>
                  <a:srgbClr val="087F8C"/>
                </a:solidFill>
                <a:latin typeface="Arial"/>
                <a:ea typeface="Arial"/>
                <a:cs typeface="Arial"/>
              </a:defRPr>
            </a:lvl3pPr>
            <a:lvl4pPr>
              <a:defRPr sz="1500" b="1">
                <a:solidFill>
                  <a:srgbClr val="087F8C"/>
                </a:solidFill>
                <a:latin typeface="Arial"/>
                <a:ea typeface="Arial"/>
                <a:cs typeface="Arial"/>
              </a:defRPr>
            </a:lvl4pPr>
            <a:lvl5pPr>
              <a:defRPr sz="1500" b="1">
                <a:solidFill>
                  <a:srgbClr val="087F8C"/>
                </a:solidFill>
                <a:latin typeface="Arial"/>
                <a:ea typeface="Arial"/>
                <a:cs typeface="Arial"/>
              </a:defRPr>
            </a:lvl5pPr>
            <a:lvl6pPr>
              <a:defRPr sz="1500" b="1">
                <a:solidFill>
                  <a:srgbClr val="087F8C"/>
                </a:solidFill>
                <a:latin typeface="Arial"/>
                <a:ea typeface="Arial"/>
                <a:cs typeface="Arial"/>
              </a:defRPr>
            </a:lvl6pPr>
            <a:lvl7pPr>
              <a:defRPr sz="1500" b="1">
                <a:solidFill>
                  <a:srgbClr val="087F8C"/>
                </a:solidFill>
                <a:latin typeface="Arial"/>
                <a:ea typeface="Arial"/>
                <a:cs typeface="Arial"/>
              </a:defRPr>
            </a:lvl7pPr>
            <a:lvl8pPr>
              <a:defRPr sz="1500" b="1">
                <a:solidFill>
                  <a:srgbClr val="087F8C"/>
                </a:solidFill>
                <a:latin typeface="Arial"/>
                <a:ea typeface="Arial"/>
                <a:cs typeface="Arial"/>
              </a:defRPr>
            </a:lvl8pPr>
            <a:lvl9pPr>
              <a:defRPr sz="1500" b="1">
                <a:solidFill>
                  <a:srgbClr val="087F8C"/>
                </a:solidFill>
                <a:latin typeface="Arial"/>
                <a:ea typeface="Arial"/>
                <a:cs typeface="Arial"/>
              </a:defRPr>
            </a:lvl9pPr>
          </a:lstStyle>
          <a:p xmlns:a="http://schemas.openxmlformats.org/drawingml/2006/main">
            <a:pPr>
              <a:defRPr sz="1500" b="1">
                <a:solidFill>
                  <a:srgbClr val="087F8C"/>
                </a:solidFill>
                <a:latin typeface="Arial"/>
                <a:ea typeface="Arial"/>
                <a:cs typeface="Arial"/>
              </a:defRPr>
            </a:pPr>
            <a:r>
              <a:rPr sz="1500" b="1">
                <a:solidFill>
                  <a:srgbClr val="087F8C"/>
                </a:solidFill>
                <a:latin typeface="Arial"/>
                <a:ea typeface="Arial"/>
                <a:cs typeface="Arial"/>
              </a:rPr>
              <a:t>Product events</a:t>
            </a:r>
          </a:p>
        </p:txBody>
      </p:sp>
      <p:sp>
        <p:nvSpPr>
          <p:cNvPr id="17" name="">
            <a:extLst xmlns:a="http://schemas.openxmlformats.org/drawingml/2006/main">
              <a:ext uri="{FF2B5EF4-FFF2-40B4-BE49-F238E27FC236}">
                <a16:creationId xmlns:a16="http://schemas.microsoft.com/office/drawing/2014/main" id="{708DB089-1DF8-4988-B064-68BBF20736E9}"/>
              </a:ext>
            </a:extLst>
          </p:cNvPr>
          <p:cNvSpPr>
            <a:spLocks xmlns:a="http://schemas.openxmlformats.org/drawingml/2006/main" noGrp="1"/>
          </p:cNvSpPr>
          <p:nvPr/>
        </p:nvSpPr>
        <p:spPr>
          <a:xfrm xmlns:a="http://schemas.openxmlformats.org/drawingml/2006/main">
            <a:off x="7334250" y="3371850"/>
            <a:ext cx="1952625" cy="733425"/>
          </a:xfrm>
          <a:prstGeom xmlns:a="http://schemas.openxmlformats.org/drawingml/2006/main" prst="rect">
            <a:avLst/>
          </a:prstGeom>
          <a:solidFill xmlns:a="http://schemas.openxmlformats.org/drawingml/2006/main">
            <a:srgbClr val="ECF3F7"/>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BE0100E7-3910-42FD-8826-663131098959}"/>
              </a:ext>
            </a:extLst>
          </p:cNvPr>
          <p:cNvSpPr>
            <a:spLocks xmlns:a="http://schemas.openxmlformats.org/drawingml/2006/main" noGrp="1"/>
          </p:cNvSpPr>
          <p:nvPr/>
        </p:nvSpPr>
        <p:spPr>
          <a:xfrm xmlns:a="http://schemas.openxmlformats.org/drawingml/2006/main">
            <a:off x="7467600" y="3467100"/>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defRPr sz="1500" b="1">
                <a:solidFill>
                  <a:srgbClr val="087F8C"/>
                </a:solidFill>
                <a:latin typeface="Arial"/>
                <a:ea typeface="Arial"/>
                <a:cs typeface="Arial"/>
              </a:defRPr>
            </a:lvl1pPr>
            <a:lvl2pPr>
              <a:defRPr sz="1500" b="1">
                <a:solidFill>
                  <a:srgbClr val="087F8C"/>
                </a:solidFill>
                <a:latin typeface="Arial"/>
                <a:ea typeface="Arial"/>
                <a:cs typeface="Arial"/>
              </a:defRPr>
            </a:lvl2pPr>
            <a:lvl3pPr>
              <a:defRPr sz="1500" b="1">
                <a:solidFill>
                  <a:srgbClr val="087F8C"/>
                </a:solidFill>
                <a:latin typeface="Arial"/>
                <a:ea typeface="Arial"/>
                <a:cs typeface="Arial"/>
              </a:defRPr>
            </a:lvl3pPr>
            <a:lvl4pPr>
              <a:defRPr sz="1500" b="1">
                <a:solidFill>
                  <a:srgbClr val="087F8C"/>
                </a:solidFill>
                <a:latin typeface="Arial"/>
                <a:ea typeface="Arial"/>
                <a:cs typeface="Arial"/>
              </a:defRPr>
            </a:lvl4pPr>
            <a:lvl5pPr>
              <a:defRPr sz="1500" b="1">
                <a:solidFill>
                  <a:srgbClr val="087F8C"/>
                </a:solidFill>
                <a:latin typeface="Arial"/>
                <a:ea typeface="Arial"/>
                <a:cs typeface="Arial"/>
              </a:defRPr>
            </a:lvl5pPr>
            <a:lvl6pPr>
              <a:defRPr sz="1500" b="1">
                <a:solidFill>
                  <a:srgbClr val="087F8C"/>
                </a:solidFill>
                <a:latin typeface="Arial"/>
                <a:ea typeface="Arial"/>
                <a:cs typeface="Arial"/>
              </a:defRPr>
            </a:lvl6pPr>
            <a:lvl7pPr>
              <a:defRPr sz="1500" b="1">
                <a:solidFill>
                  <a:srgbClr val="087F8C"/>
                </a:solidFill>
                <a:latin typeface="Arial"/>
                <a:ea typeface="Arial"/>
                <a:cs typeface="Arial"/>
              </a:defRPr>
            </a:lvl7pPr>
            <a:lvl8pPr>
              <a:defRPr sz="1500" b="1">
                <a:solidFill>
                  <a:srgbClr val="087F8C"/>
                </a:solidFill>
                <a:latin typeface="Arial"/>
                <a:ea typeface="Arial"/>
                <a:cs typeface="Arial"/>
              </a:defRPr>
            </a:lvl8pPr>
            <a:lvl9pPr>
              <a:defRPr sz="1500" b="1">
                <a:solidFill>
                  <a:srgbClr val="087F8C"/>
                </a:solidFill>
                <a:latin typeface="Arial"/>
                <a:ea typeface="Arial"/>
                <a:cs typeface="Arial"/>
              </a:defRPr>
            </a:lvl9pPr>
          </a:lstStyle>
          <a:p xmlns:a="http://schemas.openxmlformats.org/drawingml/2006/main">
            <a:pPr>
              <a:defRPr sz="1500" b="1">
                <a:solidFill>
                  <a:srgbClr val="087F8C"/>
                </a:solidFill>
                <a:latin typeface="Arial"/>
                <a:ea typeface="Arial"/>
                <a:cs typeface="Arial"/>
              </a:defRPr>
            </a:pPr>
            <a:r>
              <a:rPr sz="1500" b="1">
                <a:solidFill>
                  <a:srgbClr val="087F8C"/>
                </a:solidFill>
                <a:latin typeface="Arial"/>
                <a:ea typeface="Arial"/>
                <a:cs typeface="Arial"/>
              </a:rPr>
              <a:t>Feedback</a:t>
            </a:r>
          </a:p>
        </p:txBody>
      </p:sp>
      <p:sp>
        <p:nvSpPr>
          <p:cNvPr id="19" name="">
            <a:extLst xmlns:a="http://schemas.openxmlformats.org/drawingml/2006/main">
              <a:ext uri="{FF2B5EF4-FFF2-40B4-BE49-F238E27FC236}">
                <a16:creationId xmlns:a16="http://schemas.microsoft.com/office/drawing/2014/main" id="{5B383CEC-280E-4257-B7F5-E57D65B8FBAA}"/>
              </a:ext>
            </a:extLst>
          </p:cNvPr>
          <p:cNvSpPr>
            <a:spLocks xmlns:a="http://schemas.openxmlformats.org/drawingml/2006/main" noGrp="1"/>
          </p:cNvSpPr>
          <p:nvPr/>
        </p:nvSpPr>
        <p:spPr>
          <a:xfrm xmlns:a="http://schemas.openxmlformats.org/drawingml/2006/main">
            <a:off x="9429750" y="3371850"/>
            <a:ext cx="1952625" cy="73342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BE197DA-E43C-474B-BE55-868A248F1495}"/>
              </a:ext>
            </a:extLst>
          </p:cNvPr>
          <p:cNvSpPr>
            <a:spLocks xmlns:a="http://schemas.openxmlformats.org/drawingml/2006/main" noGrp="1"/>
          </p:cNvSpPr>
          <p:nvPr/>
        </p:nvSpPr>
        <p:spPr>
          <a:xfrm xmlns:a="http://schemas.openxmlformats.org/drawingml/2006/main">
            <a:off x="9563100" y="3467100"/>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defRPr sz="1500" b="1">
                <a:solidFill>
                  <a:srgbClr val="087F8C"/>
                </a:solidFill>
                <a:latin typeface="Arial"/>
                <a:ea typeface="Arial"/>
                <a:cs typeface="Arial"/>
              </a:defRPr>
            </a:lvl1pPr>
            <a:lvl2pPr>
              <a:defRPr sz="1500" b="1">
                <a:solidFill>
                  <a:srgbClr val="087F8C"/>
                </a:solidFill>
                <a:latin typeface="Arial"/>
                <a:ea typeface="Arial"/>
                <a:cs typeface="Arial"/>
              </a:defRPr>
            </a:lvl2pPr>
            <a:lvl3pPr>
              <a:defRPr sz="1500" b="1">
                <a:solidFill>
                  <a:srgbClr val="087F8C"/>
                </a:solidFill>
                <a:latin typeface="Arial"/>
                <a:ea typeface="Arial"/>
                <a:cs typeface="Arial"/>
              </a:defRPr>
            </a:lvl3pPr>
            <a:lvl4pPr>
              <a:defRPr sz="1500" b="1">
                <a:solidFill>
                  <a:srgbClr val="087F8C"/>
                </a:solidFill>
                <a:latin typeface="Arial"/>
                <a:ea typeface="Arial"/>
                <a:cs typeface="Arial"/>
              </a:defRPr>
            </a:lvl4pPr>
            <a:lvl5pPr>
              <a:defRPr sz="1500" b="1">
                <a:solidFill>
                  <a:srgbClr val="087F8C"/>
                </a:solidFill>
                <a:latin typeface="Arial"/>
                <a:ea typeface="Arial"/>
                <a:cs typeface="Arial"/>
              </a:defRPr>
            </a:lvl5pPr>
            <a:lvl6pPr>
              <a:defRPr sz="1500" b="1">
                <a:solidFill>
                  <a:srgbClr val="087F8C"/>
                </a:solidFill>
                <a:latin typeface="Arial"/>
                <a:ea typeface="Arial"/>
                <a:cs typeface="Arial"/>
              </a:defRPr>
            </a:lvl6pPr>
            <a:lvl7pPr>
              <a:defRPr sz="1500" b="1">
                <a:solidFill>
                  <a:srgbClr val="087F8C"/>
                </a:solidFill>
                <a:latin typeface="Arial"/>
                <a:ea typeface="Arial"/>
                <a:cs typeface="Arial"/>
              </a:defRPr>
            </a:lvl7pPr>
            <a:lvl8pPr>
              <a:defRPr sz="1500" b="1">
                <a:solidFill>
                  <a:srgbClr val="087F8C"/>
                </a:solidFill>
                <a:latin typeface="Arial"/>
                <a:ea typeface="Arial"/>
                <a:cs typeface="Arial"/>
              </a:defRPr>
            </a:lvl8pPr>
            <a:lvl9pPr>
              <a:defRPr sz="1500" b="1">
                <a:solidFill>
                  <a:srgbClr val="087F8C"/>
                </a:solidFill>
                <a:latin typeface="Arial"/>
                <a:ea typeface="Arial"/>
                <a:cs typeface="Arial"/>
              </a:defRPr>
            </a:lvl9pPr>
          </a:lstStyle>
          <a:p xmlns:a="http://schemas.openxmlformats.org/drawingml/2006/main">
            <a:pPr>
              <a:defRPr sz="1500" b="1">
                <a:solidFill>
                  <a:srgbClr val="087F8C"/>
                </a:solidFill>
                <a:latin typeface="Arial"/>
                <a:ea typeface="Arial"/>
                <a:cs typeface="Arial"/>
              </a:defRPr>
            </a:pPr>
            <a:r>
              <a:rPr sz="1500" b="1">
                <a:solidFill>
                  <a:srgbClr val="087F8C"/>
                </a:solidFill>
                <a:latin typeface="Arial"/>
                <a:ea typeface="Arial"/>
                <a:cs typeface="Arial"/>
              </a:rPr>
              <a:t>Campaign spend</a:t>
            </a:r>
          </a:p>
        </p:txBody>
      </p:sp>
      <p:sp>
        <p:nvSpPr>
          <p:cNvPr id="21" name="">
            <a:extLst xmlns:a="http://schemas.openxmlformats.org/drawingml/2006/main">
              <a:ext uri="{FF2B5EF4-FFF2-40B4-BE49-F238E27FC236}">
                <a16:creationId xmlns:a16="http://schemas.microsoft.com/office/drawing/2014/main" id="{8060F412-0419-4F8B-A07B-A5FDEB51284B}"/>
              </a:ext>
            </a:extLst>
          </p:cNvPr>
          <p:cNvSpPr>
            <a:spLocks xmlns:a="http://schemas.openxmlformats.org/drawingml/2006/main" noGrp="1"/>
          </p:cNvSpPr>
          <p:nvPr/>
        </p:nvSpPr>
        <p:spPr>
          <a:xfrm xmlns:a="http://schemas.openxmlformats.org/drawingml/2006/main">
            <a:off x="7334250" y="4276725"/>
            <a:ext cx="1952625" cy="733425"/>
          </a:xfrm>
          <a:prstGeom xmlns:a="http://schemas.openxmlformats.org/drawingml/2006/main" prst="rect">
            <a:avLst/>
          </a:prstGeom>
          <a:solidFill xmlns:a="http://schemas.openxmlformats.org/drawingml/2006/main">
            <a:srgbClr val="ECF3F7"/>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23B9416-5214-4C5E-99D5-01314914B6FE}"/>
              </a:ext>
            </a:extLst>
          </p:cNvPr>
          <p:cNvSpPr>
            <a:spLocks xmlns:a="http://schemas.openxmlformats.org/drawingml/2006/main" noGrp="1"/>
          </p:cNvSpPr>
          <p:nvPr/>
        </p:nvSpPr>
        <p:spPr>
          <a:xfrm xmlns:a="http://schemas.openxmlformats.org/drawingml/2006/main">
            <a:off x="7467600" y="4371975"/>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defRPr sz="1500" b="1">
                <a:solidFill>
                  <a:srgbClr val="087F8C"/>
                </a:solidFill>
                <a:latin typeface="Arial"/>
                <a:ea typeface="Arial"/>
                <a:cs typeface="Arial"/>
              </a:defRPr>
            </a:lvl1pPr>
            <a:lvl2pPr>
              <a:defRPr sz="1500" b="1">
                <a:solidFill>
                  <a:srgbClr val="087F8C"/>
                </a:solidFill>
                <a:latin typeface="Arial"/>
                <a:ea typeface="Arial"/>
                <a:cs typeface="Arial"/>
              </a:defRPr>
            </a:lvl2pPr>
            <a:lvl3pPr>
              <a:defRPr sz="1500" b="1">
                <a:solidFill>
                  <a:srgbClr val="087F8C"/>
                </a:solidFill>
                <a:latin typeface="Arial"/>
                <a:ea typeface="Arial"/>
                <a:cs typeface="Arial"/>
              </a:defRPr>
            </a:lvl3pPr>
            <a:lvl4pPr>
              <a:defRPr sz="1500" b="1">
                <a:solidFill>
                  <a:srgbClr val="087F8C"/>
                </a:solidFill>
                <a:latin typeface="Arial"/>
                <a:ea typeface="Arial"/>
                <a:cs typeface="Arial"/>
              </a:defRPr>
            </a:lvl4pPr>
            <a:lvl5pPr>
              <a:defRPr sz="1500" b="1">
                <a:solidFill>
                  <a:srgbClr val="087F8C"/>
                </a:solidFill>
                <a:latin typeface="Arial"/>
                <a:ea typeface="Arial"/>
                <a:cs typeface="Arial"/>
              </a:defRPr>
            </a:lvl5pPr>
            <a:lvl6pPr>
              <a:defRPr sz="1500" b="1">
                <a:solidFill>
                  <a:srgbClr val="087F8C"/>
                </a:solidFill>
                <a:latin typeface="Arial"/>
                <a:ea typeface="Arial"/>
                <a:cs typeface="Arial"/>
              </a:defRPr>
            </a:lvl6pPr>
            <a:lvl7pPr>
              <a:defRPr sz="1500" b="1">
                <a:solidFill>
                  <a:srgbClr val="087F8C"/>
                </a:solidFill>
                <a:latin typeface="Arial"/>
                <a:ea typeface="Arial"/>
                <a:cs typeface="Arial"/>
              </a:defRPr>
            </a:lvl7pPr>
            <a:lvl8pPr>
              <a:defRPr sz="1500" b="1">
                <a:solidFill>
                  <a:srgbClr val="087F8C"/>
                </a:solidFill>
                <a:latin typeface="Arial"/>
                <a:ea typeface="Arial"/>
                <a:cs typeface="Arial"/>
              </a:defRPr>
            </a:lvl8pPr>
            <a:lvl9pPr>
              <a:defRPr sz="1500" b="1">
                <a:solidFill>
                  <a:srgbClr val="087F8C"/>
                </a:solidFill>
                <a:latin typeface="Arial"/>
                <a:ea typeface="Arial"/>
                <a:cs typeface="Arial"/>
              </a:defRPr>
            </a:lvl9pPr>
          </a:lstStyle>
          <a:p xmlns:a="http://schemas.openxmlformats.org/drawingml/2006/main">
            <a:pPr>
              <a:defRPr sz="1500" b="1">
                <a:solidFill>
                  <a:srgbClr val="087F8C"/>
                </a:solidFill>
                <a:latin typeface="Arial"/>
                <a:ea typeface="Arial"/>
                <a:cs typeface="Arial"/>
              </a:defRPr>
            </a:pPr>
            <a:r>
              <a:rPr sz="1500" b="1">
                <a:solidFill>
                  <a:srgbClr val="087F8C"/>
                </a:solidFill>
                <a:latin typeface="Arial"/>
                <a:ea typeface="Arial"/>
                <a:cs typeface="Arial"/>
              </a:rPr>
              <a:t>Source credit</a:t>
            </a:r>
          </a:p>
        </p:txBody>
      </p:sp>
      <p:sp>
        <p:nvSpPr>
          <p:cNvPr id="23" name="">
            <a:extLst xmlns:a="http://schemas.openxmlformats.org/drawingml/2006/main">
              <a:ext uri="{FF2B5EF4-FFF2-40B4-BE49-F238E27FC236}">
                <a16:creationId xmlns:a16="http://schemas.microsoft.com/office/drawing/2014/main" id="{37DDC9F3-38A7-45E6-8551-49D41B8AF183}"/>
              </a:ext>
            </a:extLst>
          </p:cNvPr>
          <p:cNvSpPr>
            <a:spLocks xmlns:a="http://schemas.openxmlformats.org/drawingml/2006/main" noGrp="1"/>
          </p:cNvSpPr>
          <p:nvPr/>
        </p:nvSpPr>
        <p:spPr>
          <a:xfrm xmlns:a="http://schemas.openxmlformats.org/drawingml/2006/main">
            <a:off x="9429750" y="4276725"/>
            <a:ext cx="1952625" cy="73342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B099141-4194-4B14-BD40-8A7CB97EEDA8}"/>
              </a:ext>
            </a:extLst>
          </p:cNvPr>
          <p:cNvSpPr>
            <a:spLocks xmlns:a="http://schemas.openxmlformats.org/drawingml/2006/main" noGrp="1"/>
          </p:cNvSpPr>
          <p:nvPr/>
        </p:nvSpPr>
        <p:spPr>
          <a:xfrm xmlns:a="http://schemas.openxmlformats.org/drawingml/2006/main">
            <a:off x="9563100" y="4371975"/>
            <a:ext cx="16859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1">
                <a:solidFill>
                  <a:srgbClr val="087F8C"/>
                </a:solidFill>
                <a:latin typeface="Arial"/>
                <a:ea typeface="Arial"/>
                <a:cs typeface="Arial"/>
              </a:defRPr>
            </a:defPPr>
            <a:lvl1pPr>
              <a:defRPr sz="1500" b="1">
                <a:solidFill>
                  <a:srgbClr val="087F8C"/>
                </a:solidFill>
                <a:latin typeface="Arial"/>
                <a:ea typeface="Arial"/>
                <a:cs typeface="Arial"/>
              </a:defRPr>
            </a:lvl1pPr>
            <a:lvl2pPr>
              <a:defRPr sz="1500" b="1">
                <a:solidFill>
                  <a:srgbClr val="087F8C"/>
                </a:solidFill>
                <a:latin typeface="Arial"/>
                <a:ea typeface="Arial"/>
                <a:cs typeface="Arial"/>
              </a:defRPr>
            </a:lvl2pPr>
            <a:lvl3pPr>
              <a:defRPr sz="1500" b="1">
                <a:solidFill>
                  <a:srgbClr val="087F8C"/>
                </a:solidFill>
                <a:latin typeface="Arial"/>
                <a:ea typeface="Arial"/>
                <a:cs typeface="Arial"/>
              </a:defRPr>
            </a:lvl3pPr>
            <a:lvl4pPr>
              <a:defRPr sz="1500" b="1">
                <a:solidFill>
                  <a:srgbClr val="087F8C"/>
                </a:solidFill>
                <a:latin typeface="Arial"/>
                <a:ea typeface="Arial"/>
                <a:cs typeface="Arial"/>
              </a:defRPr>
            </a:lvl4pPr>
            <a:lvl5pPr>
              <a:defRPr sz="1500" b="1">
                <a:solidFill>
                  <a:srgbClr val="087F8C"/>
                </a:solidFill>
                <a:latin typeface="Arial"/>
                <a:ea typeface="Arial"/>
                <a:cs typeface="Arial"/>
              </a:defRPr>
            </a:lvl5pPr>
            <a:lvl6pPr>
              <a:defRPr sz="1500" b="1">
                <a:solidFill>
                  <a:srgbClr val="087F8C"/>
                </a:solidFill>
                <a:latin typeface="Arial"/>
                <a:ea typeface="Arial"/>
                <a:cs typeface="Arial"/>
              </a:defRPr>
            </a:lvl6pPr>
            <a:lvl7pPr>
              <a:defRPr sz="1500" b="1">
                <a:solidFill>
                  <a:srgbClr val="087F8C"/>
                </a:solidFill>
                <a:latin typeface="Arial"/>
                <a:ea typeface="Arial"/>
                <a:cs typeface="Arial"/>
              </a:defRPr>
            </a:lvl7pPr>
            <a:lvl8pPr>
              <a:defRPr sz="1500" b="1">
                <a:solidFill>
                  <a:srgbClr val="087F8C"/>
                </a:solidFill>
                <a:latin typeface="Arial"/>
                <a:ea typeface="Arial"/>
                <a:cs typeface="Arial"/>
              </a:defRPr>
            </a:lvl8pPr>
            <a:lvl9pPr>
              <a:defRPr sz="1500" b="1">
                <a:solidFill>
                  <a:srgbClr val="087F8C"/>
                </a:solidFill>
                <a:latin typeface="Arial"/>
                <a:ea typeface="Arial"/>
                <a:cs typeface="Arial"/>
              </a:defRPr>
            </a:lvl9pPr>
          </a:lstStyle>
          <a:p xmlns:a="http://schemas.openxmlformats.org/drawingml/2006/main">
            <a:pPr>
              <a:defRPr sz="1500" b="1">
                <a:solidFill>
                  <a:srgbClr val="087F8C"/>
                </a:solidFill>
                <a:latin typeface="Arial"/>
                <a:ea typeface="Arial"/>
                <a:cs typeface="Arial"/>
              </a:defRPr>
            </a:pPr>
            <a:r>
              <a:rPr sz="1500" b="1">
                <a:solidFill>
                  <a:srgbClr val="087F8C"/>
                </a:solidFill>
                <a:latin typeface="Arial"/>
                <a:ea typeface="Arial"/>
                <a:cs typeface="Arial"/>
              </a:rPr>
              <a:t>Assignments</a:t>
            </a:r>
          </a:p>
        </p:txBody>
      </p:sp>
    </p:spTree>
    <p:extLst>
      <p:ext uri="{BB962C8B-B14F-4D97-AF65-F5344CB8AC3E}">
        <p14:creationId xmlns:p14="http://schemas.microsoft.com/office/powerpoint/2010/main" val="174162616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60EE1687-ABE3-42B5-9474-719ADBA29BAE}"/>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2BCE2DC-F308-4321-9090-D3C8D1B29A30}"/>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How to read the slide colors</a:t>
            </a:r>
          </a:p>
        </p:txBody>
      </p:sp>
      <p:sp>
        <p:nvSpPr>
          <p:cNvPr id="3" name="">
            <a:extLst xmlns:a="http://schemas.openxmlformats.org/drawingml/2006/main">
              <a:ext uri="{FF2B5EF4-FFF2-40B4-BE49-F238E27FC236}">
                <a16:creationId xmlns:a16="http://schemas.microsoft.com/office/drawing/2014/main" id="{F85FB19F-FCD2-4612-A2FB-A4084096C264}"/>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3191B5"/>
                </a:solidFill>
                <a:latin typeface="Arial"/>
                <a:ea typeface="Arial"/>
                <a:cs typeface="Arial"/>
              </a:defRPr>
            </a:defPPr>
            <a:lvl1pPr>
              <a:defRPr sz="900" b="1">
                <a:solidFill>
                  <a:srgbClr val="3191B5"/>
                </a:solidFill>
                <a:latin typeface="Arial"/>
                <a:ea typeface="Arial"/>
                <a:cs typeface="Arial"/>
              </a:defRPr>
            </a:lvl1pPr>
            <a:lvl2pPr>
              <a:defRPr sz="900" b="1">
                <a:solidFill>
                  <a:srgbClr val="3191B5"/>
                </a:solidFill>
                <a:latin typeface="Arial"/>
                <a:ea typeface="Arial"/>
                <a:cs typeface="Arial"/>
              </a:defRPr>
            </a:lvl2pPr>
            <a:lvl3pPr>
              <a:defRPr sz="900" b="1">
                <a:solidFill>
                  <a:srgbClr val="3191B5"/>
                </a:solidFill>
                <a:latin typeface="Arial"/>
                <a:ea typeface="Arial"/>
                <a:cs typeface="Arial"/>
              </a:defRPr>
            </a:lvl3pPr>
            <a:lvl4pPr>
              <a:defRPr sz="900" b="1">
                <a:solidFill>
                  <a:srgbClr val="3191B5"/>
                </a:solidFill>
                <a:latin typeface="Arial"/>
                <a:ea typeface="Arial"/>
                <a:cs typeface="Arial"/>
              </a:defRPr>
            </a:lvl4pPr>
            <a:lvl5pPr>
              <a:defRPr sz="900" b="1">
                <a:solidFill>
                  <a:srgbClr val="3191B5"/>
                </a:solidFill>
                <a:latin typeface="Arial"/>
                <a:ea typeface="Arial"/>
                <a:cs typeface="Arial"/>
              </a:defRPr>
            </a:lvl5pPr>
            <a:lvl6pPr>
              <a:defRPr sz="900" b="1">
                <a:solidFill>
                  <a:srgbClr val="3191B5"/>
                </a:solidFill>
                <a:latin typeface="Arial"/>
                <a:ea typeface="Arial"/>
                <a:cs typeface="Arial"/>
              </a:defRPr>
            </a:lvl6pPr>
            <a:lvl7pPr>
              <a:defRPr sz="900" b="1">
                <a:solidFill>
                  <a:srgbClr val="3191B5"/>
                </a:solidFill>
                <a:latin typeface="Arial"/>
                <a:ea typeface="Arial"/>
                <a:cs typeface="Arial"/>
              </a:defRPr>
            </a:lvl7pPr>
            <a:lvl8pPr>
              <a:defRPr sz="900" b="1">
                <a:solidFill>
                  <a:srgbClr val="3191B5"/>
                </a:solidFill>
                <a:latin typeface="Arial"/>
                <a:ea typeface="Arial"/>
                <a:cs typeface="Arial"/>
              </a:defRPr>
            </a:lvl8pPr>
            <a:lvl9pPr>
              <a:defRPr sz="900" b="1">
                <a:solidFill>
                  <a:srgbClr val="3191B5"/>
                </a:solidFill>
                <a:latin typeface="Arial"/>
                <a:ea typeface="Arial"/>
                <a:cs typeface="Arial"/>
              </a:defRPr>
            </a:lvl9pPr>
          </a:lstStyle>
          <a:p xmlns:a="http://schemas.openxmlformats.org/drawingml/2006/main">
            <a:pPr>
              <a:defRPr sz="900" b="1">
                <a:solidFill>
                  <a:srgbClr val="3191B5"/>
                </a:solidFill>
                <a:latin typeface="Arial"/>
                <a:ea typeface="Arial"/>
                <a:cs typeface="Arial"/>
              </a:defRPr>
            </a:pPr>
            <a:r>
              <a:rPr sz="900" b="1">
                <a:solidFill>
                  <a:srgbClr val="3191B5"/>
                </a:solidFill>
                <a:latin typeface="Arial"/>
                <a:ea typeface="Arial"/>
                <a:cs typeface="Arial"/>
              </a:rPr>
              <a:t>CONCEPT</a:t>
            </a:r>
          </a:p>
        </p:txBody>
      </p:sp>
      <p:sp>
        <p:nvSpPr>
          <p:cNvPr id="4" name="">
            <a:extLst xmlns:a="http://schemas.openxmlformats.org/drawingml/2006/main">
              <a:ext uri="{FF2B5EF4-FFF2-40B4-BE49-F238E27FC236}">
                <a16:creationId xmlns:a16="http://schemas.microsoft.com/office/drawing/2014/main" id="{F7EE0C36-EA8A-4572-958B-472EB0D7468C}"/>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6D19C9C1-445B-4797-8ADB-8B0B52153596}"/>
              </a:ext>
            </a:extLst>
          </p:cNvPr>
          <p:cNvSpPr>
            <a:spLocks xmlns:a="http://schemas.openxmlformats.org/drawingml/2006/main" noGrp="1"/>
          </p:cNvSpPr>
          <p:nvPr/>
        </p:nvSpPr>
        <p:spPr>
          <a:xfrm xmlns:a="http://schemas.openxmlformats.org/drawingml/2006/main">
            <a:off x="609600" y="1638300"/>
            <a:ext cx="123825" cy="619125"/>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4EFB578-3BF3-4610-B35A-FD9C31B2B3F7}"/>
              </a:ext>
            </a:extLst>
          </p:cNvPr>
          <p:cNvSpPr>
            <a:spLocks xmlns:a="http://schemas.openxmlformats.org/drawingml/2006/main" noGrp="1"/>
          </p:cNvSpPr>
          <p:nvPr/>
        </p:nvSpPr>
        <p:spPr>
          <a:xfrm xmlns:a="http://schemas.openxmlformats.org/drawingml/2006/main">
            <a:off x="942975" y="1647825"/>
            <a:ext cx="3143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75" b="1">
                <a:solidFill>
                  <a:srgbClr val="3191B5"/>
                </a:solidFill>
                <a:latin typeface="Arial"/>
                <a:ea typeface="Arial"/>
                <a:cs typeface="Arial"/>
              </a:defRPr>
            </a:defPPr>
            <a:lvl1pPr>
              <a:defRPr sz="1875" b="1">
                <a:solidFill>
                  <a:srgbClr val="3191B5"/>
                </a:solidFill>
                <a:latin typeface="Arial"/>
                <a:ea typeface="Arial"/>
                <a:cs typeface="Arial"/>
              </a:defRPr>
            </a:lvl1pPr>
            <a:lvl2pPr>
              <a:defRPr sz="1875" b="1">
                <a:solidFill>
                  <a:srgbClr val="3191B5"/>
                </a:solidFill>
                <a:latin typeface="Arial"/>
                <a:ea typeface="Arial"/>
                <a:cs typeface="Arial"/>
              </a:defRPr>
            </a:lvl2pPr>
            <a:lvl3pPr>
              <a:defRPr sz="1875" b="1">
                <a:solidFill>
                  <a:srgbClr val="3191B5"/>
                </a:solidFill>
                <a:latin typeface="Arial"/>
                <a:ea typeface="Arial"/>
                <a:cs typeface="Arial"/>
              </a:defRPr>
            </a:lvl3pPr>
            <a:lvl4pPr>
              <a:defRPr sz="1875" b="1">
                <a:solidFill>
                  <a:srgbClr val="3191B5"/>
                </a:solidFill>
                <a:latin typeface="Arial"/>
                <a:ea typeface="Arial"/>
                <a:cs typeface="Arial"/>
              </a:defRPr>
            </a:lvl4pPr>
            <a:lvl5pPr>
              <a:defRPr sz="1875" b="1">
                <a:solidFill>
                  <a:srgbClr val="3191B5"/>
                </a:solidFill>
                <a:latin typeface="Arial"/>
                <a:ea typeface="Arial"/>
                <a:cs typeface="Arial"/>
              </a:defRPr>
            </a:lvl5pPr>
            <a:lvl6pPr>
              <a:defRPr sz="1875" b="1">
                <a:solidFill>
                  <a:srgbClr val="3191B5"/>
                </a:solidFill>
                <a:latin typeface="Arial"/>
                <a:ea typeface="Arial"/>
                <a:cs typeface="Arial"/>
              </a:defRPr>
            </a:lvl6pPr>
            <a:lvl7pPr>
              <a:defRPr sz="1875" b="1">
                <a:solidFill>
                  <a:srgbClr val="3191B5"/>
                </a:solidFill>
                <a:latin typeface="Arial"/>
                <a:ea typeface="Arial"/>
                <a:cs typeface="Arial"/>
              </a:defRPr>
            </a:lvl7pPr>
            <a:lvl8pPr>
              <a:defRPr sz="1875" b="1">
                <a:solidFill>
                  <a:srgbClr val="3191B5"/>
                </a:solidFill>
                <a:latin typeface="Arial"/>
                <a:ea typeface="Arial"/>
                <a:cs typeface="Arial"/>
              </a:defRPr>
            </a:lvl8pPr>
            <a:lvl9pPr>
              <a:defRPr sz="1875" b="1">
                <a:solidFill>
                  <a:srgbClr val="3191B5"/>
                </a:solidFill>
                <a:latin typeface="Arial"/>
                <a:ea typeface="Arial"/>
                <a:cs typeface="Arial"/>
              </a:defRPr>
            </a:lvl9pPr>
          </a:lstStyle>
          <a:p xmlns:a="http://schemas.openxmlformats.org/drawingml/2006/main">
            <a:pPr>
              <a:defRPr sz="1875" b="1">
                <a:solidFill>
                  <a:srgbClr val="3191B5"/>
                </a:solidFill>
                <a:latin typeface="Arial"/>
                <a:ea typeface="Arial"/>
                <a:cs typeface="Arial"/>
              </a:defRPr>
            </a:pPr>
            <a:r>
              <a:rPr sz="1875" b="1">
                <a:solidFill>
                  <a:srgbClr val="3191B5"/>
                </a:solidFill>
                <a:latin typeface="Arial"/>
                <a:ea typeface="Arial"/>
                <a:cs typeface="Arial"/>
              </a:rPr>
              <a:t>Concept</a:t>
            </a:r>
          </a:p>
        </p:txBody>
      </p:sp>
      <p:sp>
        <p:nvSpPr>
          <p:cNvPr id="7" name="">
            <a:extLst xmlns:a="http://schemas.openxmlformats.org/drawingml/2006/main">
              <a:ext uri="{FF2B5EF4-FFF2-40B4-BE49-F238E27FC236}">
                <a16:creationId xmlns:a16="http://schemas.microsoft.com/office/drawing/2014/main" id="{1DE50703-247A-4E30-B04E-43B297B250AF}"/>
              </a:ext>
            </a:extLst>
          </p:cNvPr>
          <p:cNvSpPr>
            <a:spLocks xmlns:a="http://schemas.openxmlformats.org/drawingml/2006/main" noGrp="1"/>
          </p:cNvSpPr>
          <p:nvPr/>
        </p:nvSpPr>
        <p:spPr>
          <a:xfrm xmlns:a="http://schemas.openxmlformats.org/drawingml/2006/main">
            <a:off x="4257675" y="1647825"/>
            <a:ext cx="700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0">
                <a:solidFill>
                  <a:srgbClr val="172D3C"/>
                </a:solidFill>
                <a:latin typeface="Arial"/>
                <a:ea typeface="Arial"/>
                <a:cs typeface="Arial"/>
              </a:defRPr>
            </a:defPPr>
            <a:lvl1pPr>
              <a:defRPr sz="1575" b="0">
                <a:solidFill>
                  <a:srgbClr val="172D3C"/>
                </a:solidFill>
                <a:latin typeface="Arial"/>
                <a:ea typeface="Arial"/>
                <a:cs typeface="Arial"/>
              </a:defRPr>
            </a:lvl1pPr>
            <a:lvl2pPr>
              <a:defRPr sz="1575" b="0">
                <a:solidFill>
                  <a:srgbClr val="172D3C"/>
                </a:solidFill>
                <a:latin typeface="Arial"/>
                <a:ea typeface="Arial"/>
                <a:cs typeface="Arial"/>
              </a:defRPr>
            </a:lvl2pPr>
            <a:lvl3pPr>
              <a:defRPr sz="1575" b="0">
                <a:solidFill>
                  <a:srgbClr val="172D3C"/>
                </a:solidFill>
                <a:latin typeface="Arial"/>
                <a:ea typeface="Arial"/>
                <a:cs typeface="Arial"/>
              </a:defRPr>
            </a:lvl3pPr>
            <a:lvl4pPr>
              <a:defRPr sz="1575" b="0">
                <a:solidFill>
                  <a:srgbClr val="172D3C"/>
                </a:solidFill>
                <a:latin typeface="Arial"/>
                <a:ea typeface="Arial"/>
                <a:cs typeface="Arial"/>
              </a:defRPr>
            </a:lvl4pPr>
            <a:lvl5pPr>
              <a:defRPr sz="1575" b="0">
                <a:solidFill>
                  <a:srgbClr val="172D3C"/>
                </a:solidFill>
                <a:latin typeface="Arial"/>
                <a:ea typeface="Arial"/>
                <a:cs typeface="Arial"/>
              </a:defRPr>
            </a:lvl5pPr>
            <a:lvl6pPr>
              <a:defRPr sz="1575" b="0">
                <a:solidFill>
                  <a:srgbClr val="172D3C"/>
                </a:solidFill>
                <a:latin typeface="Arial"/>
                <a:ea typeface="Arial"/>
                <a:cs typeface="Arial"/>
              </a:defRPr>
            </a:lvl6pPr>
            <a:lvl7pPr>
              <a:defRPr sz="1575" b="0">
                <a:solidFill>
                  <a:srgbClr val="172D3C"/>
                </a:solidFill>
                <a:latin typeface="Arial"/>
                <a:ea typeface="Arial"/>
                <a:cs typeface="Arial"/>
              </a:defRPr>
            </a:lvl7pPr>
            <a:lvl8pPr>
              <a:defRPr sz="1575" b="0">
                <a:solidFill>
                  <a:srgbClr val="172D3C"/>
                </a:solidFill>
                <a:latin typeface="Arial"/>
                <a:ea typeface="Arial"/>
                <a:cs typeface="Arial"/>
              </a:defRPr>
            </a:lvl8pPr>
            <a:lvl9pPr>
              <a:defRPr sz="1575" b="0">
                <a:solidFill>
                  <a:srgbClr val="172D3C"/>
                </a:solidFill>
                <a:latin typeface="Arial"/>
                <a:ea typeface="Arial"/>
                <a:cs typeface="Arial"/>
              </a:defRPr>
            </a:lvl9pPr>
          </a:lstStyle>
          <a:p xmlns:a="http://schemas.openxmlformats.org/drawingml/2006/main">
            <a:pPr>
              <a:defRPr sz="1575" b="0">
                <a:solidFill>
                  <a:srgbClr val="172D3C"/>
                </a:solidFill>
                <a:latin typeface="Arial"/>
                <a:ea typeface="Arial"/>
                <a:cs typeface="Arial"/>
              </a:defRPr>
            </a:pPr>
            <a:r>
              <a:rPr sz="1575" b="0">
                <a:solidFill>
                  <a:srgbClr val="172D3C"/>
                </a:solidFill>
                <a:latin typeface="Arial"/>
                <a:ea typeface="Arial"/>
                <a:cs typeface="Arial"/>
              </a:rPr>
              <a:t>Definitions and distinctions to use when interpreting the data.</a:t>
            </a:r>
          </a:p>
        </p:txBody>
      </p:sp>
      <p:sp>
        <p:nvSpPr>
          <p:cNvPr id="8" name="">
            <a:extLst xmlns:a="http://schemas.openxmlformats.org/drawingml/2006/main">
              <a:ext uri="{FF2B5EF4-FFF2-40B4-BE49-F238E27FC236}">
                <a16:creationId xmlns:a16="http://schemas.microsoft.com/office/drawing/2014/main" id="{F9762466-A344-4435-8662-ADB0AD9473A9}"/>
              </a:ext>
            </a:extLst>
          </p:cNvPr>
          <p:cNvSpPr>
            <a:spLocks xmlns:a="http://schemas.openxmlformats.org/drawingml/2006/main" noGrp="1"/>
          </p:cNvSpPr>
          <p:nvPr/>
        </p:nvSpPr>
        <p:spPr>
          <a:xfrm xmlns:a="http://schemas.openxmlformats.org/drawingml/2006/main">
            <a:off x="609600" y="2476500"/>
            <a:ext cx="123825" cy="61912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2897613-F2FF-48F3-9D1A-E8DF82C5BF72}"/>
              </a:ext>
            </a:extLst>
          </p:cNvPr>
          <p:cNvSpPr>
            <a:spLocks xmlns:a="http://schemas.openxmlformats.org/drawingml/2006/main" noGrp="1"/>
          </p:cNvSpPr>
          <p:nvPr/>
        </p:nvSpPr>
        <p:spPr>
          <a:xfrm xmlns:a="http://schemas.openxmlformats.org/drawingml/2006/main">
            <a:off x="942975" y="2486025"/>
            <a:ext cx="3143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75" b="1">
                <a:solidFill>
                  <a:srgbClr val="087F8C"/>
                </a:solidFill>
                <a:latin typeface="Arial"/>
                <a:ea typeface="Arial"/>
                <a:cs typeface="Arial"/>
              </a:defRPr>
            </a:defPPr>
            <a:lvl1pPr>
              <a:defRPr sz="1875" b="1">
                <a:solidFill>
                  <a:srgbClr val="087F8C"/>
                </a:solidFill>
                <a:latin typeface="Arial"/>
                <a:ea typeface="Arial"/>
                <a:cs typeface="Arial"/>
              </a:defRPr>
            </a:lvl1pPr>
            <a:lvl2pPr>
              <a:defRPr sz="1875" b="1">
                <a:solidFill>
                  <a:srgbClr val="087F8C"/>
                </a:solidFill>
                <a:latin typeface="Arial"/>
                <a:ea typeface="Arial"/>
                <a:cs typeface="Arial"/>
              </a:defRPr>
            </a:lvl2pPr>
            <a:lvl3pPr>
              <a:defRPr sz="1875" b="1">
                <a:solidFill>
                  <a:srgbClr val="087F8C"/>
                </a:solidFill>
                <a:latin typeface="Arial"/>
                <a:ea typeface="Arial"/>
                <a:cs typeface="Arial"/>
              </a:defRPr>
            </a:lvl3pPr>
            <a:lvl4pPr>
              <a:defRPr sz="1875" b="1">
                <a:solidFill>
                  <a:srgbClr val="087F8C"/>
                </a:solidFill>
                <a:latin typeface="Arial"/>
                <a:ea typeface="Arial"/>
                <a:cs typeface="Arial"/>
              </a:defRPr>
            </a:lvl4pPr>
            <a:lvl5pPr>
              <a:defRPr sz="1875" b="1">
                <a:solidFill>
                  <a:srgbClr val="087F8C"/>
                </a:solidFill>
                <a:latin typeface="Arial"/>
                <a:ea typeface="Arial"/>
                <a:cs typeface="Arial"/>
              </a:defRPr>
            </a:lvl5pPr>
            <a:lvl6pPr>
              <a:defRPr sz="1875" b="1">
                <a:solidFill>
                  <a:srgbClr val="087F8C"/>
                </a:solidFill>
                <a:latin typeface="Arial"/>
                <a:ea typeface="Arial"/>
                <a:cs typeface="Arial"/>
              </a:defRPr>
            </a:lvl6pPr>
            <a:lvl7pPr>
              <a:defRPr sz="1875" b="1">
                <a:solidFill>
                  <a:srgbClr val="087F8C"/>
                </a:solidFill>
                <a:latin typeface="Arial"/>
                <a:ea typeface="Arial"/>
                <a:cs typeface="Arial"/>
              </a:defRPr>
            </a:lvl7pPr>
            <a:lvl8pPr>
              <a:defRPr sz="1875" b="1">
                <a:solidFill>
                  <a:srgbClr val="087F8C"/>
                </a:solidFill>
                <a:latin typeface="Arial"/>
                <a:ea typeface="Arial"/>
                <a:cs typeface="Arial"/>
              </a:defRPr>
            </a:lvl8pPr>
            <a:lvl9pPr>
              <a:defRPr sz="1875" b="1">
                <a:solidFill>
                  <a:srgbClr val="087F8C"/>
                </a:solidFill>
                <a:latin typeface="Arial"/>
                <a:ea typeface="Arial"/>
                <a:cs typeface="Arial"/>
              </a:defRPr>
            </a:lvl9pPr>
          </a:lstStyle>
          <a:p xmlns:a="http://schemas.openxmlformats.org/drawingml/2006/main">
            <a:pPr>
              <a:defRPr sz="1875" b="1">
                <a:solidFill>
                  <a:srgbClr val="087F8C"/>
                </a:solidFill>
                <a:latin typeface="Arial"/>
                <a:ea typeface="Arial"/>
                <a:cs typeface="Arial"/>
              </a:defRPr>
            </a:pPr>
            <a:r>
              <a:rPr sz="1875" b="1">
                <a:solidFill>
                  <a:srgbClr val="087F8C"/>
                </a:solidFill>
                <a:latin typeface="Arial"/>
                <a:ea typeface="Arial"/>
                <a:cs typeface="Arial"/>
              </a:rPr>
              <a:t>Case application</a:t>
            </a:r>
          </a:p>
        </p:txBody>
      </p:sp>
      <p:sp>
        <p:nvSpPr>
          <p:cNvPr id="10" name="">
            <a:extLst xmlns:a="http://schemas.openxmlformats.org/drawingml/2006/main">
              <a:ext uri="{FF2B5EF4-FFF2-40B4-BE49-F238E27FC236}">
                <a16:creationId xmlns:a16="http://schemas.microsoft.com/office/drawing/2014/main" id="{2489FC51-9B6D-42A1-9920-CC6723443DE8}"/>
              </a:ext>
            </a:extLst>
          </p:cNvPr>
          <p:cNvSpPr>
            <a:spLocks xmlns:a="http://schemas.openxmlformats.org/drawingml/2006/main" noGrp="1"/>
          </p:cNvSpPr>
          <p:nvPr/>
        </p:nvSpPr>
        <p:spPr>
          <a:xfrm xmlns:a="http://schemas.openxmlformats.org/drawingml/2006/main">
            <a:off x="4257675" y="2486025"/>
            <a:ext cx="700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0">
                <a:solidFill>
                  <a:srgbClr val="172D3C"/>
                </a:solidFill>
                <a:latin typeface="Arial"/>
                <a:ea typeface="Arial"/>
                <a:cs typeface="Arial"/>
              </a:defRPr>
            </a:defPPr>
            <a:lvl1pPr>
              <a:defRPr sz="1575" b="0">
                <a:solidFill>
                  <a:srgbClr val="172D3C"/>
                </a:solidFill>
                <a:latin typeface="Arial"/>
                <a:ea typeface="Arial"/>
                <a:cs typeface="Arial"/>
              </a:defRPr>
            </a:lvl1pPr>
            <a:lvl2pPr>
              <a:defRPr sz="1575" b="0">
                <a:solidFill>
                  <a:srgbClr val="172D3C"/>
                </a:solidFill>
                <a:latin typeface="Arial"/>
                <a:ea typeface="Arial"/>
                <a:cs typeface="Arial"/>
              </a:defRPr>
            </a:lvl2pPr>
            <a:lvl3pPr>
              <a:defRPr sz="1575" b="0">
                <a:solidFill>
                  <a:srgbClr val="172D3C"/>
                </a:solidFill>
                <a:latin typeface="Arial"/>
                <a:ea typeface="Arial"/>
                <a:cs typeface="Arial"/>
              </a:defRPr>
            </a:lvl3pPr>
            <a:lvl4pPr>
              <a:defRPr sz="1575" b="0">
                <a:solidFill>
                  <a:srgbClr val="172D3C"/>
                </a:solidFill>
                <a:latin typeface="Arial"/>
                <a:ea typeface="Arial"/>
                <a:cs typeface="Arial"/>
              </a:defRPr>
            </a:lvl4pPr>
            <a:lvl5pPr>
              <a:defRPr sz="1575" b="0">
                <a:solidFill>
                  <a:srgbClr val="172D3C"/>
                </a:solidFill>
                <a:latin typeface="Arial"/>
                <a:ea typeface="Arial"/>
                <a:cs typeface="Arial"/>
              </a:defRPr>
            </a:lvl5pPr>
            <a:lvl6pPr>
              <a:defRPr sz="1575" b="0">
                <a:solidFill>
                  <a:srgbClr val="172D3C"/>
                </a:solidFill>
                <a:latin typeface="Arial"/>
                <a:ea typeface="Arial"/>
                <a:cs typeface="Arial"/>
              </a:defRPr>
            </a:lvl6pPr>
            <a:lvl7pPr>
              <a:defRPr sz="1575" b="0">
                <a:solidFill>
                  <a:srgbClr val="172D3C"/>
                </a:solidFill>
                <a:latin typeface="Arial"/>
                <a:ea typeface="Arial"/>
                <a:cs typeface="Arial"/>
              </a:defRPr>
            </a:lvl7pPr>
            <a:lvl8pPr>
              <a:defRPr sz="1575" b="0">
                <a:solidFill>
                  <a:srgbClr val="172D3C"/>
                </a:solidFill>
                <a:latin typeface="Arial"/>
                <a:ea typeface="Arial"/>
                <a:cs typeface="Arial"/>
              </a:defRPr>
            </a:lvl8pPr>
            <a:lvl9pPr>
              <a:defRPr sz="1575" b="0">
                <a:solidFill>
                  <a:srgbClr val="172D3C"/>
                </a:solidFill>
                <a:latin typeface="Arial"/>
                <a:ea typeface="Arial"/>
                <a:cs typeface="Arial"/>
              </a:defRPr>
            </a:lvl9pPr>
          </a:lstStyle>
          <a:p xmlns:a="http://schemas.openxmlformats.org/drawingml/2006/main">
            <a:pPr>
              <a:defRPr sz="1575" b="0">
                <a:solidFill>
                  <a:srgbClr val="172D3C"/>
                </a:solidFill>
                <a:latin typeface="Arial"/>
                <a:ea typeface="Arial"/>
                <a:cs typeface="Arial"/>
              </a:defRPr>
            </a:pPr>
            <a:r>
              <a:rPr sz="1575" b="0">
                <a:solidFill>
                  <a:srgbClr val="172D3C"/>
                </a:solidFill>
                <a:latin typeface="Arial"/>
                <a:ea typeface="Arial"/>
                <a:cs typeface="Arial"/>
              </a:rPr>
              <a:t>Studio North and its connected customer records.</a:t>
            </a:r>
          </a:p>
        </p:txBody>
      </p:sp>
      <p:sp>
        <p:nvSpPr>
          <p:cNvPr id="11" name="">
            <a:extLst xmlns:a="http://schemas.openxmlformats.org/drawingml/2006/main">
              <a:ext uri="{FF2B5EF4-FFF2-40B4-BE49-F238E27FC236}">
                <a16:creationId xmlns:a16="http://schemas.microsoft.com/office/drawing/2014/main" id="{2AB296F9-B305-4105-906A-FBEAA1E65712}"/>
              </a:ext>
            </a:extLst>
          </p:cNvPr>
          <p:cNvSpPr>
            <a:spLocks xmlns:a="http://schemas.openxmlformats.org/drawingml/2006/main" noGrp="1"/>
          </p:cNvSpPr>
          <p:nvPr/>
        </p:nvSpPr>
        <p:spPr>
          <a:xfrm xmlns:a="http://schemas.openxmlformats.org/drawingml/2006/main">
            <a:off x="609600" y="3314700"/>
            <a:ext cx="123825" cy="619125"/>
          </a:xfrm>
          <a:prstGeom xmlns:a="http://schemas.openxmlformats.org/drawingml/2006/main" prst="rect">
            <a:avLst/>
          </a:prstGeom>
          <a:solidFill xmlns:a="http://schemas.openxmlformats.org/drawingml/2006/main">
            <a:srgbClr val="68778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F2AA79F-04DF-48A7-BA86-30C32C07D61E}"/>
              </a:ext>
            </a:extLst>
          </p:cNvPr>
          <p:cNvSpPr>
            <a:spLocks xmlns:a="http://schemas.openxmlformats.org/drawingml/2006/main" noGrp="1"/>
          </p:cNvSpPr>
          <p:nvPr/>
        </p:nvSpPr>
        <p:spPr>
          <a:xfrm xmlns:a="http://schemas.openxmlformats.org/drawingml/2006/main">
            <a:off x="942975" y="3324225"/>
            <a:ext cx="3143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75" b="1">
                <a:solidFill>
                  <a:srgbClr val="687780"/>
                </a:solidFill>
                <a:latin typeface="Arial"/>
                <a:ea typeface="Arial"/>
                <a:cs typeface="Arial"/>
              </a:defRPr>
            </a:defPPr>
            <a:lvl1pPr>
              <a:defRPr sz="1875" b="1">
                <a:solidFill>
                  <a:srgbClr val="687780"/>
                </a:solidFill>
                <a:latin typeface="Arial"/>
                <a:ea typeface="Arial"/>
                <a:cs typeface="Arial"/>
              </a:defRPr>
            </a:lvl1pPr>
            <a:lvl2pPr>
              <a:defRPr sz="1875" b="1">
                <a:solidFill>
                  <a:srgbClr val="687780"/>
                </a:solidFill>
                <a:latin typeface="Arial"/>
                <a:ea typeface="Arial"/>
                <a:cs typeface="Arial"/>
              </a:defRPr>
            </a:lvl2pPr>
            <a:lvl3pPr>
              <a:defRPr sz="1875" b="1">
                <a:solidFill>
                  <a:srgbClr val="687780"/>
                </a:solidFill>
                <a:latin typeface="Arial"/>
                <a:ea typeface="Arial"/>
                <a:cs typeface="Arial"/>
              </a:defRPr>
            </a:lvl3pPr>
            <a:lvl4pPr>
              <a:defRPr sz="1875" b="1">
                <a:solidFill>
                  <a:srgbClr val="687780"/>
                </a:solidFill>
                <a:latin typeface="Arial"/>
                <a:ea typeface="Arial"/>
                <a:cs typeface="Arial"/>
              </a:defRPr>
            </a:lvl4pPr>
            <a:lvl5pPr>
              <a:defRPr sz="1875" b="1">
                <a:solidFill>
                  <a:srgbClr val="687780"/>
                </a:solidFill>
                <a:latin typeface="Arial"/>
                <a:ea typeface="Arial"/>
                <a:cs typeface="Arial"/>
              </a:defRPr>
            </a:lvl5pPr>
            <a:lvl6pPr>
              <a:defRPr sz="1875" b="1">
                <a:solidFill>
                  <a:srgbClr val="687780"/>
                </a:solidFill>
                <a:latin typeface="Arial"/>
                <a:ea typeface="Arial"/>
                <a:cs typeface="Arial"/>
              </a:defRPr>
            </a:lvl6pPr>
            <a:lvl7pPr>
              <a:defRPr sz="1875" b="1">
                <a:solidFill>
                  <a:srgbClr val="687780"/>
                </a:solidFill>
                <a:latin typeface="Arial"/>
                <a:ea typeface="Arial"/>
                <a:cs typeface="Arial"/>
              </a:defRPr>
            </a:lvl7pPr>
            <a:lvl8pPr>
              <a:defRPr sz="1875" b="1">
                <a:solidFill>
                  <a:srgbClr val="687780"/>
                </a:solidFill>
                <a:latin typeface="Arial"/>
                <a:ea typeface="Arial"/>
                <a:cs typeface="Arial"/>
              </a:defRPr>
            </a:lvl8pPr>
            <a:lvl9pPr>
              <a:defRPr sz="1875" b="1">
                <a:solidFill>
                  <a:srgbClr val="687780"/>
                </a:solidFill>
                <a:latin typeface="Arial"/>
                <a:ea typeface="Arial"/>
                <a:cs typeface="Arial"/>
              </a:defRPr>
            </a:lvl9pPr>
          </a:lstStyle>
          <a:p xmlns:a="http://schemas.openxmlformats.org/drawingml/2006/main">
            <a:pPr>
              <a:defRPr sz="1875" b="1">
                <a:solidFill>
                  <a:srgbClr val="687780"/>
                </a:solidFill>
                <a:latin typeface="Arial"/>
                <a:ea typeface="Arial"/>
                <a:cs typeface="Arial"/>
              </a:defRPr>
            </a:pPr>
            <a:r>
              <a:rPr sz="1875" b="1">
                <a:solidFill>
                  <a:srgbClr val="687780"/>
                </a:solidFill>
                <a:latin typeface="Arial"/>
                <a:ea typeface="Arial"/>
                <a:cs typeface="Arial"/>
              </a:rPr>
              <a:t>Evidence interpretation</a:t>
            </a:r>
          </a:p>
        </p:txBody>
      </p:sp>
      <p:sp>
        <p:nvSpPr>
          <p:cNvPr id="13" name="">
            <a:extLst xmlns:a="http://schemas.openxmlformats.org/drawingml/2006/main">
              <a:ext uri="{FF2B5EF4-FFF2-40B4-BE49-F238E27FC236}">
                <a16:creationId xmlns:a16="http://schemas.microsoft.com/office/drawing/2014/main" id="{E3DDE389-4BE8-404A-BFA0-C30D2D7F52D5}"/>
              </a:ext>
            </a:extLst>
          </p:cNvPr>
          <p:cNvSpPr>
            <a:spLocks xmlns:a="http://schemas.openxmlformats.org/drawingml/2006/main" noGrp="1"/>
          </p:cNvSpPr>
          <p:nvPr/>
        </p:nvSpPr>
        <p:spPr>
          <a:xfrm xmlns:a="http://schemas.openxmlformats.org/drawingml/2006/main">
            <a:off x="4257675" y="3324225"/>
            <a:ext cx="700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0">
                <a:solidFill>
                  <a:srgbClr val="172D3C"/>
                </a:solidFill>
                <a:latin typeface="Arial"/>
                <a:ea typeface="Arial"/>
                <a:cs typeface="Arial"/>
              </a:defRPr>
            </a:defPPr>
            <a:lvl1pPr>
              <a:defRPr sz="1575" b="0">
                <a:solidFill>
                  <a:srgbClr val="172D3C"/>
                </a:solidFill>
                <a:latin typeface="Arial"/>
                <a:ea typeface="Arial"/>
                <a:cs typeface="Arial"/>
              </a:defRPr>
            </a:lvl1pPr>
            <a:lvl2pPr>
              <a:defRPr sz="1575" b="0">
                <a:solidFill>
                  <a:srgbClr val="172D3C"/>
                </a:solidFill>
                <a:latin typeface="Arial"/>
                <a:ea typeface="Arial"/>
                <a:cs typeface="Arial"/>
              </a:defRPr>
            </a:lvl2pPr>
            <a:lvl3pPr>
              <a:defRPr sz="1575" b="0">
                <a:solidFill>
                  <a:srgbClr val="172D3C"/>
                </a:solidFill>
                <a:latin typeface="Arial"/>
                <a:ea typeface="Arial"/>
                <a:cs typeface="Arial"/>
              </a:defRPr>
            </a:lvl3pPr>
            <a:lvl4pPr>
              <a:defRPr sz="1575" b="0">
                <a:solidFill>
                  <a:srgbClr val="172D3C"/>
                </a:solidFill>
                <a:latin typeface="Arial"/>
                <a:ea typeface="Arial"/>
                <a:cs typeface="Arial"/>
              </a:defRPr>
            </a:lvl4pPr>
            <a:lvl5pPr>
              <a:defRPr sz="1575" b="0">
                <a:solidFill>
                  <a:srgbClr val="172D3C"/>
                </a:solidFill>
                <a:latin typeface="Arial"/>
                <a:ea typeface="Arial"/>
                <a:cs typeface="Arial"/>
              </a:defRPr>
            </a:lvl5pPr>
            <a:lvl6pPr>
              <a:defRPr sz="1575" b="0">
                <a:solidFill>
                  <a:srgbClr val="172D3C"/>
                </a:solidFill>
                <a:latin typeface="Arial"/>
                <a:ea typeface="Arial"/>
                <a:cs typeface="Arial"/>
              </a:defRPr>
            </a:lvl6pPr>
            <a:lvl7pPr>
              <a:defRPr sz="1575" b="0">
                <a:solidFill>
                  <a:srgbClr val="172D3C"/>
                </a:solidFill>
                <a:latin typeface="Arial"/>
                <a:ea typeface="Arial"/>
                <a:cs typeface="Arial"/>
              </a:defRPr>
            </a:lvl7pPr>
            <a:lvl8pPr>
              <a:defRPr sz="1575" b="0">
                <a:solidFill>
                  <a:srgbClr val="172D3C"/>
                </a:solidFill>
                <a:latin typeface="Arial"/>
                <a:ea typeface="Arial"/>
                <a:cs typeface="Arial"/>
              </a:defRPr>
            </a:lvl8pPr>
            <a:lvl9pPr>
              <a:defRPr sz="1575" b="0">
                <a:solidFill>
                  <a:srgbClr val="172D3C"/>
                </a:solidFill>
                <a:latin typeface="Arial"/>
                <a:ea typeface="Arial"/>
                <a:cs typeface="Arial"/>
              </a:defRPr>
            </a:lvl9pPr>
          </a:lstStyle>
          <a:p xmlns:a="http://schemas.openxmlformats.org/drawingml/2006/main">
            <a:pPr>
              <a:defRPr sz="1575" b="0">
                <a:solidFill>
                  <a:srgbClr val="172D3C"/>
                </a:solidFill>
                <a:latin typeface="Arial"/>
                <a:ea typeface="Arial"/>
                <a:cs typeface="Arial"/>
              </a:defRPr>
            </a:pPr>
            <a:r>
              <a:rPr sz="1575" b="0">
                <a:solidFill>
                  <a:srgbClr val="172D3C"/>
                </a:solidFill>
                <a:latin typeface="Arial"/>
                <a:ea typeface="Arial"/>
                <a:cs typeface="Arial"/>
              </a:rPr>
              <a:t>Observed results, predictions, and what each can establish.</a:t>
            </a:r>
          </a:p>
        </p:txBody>
      </p:sp>
      <p:sp>
        <p:nvSpPr>
          <p:cNvPr id="14" name="">
            <a:extLst xmlns:a="http://schemas.openxmlformats.org/drawingml/2006/main">
              <a:ext uri="{FF2B5EF4-FFF2-40B4-BE49-F238E27FC236}">
                <a16:creationId xmlns:a16="http://schemas.microsoft.com/office/drawing/2014/main" id="{6AD53F97-4F4F-4EDB-A9CF-4299A8C2AA12}"/>
              </a:ext>
            </a:extLst>
          </p:cNvPr>
          <p:cNvSpPr>
            <a:spLocks xmlns:a="http://schemas.openxmlformats.org/drawingml/2006/main" noGrp="1"/>
          </p:cNvSpPr>
          <p:nvPr/>
        </p:nvSpPr>
        <p:spPr>
          <a:xfrm xmlns:a="http://schemas.openxmlformats.org/drawingml/2006/main">
            <a:off x="609600" y="4152900"/>
            <a:ext cx="123825" cy="619125"/>
          </a:xfrm>
          <a:prstGeom xmlns:a="http://schemas.openxmlformats.org/drawingml/2006/main" prst="rect">
            <a:avLst/>
          </a:prstGeom>
          <a:solidFill xmlns:a="http://schemas.openxmlformats.org/drawingml/2006/main">
            <a:srgbClr val="BB6427"/>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77F11EB5-6D20-4369-A257-38D90D1DB4B0}"/>
              </a:ext>
            </a:extLst>
          </p:cNvPr>
          <p:cNvSpPr>
            <a:spLocks xmlns:a="http://schemas.openxmlformats.org/drawingml/2006/main" noGrp="1"/>
          </p:cNvSpPr>
          <p:nvPr/>
        </p:nvSpPr>
        <p:spPr>
          <a:xfrm xmlns:a="http://schemas.openxmlformats.org/drawingml/2006/main">
            <a:off x="942975" y="4162425"/>
            <a:ext cx="3143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75" b="1">
                <a:solidFill>
                  <a:srgbClr val="BB6427"/>
                </a:solidFill>
                <a:latin typeface="Arial"/>
                <a:ea typeface="Arial"/>
                <a:cs typeface="Arial"/>
              </a:defRPr>
            </a:defPPr>
            <a:lvl1pPr>
              <a:defRPr sz="1875" b="1">
                <a:solidFill>
                  <a:srgbClr val="BB6427"/>
                </a:solidFill>
                <a:latin typeface="Arial"/>
                <a:ea typeface="Arial"/>
                <a:cs typeface="Arial"/>
              </a:defRPr>
            </a:lvl1pPr>
            <a:lvl2pPr>
              <a:defRPr sz="1875" b="1">
                <a:solidFill>
                  <a:srgbClr val="BB6427"/>
                </a:solidFill>
                <a:latin typeface="Arial"/>
                <a:ea typeface="Arial"/>
                <a:cs typeface="Arial"/>
              </a:defRPr>
            </a:lvl2pPr>
            <a:lvl3pPr>
              <a:defRPr sz="1875" b="1">
                <a:solidFill>
                  <a:srgbClr val="BB6427"/>
                </a:solidFill>
                <a:latin typeface="Arial"/>
                <a:ea typeface="Arial"/>
                <a:cs typeface="Arial"/>
              </a:defRPr>
            </a:lvl3pPr>
            <a:lvl4pPr>
              <a:defRPr sz="1875" b="1">
                <a:solidFill>
                  <a:srgbClr val="BB6427"/>
                </a:solidFill>
                <a:latin typeface="Arial"/>
                <a:ea typeface="Arial"/>
                <a:cs typeface="Arial"/>
              </a:defRPr>
            </a:lvl4pPr>
            <a:lvl5pPr>
              <a:defRPr sz="1875" b="1">
                <a:solidFill>
                  <a:srgbClr val="BB6427"/>
                </a:solidFill>
                <a:latin typeface="Arial"/>
                <a:ea typeface="Arial"/>
                <a:cs typeface="Arial"/>
              </a:defRPr>
            </a:lvl5pPr>
            <a:lvl6pPr>
              <a:defRPr sz="1875" b="1">
                <a:solidFill>
                  <a:srgbClr val="BB6427"/>
                </a:solidFill>
                <a:latin typeface="Arial"/>
                <a:ea typeface="Arial"/>
                <a:cs typeface="Arial"/>
              </a:defRPr>
            </a:lvl6pPr>
            <a:lvl7pPr>
              <a:defRPr sz="1875" b="1">
                <a:solidFill>
                  <a:srgbClr val="BB6427"/>
                </a:solidFill>
                <a:latin typeface="Arial"/>
                <a:ea typeface="Arial"/>
                <a:cs typeface="Arial"/>
              </a:defRPr>
            </a:lvl7pPr>
            <a:lvl8pPr>
              <a:defRPr sz="1875" b="1">
                <a:solidFill>
                  <a:srgbClr val="BB6427"/>
                </a:solidFill>
                <a:latin typeface="Arial"/>
                <a:ea typeface="Arial"/>
                <a:cs typeface="Arial"/>
              </a:defRPr>
            </a:lvl8pPr>
            <a:lvl9pPr>
              <a:defRPr sz="1875" b="1">
                <a:solidFill>
                  <a:srgbClr val="BB6427"/>
                </a:solidFill>
                <a:latin typeface="Arial"/>
                <a:ea typeface="Arial"/>
                <a:cs typeface="Arial"/>
              </a:defRPr>
            </a:lvl9pPr>
          </a:lstStyle>
          <a:p xmlns:a="http://schemas.openxmlformats.org/drawingml/2006/main">
            <a:pPr>
              <a:defRPr sz="1875" b="1">
                <a:solidFill>
                  <a:srgbClr val="BB6427"/>
                </a:solidFill>
                <a:latin typeface="Arial"/>
                <a:ea typeface="Arial"/>
                <a:cs typeface="Arial"/>
              </a:defRPr>
            </a:pPr>
            <a:r>
              <a:rPr sz="1875" b="1">
                <a:solidFill>
                  <a:srgbClr val="BB6427"/>
                </a:solidFill>
                <a:latin typeface="Arial"/>
                <a:ea typeface="Arial"/>
                <a:cs typeface="Arial"/>
              </a:rPr>
              <a:t>Group decision</a:t>
            </a:r>
          </a:p>
        </p:txBody>
      </p:sp>
      <p:sp>
        <p:nvSpPr>
          <p:cNvPr id="16" name="">
            <a:extLst xmlns:a="http://schemas.openxmlformats.org/drawingml/2006/main">
              <a:ext uri="{FF2B5EF4-FFF2-40B4-BE49-F238E27FC236}">
                <a16:creationId xmlns:a16="http://schemas.microsoft.com/office/drawing/2014/main" id="{3E32E7E2-BC66-4A09-BC66-397E3FA2FD58}"/>
              </a:ext>
            </a:extLst>
          </p:cNvPr>
          <p:cNvSpPr>
            <a:spLocks xmlns:a="http://schemas.openxmlformats.org/drawingml/2006/main" noGrp="1"/>
          </p:cNvSpPr>
          <p:nvPr/>
        </p:nvSpPr>
        <p:spPr>
          <a:xfrm xmlns:a="http://schemas.openxmlformats.org/drawingml/2006/main">
            <a:off x="4257675" y="4162425"/>
            <a:ext cx="700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0">
                <a:solidFill>
                  <a:srgbClr val="172D3C"/>
                </a:solidFill>
                <a:latin typeface="Arial"/>
                <a:ea typeface="Arial"/>
                <a:cs typeface="Arial"/>
              </a:defRPr>
            </a:defPPr>
            <a:lvl1pPr>
              <a:defRPr sz="1575" b="0">
                <a:solidFill>
                  <a:srgbClr val="172D3C"/>
                </a:solidFill>
                <a:latin typeface="Arial"/>
                <a:ea typeface="Arial"/>
                <a:cs typeface="Arial"/>
              </a:defRPr>
            </a:lvl1pPr>
            <a:lvl2pPr>
              <a:defRPr sz="1575" b="0">
                <a:solidFill>
                  <a:srgbClr val="172D3C"/>
                </a:solidFill>
                <a:latin typeface="Arial"/>
                <a:ea typeface="Arial"/>
                <a:cs typeface="Arial"/>
              </a:defRPr>
            </a:lvl2pPr>
            <a:lvl3pPr>
              <a:defRPr sz="1575" b="0">
                <a:solidFill>
                  <a:srgbClr val="172D3C"/>
                </a:solidFill>
                <a:latin typeface="Arial"/>
                <a:ea typeface="Arial"/>
                <a:cs typeface="Arial"/>
              </a:defRPr>
            </a:lvl3pPr>
            <a:lvl4pPr>
              <a:defRPr sz="1575" b="0">
                <a:solidFill>
                  <a:srgbClr val="172D3C"/>
                </a:solidFill>
                <a:latin typeface="Arial"/>
                <a:ea typeface="Arial"/>
                <a:cs typeface="Arial"/>
              </a:defRPr>
            </a:lvl4pPr>
            <a:lvl5pPr>
              <a:defRPr sz="1575" b="0">
                <a:solidFill>
                  <a:srgbClr val="172D3C"/>
                </a:solidFill>
                <a:latin typeface="Arial"/>
                <a:ea typeface="Arial"/>
                <a:cs typeface="Arial"/>
              </a:defRPr>
            </a:lvl5pPr>
            <a:lvl6pPr>
              <a:defRPr sz="1575" b="0">
                <a:solidFill>
                  <a:srgbClr val="172D3C"/>
                </a:solidFill>
                <a:latin typeface="Arial"/>
                <a:ea typeface="Arial"/>
                <a:cs typeface="Arial"/>
              </a:defRPr>
            </a:lvl6pPr>
            <a:lvl7pPr>
              <a:defRPr sz="1575" b="0">
                <a:solidFill>
                  <a:srgbClr val="172D3C"/>
                </a:solidFill>
                <a:latin typeface="Arial"/>
                <a:ea typeface="Arial"/>
                <a:cs typeface="Arial"/>
              </a:defRPr>
            </a:lvl7pPr>
            <a:lvl8pPr>
              <a:defRPr sz="1575" b="0">
                <a:solidFill>
                  <a:srgbClr val="172D3C"/>
                </a:solidFill>
                <a:latin typeface="Arial"/>
                <a:ea typeface="Arial"/>
                <a:cs typeface="Arial"/>
              </a:defRPr>
            </a:lvl8pPr>
            <a:lvl9pPr>
              <a:defRPr sz="1575" b="0">
                <a:solidFill>
                  <a:srgbClr val="172D3C"/>
                </a:solidFill>
                <a:latin typeface="Arial"/>
                <a:ea typeface="Arial"/>
                <a:cs typeface="Arial"/>
              </a:defRPr>
            </a:lvl9pPr>
          </a:lstStyle>
          <a:p xmlns:a="http://schemas.openxmlformats.org/drawingml/2006/main">
            <a:pPr>
              <a:defRPr sz="1575" b="0">
                <a:solidFill>
                  <a:srgbClr val="172D3C"/>
                </a:solidFill>
                <a:latin typeface="Arial"/>
                <a:ea typeface="Arial"/>
                <a:cs typeface="Arial"/>
              </a:defRPr>
            </a:pPr>
            <a:r>
              <a:rPr sz="1575" b="0">
                <a:solidFill>
                  <a:srgbClr val="172D3C"/>
                </a:solidFill>
                <a:latin typeface="Arial"/>
                <a:ea typeface="Arial"/>
                <a:cs typeface="Arial"/>
              </a:rPr>
              <a:t>One focused judgment, discussed with your group.</a:t>
            </a:r>
          </a:p>
        </p:txBody>
      </p:sp>
    </p:spTree>
    <p:extLst>
      <p:ext uri="{BB962C8B-B14F-4D97-AF65-F5344CB8AC3E}">
        <p14:creationId xmlns:p14="http://schemas.microsoft.com/office/powerpoint/2010/main" val="41508982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EB395BE-0869-42CD-8E3F-2C602BA5E7C4}"/>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A458932-E1DB-4802-A8D9-07629856EA29}"/>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Three ideas guide the entire lab</a:t>
            </a:r>
          </a:p>
        </p:txBody>
      </p:sp>
      <p:sp>
        <p:nvSpPr>
          <p:cNvPr id="3" name="">
            <a:extLst xmlns:a="http://schemas.openxmlformats.org/drawingml/2006/main">
              <a:ext uri="{FF2B5EF4-FFF2-40B4-BE49-F238E27FC236}">
                <a16:creationId xmlns:a16="http://schemas.microsoft.com/office/drawing/2014/main" id="{41478C2B-D0A9-42EA-B8AC-490ECB5B6D37}"/>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3191B5"/>
                </a:solidFill>
                <a:latin typeface="Arial"/>
                <a:ea typeface="Arial"/>
                <a:cs typeface="Arial"/>
              </a:defRPr>
            </a:defPPr>
            <a:lvl1pPr>
              <a:defRPr sz="900" b="1">
                <a:solidFill>
                  <a:srgbClr val="3191B5"/>
                </a:solidFill>
                <a:latin typeface="Arial"/>
                <a:ea typeface="Arial"/>
                <a:cs typeface="Arial"/>
              </a:defRPr>
            </a:lvl1pPr>
            <a:lvl2pPr>
              <a:defRPr sz="900" b="1">
                <a:solidFill>
                  <a:srgbClr val="3191B5"/>
                </a:solidFill>
                <a:latin typeface="Arial"/>
                <a:ea typeface="Arial"/>
                <a:cs typeface="Arial"/>
              </a:defRPr>
            </a:lvl2pPr>
            <a:lvl3pPr>
              <a:defRPr sz="900" b="1">
                <a:solidFill>
                  <a:srgbClr val="3191B5"/>
                </a:solidFill>
                <a:latin typeface="Arial"/>
                <a:ea typeface="Arial"/>
                <a:cs typeface="Arial"/>
              </a:defRPr>
            </a:lvl3pPr>
            <a:lvl4pPr>
              <a:defRPr sz="900" b="1">
                <a:solidFill>
                  <a:srgbClr val="3191B5"/>
                </a:solidFill>
                <a:latin typeface="Arial"/>
                <a:ea typeface="Arial"/>
                <a:cs typeface="Arial"/>
              </a:defRPr>
            </a:lvl4pPr>
            <a:lvl5pPr>
              <a:defRPr sz="900" b="1">
                <a:solidFill>
                  <a:srgbClr val="3191B5"/>
                </a:solidFill>
                <a:latin typeface="Arial"/>
                <a:ea typeface="Arial"/>
                <a:cs typeface="Arial"/>
              </a:defRPr>
            </a:lvl5pPr>
            <a:lvl6pPr>
              <a:defRPr sz="900" b="1">
                <a:solidFill>
                  <a:srgbClr val="3191B5"/>
                </a:solidFill>
                <a:latin typeface="Arial"/>
                <a:ea typeface="Arial"/>
                <a:cs typeface="Arial"/>
              </a:defRPr>
            </a:lvl6pPr>
            <a:lvl7pPr>
              <a:defRPr sz="900" b="1">
                <a:solidFill>
                  <a:srgbClr val="3191B5"/>
                </a:solidFill>
                <a:latin typeface="Arial"/>
                <a:ea typeface="Arial"/>
                <a:cs typeface="Arial"/>
              </a:defRPr>
            </a:lvl7pPr>
            <a:lvl8pPr>
              <a:defRPr sz="900" b="1">
                <a:solidFill>
                  <a:srgbClr val="3191B5"/>
                </a:solidFill>
                <a:latin typeface="Arial"/>
                <a:ea typeface="Arial"/>
                <a:cs typeface="Arial"/>
              </a:defRPr>
            </a:lvl8pPr>
            <a:lvl9pPr>
              <a:defRPr sz="900" b="1">
                <a:solidFill>
                  <a:srgbClr val="3191B5"/>
                </a:solidFill>
                <a:latin typeface="Arial"/>
                <a:ea typeface="Arial"/>
                <a:cs typeface="Arial"/>
              </a:defRPr>
            </a:lvl9pPr>
          </a:lstStyle>
          <a:p xmlns:a="http://schemas.openxmlformats.org/drawingml/2006/main">
            <a:pPr>
              <a:defRPr sz="900" b="1">
                <a:solidFill>
                  <a:srgbClr val="3191B5"/>
                </a:solidFill>
                <a:latin typeface="Arial"/>
                <a:ea typeface="Arial"/>
                <a:cs typeface="Arial"/>
              </a:defRPr>
            </a:pPr>
            <a:r>
              <a:rPr sz="900" b="1">
                <a:solidFill>
                  <a:srgbClr val="3191B5"/>
                </a:solidFill>
                <a:latin typeface="Arial"/>
                <a:ea typeface="Arial"/>
                <a:cs typeface="Arial"/>
              </a:rPr>
              <a:t>CONCEPT</a:t>
            </a:r>
          </a:p>
        </p:txBody>
      </p:sp>
      <p:sp>
        <p:nvSpPr>
          <p:cNvPr id="4" name="">
            <a:extLst xmlns:a="http://schemas.openxmlformats.org/drawingml/2006/main">
              <a:ext uri="{FF2B5EF4-FFF2-40B4-BE49-F238E27FC236}">
                <a16:creationId xmlns:a16="http://schemas.microsoft.com/office/drawing/2014/main" id="{4EAE182D-ADCC-42F6-AB46-2673D7CA46DA}"/>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3</a:t>
            </a:r>
          </a:p>
        </p:txBody>
      </p:sp>
      <p:sp>
        <p:nvSpPr>
          <p:cNvPr id="5" name="">
            <a:extLst xmlns:a="http://schemas.openxmlformats.org/drawingml/2006/main">
              <a:ext uri="{FF2B5EF4-FFF2-40B4-BE49-F238E27FC236}">
                <a16:creationId xmlns:a16="http://schemas.microsoft.com/office/drawing/2014/main" id="{DE3FA2FD-91BA-43D1-9B4D-BBF8E859BC6B}"/>
              </a:ext>
            </a:extLst>
          </p:cNvPr>
          <p:cNvSpPr>
            <a:spLocks xmlns:a="http://schemas.openxmlformats.org/drawingml/2006/main" noGrp="1"/>
          </p:cNvSpPr>
          <p:nvPr/>
        </p:nvSpPr>
        <p:spPr>
          <a:xfrm xmlns:a="http://schemas.openxmlformats.org/drawingml/2006/main">
            <a:off x="609600" y="1666875"/>
            <a:ext cx="3419475" cy="2857500"/>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0F3BC94-D17C-4F5D-8C28-FB63992116FF}"/>
              </a:ext>
            </a:extLst>
          </p:cNvPr>
          <p:cNvSpPr>
            <a:spLocks xmlns:a="http://schemas.openxmlformats.org/drawingml/2006/main" noGrp="1"/>
          </p:cNvSpPr>
          <p:nvPr/>
        </p:nvSpPr>
        <p:spPr>
          <a:xfrm xmlns:a="http://schemas.openxmlformats.org/drawingml/2006/main">
            <a:off x="609600" y="1666875"/>
            <a:ext cx="47625" cy="285750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6BBF72D-A343-409B-95B5-B58B0550D96F}"/>
              </a:ext>
            </a:extLst>
          </p:cNvPr>
          <p:cNvSpPr>
            <a:spLocks xmlns:a="http://schemas.openxmlformats.org/drawingml/2006/main" noGrp="1"/>
          </p:cNvSpPr>
          <p:nvPr/>
        </p:nvSpPr>
        <p:spPr>
          <a:xfrm xmlns:a="http://schemas.openxmlformats.org/drawingml/2006/main">
            <a:off x="800100" y="1809750"/>
            <a:ext cx="30384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defRPr sz="1800" b="1">
                <a:solidFill>
                  <a:srgbClr val="3191B5"/>
                </a:solidFill>
                <a:latin typeface="Arial"/>
                <a:ea typeface="Arial"/>
                <a:cs typeface="Arial"/>
              </a:defRPr>
            </a:lvl1pPr>
            <a:lvl2pPr>
              <a:defRPr sz="1800" b="1">
                <a:solidFill>
                  <a:srgbClr val="3191B5"/>
                </a:solidFill>
                <a:latin typeface="Arial"/>
                <a:ea typeface="Arial"/>
                <a:cs typeface="Arial"/>
              </a:defRPr>
            </a:lvl2pPr>
            <a:lvl3pPr>
              <a:defRPr sz="1800" b="1">
                <a:solidFill>
                  <a:srgbClr val="3191B5"/>
                </a:solidFill>
                <a:latin typeface="Arial"/>
                <a:ea typeface="Arial"/>
                <a:cs typeface="Arial"/>
              </a:defRPr>
            </a:lvl3pPr>
            <a:lvl4pPr>
              <a:defRPr sz="1800" b="1">
                <a:solidFill>
                  <a:srgbClr val="3191B5"/>
                </a:solidFill>
                <a:latin typeface="Arial"/>
                <a:ea typeface="Arial"/>
                <a:cs typeface="Arial"/>
              </a:defRPr>
            </a:lvl4pPr>
            <a:lvl5pPr>
              <a:defRPr sz="1800" b="1">
                <a:solidFill>
                  <a:srgbClr val="3191B5"/>
                </a:solidFill>
                <a:latin typeface="Arial"/>
                <a:ea typeface="Arial"/>
                <a:cs typeface="Arial"/>
              </a:defRPr>
            </a:lvl5pPr>
            <a:lvl6pPr>
              <a:defRPr sz="1800" b="1">
                <a:solidFill>
                  <a:srgbClr val="3191B5"/>
                </a:solidFill>
                <a:latin typeface="Arial"/>
                <a:ea typeface="Arial"/>
                <a:cs typeface="Arial"/>
              </a:defRPr>
            </a:lvl6pPr>
            <a:lvl7pPr>
              <a:defRPr sz="1800" b="1">
                <a:solidFill>
                  <a:srgbClr val="3191B5"/>
                </a:solidFill>
                <a:latin typeface="Arial"/>
                <a:ea typeface="Arial"/>
                <a:cs typeface="Arial"/>
              </a:defRPr>
            </a:lvl7pPr>
            <a:lvl8pPr>
              <a:defRPr sz="1800" b="1">
                <a:solidFill>
                  <a:srgbClr val="3191B5"/>
                </a:solidFill>
                <a:latin typeface="Arial"/>
                <a:ea typeface="Arial"/>
                <a:cs typeface="Arial"/>
              </a:defRPr>
            </a:lvl8pPr>
            <a:lvl9pPr>
              <a:defRPr sz="1800" b="1">
                <a:solidFill>
                  <a:srgbClr val="3191B5"/>
                </a:solidFill>
                <a:latin typeface="Arial"/>
                <a:ea typeface="Arial"/>
                <a:cs typeface="Arial"/>
              </a:defRPr>
            </a:lvl9pPr>
          </a:lstStyle>
          <a:p xmlns:a="http://schemas.openxmlformats.org/drawingml/2006/main">
            <a:pPr>
              <a:defRPr sz="1800" b="1">
                <a:solidFill>
                  <a:srgbClr val="3191B5"/>
                </a:solidFill>
                <a:latin typeface="Arial"/>
                <a:ea typeface="Arial"/>
                <a:cs typeface="Arial"/>
              </a:defRPr>
            </a:pPr>
            <a:r>
              <a:rPr sz="1800" b="1">
                <a:solidFill>
                  <a:srgbClr val="3191B5"/>
                </a:solidFill>
                <a:latin typeface="Arial"/>
                <a:ea typeface="Arial"/>
                <a:cs typeface="Arial"/>
              </a:rPr>
              <a:t>1. Connected customer evidence</a:t>
            </a:r>
          </a:p>
        </p:txBody>
      </p:sp>
      <p:sp>
        <p:nvSpPr>
          <p:cNvPr id="8" name="">
            <a:extLst xmlns:a="http://schemas.openxmlformats.org/drawingml/2006/main">
              <a:ext uri="{FF2B5EF4-FFF2-40B4-BE49-F238E27FC236}">
                <a16:creationId xmlns:a16="http://schemas.microsoft.com/office/drawing/2014/main" id="{A8BB2915-E300-4FB8-B143-315FC24C6823}"/>
              </a:ext>
            </a:extLst>
          </p:cNvPr>
          <p:cNvSpPr>
            <a:spLocks xmlns:a="http://schemas.openxmlformats.org/drawingml/2006/main" noGrp="1"/>
          </p:cNvSpPr>
          <p:nvPr/>
        </p:nvSpPr>
        <p:spPr>
          <a:xfrm xmlns:a="http://schemas.openxmlformats.org/drawingml/2006/main">
            <a:off x="800100" y="2238375"/>
            <a:ext cx="3038475" cy="2143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The Universal Customer View classifies each dataset’s fields as Identifiers, Engagement, Relationship or Perception. It reveals what is recorded and what is missing.</a:t>
            </a:r>
          </a:p>
        </p:txBody>
      </p:sp>
      <p:sp>
        <p:nvSpPr>
          <p:cNvPr id="9" name="">
            <a:extLst xmlns:a="http://schemas.openxmlformats.org/drawingml/2006/main">
              <a:ext uri="{FF2B5EF4-FFF2-40B4-BE49-F238E27FC236}">
                <a16:creationId xmlns:a16="http://schemas.microsoft.com/office/drawing/2014/main" id="{3FB9E8B1-0E5D-41C1-B239-9A492BECF758}"/>
              </a:ext>
            </a:extLst>
          </p:cNvPr>
          <p:cNvSpPr>
            <a:spLocks xmlns:a="http://schemas.openxmlformats.org/drawingml/2006/main" noGrp="1"/>
          </p:cNvSpPr>
          <p:nvPr/>
        </p:nvSpPr>
        <p:spPr>
          <a:xfrm xmlns:a="http://schemas.openxmlformats.org/drawingml/2006/main">
            <a:off x="4381500" y="1666875"/>
            <a:ext cx="3419475" cy="2857500"/>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AFCF7B4-1440-408E-8E07-AB32446E9293}"/>
              </a:ext>
            </a:extLst>
          </p:cNvPr>
          <p:cNvSpPr>
            <a:spLocks xmlns:a="http://schemas.openxmlformats.org/drawingml/2006/main" noGrp="1"/>
          </p:cNvSpPr>
          <p:nvPr/>
        </p:nvSpPr>
        <p:spPr>
          <a:xfrm xmlns:a="http://schemas.openxmlformats.org/drawingml/2006/main">
            <a:off x="4381500" y="1666875"/>
            <a:ext cx="47625" cy="285750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353F6CB-3F27-4FB5-8539-2CB75C9DE12D}"/>
              </a:ext>
            </a:extLst>
          </p:cNvPr>
          <p:cNvSpPr>
            <a:spLocks xmlns:a="http://schemas.openxmlformats.org/drawingml/2006/main" noGrp="1"/>
          </p:cNvSpPr>
          <p:nvPr/>
        </p:nvSpPr>
        <p:spPr>
          <a:xfrm xmlns:a="http://schemas.openxmlformats.org/drawingml/2006/main">
            <a:off x="4572000" y="1809750"/>
            <a:ext cx="30384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defRPr sz="1800" b="1">
                <a:solidFill>
                  <a:srgbClr val="3191B5"/>
                </a:solidFill>
                <a:latin typeface="Arial"/>
                <a:ea typeface="Arial"/>
                <a:cs typeface="Arial"/>
              </a:defRPr>
            </a:lvl1pPr>
            <a:lvl2pPr>
              <a:defRPr sz="1800" b="1">
                <a:solidFill>
                  <a:srgbClr val="3191B5"/>
                </a:solidFill>
                <a:latin typeface="Arial"/>
                <a:ea typeface="Arial"/>
                <a:cs typeface="Arial"/>
              </a:defRPr>
            </a:lvl2pPr>
            <a:lvl3pPr>
              <a:defRPr sz="1800" b="1">
                <a:solidFill>
                  <a:srgbClr val="3191B5"/>
                </a:solidFill>
                <a:latin typeface="Arial"/>
                <a:ea typeface="Arial"/>
                <a:cs typeface="Arial"/>
              </a:defRPr>
            </a:lvl3pPr>
            <a:lvl4pPr>
              <a:defRPr sz="1800" b="1">
                <a:solidFill>
                  <a:srgbClr val="3191B5"/>
                </a:solidFill>
                <a:latin typeface="Arial"/>
                <a:ea typeface="Arial"/>
                <a:cs typeface="Arial"/>
              </a:defRPr>
            </a:lvl4pPr>
            <a:lvl5pPr>
              <a:defRPr sz="1800" b="1">
                <a:solidFill>
                  <a:srgbClr val="3191B5"/>
                </a:solidFill>
                <a:latin typeface="Arial"/>
                <a:ea typeface="Arial"/>
                <a:cs typeface="Arial"/>
              </a:defRPr>
            </a:lvl5pPr>
            <a:lvl6pPr>
              <a:defRPr sz="1800" b="1">
                <a:solidFill>
                  <a:srgbClr val="3191B5"/>
                </a:solidFill>
                <a:latin typeface="Arial"/>
                <a:ea typeface="Arial"/>
                <a:cs typeface="Arial"/>
              </a:defRPr>
            </a:lvl6pPr>
            <a:lvl7pPr>
              <a:defRPr sz="1800" b="1">
                <a:solidFill>
                  <a:srgbClr val="3191B5"/>
                </a:solidFill>
                <a:latin typeface="Arial"/>
                <a:ea typeface="Arial"/>
                <a:cs typeface="Arial"/>
              </a:defRPr>
            </a:lvl7pPr>
            <a:lvl8pPr>
              <a:defRPr sz="1800" b="1">
                <a:solidFill>
                  <a:srgbClr val="3191B5"/>
                </a:solidFill>
                <a:latin typeface="Arial"/>
                <a:ea typeface="Arial"/>
                <a:cs typeface="Arial"/>
              </a:defRPr>
            </a:lvl8pPr>
            <a:lvl9pPr>
              <a:defRPr sz="1800" b="1">
                <a:solidFill>
                  <a:srgbClr val="3191B5"/>
                </a:solidFill>
                <a:latin typeface="Arial"/>
                <a:ea typeface="Arial"/>
                <a:cs typeface="Arial"/>
              </a:defRPr>
            </a:lvl9pPr>
          </a:lstStyle>
          <a:p xmlns:a="http://schemas.openxmlformats.org/drawingml/2006/main">
            <a:pPr>
              <a:defRPr sz="1800" b="1">
                <a:solidFill>
                  <a:srgbClr val="3191B5"/>
                </a:solidFill>
                <a:latin typeface="Arial"/>
                <a:ea typeface="Arial"/>
                <a:cs typeface="Arial"/>
              </a:defRPr>
            </a:pPr>
            <a:r>
              <a:rPr sz="1800" b="1">
                <a:solidFill>
                  <a:srgbClr val="3191B5"/>
                </a:solidFill>
                <a:latin typeface="Arial"/>
                <a:ea typeface="Arial"/>
                <a:cs typeface="Arial"/>
              </a:rPr>
              <a:t>2. Customer economics over time</a:t>
            </a:r>
          </a:p>
        </p:txBody>
      </p:sp>
      <p:sp>
        <p:nvSpPr>
          <p:cNvPr id="12" name="">
            <a:extLst xmlns:a="http://schemas.openxmlformats.org/drawingml/2006/main">
              <a:ext uri="{FF2B5EF4-FFF2-40B4-BE49-F238E27FC236}">
                <a16:creationId xmlns:a16="http://schemas.microsoft.com/office/drawing/2014/main" id="{438D9143-7545-4ED7-AC93-74C3BDDE798D}"/>
              </a:ext>
            </a:extLst>
          </p:cNvPr>
          <p:cNvSpPr>
            <a:spLocks xmlns:a="http://schemas.openxmlformats.org/drawingml/2006/main" noGrp="1"/>
          </p:cNvSpPr>
          <p:nvPr/>
        </p:nvSpPr>
        <p:spPr>
          <a:xfrm xmlns:a="http://schemas.openxmlformats.org/drawingml/2006/main">
            <a:off x="4572000" y="2238375"/>
            <a:ext cx="3038475" cy="2143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Joining cohorts distinguish customer age from calendar time. Retention, contribution and acquisition cost determine whether relationships create value.</a:t>
            </a:r>
          </a:p>
        </p:txBody>
      </p:sp>
      <p:sp>
        <p:nvSpPr>
          <p:cNvPr id="13" name="">
            <a:extLst xmlns:a="http://schemas.openxmlformats.org/drawingml/2006/main">
              <a:ext uri="{FF2B5EF4-FFF2-40B4-BE49-F238E27FC236}">
                <a16:creationId xmlns:a16="http://schemas.microsoft.com/office/drawing/2014/main" id="{CDAB41C4-EC11-47F6-A6E4-EDA4E00D9754}"/>
              </a:ext>
            </a:extLst>
          </p:cNvPr>
          <p:cNvSpPr>
            <a:spLocks xmlns:a="http://schemas.openxmlformats.org/drawingml/2006/main" noGrp="1"/>
          </p:cNvSpPr>
          <p:nvPr/>
        </p:nvSpPr>
        <p:spPr>
          <a:xfrm xmlns:a="http://schemas.openxmlformats.org/drawingml/2006/main">
            <a:off x="8153400" y="1666875"/>
            <a:ext cx="3429000" cy="2857500"/>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59733E4-3C9F-4730-8143-96F610E7A857}"/>
              </a:ext>
            </a:extLst>
          </p:cNvPr>
          <p:cNvSpPr>
            <a:spLocks xmlns:a="http://schemas.openxmlformats.org/drawingml/2006/main" noGrp="1"/>
          </p:cNvSpPr>
          <p:nvPr/>
        </p:nvSpPr>
        <p:spPr>
          <a:xfrm xmlns:a="http://schemas.openxmlformats.org/drawingml/2006/main">
            <a:off x="8153400" y="1666875"/>
            <a:ext cx="47625" cy="285750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A8AC89A-E1E6-4D76-AAB4-ECA8EB0377E2}"/>
              </a:ext>
            </a:extLst>
          </p:cNvPr>
          <p:cNvSpPr>
            <a:spLocks xmlns:a="http://schemas.openxmlformats.org/drawingml/2006/main" noGrp="1"/>
          </p:cNvSpPr>
          <p:nvPr/>
        </p:nvSpPr>
        <p:spPr>
          <a:xfrm xmlns:a="http://schemas.openxmlformats.org/drawingml/2006/main">
            <a:off x="8343900" y="1809750"/>
            <a:ext cx="304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defRPr sz="1800" b="1">
                <a:solidFill>
                  <a:srgbClr val="3191B5"/>
                </a:solidFill>
                <a:latin typeface="Arial"/>
                <a:ea typeface="Arial"/>
                <a:cs typeface="Arial"/>
              </a:defRPr>
            </a:lvl1pPr>
            <a:lvl2pPr>
              <a:defRPr sz="1800" b="1">
                <a:solidFill>
                  <a:srgbClr val="3191B5"/>
                </a:solidFill>
                <a:latin typeface="Arial"/>
                <a:ea typeface="Arial"/>
                <a:cs typeface="Arial"/>
              </a:defRPr>
            </a:lvl2pPr>
            <a:lvl3pPr>
              <a:defRPr sz="1800" b="1">
                <a:solidFill>
                  <a:srgbClr val="3191B5"/>
                </a:solidFill>
                <a:latin typeface="Arial"/>
                <a:ea typeface="Arial"/>
                <a:cs typeface="Arial"/>
              </a:defRPr>
            </a:lvl3pPr>
            <a:lvl4pPr>
              <a:defRPr sz="1800" b="1">
                <a:solidFill>
                  <a:srgbClr val="3191B5"/>
                </a:solidFill>
                <a:latin typeface="Arial"/>
                <a:ea typeface="Arial"/>
                <a:cs typeface="Arial"/>
              </a:defRPr>
            </a:lvl4pPr>
            <a:lvl5pPr>
              <a:defRPr sz="1800" b="1">
                <a:solidFill>
                  <a:srgbClr val="3191B5"/>
                </a:solidFill>
                <a:latin typeface="Arial"/>
                <a:ea typeface="Arial"/>
                <a:cs typeface="Arial"/>
              </a:defRPr>
            </a:lvl5pPr>
            <a:lvl6pPr>
              <a:defRPr sz="1800" b="1">
                <a:solidFill>
                  <a:srgbClr val="3191B5"/>
                </a:solidFill>
                <a:latin typeface="Arial"/>
                <a:ea typeface="Arial"/>
                <a:cs typeface="Arial"/>
              </a:defRPr>
            </a:lvl6pPr>
            <a:lvl7pPr>
              <a:defRPr sz="1800" b="1">
                <a:solidFill>
                  <a:srgbClr val="3191B5"/>
                </a:solidFill>
                <a:latin typeface="Arial"/>
                <a:ea typeface="Arial"/>
                <a:cs typeface="Arial"/>
              </a:defRPr>
            </a:lvl7pPr>
            <a:lvl8pPr>
              <a:defRPr sz="1800" b="1">
                <a:solidFill>
                  <a:srgbClr val="3191B5"/>
                </a:solidFill>
                <a:latin typeface="Arial"/>
                <a:ea typeface="Arial"/>
                <a:cs typeface="Arial"/>
              </a:defRPr>
            </a:lvl8pPr>
            <a:lvl9pPr>
              <a:defRPr sz="1800" b="1">
                <a:solidFill>
                  <a:srgbClr val="3191B5"/>
                </a:solidFill>
                <a:latin typeface="Arial"/>
                <a:ea typeface="Arial"/>
                <a:cs typeface="Arial"/>
              </a:defRPr>
            </a:lvl9pPr>
          </a:lstStyle>
          <a:p xmlns:a="http://schemas.openxmlformats.org/drawingml/2006/main">
            <a:pPr>
              <a:defRPr sz="1800" b="1">
                <a:solidFill>
                  <a:srgbClr val="3191B5"/>
                </a:solidFill>
                <a:latin typeface="Arial"/>
                <a:ea typeface="Arial"/>
                <a:cs typeface="Arial"/>
              </a:defRPr>
            </a:pPr>
            <a:r>
              <a:rPr sz="1800" b="1">
                <a:solidFill>
                  <a:srgbClr val="3191B5"/>
                </a:solidFill>
                <a:latin typeface="Arial"/>
                <a:ea typeface="Arial"/>
                <a:cs typeface="Arial"/>
              </a:rPr>
              <a:t>3. Incremental marketing value</a:t>
            </a:r>
          </a:p>
        </p:txBody>
      </p:sp>
      <p:sp>
        <p:nvSpPr>
          <p:cNvPr id="16" name="">
            <a:extLst xmlns:a="http://schemas.openxmlformats.org/drawingml/2006/main">
              <a:ext uri="{FF2B5EF4-FFF2-40B4-BE49-F238E27FC236}">
                <a16:creationId xmlns:a16="http://schemas.microsoft.com/office/drawing/2014/main" id="{17CCDE0E-5F8F-4DE0-B954-943A67A0ACF4}"/>
              </a:ext>
            </a:extLst>
          </p:cNvPr>
          <p:cNvSpPr>
            <a:spLocks xmlns:a="http://schemas.openxmlformats.org/drawingml/2006/main" noGrp="1"/>
          </p:cNvSpPr>
          <p:nvPr/>
        </p:nvSpPr>
        <p:spPr>
          <a:xfrm xmlns:a="http://schemas.openxmlformats.org/drawingml/2006/main">
            <a:off x="8343900" y="2238375"/>
            <a:ext cx="3048000" cy="2143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A randomized campaign comparison asks what changed because of the campaign. A high customer LTV alone cannot answer that question.</a:t>
            </a:r>
          </a:p>
        </p:txBody>
      </p:sp>
      <p:sp>
        <p:nvSpPr>
          <p:cNvPr id="17" name="">
            <a:extLst xmlns:a="http://schemas.openxmlformats.org/drawingml/2006/main">
              <a:ext uri="{FF2B5EF4-FFF2-40B4-BE49-F238E27FC236}">
                <a16:creationId xmlns:a16="http://schemas.microsoft.com/office/drawing/2014/main" id="{1B096DDE-6E4D-4873-9AD6-8DEA82C1E4E0}"/>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D0E4296-E5BD-497E-B305-A0DE63ECB121}"/>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AI proposes the work. Saved SQL, data checks, held-out outcomes and your judgment make the work reviewable.</a:t>
            </a:r>
          </a:p>
        </p:txBody>
      </p:sp>
    </p:spTree>
    <p:extLst>
      <p:ext uri="{BB962C8B-B14F-4D97-AF65-F5344CB8AC3E}">
        <p14:creationId xmlns:p14="http://schemas.microsoft.com/office/powerpoint/2010/main" val="19943600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6454171-54A4-4250-A847-7D9765F2ADE2}"/>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341C614-ABD5-40E8-8A17-F48C0D48AA94}"/>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Every dataset gets its own Universal Customer View</a:t>
            </a:r>
          </a:p>
        </p:txBody>
      </p:sp>
      <p:sp>
        <p:nvSpPr>
          <p:cNvPr id="3" name="">
            <a:extLst xmlns:a="http://schemas.openxmlformats.org/drawingml/2006/main">
              <a:ext uri="{FF2B5EF4-FFF2-40B4-BE49-F238E27FC236}">
                <a16:creationId xmlns:a16="http://schemas.microsoft.com/office/drawing/2014/main" id="{70F3538A-4ECC-4470-869C-7430AC239323}"/>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087F8C"/>
                </a:solidFill>
                <a:latin typeface="Arial"/>
                <a:ea typeface="Arial"/>
                <a:cs typeface="Arial"/>
              </a:defRPr>
            </a:defPPr>
            <a:lvl1pPr>
              <a:defRPr sz="900" b="1">
                <a:solidFill>
                  <a:srgbClr val="087F8C"/>
                </a:solidFill>
                <a:latin typeface="Arial"/>
                <a:ea typeface="Arial"/>
                <a:cs typeface="Arial"/>
              </a:defRPr>
            </a:lvl1pPr>
            <a:lvl2pPr>
              <a:defRPr sz="900" b="1">
                <a:solidFill>
                  <a:srgbClr val="087F8C"/>
                </a:solidFill>
                <a:latin typeface="Arial"/>
                <a:ea typeface="Arial"/>
                <a:cs typeface="Arial"/>
              </a:defRPr>
            </a:lvl2pPr>
            <a:lvl3pPr>
              <a:defRPr sz="900" b="1">
                <a:solidFill>
                  <a:srgbClr val="087F8C"/>
                </a:solidFill>
                <a:latin typeface="Arial"/>
                <a:ea typeface="Arial"/>
                <a:cs typeface="Arial"/>
              </a:defRPr>
            </a:lvl3pPr>
            <a:lvl4pPr>
              <a:defRPr sz="900" b="1">
                <a:solidFill>
                  <a:srgbClr val="087F8C"/>
                </a:solidFill>
                <a:latin typeface="Arial"/>
                <a:ea typeface="Arial"/>
                <a:cs typeface="Arial"/>
              </a:defRPr>
            </a:lvl4pPr>
            <a:lvl5pPr>
              <a:defRPr sz="900" b="1">
                <a:solidFill>
                  <a:srgbClr val="087F8C"/>
                </a:solidFill>
                <a:latin typeface="Arial"/>
                <a:ea typeface="Arial"/>
                <a:cs typeface="Arial"/>
              </a:defRPr>
            </a:lvl5pPr>
            <a:lvl6pPr>
              <a:defRPr sz="900" b="1">
                <a:solidFill>
                  <a:srgbClr val="087F8C"/>
                </a:solidFill>
                <a:latin typeface="Arial"/>
                <a:ea typeface="Arial"/>
                <a:cs typeface="Arial"/>
              </a:defRPr>
            </a:lvl6pPr>
            <a:lvl7pPr>
              <a:defRPr sz="900" b="1">
                <a:solidFill>
                  <a:srgbClr val="087F8C"/>
                </a:solidFill>
                <a:latin typeface="Arial"/>
                <a:ea typeface="Arial"/>
                <a:cs typeface="Arial"/>
              </a:defRPr>
            </a:lvl7pPr>
            <a:lvl8pPr>
              <a:defRPr sz="900" b="1">
                <a:solidFill>
                  <a:srgbClr val="087F8C"/>
                </a:solidFill>
                <a:latin typeface="Arial"/>
                <a:ea typeface="Arial"/>
                <a:cs typeface="Arial"/>
              </a:defRPr>
            </a:lvl8pPr>
            <a:lvl9pPr>
              <a:defRPr sz="900" b="1">
                <a:solidFill>
                  <a:srgbClr val="087F8C"/>
                </a:solidFill>
                <a:latin typeface="Arial"/>
                <a:ea typeface="Arial"/>
                <a:cs typeface="Arial"/>
              </a:defRPr>
            </a:lvl9pPr>
          </a:lstStyle>
          <a:p xmlns:a="http://schemas.openxmlformats.org/drawingml/2006/main">
            <a:pPr>
              <a:defRPr sz="900" b="1">
                <a:solidFill>
                  <a:srgbClr val="087F8C"/>
                </a:solidFill>
                <a:latin typeface="Arial"/>
                <a:ea typeface="Arial"/>
                <a:cs typeface="Arial"/>
              </a:defRPr>
            </a:pPr>
            <a:r>
              <a:rPr sz="900" b="1">
                <a:solidFill>
                  <a:srgbClr val="087F8C"/>
                </a:solidFill>
                <a:latin typeface="Arial"/>
                <a:ea typeface="Arial"/>
                <a:cs typeface="Arial"/>
              </a:rPr>
              <a:t>CASE APPLICATION</a:t>
            </a:r>
          </a:p>
        </p:txBody>
      </p:sp>
      <p:sp>
        <p:nvSpPr>
          <p:cNvPr id="4" name="">
            <a:extLst xmlns:a="http://schemas.openxmlformats.org/drawingml/2006/main">
              <a:ext uri="{FF2B5EF4-FFF2-40B4-BE49-F238E27FC236}">
                <a16:creationId xmlns:a16="http://schemas.microsoft.com/office/drawing/2014/main" id="{59A3B599-55A4-4B12-8309-350366AEA5EF}"/>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4</a:t>
            </a:r>
          </a:p>
        </p:txBody>
      </p:sp>
      <p:sp>
        <p:nvSpPr>
          <p:cNvPr id="5" name="">
            <a:extLst xmlns:a="http://schemas.openxmlformats.org/drawingml/2006/main">
              <a:ext uri="{FF2B5EF4-FFF2-40B4-BE49-F238E27FC236}">
                <a16:creationId xmlns:a16="http://schemas.microsoft.com/office/drawing/2014/main" id="{594511D0-9A7C-464A-9A46-DA4B0A015744}"/>
              </a:ext>
            </a:extLst>
          </p:cNvPr>
          <p:cNvSpPr>
            <a:spLocks xmlns:a="http://schemas.openxmlformats.org/drawingml/2006/main" noGrp="1"/>
          </p:cNvSpPr>
          <p:nvPr/>
        </p:nvSpPr>
        <p:spPr>
          <a:xfrm xmlns:a="http://schemas.openxmlformats.org/drawingml/2006/main">
            <a:off x="609600" y="1466850"/>
            <a:ext cx="10972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0">
                <a:solidFill>
                  <a:srgbClr val="172D3C"/>
                </a:solidFill>
                <a:latin typeface="Arial"/>
                <a:ea typeface="Arial"/>
                <a:cs typeface="Arial"/>
              </a:defRPr>
            </a:defPPr>
            <a:lvl1pPr>
              <a:defRPr sz="1800" b="0">
                <a:solidFill>
                  <a:srgbClr val="172D3C"/>
                </a:solidFill>
                <a:latin typeface="Arial"/>
                <a:ea typeface="Arial"/>
                <a:cs typeface="Arial"/>
              </a:defRPr>
            </a:lvl1pPr>
            <a:lvl2pPr>
              <a:defRPr sz="1800" b="0">
                <a:solidFill>
                  <a:srgbClr val="172D3C"/>
                </a:solidFill>
                <a:latin typeface="Arial"/>
                <a:ea typeface="Arial"/>
                <a:cs typeface="Arial"/>
              </a:defRPr>
            </a:lvl2pPr>
            <a:lvl3pPr>
              <a:defRPr sz="1800" b="0">
                <a:solidFill>
                  <a:srgbClr val="172D3C"/>
                </a:solidFill>
                <a:latin typeface="Arial"/>
                <a:ea typeface="Arial"/>
                <a:cs typeface="Arial"/>
              </a:defRPr>
            </a:lvl3pPr>
            <a:lvl4pPr>
              <a:defRPr sz="1800" b="0">
                <a:solidFill>
                  <a:srgbClr val="172D3C"/>
                </a:solidFill>
                <a:latin typeface="Arial"/>
                <a:ea typeface="Arial"/>
                <a:cs typeface="Arial"/>
              </a:defRPr>
            </a:lvl4pPr>
            <a:lvl5pPr>
              <a:defRPr sz="1800" b="0">
                <a:solidFill>
                  <a:srgbClr val="172D3C"/>
                </a:solidFill>
                <a:latin typeface="Arial"/>
                <a:ea typeface="Arial"/>
                <a:cs typeface="Arial"/>
              </a:defRPr>
            </a:lvl5pPr>
            <a:lvl6pPr>
              <a:defRPr sz="1800" b="0">
                <a:solidFill>
                  <a:srgbClr val="172D3C"/>
                </a:solidFill>
                <a:latin typeface="Arial"/>
                <a:ea typeface="Arial"/>
                <a:cs typeface="Arial"/>
              </a:defRPr>
            </a:lvl6pPr>
            <a:lvl7pPr>
              <a:defRPr sz="1800" b="0">
                <a:solidFill>
                  <a:srgbClr val="172D3C"/>
                </a:solidFill>
                <a:latin typeface="Arial"/>
                <a:ea typeface="Arial"/>
                <a:cs typeface="Arial"/>
              </a:defRPr>
            </a:lvl7pPr>
            <a:lvl8pPr>
              <a:defRPr sz="1800" b="0">
                <a:solidFill>
                  <a:srgbClr val="172D3C"/>
                </a:solidFill>
                <a:latin typeface="Arial"/>
                <a:ea typeface="Arial"/>
                <a:cs typeface="Arial"/>
              </a:defRPr>
            </a:lvl8pPr>
            <a:lvl9pPr>
              <a:defRPr sz="1800" b="0">
                <a:solidFill>
                  <a:srgbClr val="172D3C"/>
                </a:solidFill>
                <a:latin typeface="Arial"/>
                <a:ea typeface="Arial"/>
                <a:cs typeface="Arial"/>
              </a:defRPr>
            </a:lvl9pPr>
          </a:lstStyle>
          <a:p xmlns:a="http://schemas.openxmlformats.org/drawingml/2006/main">
            <a:pPr>
              <a:defRPr sz="1800" b="0">
                <a:solidFill>
                  <a:srgbClr val="172D3C"/>
                </a:solidFill>
                <a:latin typeface="Arial"/>
                <a:ea typeface="Arial"/>
                <a:cs typeface="Arial"/>
              </a:defRPr>
            </a:pPr>
            <a:r>
              <a:rPr sz="1800" b="0">
                <a:solidFill>
                  <a:srgbClr val="172D3C"/>
                </a:solidFill>
                <a:latin typeface="Arial"/>
                <a:ea typeface="Arial"/>
                <a:cs typeface="Arial"/>
              </a:rPr>
              <a:t>Example: people.csv contains one record per person, including prospects who never buy.</a:t>
            </a:r>
          </a:p>
        </p:txBody>
      </p:sp>
      <p:graphicFrame>
        <p:nvGraphicFramePr>
          <p:cNvPr id="6" name="">
            <a:extLst xmlns:a="http://schemas.openxmlformats.org/drawingml/2006/main">
              <a:ext uri="{FF2B5EF4-FFF2-40B4-BE49-F238E27FC236}">
                <a16:creationId xmlns:a16="http://schemas.microsoft.com/office/drawing/2014/main" id="{419E2165-41A9-4D7B-84B8-280C3128C6A7}"/>
              </a:ext>
            </a:extLst>
          </p:cNvPr>
          <p:cNvGraphicFramePr/>
          <p:nvPr/>
        </p:nvGraphicFramePr>
        <p:xfrm>
          <a:off xmlns:a="http://schemas.openxmlformats.org/drawingml/2006/main" x="609600" y="2324100"/>
          <a:ext xmlns:a="http://schemas.openxmlformats.org/drawingml/2006/main" cx="10972800" cy="2228850"/>
        </p:xfrm>
        <a:graphic xmlns:a="http://schemas.openxmlformats.org/drawingml/2006/main">
          <a:graphicData uri="http://schemas.openxmlformats.org/drawingml/2006/table">
            <a:tbl>
              <a:tblPr/>
              <a:tblGrid>
                <a:gridCol w="2743200"/>
                <a:gridCol w="2743200"/>
                <a:gridCol w="2743200"/>
                <a:gridCol w="2743200"/>
              </a:tblGrid>
              <a:tr h="476250">
                <a:tc>
                  <a:txBody>
                    <a:bodyPr/>
                    <a:lstStyle/>
                    <a:p>
                      <a:r>
                        <a:rPr sz="1350" b="1">
                          <a:solidFill>
                            <a:srgbClr val="FFFFFF"/>
                          </a:solidFill>
                          <a:latin typeface="Arial"/>
                          <a:ea typeface="Arial"/>
                          <a:cs typeface="Arial"/>
                        </a:rPr>
                        <a:t>Identifiers</a:t>
                      </a:r>
                    </a:p>
                  </a:txBody>
                  <a:tcPr marL="91440" marR="91440" marT="45720" marB="45720">
                    <a:solidFill>
                      <a:srgbClr val="172D3C"/>
                    </a:solidFill>
                  </a:tcPr>
                </a:tc>
                <a:tc>
                  <a:txBody>
                    <a:bodyPr/>
                    <a:lstStyle/>
                    <a:p>
                      <a:r>
                        <a:rPr sz="1350" b="1">
                          <a:solidFill>
                            <a:srgbClr val="FFFFFF"/>
                          </a:solidFill>
                          <a:latin typeface="Arial"/>
                          <a:ea typeface="Arial"/>
                          <a:cs typeface="Arial"/>
                        </a:rPr>
                        <a:t>Engagement</a:t>
                      </a:r>
                    </a:p>
                  </a:txBody>
                  <a:tcPr marL="91440" marR="91440" marT="45720" marB="45720">
                    <a:solidFill>
                      <a:srgbClr val="172D3C"/>
                    </a:solidFill>
                  </a:tcPr>
                </a:tc>
                <a:tc>
                  <a:txBody>
                    <a:bodyPr/>
                    <a:lstStyle/>
                    <a:p>
                      <a:r>
                        <a:rPr sz="1350" b="1">
                          <a:solidFill>
                            <a:srgbClr val="FFFFFF"/>
                          </a:solidFill>
                          <a:latin typeface="Arial"/>
                          <a:ea typeface="Arial"/>
                          <a:cs typeface="Arial"/>
                        </a:rPr>
                        <a:t>Relationship</a:t>
                      </a:r>
                    </a:p>
                  </a:txBody>
                  <a:tcPr marL="91440" marR="91440" marT="45720" marB="45720">
                    <a:solidFill>
                      <a:srgbClr val="172D3C"/>
                    </a:solidFill>
                  </a:tcPr>
                </a:tc>
                <a:tc>
                  <a:txBody>
                    <a:bodyPr/>
                    <a:lstStyle/>
                    <a:p>
                      <a:r>
                        <a:rPr sz="1350" b="1">
                          <a:solidFill>
                            <a:srgbClr val="FFFFFF"/>
                          </a:solidFill>
                          <a:latin typeface="Arial"/>
                          <a:ea typeface="Arial"/>
                          <a:cs typeface="Arial"/>
                        </a:rPr>
                        <a:t>Perception</a:t>
                      </a:r>
                    </a:p>
                  </a:txBody>
                  <a:tcPr marL="91440" marR="91440" marT="45720" marB="45720">
                    <a:solidFill>
                      <a:srgbClr val="172D3C"/>
                    </a:solidFill>
                  </a:tcPr>
                </a:tc>
              </a:tr>
              <a:tr h="1752600">
                <a:tc>
                  <a:txBody>
                    <a:bodyPr/>
                    <a:lstStyle/>
                    <a:p>
                      <a:r>
                        <a:rPr sz="1425" b="0">
                          <a:solidFill>
                            <a:srgbClr val="172D3C"/>
                          </a:solidFill>
                          <a:latin typeface="Arial"/>
                          <a:ea typeface="Arial"/>
                          <a:cs typeface="Arial"/>
                        </a:rPr>
                        <a:t>person_id</a:t>
                      </a:r>
                    </a:p>
                    <a:p>
                      <a:r>
                        <a:rPr sz="1425" b="0">
                          <a:solidFill>
                            <a:srgbClr val="172D3C"/>
                          </a:solidFill>
                          <a:latin typeface="Arial"/>
                          <a:ea typeface="Arial"/>
                          <a:cs typeface="Arial"/>
                        </a:rPr>
                        <a:t>age_band</a:t>
                      </a:r>
                    </a:p>
                    <a:p>
                      <a:r>
                        <a:rPr sz="1425" b="0">
                          <a:solidFill>
                            <a:srgbClr val="172D3C"/>
                          </a:solidFill>
                          <a:latin typeface="Arial"/>
                          <a:ea typeface="Arial"/>
                          <a:cs typeface="Arial"/>
                        </a:rPr>
                        <a:t>household_type</a:t>
                      </a:r>
                    </a:p>
                    <a:p>
                      <a:r>
                        <a:rPr sz="1425" b="0">
                          <a:solidFill>
                            <a:srgbClr val="172D3C"/>
                          </a:solidFill>
                          <a:latin typeface="Arial"/>
                          <a:ea typeface="Arial"/>
                          <a:cs typeface="Arial"/>
                        </a:rPr>
                        <a:t>region</a:t>
                      </a:r>
                    </a:p>
                  </a:txBody>
                  <a:tcPr marL="91440" marR="91440" marT="45720" marB="45720">
                    <a:solidFill>
                      <a:srgbClr val="F0F5F6"/>
                    </a:solidFill>
                  </a:tcPr>
                </a:tc>
                <a:tc>
                  <a:txBody>
                    <a:bodyPr/>
                    <a:lstStyle/>
                    <a:p>
                      <a:r>
                        <a:rPr sz="1425" b="0">
                          <a:solidFill>
                            <a:srgbClr val="172D3C"/>
                          </a:solidFill>
                          <a:latin typeface="Arial"/>
                          <a:ea typeface="Arial"/>
                          <a:cs typeface="Arial"/>
                        </a:rPr>
                        <a:t>—</a:t>
                      </a:r>
                    </a:p>
                  </a:txBody>
                  <a:tcPr marL="91440" marR="91440" marT="45720" marB="45720">
                    <a:solidFill>
                      <a:srgbClr val="F0F5F6"/>
                    </a:solidFill>
                  </a:tcPr>
                </a:tc>
                <a:tc>
                  <a:txBody>
                    <a:bodyPr/>
                    <a:lstStyle/>
                    <a:p>
                      <a:r>
                        <a:rPr sz="1425" b="0">
                          <a:solidFill>
                            <a:srgbClr val="172D3C"/>
                          </a:solidFill>
                          <a:latin typeface="Arial"/>
                          <a:ea typeface="Arial"/>
                          <a:cs typeface="Arial"/>
                        </a:rPr>
                        <a:t>record_created_at</a:t>
                      </a:r>
                    </a:p>
                    <a:p>
                      <a:r>
                        <a:rPr sz="1425" b="0">
                          <a:solidFill>
                            <a:srgbClr val="172D3C"/>
                          </a:solidFill>
                          <a:latin typeface="Arial"/>
                          <a:ea typeface="Arial"/>
                          <a:cs typeface="Arial"/>
                        </a:rPr>
                        <a:t>attributes_recorded_at</a:t>
                      </a:r>
                    </a:p>
                  </a:txBody>
                  <a:tcPr marL="91440" marR="91440" marT="45720" marB="45720">
                    <a:solidFill>
                      <a:srgbClr val="F0F5F6"/>
                    </a:solidFill>
                  </a:tcPr>
                </a:tc>
                <a:tc>
                  <a:txBody>
                    <a:bodyPr/>
                    <a:lstStyle/>
                    <a:p>
                      <a:r>
                        <a:rPr sz="1425" b="0">
                          <a:solidFill>
                            <a:srgbClr val="172D3C"/>
                          </a:solidFill>
                          <a:latin typeface="Arial"/>
                          <a:ea typeface="Arial"/>
                          <a:cs typeface="Arial"/>
                        </a:rPr>
                        <a:t>primary_need</a:t>
                      </a:r>
                    </a:p>
                  </a:txBody>
                  <a:tcPr marL="91440" marR="91440" marT="45720" marB="45720">
                    <a:solidFill>
                      <a:srgbClr val="F0F5F6"/>
                    </a:solidFill>
                  </a:tcPr>
                </a:tc>
              </a:tr>
            </a:tbl>
          </a:graphicData>
        </a:graphic>
      </p:graphicFrame>
      <p:sp>
        <p:nvSpPr>
          <p:cNvPr id="7" name="">
            <a:extLst xmlns:a="http://schemas.openxmlformats.org/drawingml/2006/main">
              <a:ext uri="{FF2B5EF4-FFF2-40B4-BE49-F238E27FC236}">
                <a16:creationId xmlns:a16="http://schemas.microsoft.com/office/drawing/2014/main" id="{BACFB3AE-1BF1-4302-A333-89417E238B3A}"/>
              </a:ext>
            </a:extLst>
          </p:cNvPr>
          <p:cNvSpPr>
            <a:spLocks xmlns:a="http://schemas.openxmlformats.org/drawingml/2006/main" noGrp="1"/>
          </p:cNvSpPr>
          <p:nvPr/>
        </p:nvSpPr>
        <p:spPr>
          <a:xfrm xmlns:a="http://schemas.openxmlformats.org/drawingml/2006/main">
            <a:off x="609600" y="47244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650" b="0">
                <a:solidFill>
                  <a:srgbClr val="172D3C"/>
                </a:solidFill>
                <a:latin typeface="Arial"/>
                <a:ea typeface="Arial"/>
                <a:cs typeface="Arial"/>
              </a:defRPr>
            </a:defPPr>
            <a:lvl1pPr>
              <a:defRPr sz="1650" b="0">
                <a:solidFill>
                  <a:srgbClr val="172D3C"/>
                </a:solidFill>
                <a:latin typeface="Arial"/>
                <a:ea typeface="Arial"/>
                <a:cs typeface="Arial"/>
              </a:defRPr>
            </a:lvl1pPr>
            <a:lvl2pPr>
              <a:defRPr sz="1650" b="0">
                <a:solidFill>
                  <a:srgbClr val="172D3C"/>
                </a:solidFill>
                <a:latin typeface="Arial"/>
                <a:ea typeface="Arial"/>
                <a:cs typeface="Arial"/>
              </a:defRPr>
            </a:lvl2pPr>
            <a:lvl3pPr>
              <a:defRPr sz="1650" b="0">
                <a:solidFill>
                  <a:srgbClr val="172D3C"/>
                </a:solidFill>
                <a:latin typeface="Arial"/>
                <a:ea typeface="Arial"/>
                <a:cs typeface="Arial"/>
              </a:defRPr>
            </a:lvl3pPr>
            <a:lvl4pPr>
              <a:defRPr sz="1650" b="0">
                <a:solidFill>
                  <a:srgbClr val="172D3C"/>
                </a:solidFill>
                <a:latin typeface="Arial"/>
                <a:ea typeface="Arial"/>
                <a:cs typeface="Arial"/>
              </a:defRPr>
            </a:lvl4pPr>
            <a:lvl5pPr>
              <a:defRPr sz="1650" b="0">
                <a:solidFill>
                  <a:srgbClr val="172D3C"/>
                </a:solidFill>
                <a:latin typeface="Arial"/>
                <a:ea typeface="Arial"/>
                <a:cs typeface="Arial"/>
              </a:defRPr>
            </a:lvl5pPr>
            <a:lvl6pPr>
              <a:defRPr sz="1650" b="0">
                <a:solidFill>
                  <a:srgbClr val="172D3C"/>
                </a:solidFill>
                <a:latin typeface="Arial"/>
                <a:ea typeface="Arial"/>
                <a:cs typeface="Arial"/>
              </a:defRPr>
            </a:lvl6pPr>
            <a:lvl7pPr>
              <a:defRPr sz="1650" b="0">
                <a:solidFill>
                  <a:srgbClr val="172D3C"/>
                </a:solidFill>
                <a:latin typeface="Arial"/>
                <a:ea typeface="Arial"/>
                <a:cs typeface="Arial"/>
              </a:defRPr>
            </a:lvl7pPr>
            <a:lvl8pPr>
              <a:defRPr sz="1650" b="0">
                <a:solidFill>
                  <a:srgbClr val="172D3C"/>
                </a:solidFill>
                <a:latin typeface="Arial"/>
                <a:ea typeface="Arial"/>
                <a:cs typeface="Arial"/>
              </a:defRPr>
            </a:lvl8pPr>
            <a:lvl9pPr>
              <a:defRPr sz="1650" b="0">
                <a:solidFill>
                  <a:srgbClr val="172D3C"/>
                </a:solidFill>
                <a:latin typeface="Arial"/>
                <a:ea typeface="Arial"/>
                <a:cs typeface="Arial"/>
              </a:defRPr>
            </a:lvl9pPr>
          </a:lstStyle>
          <a:p xmlns:a="http://schemas.openxmlformats.org/drawingml/2006/main">
            <a:pPr>
              <a:defRPr sz="1650" b="0">
                <a:solidFill>
                  <a:srgbClr val="172D3C"/>
                </a:solidFill>
                <a:latin typeface="Arial"/>
                <a:ea typeface="Arial"/>
                <a:cs typeface="Arial"/>
              </a:defRPr>
            </a:pPr>
            <a:r>
              <a:rPr sz="1650" b="0">
                <a:solidFill>
                  <a:srgbClr val="172D3C"/>
                </a:solidFill>
                <a:latin typeface="Arial"/>
                <a:ea typeface="Arial"/>
                <a:cs typeface="Arial"/>
              </a:rPr>
              <a:t>The stated need is a reported intention. Profile timestamps document when the relationship information became available.</a:t>
            </a:r>
          </a:p>
        </p:txBody>
      </p:sp>
      <p:sp>
        <p:nvSpPr>
          <p:cNvPr id="8" name="">
            <a:extLst xmlns:a="http://schemas.openxmlformats.org/drawingml/2006/main">
              <a:ext uri="{FF2B5EF4-FFF2-40B4-BE49-F238E27FC236}">
                <a16:creationId xmlns:a16="http://schemas.microsoft.com/office/drawing/2014/main" id="{453792B2-EB37-4138-8E27-7786A071355B}"/>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F793C7A-C882-4B2A-83F3-43A7AC4361DA}"/>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Repeat this field-level table for all eight exports, then open the Archify map of keys, grains and connections.</a:t>
            </a:r>
          </a:p>
        </p:txBody>
      </p:sp>
    </p:spTree>
    <p:extLst>
      <p:ext uri="{BB962C8B-B14F-4D97-AF65-F5344CB8AC3E}">
        <p14:creationId xmlns:p14="http://schemas.microsoft.com/office/powerpoint/2010/main" val="139582195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0806A56-EE38-4F2E-B421-A2CC81B8DDF2}"/>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BB6427"/>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4DE1894-6374-4608-8CC0-503AA702F717}"/>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Group decision 1: who needs which onboarding route?</a:t>
            </a:r>
          </a:p>
        </p:txBody>
      </p:sp>
      <p:sp>
        <p:nvSpPr>
          <p:cNvPr id="3" name="">
            <a:extLst xmlns:a="http://schemas.openxmlformats.org/drawingml/2006/main">
              <a:ext uri="{FF2B5EF4-FFF2-40B4-BE49-F238E27FC236}">
                <a16:creationId xmlns:a16="http://schemas.microsoft.com/office/drawing/2014/main" id="{25D3EB67-EFDC-4A4A-9E10-74D82E84A3D1}"/>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BB6427"/>
                </a:solidFill>
                <a:latin typeface="Arial"/>
                <a:ea typeface="Arial"/>
                <a:cs typeface="Arial"/>
              </a:defRPr>
            </a:defPPr>
            <a:lvl1pPr>
              <a:defRPr sz="900" b="1">
                <a:solidFill>
                  <a:srgbClr val="BB6427"/>
                </a:solidFill>
                <a:latin typeface="Arial"/>
                <a:ea typeface="Arial"/>
                <a:cs typeface="Arial"/>
              </a:defRPr>
            </a:lvl1pPr>
            <a:lvl2pPr>
              <a:defRPr sz="900" b="1">
                <a:solidFill>
                  <a:srgbClr val="BB6427"/>
                </a:solidFill>
                <a:latin typeface="Arial"/>
                <a:ea typeface="Arial"/>
                <a:cs typeface="Arial"/>
              </a:defRPr>
            </a:lvl2pPr>
            <a:lvl3pPr>
              <a:defRPr sz="900" b="1">
                <a:solidFill>
                  <a:srgbClr val="BB6427"/>
                </a:solidFill>
                <a:latin typeface="Arial"/>
                <a:ea typeface="Arial"/>
                <a:cs typeface="Arial"/>
              </a:defRPr>
            </a:lvl3pPr>
            <a:lvl4pPr>
              <a:defRPr sz="900" b="1">
                <a:solidFill>
                  <a:srgbClr val="BB6427"/>
                </a:solidFill>
                <a:latin typeface="Arial"/>
                <a:ea typeface="Arial"/>
                <a:cs typeface="Arial"/>
              </a:defRPr>
            </a:lvl4pPr>
            <a:lvl5pPr>
              <a:defRPr sz="900" b="1">
                <a:solidFill>
                  <a:srgbClr val="BB6427"/>
                </a:solidFill>
                <a:latin typeface="Arial"/>
                <a:ea typeface="Arial"/>
                <a:cs typeface="Arial"/>
              </a:defRPr>
            </a:lvl5pPr>
            <a:lvl6pPr>
              <a:defRPr sz="900" b="1">
                <a:solidFill>
                  <a:srgbClr val="BB6427"/>
                </a:solidFill>
                <a:latin typeface="Arial"/>
                <a:ea typeface="Arial"/>
                <a:cs typeface="Arial"/>
              </a:defRPr>
            </a:lvl6pPr>
            <a:lvl7pPr>
              <a:defRPr sz="900" b="1">
                <a:solidFill>
                  <a:srgbClr val="BB6427"/>
                </a:solidFill>
                <a:latin typeface="Arial"/>
                <a:ea typeface="Arial"/>
                <a:cs typeface="Arial"/>
              </a:defRPr>
            </a:lvl7pPr>
            <a:lvl8pPr>
              <a:defRPr sz="900" b="1">
                <a:solidFill>
                  <a:srgbClr val="BB6427"/>
                </a:solidFill>
                <a:latin typeface="Arial"/>
                <a:ea typeface="Arial"/>
                <a:cs typeface="Arial"/>
              </a:defRPr>
            </a:lvl8pPr>
            <a:lvl9pPr>
              <a:defRPr sz="900" b="1">
                <a:solidFill>
                  <a:srgbClr val="BB6427"/>
                </a:solidFill>
                <a:latin typeface="Arial"/>
                <a:ea typeface="Arial"/>
                <a:cs typeface="Arial"/>
              </a:defRPr>
            </a:lvl9pPr>
          </a:lstStyle>
          <a:p xmlns:a="http://schemas.openxmlformats.org/drawingml/2006/main">
            <a:pPr>
              <a:defRPr sz="900" b="1">
                <a:solidFill>
                  <a:srgbClr val="BB6427"/>
                </a:solidFill>
                <a:latin typeface="Arial"/>
                <a:ea typeface="Arial"/>
                <a:cs typeface="Arial"/>
              </a:defRPr>
            </a:pPr>
            <a:r>
              <a:rPr sz="900" b="1">
                <a:solidFill>
                  <a:srgbClr val="BB6427"/>
                </a:solidFill>
                <a:latin typeface="Arial"/>
                <a:ea typeface="Arial"/>
                <a:cs typeface="Arial"/>
              </a:rPr>
              <a:t>GROUP DECISION</a:t>
            </a:r>
          </a:p>
        </p:txBody>
      </p:sp>
      <p:sp>
        <p:nvSpPr>
          <p:cNvPr id="4" name="">
            <a:extLst xmlns:a="http://schemas.openxmlformats.org/drawingml/2006/main">
              <a:ext uri="{FF2B5EF4-FFF2-40B4-BE49-F238E27FC236}">
                <a16:creationId xmlns:a16="http://schemas.microsoft.com/office/drawing/2014/main" id="{E4EE8A25-BFCB-4DAD-8803-581679A43533}"/>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5</a:t>
            </a:r>
          </a:p>
        </p:txBody>
      </p:sp>
      <p:sp>
        <p:nvSpPr>
          <p:cNvPr id="5" name="">
            <a:extLst xmlns:a="http://schemas.openxmlformats.org/drawingml/2006/main">
              <a:ext uri="{FF2B5EF4-FFF2-40B4-BE49-F238E27FC236}">
                <a16:creationId xmlns:a16="http://schemas.microsoft.com/office/drawing/2014/main" id="{60126420-3B61-4BE8-9BEB-A6B4A901BA5A}"/>
              </a:ext>
            </a:extLst>
          </p:cNvPr>
          <p:cNvSpPr>
            <a:spLocks xmlns:a="http://schemas.openxmlformats.org/drawingml/2006/main" noGrp="1"/>
          </p:cNvSpPr>
          <p:nvPr/>
        </p:nvSpPr>
        <p:spPr>
          <a:xfrm xmlns:a="http://schemas.openxmlformats.org/drawingml/2006/main">
            <a:off x="609600" y="149542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950" b="0">
                <a:solidFill>
                  <a:srgbClr val="172D3C"/>
                </a:solidFill>
                <a:latin typeface="Arial"/>
                <a:ea typeface="Arial"/>
                <a:cs typeface="Arial"/>
              </a:defRPr>
            </a:defPPr>
            <a:lvl1pPr>
              <a:defRPr sz="1950" b="0">
                <a:solidFill>
                  <a:srgbClr val="172D3C"/>
                </a:solidFill>
                <a:latin typeface="Arial"/>
                <a:ea typeface="Arial"/>
                <a:cs typeface="Arial"/>
              </a:defRPr>
            </a:lvl1pPr>
            <a:lvl2pPr>
              <a:defRPr sz="1950" b="0">
                <a:solidFill>
                  <a:srgbClr val="172D3C"/>
                </a:solidFill>
                <a:latin typeface="Arial"/>
                <a:ea typeface="Arial"/>
                <a:cs typeface="Arial"/>
              </a:defRPr>
            </a:lvl2pPr>
            <a:lvl3pPr>
              <a:defRPr sz="1950" b="0">
                <a:solidFill>
                  <a:srgbClr val="172D3C"/>
                </a:solidFill>
                <a:latin typeface="Arial"/>
                <a:ea typeface="Arial"/>
                <a:cs typeface="Arial"/>
              </a:defRPr>
            </a:lvl3pPr>
            <a:lvl4pPr>
              <a:defRPr sz="1950" b="0">
                <a:solidFill>
                  <a:srgbClr val="172D3C"/>
                </a:solidFill>
                <a:latin typeface="Arial"/>
                <a:ea typeface="Arial"/>
                <a:cs typeface="Arial"/>
              </a:defRPr>
            </a:lvl4pPr>
            <a:lvl5pPr>
              <a:defRPr sz="1950" b="0">
                <a:solidFill>
                  <a:srgbClr val="172D3C"/>
                </a:solidFill>
                <a:latin typeface="Arial"/>
                <a:ea typeface="Arial"/>
                <a:cs typeface="Arial"/>
              </a:defRPr>
            </a:lvl5pPr>
            <a:lvl6pPr>
              <a:defRPr sz="1950" b="0">
                <a:solidFill>
                  <a:srgbClr val="172D3C"/>
                </a:solidFill>
                <a:latin typeface="Arial"/>
                <a:ea typeface="Arial"/>
                <a:cs typeface="Arial"/>
              </a:defRPr>
            </a:lvl6pPr>
            <a:lvl7pPr>
              <a:defRPr sz="1950" b="0">
                <a:solidFill>
                  <a:srgbClr val="172D3C"/>
                </a:solidFill>
                <a:latin typeface="Arial"/>
                <a:ea typeface="Arial"/>
                <a:cs typeface="Arial"/>
              </a:defRPr>
            </a:lvl7pPr>
            <a:lvl8pPr>
              <a:defRPr sz="1950" b="0">
                <a:solidFill>
                  <a:srgbClr val="172D3C"/>
                </a:solidFill>
                <a:latin typeface="Arial"/>
                <a:ea typeface="Arial"/>
                <a:cs typeface="Arial"/>
              </a:defRPr>
            </a:lvl8pPr>
            <a:lvl9pPr>
              <a:defRPr sz="1950" b="0">
                <a:solidFill>
                  <a:srgbClr val="172D3C"/>
                </a:solidFill>
                <a:latin typeface="Arial"/>
                <a:ea typeface="Arial"/>
                <a:cs typeface="Arial"/>
              </a:defRPr>
            </a:lvl9pPr>
          </a:lstStyle>
          <a:p xmlns:a="http://schemas.openxmlformats.org/drawingml/2006/main">
            <a:pPr>
              <a:defRPr sz="1950" b="0">
                <a:solidFill>
                  <a:srgbClr val="172D3C"/>
                </a:solidFill>
                <a:latin typeface="Arial"/>
                <a:ea typeface="Arial"/>
                <a:cs typeface="Arial"/>
              </a:defRPr>
            </a:pPr>
            <a:r>
              <a:rPr sz="1950" b="0">
                <a:solidFill>
                  <a:srgbClr val="172D3C"/>
                </a:solidFill>
                <a:latin typeface="Arial"/>
                <a:ea typeface="Arial"/>
                <a:cs typeface="Arial"/>
              </a:rPr>
              <a:t>Studio North can offer a ready-to-use template or a guided lesson. Which recorded grouping should inform these onboarding routes?</a:t>
            </a:r>
          </a:p>
        </p:txBody>
      </p:sp>
      <p:graphicFrame>
        <p:nvGraphicFramePr>
          <p:cNvPr id="6" name="">
            <a:extLst xmlns:a="http://schemas.openxmlformats.org/drawingml/2006/main">
              <a:ext uri="{FF2B5EF4-FFF2-40B4-BE49-F238E27FC236}">
                <a16:creationId xmlns:a16="http://schemas.microsoft.com/office/drawing/2014/main" id="{A3B5448A-6B38-4BF8-A09D-CCF4D7130268}"/>
              </a:ext>
            </a:extLst>
          </p:cNvPr>
          <p:cNvGraphicFramePr/>
          <p:nvPr/>
        </p:nvGraphicFramePr>
        <p:xfrm>
          <a:off xmlns:a="http://schemas.openxmlformats.org/drawingml/2006/main" x="609600" y="2505075"/>
          <a:ext xmlns:a="http://schemas.openxmlformats.org/drawingml/2006/main" cx="10972800" cy="1638300"/>
        </p:xfrm>
        <a:graphic xmlns:a="http://schemas.openxmlformats.org/drawingml/2006/main">
          <a:graphicData uri="http://schemas.openxmlformats.org/drawingml/2006/table">
            <a:tbl>
              <a:tblPr/>
              <a:tblGrid>
                <a:gridCol w="2857500"/>
                <a:gridCol w="3667125"/>
                <a:gridCol w="4448175"/>
              </a:tblGrid>
              <a:tr h="546100">
                <a:tc>
                  <a:txBody>
                    <a:bodyPr/>
                    <a:lstStyle/>
                    <a:p>
                      <a:r>
                        <a:rPr sz="1350" b="1">
                          <a:solidFill>
                            <a:srgbClr val="FFFFFF"/>
                          </a:solidFill>
                          <a:latin typeface="Arial"/>
                          <a:ea typeface="Arial"/>
                          <a:cs typeface="Arial"/>
                        </a:rPr>
                        <a:t>Grouping</a:t>
                      </a:r>
                    </a:p>
                  </a:txBody>
                  <a:tcPr marL="91440" marR="91440" marT="45720" marB="45720">
                    <a:solidFill>
                      <a:srgbClr val="172D3C"/>
                    </a:solidFill>
                  </a:tcPr>
                </a:tc>
                <a:tc>
                  <a:txBody>
                    <a:bodyPr/>
                    <a:lstStyle/>
                    <a:p>
                      <a:r>
                        <a:rPr sz="1350" b="1">
                          <a:solidFill>
                            <a:srgbClr val="FFFFFF"/>
                          </a:solidFill>
                          <a:latin typeface="Arial"/>
                          <a:ea typeface="Arial"/>
                          <a:cs typeface="Arial"/>
                        </a:rPr>
                        <a:t>Two recorded groups</a:t>
                      </a:r>
                    </a:p>
                  </a:txBody>
                  <a:tcPr marL="91440" marR="91440" marT="45720" marB="45720">
                    <a:solidFill>
                      <a:srgbClr val="172D3C"/>
                    </a:solidFill>
                  </a:tcPr>
                </a:tc>
                <a:tc>
                  <a:txBody>
                    <a:bodyPr/>
                    <a:lstStyle/>
                    <a:p>
                      <a:r>
                        <a:rPr sz="1350" b="1">
                          <a:solidFill>
                            <a:srgbClr val="FFFFFF"/>
                          </a:solidFill>
                          <a:latin typeface="Arial"/>
                          <a:ea typeface="Arial"/>
                          <a:cs typeface="Arial"/>
                        </a:rPr>
                        <a:t>What the field describes</a:t>
                      </a:r>
                    </a:p>
                  </a:txBody>
                  <a:tcPr marL="91440" marR="91440" marT="45720" marB="45720">
                    <a:solidFill>
                      <a:srgbClr val="172D3C"/>
                    </a:solidFill>
                  </a:tcPr>
                </a:tc>
              </a:tr>
              <a:tr h="546100">
                <a:tc>
                  <a:txBody>
                    <a:bodyPr/>
                    <a:lstStyle/>
                    <a:p>
                      <a:r>
                        <a:rPr sz="1425" b="0">
                          <a:solidFill>
                            <a:srgbClr val="172D3C"/>
                          </a:solidFill>
                          <a:latin typeface="Arial"/>
                          <a:ea typeface="Arial"/>
                          <a:cs typeface="Arial"/>
                        </a:rPr>
                        <a:t>Age band</a:t>
                      </a:r>
                    </a:p>
                  </a:txBody>
                  <a:tcPr marL="91440" marR="91440" marT="45720" marB="45720">
                    <a:solidFill>
                      <a:srgbClr val="F0F5F6"/>
                    </a:solidFill>
                  </a:tcPr>
                </a:tc>
                <a:tc>
                  <a:txBody>
                    <a:bodyPr/>
                    <a:lstStyle/>
                    <a:p>
                      <a:r>
                        <a:rPr sz="1425" b="0">
                          <a:solidFill>
                            <a:srgbClr val="172D3C"/>
                          </a:solidFill>
                          <a:latin typeface="Arial"/>
                          <a:ea typeface="Arial"/>
                          <a:cs typeface="Arial"/>
                        </a:rPr>
                        <a:t>18–34 / 35+</a:t>
                      </a:r>
                    </a:p>
                  </a:txBody>
                  <a:tcPr marL="91440" marR="91440" marT="45720" marB="45720">
                    <a:solidFill>
                      <a:srgbClr val="F0F5F6"/>
                    </a:solidFill>
                  </a:tcPr>
                </a:tc>
                <a:tc>
                  <a:txBody>
                    <a:bodyPr/>
                    <a:lstStyle/>
                    <a:p>
                      <a:r>
                        <a:rPr sz="1425" b="0">
                          <a:solidFill>
                            <a:srgbClr val="172D3C"/>
                          </a:solidFill>
                          <a:latin typeface="Arial"/>
                          <a:ea typeface="Arial"/>
                          <a:cs typeface="Arial"/>
                        </a:rPr>
                        <a:t>A demographic characteristic.</a:t>
                      </a:r>
                    </a:p>
                  </a:txBody>
                  <a:tcPr marL="91440" marR="91440" marT="45720" marB="45720">
                    <a:solidFill>
                      <a:srgbClr val="F0F5F6"/>
                    </a:solidFill>
                  </a:tcPr>
                </a:tc>
              </a:tr>
              <a:tr h="546100">
                <a:tc>
                  <a:txBody>
                    <a:bodyPr/>
                    <a:lstStyle/>
                    <a:p>
                      <a:r>
                        <a:rPr sz="1425" b="0">
                          <a:solidFill>
                            <a:srgbClr val="172D3C"/>
                          </a:solidFill>
                          <a:latin typeface="Arial"/>
                          <a:ea typeface="Arial"/>
                          <a:cs typeface="Arial"/>
                        </a:rPr>
                        <a:t>Stated need</a:t>
                      </a:r>
                    </a:p>
                  </a:txBody>
                  <a:tcPr marL="91440" marR="91440" marT="45720" marB="45720">
                    <a:solidFill>
                      <a:srgbClr val="FFFFFF"/>
                    </a:solidFill>
                  </a:tcPr>
                </a:tc>
                <a:tc>
                  <a:txBody>
                    <a:bodyPr/>
                    <a:lstStyle/>
                    <a:p>
                      <a:r>
                        <a:rPr sz="1425" b="0">
                          <a:solidFill>
                            <a:srgbClr val="172D3C"/>
                          </a:solidFill>
                          <a:latin typeface="Arial"/>
                          <a:ea typeface="Arial"/>
                          <a:cs typeface="Arial"/>
                        </a:rPr>
                        <a:t>Save time / Build skill</a:t>
                      </a:r>
                    </a:p>
                  </a:txBody>
                  <a:tcPr marL="91440" marR="91440" marT="45720" marB="45720">
                    <a:solidFill>
                      <a:srgbClr val="FFFFFF"/>
                    </a:solidFill>
                  </a:tcPr>
                </a:tc>
                <a:tc>
                  <a:txBody>
                    <a:bodyPr/>
                    <a:lstStyle/>
                    <a:p>
                      <a:r>
                        <a:rPr sz="1425" b="0">
                          <a:solidFill>
                            <a:srgbClr val="172D3C"/>
                          </a:solidFill>
                          <a:latin typeface="Arial"/>
                          <a:ea typeface="Arial"/>
                          <a:cs typeface="Arial"/>
                        </a:rPr>
                        <a:t>The goal stated before acquisition.</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7292F957-2894-4184-93B0-CBF8F9B7C4AA}"/>
              </a:ext>
            </a:extLst>
          </p:cNvPr>
          <p:cNvSpPr>
            <a:spLocks xmlns:a="http://schemas.openxmlformats.org/drawingml/2006/main" noGrp="1"/>
          </p:cNvSpPr>
          <p:nvPr/>
        </p:nvSpPr>
        <p:spPr>
          <a:xfrm xmlns:a="http://schemas.openxmlformats.org/drawingml/2006/main">
            <a:off x="609600" y="4457700"/>
            <a:ext cx="109728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025" b="1">
                <a:solidFill>
                  <a:srgbClr val="BB6427"/>
                </a:solidFill>
                <a:latin typeface="Arial"/>
                <a:ea typeface="Arial"/>
                <a:cs typeface="Arial"/>
              </a:defRPr>
            </a:defPPr>
            <a:lvl1pPr>
              <a:defRPr sz="2025" b="1">
                <a:solidFill>
                  <a:srgbClr val="BB6427"/>
                </a:solidFill>
                <a:latin typeface="Arial"/>
                <a:ea typeface="Arial"/>
                <a:cs typeface="Arial"/>
              </a:defRPr>
            </a:lvl1pPr>
            <a:lvl2pPr>
              <a:defRPr sz="2025" b="1">
                <a:solidFill>
                  <a:srgbClr val="BB6427"/>
                </a:solidFill>
                <a:latin typeface="Arial"/>
                <a:ea typeface="Arial"/>
                <a:cs typeface="Arial"/>
              </a:defRPr>
            </a:lvl2pPr>
            <a:lvl3pPr>
              <a:defRPr sz="2025" b="1">
                <a:solidFill>
                  <a:srgbClr val="BB6427"/>
                </a:solidFill>
                <a:latin typeface="Arial"/>
                <a:ea typeface="Arial"/>
                <a:cs typeface="Arial"/>
              </a:defRPr>
            </a:lvl3pPr>
            <a:lvl4pPr>
              <a:defRPr sz="2025" b="1">
                <a:solidFill>
                  <a:srgbClr val="BB6427"/>
                </a:solidFill>
                <a:latin typeface="Arial"/>
                <a:ea typeface="Arial"/>
                <a:cs typeface="Arial"/>
              </a:defRPr>
            </a:lvl4pPr>
            <a:lvl5pPr>
              <a:defRPr sz="2025" b="1">
                <a:solidFill>
                  <a:srgbClr val="BB6427"/>
                </a:solidFill>
                <a:latin typeface="Arial"/>
                <a:ea typeface="Arial"/>
                <a:cs typeface="Arial"/>
              </a:defRPr>
            </a:lvl5pPr>
            <a:lvl6pPr>
              <a:defRPr sz="2025" b="1">
                <a:solidFill>
                  <a:srgbClr val="BB6427"/>
                </a:solidFill>
                <a:latin typeface="Arial"/>
                <a:ea typeface="Arial"/>
                <a:cs typeface="Arial"/>
              </a:defRPr>
            </a:lvl6pPr>
            <a:lvl7pPr>
              <a:defRPr sz="2025" b="1">
                <a:solidFill>
                  <a:srgbClr val="BB6427"/>
                </a:solidFill>
                <a:latin typeface="Arial"/>
                <a:ea typeface="Arial"/>
                <a:cs typeface="Arial"/>
              </a:defRPr>
            </a:lvl7pPr>
            <a:lvl8pPr>
              <a:defRPr sz="2025" b="1">
                <a:solidFill>
                  <a:srgbClr val="BB6427"/>
                </a:solidFill>
                <a:latin typeface="Arial"/>
                <a:ea typeface="Arial"/>
                <a:cs typeface="Arial"/>
              </a:defRPr>
            </a:lvl8pPr>
            <a:lvl9pPr>
              <a:defRPr sz="2025" b="1">
                <a:solidFill>
                  <a:srgbClr val="BB6427"/>
                </a:solidFill>
                <a:latin typeface="Arial"/>
                <a:ea typeface="Arial"/>
                <a:cs typeface="Arial"/>
              </a:defRPr>
            </a:lvl9pPr>
          </a:lstStyle>
          <a:p xmlns:a="http://schemas.openxmlformats.org/drawingml/2006/main">
            <a:pPr>
              <a:defRPr sz="2025" b="1">
                <a:solidFill>
                  <a:srgbClr val="BB6427"/>
                </a:solidFill>
                <a:latin typeface="Arial"/>
                <a:ea typeface="Arial"/>
                <a:cs typeface="Arial"/>
              </a:defRPr>
            </a:pPr>
            <a:r>
              <a:rPr sz="2025" b="1">
                <a:solidFill>
                  <a:srgbClr val="BB6427"/>
                </a:solidFill>
                <a:latin typeface="Arial"/>
                <a:ea typeface="Arial"/>
                <a:cs typeface="Arial"/>
              </a:rPr>
              <a:t>Choose one grouping and explain why it is relevant to this onboarding objective.</a:t>
            </a:r>
          </a:p>
        </p:txBody>
      </p:sp>
      <p:sp>
        <p:nvSpPr>
          <p:cNvPr id="8" name="">
            <a:extLst xmlns:a="http://schemas.openxmlformats.org/drawingml/2006/main">
              <a:ext uri="{FF2B5EF4-FFF2-40B4-BE49-F238E27FC236}">
                <a16:creationId xmlns:a16="http://schemas.microsoft.com/office/drawing/2014/main" id="{85B2B318-9603-4E93-9729-2A15A8989A10}"/>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FCF1E7"/>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C916ECF-CC16-4D62-A424-8D3DEC10D865}"/>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Use the conceptual journey maps to propose the routes. Later, use the SQL results to test whether the grouping explains value.</a:t>
            </a:r>
          </a:p>
        </p:txBody>
      </p:sp>
    </p:spTree>
    <p:extLst>
      <p:ext uri="{BB962C8B-B14F-4D97-AF65-F5344CB8AC3E}">
        <p14:creationId xmlns:p14="http://schemas.microsoft.com/office/powerpoint/2010/main" val="169479052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D009E939-1432-4CD3-914E-632B65A6CFF2}"/>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408F38C-1876-4F59-B396-84939749A02A}"/>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Turn the connected view into a reproducible query</a:t>
            </a:r>
          </a:p>
        </p:txBody>
      </p:sp>
      <p:sp>
        <p:nvSpPr>
          <p:cNvPr id="3" name="">
            <a:extLst xmlns:a="http://schemas.openxmlformats.org/drawingml/2006/main">
              <a:ext uri="{FF2B5EF4-FFF2-40B4-BE49-F238E27FC236}">
                <a16:creationId xmlns:a16="http://schemas.microsoft.com/office/drawing/2014/main" id="{BA17F55F-B913-42BB-89BE-9135B821CEE8}"/>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3191B5"/>
                </a:solidFill>
                <a:latin typeface="Arial"/>
                <a:ea typeface="Arial"/>
                <a:cs typeface="Arial"/>
              </a:defRPr>
            </a:defPPr>
            <a:lvl1pPr>
              <a:defRPr sz="900" b="1">
                <a:solidFill>
                  <a:srgbClr val="3191B5"/>
                </a:solidFill>
                <a:latin typeface="Arial"/>
                <a:ea typeface="Arial"/>
                <a:cs typeface="Arial"/>
              </a:defRPr>
            </a:lvl1pPr>
            <a:lvl2pPr>
              <a:defRPr sz="900" b="1">
                <a:solidFill>
                  <a:srgbClr val="3191B5"/>
                </a:solidFill>
                <a:latin typeface="Arial"/>
                <a:ea typeface="Arial"/>
                <a:cs typeface="Arial"/>
              </a:defRPr>
            </a:lvl2pPr>
            <a:lvl3pPr>
              <a:defRPr sz="900" b="1">
                <a:solidFill>
                  <a:srgbClr val="3191B5"/>
                </a:solidFill>
                <a:latin typeface="Arial"/>
                <a:ea typeface="Arial"/>
                <a:cs typeface="Arial"/>
              </a:defRPr>
            </a:lvl3pPr>
            <a:lvl4pPr>
              <a:defRPr sz="900" b="1">
                <a:solidFill>
                  <a:srgbClr val="3191B5"/>
                </a:solidFill>
                <a:latin typeface="Arial"/>
                <a:ea typeface="Arial"/>
                <a:cs typeface="Arial"/>
              </a:defRPr>
            </a:lvl4pPr>
            <a:lvl5pPr>
              <a:defRPr sz="900" b="1">
                <a:solidFill>
                  <a:srgbClr val="3191B5"/>
                </a:solidFill>
                <a:latin typeface="Arial"/>
                <a:ea typeface="Arial"/>
                <a:cs typeface="Arial"/>
              </a:defRPr>
            </a:lvl5pPr>
            <a:lvl6pPr>
              <a:defRPr sz="900" b="1">
                <a:solidFill>
                  <a:srgbClr val="3191B5"/>
                </a:solidFill>
                <a:latin typeface="Arial"/>
                <a:ea typeface="Arial"/>
                <a:cs typeface="Arial"/>
              </a:defRPr>
            </a:lvl6pPr>
            <a:lvl7pPr>
              <a:defRPr sz="900" b="1">
                <a:solidFill>
                  <a:srgbClr val="3191B5"/>
                </a:solidFill>
                <a:latin typeface="Arial"/>
                <a:ea typeface="Arial"/>
                <a:cs typeface="Arial"/>
              </a:defRPr>
            </a:lvl7pPr>
            <a:lvl8pPr>
              <a:defRPr sz="900" b="1">
                <a:solidFill>
                  <a:srgbClr val="3191B5"/>
                </a:solidFill>
                <a:latin typeface="Arial"/>
                <a:ea typeface="Arial"/>
                <a:cs typeface="Arial"/>
              </a:defRPr>
            </a:lvl8pPr>
            <a:lvl9pPr>
              <a:defRPr sz="900" b="1">
                <a:solidFill>
                  <a:srgbClr val="3191B5"/>
                </a:solidFill>
                <a:latin typeface="Arial"/>
                <a:ea typeface="Arial"/>
                <a:cs typeface="Arial"/>
              </a:defRPr>
            </a:lvl9pPr>
          </a:lstStyle>
          <a:p xmlns:a="http://schemas.openxmlformats.org/drawingml/2006/main">
            <a:pPr>
              <a:defRPr sz="900" b="1">
                <a:solidFill>
                  <a:srgbClr val="3191B5"/>
                </a:solidFill>
                <a:latin typeface="Arial"/>
                <a:ea typeface="Arial"/>
                <a:cs typeface="Arial"/>
              </a:defRPr>
            </a:pPr>
            <a:r>
              <a:rPr sz="900" b="1">
                <a:solidFill>
                  <a:srgbClr val="3191B5"/>
                </a:solidFill>
                <a:latin typeface="Arial"/>
                <a:ea typeface="Arial"/>
                <a:cs typeface="Arial"/>
              </a:rPr>
              <a:t>CONCEPT</a:t>
            </a:r>
          </a:p>
        </p:txBody>
      </p:sp>
      <p:sp>
        <p:nvSpPr>
          <p:cNvPr id="4" name="">
            <a:extLst xmlns:a="http://schemas.openxmlformats.org/drawingml/2006/main">
              <a:ext uri="{FF2B5EF4-FFF2-40B4-BE49-F238E27FC236}">
                <a16:creationId xmlns:a16="http://schemas.microsoft.com/office/drawing/2014/main" id="{52A6D4EA-4400-49A9-80F0-73D6311D7144}"/>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6</a:t>
            </a:r>
          </a:p>
        </p:txBody>
      </p:sp>
      <p:sp>
        <p:nvSpPr>
          <p:cNvPr id="5" name="">
            <a:extLst xmlns:a="http://schemas.openxmlformats.org/drawingml/2006/main">
              <a:ext uri="{FF2B5EF4-FFF2-40B4-BE49-F238E27FC236}">
                <a16:creationId xmlns:a16="http://schemas.microsoft.com/office/drawing/2014/main" id="{7D1B543A-8265-4A46-881C-4678A9F914F8}"/>
              </a:ext>
            </a:extLst>
          </p:cNvPr>
          <p:cNvSpPr>
            <a:spLocks xmlns:a="http://schemas.openxmlformats.org/drawingml/2006/main" noGrp="1"/>
          </p:cNvSpPr>
          <p:nvPr/>
        </p:nvSpPr>
        <p:spPr>
          <a:xfrm xmlns:a="http://schemas.openxmlformats.org/drawingml/2006/main">
            <a:off x="609600" y="1657350"/>
            <a:ext cx="2609850" cy="2009775"/>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3D4283C-AA92-40A2-B565-586C6A1C223C}"/>
              </a:ext>
            </a:extLst>
          </p:cNvPr>
          <p:cNvSpPr>
            <a:spLocks xmlns:a="http://schemas.openxmlformats.org/drawingml/2006/main" noGrp="1"/>
          </p:cNvSpPr>
          <p:nvPr/>
        </p:nvSpPr>
        <p:spPr>
          <a:xfrm xmlns:a="http://schemas.openxmlformats.org/drawingml/2006/main">
            <a:off x="609600" y="1657350"/>
            <a:ext cx="47625" cy="2009775"/>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36C75DE-38E9-401D-8C34-A20E23AC3D88}"/>
              </a:ext>
            </a:extLst>
          </p:cNvPr>
          <p:cNvSpPr>
            <a:spLocks xmlns:a="http://schemas.openxmlformats.org/drawingml/2006/main" noGrp="1"/>
          </p:cNvSpPr>
          <p:nvPr/>
        </p:nvSpPr>
        <p:spPr>
          <a:xfrm xmlns:a="http://schemas.openxmlformats.org/drawingml/2006/main">
            <a:off x="800100" y="1800225"/>
            <a:ext cx="2228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defRPr sz="1800" b="1">
                <a:solidFill>
                  <a:srgbClr val="3191B5"/>
                </a:solidFill>
                <a:latin typeface="Arial"/>
                <a:ea typeface="Arial"/>
                <a:cs typeface="Arial"/>
              </a:defRPr>
            </a:lvl1pPr>
            <a:lvl2pPr>
              <a:defRPr sz="1800" b="1">
                <a:solidFill>
                  <a:srgbClr val="3191B5"/>
                </a:solidFill>
                <a:latin typeface="Arial"/>
                <a:ea typeface="Arial"/>
                <a:cs typeface="Arial"/>
              </a:defRPr>
            </a:lvl2pPr>
            <a:lvl3pPr>
              <a:defRPr sz="1800" b="1">
                <a:solidFill>
                  <a:srgbClr val="3191B5"/>
                </a:solidFill>
                <a:latin typeface="Arial"/>
                <a:ea typeface="Arial"/>
                <a:cs typeface="Arial"/>
              </a:defRPr>
            </a:lvl3pPr>
            <a:lvl4pPr>
              <a:defRPr sz="1800" b="1">
                <a:solidFill>
                  <a:srgbClr val="3191B5"/>
                </a:solidFill>
                <a:latin typeface="Arial"/>
                <a:ea typeface="Arial"/>
                <a:cs typeface="Arial"/>
              </a:defRPr>
            </a:lvl4pPr>
            <a:lvl5pPr>
              <a:defRPr sz="1800" b="1">
                <a:solidFill>
                  <a:srgbClr val="3191B5"/>
                </a:solidFill>
                <a:latin typeface="Arial"/>
                <a:ea typeface="Arial"/>
                <a:cs typeface="Arial"/>
              </a:defRPr>
            </a:lvl5pPr>
            <a:lvl6pPr>
              <a:defRPr sz="1800" b="1">
                <a:solidFill>
                  <a:srgbClr val="3191B5"/>
                </a:solidFill>
                <a:latin typeface="Arial"/>
                <a:ea typeface="Arial"/>
                <a:cs typeface="Arial"/>
              </a:defRPr>
            </a:lvl6pPr>
            <a:lvl7pPr>
              <a:defRPr sz="1800" b="1">
                <a:solidFill>
                  <a:srgbClr val="3191B5"/>
                </a:solidFill>
                <a:latin typeface="Arial"/>
                <a:ea typeface="Arial"/>
                <a:cs typeface="Arial"/>
              </a:defRPr>
            </a:lvl7pPr>
            <a:lvl8pPr>
              <a:defRPr sz="1800" b="1">
                <a:solidFill>
                  <a:srgbClr val="3191B5"/>
                </a:solidFill>
                <a:latin typeface="Arial"/>
                <a:ea typeface="Arial"/>
                <a:cs typeface="Arial"/>
              </a:defRPr>
            </a:lvl8pPr>
            <a:lvl9pPr>
              <a:defRPr sz="1800" b="1">
                <a:solidFill>
                  <a:srgbClr val="3191B5"/>
                </a:solidFill>
                <a:latin typeface="Arial"/>
                <a:ea typeface="Arial"/>
                <a:cs typeface="Arial"/>
              </a:defRPr>
            </a:lvl9pPr>
          </a:lstStyle>
          <a:p xmlns:a="http://schemas.openxmlformats.org/drawingml/2006/main">
            <a:pPr>
              <a:defRPr sz="1800" b="1">
                <a:solidFill>
                  <a:srgbClr val="3191B5"/>
                </a:solidFill>
                <a:latin typeface="Arial"/>
                <a:ea typeface="Arial"/>
                <a:cs typeface="Arial"/>
              </a:defRPr>
            </a:pPr>
            <a:r>
              <a:rPr sz="1800" b="1">
                <a:solidFill>
                  <a:srgbClr val="3191B5"/>
                </a:solidFill>
                <a:latin typeface="Arial"/>
                <a:ea typeface="Arial"/>
                <a:cs typeface="Arial"/>
              </a:rPr>
              <a:t>Inspect raw views</a:t>
            </a:r>
          </a:p>
        </p:txBody>
      </p:sp>
      <p:sp>
        <p:nvSpPr>
          <p:cNvPr id="8" name="">
            <a:extLst xmlns:a="http://schemas.openxmlformats.org/drawingml/2006/main">
              <a:ext uri="{FF2B5EF4-FFF2-40B4-BE49-F238E27FC236}">
                <a16:creationId xmlns:a16="http://schemas.microsoft.com/office/drawing/2014/main" id="{4F2D7ABF-B4A3-4E20-889F-3287CA447503}"/>
              </a:ext>
            </a:extLst>
          </p:cNvPr>
          <p:cNvSpPr>
            <a:spLocks xmlns:a="http://schemas.openxmlformats.org/drawingml/2006/main" noGrp="1"/>
          </p:cNvSpPr>
          <p:nvPr/>
        </p:nvSpPr>
        <p:spPr>
          <a:xfrm xmlns:a="http://schemas.openxmlformats.org/drawingml/2006/main">
            <a:off x="800100" y="2228850"/>
            <a:ext cx="222885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Keep source columns</a:t>
            </a:r>
          </a:p>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and row meanings.</a:t>
            </a:r>
          </a:p>
        </p:txBody>
      </p:sp>
      <p:sp>
        <p:nvSpPr>
          <p:cNvPr id="9" name="">
            <a:extLst xmlns:a="http://schemas.openxmlformats.org/drawingml/2006/main">
              <a:ext uri="{FF2B5EF4-FFF2-40B4-BE49-F238E27FC236}">
                <a16:creationId xmlns:a16="http://schemas.microsoft.com/office/drawing/2014/main" id="{6D556B4E-C698-4EAB-B5A2-F6A292515431}"/>
              </a:ext>
            </a:extLst>
          </p:cNvPr>
          <p:cNvSpPr>
            <a:spLocks xmlns:a="http://schemas.openxmlformats.org/drawingml/2006/main" noGrp="1"/>
          </p:cNvSpPr>
          <p:nvPr/>
        </p:nvSpPr>
        <p:spPr>
          <a:xfrm xmlns:a="http://schemas.openxmlformats.org/drawingml/2006/main">
            <a:off x="3257550" y="2514600"/>
            <a:ext cx="152400" cy="228600"/>
          </a:xfrm>
          <a:prstGeom xmlns:a="http://schemas.openxmlformats.org/drawingml/2006/main" prst="rightArrow">
            <a:avLst/>
          </a:prstGeom>
          <a:solidFill xmlns:a="http://schemas.openxmlformats.org/drawingml/2006/main">
            <a:srgbClr val="68778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EEDCAC3-5395-4769-97EE-32045301AC74}"/>
              </a:ext>
            </a:extLst>
          </p:cNvPr>
          <p:cNvSpPr>
            <a:spLocks xmlns:a="http://schemas.openxmlformats.org/drawingml/2006/main" noGrp="1"/>
          </p:cNvSpPr>
          <p:nvPr/>
        </p:nvSpPr>
        <p:spPr>
          <a:xfrm xmlns:a="http://schemas.openxmlformats.org/drawingml/2006/main">
            <a:off x="3400425" y="1657350"/>
            <a:ext cx="2609850" cy="2009775"/>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835FF76-5604-42D5-ACD9-9CCDD6CBF002}"/>
              </a:ext>
            </a:extLst>
          </p:cNvPr>
          <p:cNvSpPr>
            <a:spLocks xmlns:a="http://schemas.openxmlformats.org/drawingml/2006/main" noGrp="1"/>
          </p:cNvSpPr>
          <p:nvPr/>
        </p:nvSpPr>
        <p:spPr>
          <a:xfrm xmlns:a="http://schemas.openxmlformats.org/drawingml/2006/main">
            <a:off x="3400425" y="1657350"/>
            <a:ext cx="47625" cy="2009775"/>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FA68D8D-2E46-4F56-8129-FD7921569815}"/>
              </a:ext>
            </a:extLst>
          </p:cNvPr>
          <p:cNvSpPr>
            <a:spLocks xmlns:a="http://schemas.openxmlformats.org/drawingml/2006/main" noGrp="1"/>
          </p:cNvSpPr>
          <p:nvPr/>
        </p:nvSpPr>
        <p:spPr>
          <a:xfrm xmlns:a="http://schemas.openxmlformats.org/drawingml/2006/main">
            <a:off x="3590925" y="1800225"/>
            <a:ext cx="2228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defRPr sz="1800" b="1">
                <a:solidFill>
                  <a:srgbClr val="3191B5"/>
                </a:solidFill>
                <a:latin typeface="Arial"/>
                <a:ea typeface="Arial"/>
                <a:cs typeface="Arial"/>
              </a:defRPr>
            </a:lvl1pPr>
            <a:lvl2pPr>
              <a:defRPr sz="1800" b="1">
                <a:solidFill>
                  <a:srgbClr val="3191B5"/>
                </a:solidFill>
                <a:latin typeface="Arial"/>
                <a:ea typeface="Arial"/>
                <a:cs typeface="Arial"/>
              </a:defRPr>
            </a:lvl2pPr>
            <a:lvl3pPr>
              <a:defRPr sz="1800" b="1">
                <a:solidFill>
                  <a:srgbClr val="3191B5"/>
                </a:solidFill>
                <a:latin typeface="Arial"/>
                <a:ea typeface="Arial"/>
                <a:cs typeface="Arial"/>
              </a:defRPr>
            </a:lvl3pPr>
            <a:lvl4pPr>
              <a:defRPr sz="1800" b="1">
                <a:solidFill>
                  <a:srgbClr val="3191B5"/>
                </a:solidFill>
                <a:latin typeface="Arial"/>
                <a:ea typeface="Arial"/>
                <a:cs typeface="Arial"/>
              </a:defRPr>
            </a:lvl4pPr>
            <a:lvl5pPr>
              <a:defRPr sz="1800" b="1">
                <a:solidFill>
                  <a:srgbClr val="3191B5"/>
                </a:solidFill>
                <a:latin typeface="Arial"/>
                <a:ea typeface="Arial"/>
                <a:cs typeface="Arial"/>
              </a:defRPr>
            </a:lvl5pPr>
            <a:lvl6pPr>
              <a:defRPr sz="1800" b="1">
                <a:solidFill>
                  <a:srgbClr val="3191B5"/>
                </a:solidFill>
                <a:latin typeface="Arial"/>
                <a:ea typeface="Arial"/>
                <a:cs typeface="Arial"/>
              </a:defRPr>
            </a:lvl6pPr>
            <a:lvl7pPr>
              <a:defRPr sz="1800" b="1">
                <a:solidFill>
                  <a:srgbClr val="3191B5"/>
                </a:solidFill>
                <a:latin typeface="Arial"/>
                <a:ea typeface="Arial"/>
                <a:cs typeface="Arial"/>
              </a:defRPr>
            </a:lvl7pPr>
            <a:lvl8pPr>
              <a:defRPr sz="1800" b="1">
                <a:solidFill>
                  <a:srgbClr val="3191B5"/>
                </a:solidFill>
                <a:latin typeface="Arial"/>
                <a:ea typeface="Arial"/>
                <a:cs typeface="Arial"/>
              </a:defRPr>
            </a:lvl8pPr>
            <a:lvl9pPr>
              <a:defRPr sz="1800" b="1">
                <a:solidFill>
                  <a:srgbClr val="3191B5"/>
                </a:solidFill>
                <a:latin typeface="Arial"/>
                <a:ea typeface="Arial"/>
                <a:cs typeface="Arial"/>
              </a:defRPr>
            </a:lvl9pPr>
          </a:lstStyle>
          <a:p xmlns:a="http://schemas.openxmlformats.org/drawingml/2006/main">
            <a:pPr>
              <a:defRPr sz="1800" b="1">
                <a:solidFill>
                  <a:srgbClr val="3191B5"/>
                </a:solidFill>
                <a:latin typeface="Arial"/>
                <a:ea typeface="Arial"/>
                <a:cs typeface="Arial"/>
              </a:defRPr>
            </a:pPr>
            <a:r>
              <a:rPr sz="1800" b="1">
                <a:solidFill>
                  <a:srgbClr val="3191B5"/>
                </a:solidFill>
                <a:latin typeface="Arial"/>
                <a:ea typeface="Arial"/>
                <a:cs typeface="Arial"/>
              </a:rPr>
              <a:t>Define the customer clock</a:t>
            </a:r>
          </a:p>
        </p:txBody>
      </p:sp>
      <p:sp>
        <p:nvSpPr>
          <p:cNvPr id="13" name="">
            <a:extLst xmlns:a="http://schemas.openxmlformats.org/drawingml/2006/main">
              <a:ext uri="{FF2B5EF4-FFF2-40B4-BE49-F238E27FC236}">
                <a16:creationId xmlns:a16="http://schemas.microsoft.com/office/drawing/2014/main" id="{8E1B5AC0-01E9-4576-8553-61DDF29DFBEE}"/>
              </a:ext>
            </a:extLst>
          </p:cNvPr>
          <p:cNvSpPr>
            <a:spLocks xmlns:a="http://schemas.openxmlformats.org/drawingml/2006/main" noGrp="1"/>
          </p:cNvSpPr>
          <p:nvPr/>
        </p:nvSpPr>
        <p:spPr>
          <a:xfrm xmlns:a="http://schemas.openxmlformats.org/drawingml/2006/main">
            <a:off x="3590925" y="2228850"/>
            <a:ext cx="222885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First paid month sets</a:t>
            </a:r>
          </a:p>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cohort age index 0.</a:t>
            </a:r>
          </a:p>
        </p:txBody>
      </p:sp>
      <p:sp>
        <p:nvSpPr>
          <p:cNvPr id="14" name="">
            <a:extLst xmlns:a="http://schemas.openxmlformats.org/drawingml/2006/main">
              <a:ext uri="{FF2B5EF4-FFF2-40B4-BE49-F238E27FC236}">
                <a16:creationId xmlns:a16="http://schemas.microsoft.com/office/drawing/2014/main" id="{9D1AB0A9-0E11-40D6-B76F-4AFC97EEC1D1}"/>
              </a:ext>
            </a:extLst>
          </p:cNvPr>
          <p:cNvSpPr>
            <a:spLocks xmlns:a="http://schemas.openxmlformats.org/drawingml/2006/main" noGrp="1"/>
          </p:cNvSpPr>
          <p:nvPr/>
        </p:nvSpPr>
        <p:spPr>
          <a:xfrm xmlns:a="http://schemas.openxmlformats.org/drawingml/2006/main">
            <a:off x="6048375" y="2514600"/>
            <a:ext cx="152400" cy="228600"/>
          </a:xfrm>
          <a:prstGeom xmlns:a="http://schemas.openxmlformats.org/drawingml/2006/main" prst="rightArrow">
            <a:avLst/>
          </a:prstGeom>
          <a:solidFill xmlns:a="http://schemas.openxmlformats.org/drawingml/2006/main">
            <a:srgbClr val="68778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47051C65-9DCA-4A99-BF69-A866964FC269}"/>
              </a:ext>
            </a:extLst>
          </p:cNvPr>
          <p:cNvSpPr>
            <a:spLocks xmlns:a="http://schemas.openxmlformats.org/drawingml/2006/main" noGrp="1"/>
          </p:cNvSpPr>
          <p:nvPr/>
        </p:nvSpPr>
        <p:spPr>
          <a:xfrm xmlns:a="http://schemas.openxmlformats.org/drawingml/2006/main">
            <a:off x="6191250" y="1657350"/>
            <a:ext cx="2609850" cy="2009775"/>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C9DD0B6D-94F7-49E9-8FD4-D50AD2B7274F}"/>
              </a:ext>
            </a:extLst>
          </p:cNvPr>
          <p:cNvSpPr>
            <a:spLocks xmlns:a="http://schemas.openxmlformats.org/drawingml/2006/main" noGrp="1"/>
          </p:cNvSpPr>
          <p:nvPr/>
        </p:nvSpPr>
        <p:spPr>
          <a:xfrm xmlns:a="http://schemas.openxmlformats.org/drawingml/2006/main">
            <a:off x="6191250" y="1657350"/>
            <a:ext cx="47625" cy="2009775"/>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339FF956-47EC-45F4-8E15-34A9AA887FE2}"/>
              </a:ext>
            </a:extLst>
          </p:cNvPr>
          <p:cNvSpPr>
            <a:spLocks xmlns:a="http://schemas.openxmlformats.org/drawingml/2006/main" noGrp="1"/>
          </p:cNvSpPr>
          <p:nvPr/>
        </p:nvSpPr>
        <p:spPr>
          <a:xfrm xmlns:a="http://schemas.openxmlformats.org/drawingml/2006/main">
            <a:off x="6381750" y="1800225"/>
            <a:ext cx="2228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defRPr sz="1800" b="1">
                <a:solidFill>
                  <a:srgbClr val="3191B5"/>
                </a:solidFill>
                <a:latin typeface="Arial"/>
                <a:ea typeface="Arial"/>
                <a:cs typeface="Arial"/>
              </a:defRPr>
            </a:lvl1pPr>
            <a:lvl2pPr>
              <a:defRPr sz="1800" b="1">
                <a:solidFill>
                  <a:srgbClr val="3191B5"/>
                </a:solidFill>
                <a:latin typeface="Arial"/>
                <a:ea typeface="Arial"/>
                <a:cs typeface="Arial"/>
              </a:defRPr>
            </a:lvl2pPr>
            <a:lvl3pPr>
              <a:defRPr sz="1800" b="1">
                <a:solidFill>
                  <a:srgbClr val="3191B5"/>
                </a:solidFill>
                <a:latin typeface="Arial"/>
                <a:ea typeface="Arial"/>
                <a:cs typeface="Arial"/>
              </a:defRPr>
            </a:lvl3pPr>
            <a:lvl4pPr>
              <a:defRPr sz="1800" b="1">
                <a:solidFill>
                  <a:srgbClr val="3191B5"/>
                </a:solidFill>
                <a:latin typeface="Arial"/>
                <a:ea typeface="Arial"/>
                <a:cs typeface="Arial"/>
              </a:defRPr>
            </a:lvl4pPr>
            <a:lvl5pPr>
              <a:defRPr sz="1800" b="1">
                <a:solidFill>
                  <a:srgbClr val="3191B5"/>
                </a:solidFill>
                <a:latin typeface="Arial"/>
                <a:ea typeface="Arial"/>
                <a:cs typeface="Arial"/>
              </a:defRPr>
            </a:lvl5pPr>
            <a:lvl6pPr>
              <a:defRPr sz="1800" b="1">
                <a:solidFill>
                  <a:srgbClr val="3191B5"/>
                </a:solidFill>
                <a:latin typeface="Arial"/>
                <a:ea typeface="Arial"/>
                <a:cs typeface="Arial"/>
              </a:defRPr>
            </a:lvl6pPr>
            <a:lvl7pPr>
              <a:defRPr sz="1800" b="1">
                <a:solidFill>
                  <a:srgbClr val="3191B5"/>
                </a:solidFill>
                <a:latin typeface="Arial"/>
                <a:ea typeface="Arial"/>
                <a:cs typeface="Arial"/>
              </a:defRPr>
            </a:lvl7pPr>
            <a:lvl8pPr>
              <a:defRPr sz="1800" b="1">
                <a:solidFill>
                  <a:srgbClr val="3191B5"/>
                </a:solidFill>
                <a:latin typeface="Arial"/>
                <a:ea typeface="Arial"/>
                <a:cs typeface="Arial"/>
              </a:defRPr>
            </a:lvl8pPr>
            <a:lvl9pPr>
              <a:defRPr sz="1800" b="1">
                <a:solidFill>
                  <a:srgbClr val="3191B5"/>
                </a:solidFill>
                <a:latin typeface="Arial"/>
                <a:ea typeface="Arial"/>
                <a:cs typeface="Arial"/>
              </a:defRPr>
            </a:lvl9pPr>
          </a:lstStyle>
          <a:p xmlns:a="http://schemas.openxmlformats.org/drawingml/2006/main">
            <a:pPr>
              <a:defRPr sz="1800" b="1">
                <a:solidFill>
                  <a:srgbClr val="3191B5"/>
                </a:solidFill>
                <a:latin typeface="Arial"/>
                <a:ea typeface="Arial"/>
                <a:cs typeface="Arial"/>
              </a:defRPr>
            </a:pPr>
            <a:r>
              <a:rPr sz="1800" b="1">
                <a:solidFill>
                  <a:srgbClr val="3191B5"/>
                </a:solidFill>
                <a:latin typeface="Arial"/>
                <a:ea typeface="Arial"/>
                <a:cs typeface="Arial"/>
              </a:rPr>
              <a:t>Build SQL outputs</a:t>
            </a:r>
          </a:p>
        </p:txBody>
      </p:sp>
      <p:sp>
        <p:nvSpPr>
          <p:cNvPr id="18" name="">
            <a:extLst xmlns:a="http://schemas.openxmlformats.org/drawingml/2006/main">
              <a:ext uri="{FF2B5EF4-FFF2-40B4-BE49-F238E27FC236}">
                <a16:creationId xmlns:a16="http://schemas.microsoft.com/office/drawing/2014/main" id="{1D8A5C2F-785E-44FC-8979-AC2FD4F4E651}"/>
              </a:ext>
            </a:extLst>
          </p:cNvPr>
          <p:cNvSpPr>
            <a:spLocks xmlns:a="http://schemas.openxmlformats.org/drawingml/2006/main" noGrp="1"/>
          </p:cNvSpPr>
          <p:nvPr/>
        </p:nvSpPr>
        <p:spPr>
          <a:xfrm xmlns:a="http://schemas.openxmlformats.org/drawingml/2006/main">
            <a:off x="6381750" y="2228850"/>
            <a:ext cx="222885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Save the exact SQL</a:t>
            </a:r>
          </a:p>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and ordered results.</a:t>
            </a:r>
          </a:p>
        </p:txBody>
      </p:sp>
      <p:sp>
        <p:nvSpPr>
          <p:cNvPr id="19" name="">
            <a:extLst xmlns:a="http://schemas.openxmlformats.org/drawingml/2006/main">
              <a:ext uri="{FF2B5EF4-FFF2-40B4-BE49-F238E27FC236}">
                <a16:creationId xmlns:a16="http://schemas.microsoft.com/office/drawing/2014/main" id="{E2384146-5AA0-4750-923E-9963938F128A}"/>
              </a:ext>
            </a:extLst>
          </p:cNvPr>
          <p:cNvSpPr>
            <a:spLocks xmlns:a="http://schemas.openxmlformats.org/drawingml/2006/main" noGrp="1"/>
          </p:cNvSpPr>
          <p:nvPr/>
        </p:nvSpPr>
        <p:spPr>
          <a:xfrm xmlns:a="http://schemas.openxmlformats.org/drawingml/2006/main">
            <a:off x="8839200" y="2514600"/>
            <a:ext cx="152400" cy="228600"/>
          </a:xfrm>
          <a:prstGeom xmlns:a="http://schemas.openxmlformats.org/drawingml/2006/main" prst="rightArrow">
            <a:avLst/>
          </a:prstGeom>
          <a:solidFill xmlns:a="http://schemas.openxmlformats.org/drawingml/2006/main">
            <a:srgbClr val="68778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03A017F-D908-46A3-80BA-EE0ED7228C13}"/>
              </a:ext>
            </a:extLst>
          </p:cNvPr>
          <p:cNvSpPr>
            <a:spLocks xmlns:a="http://schemas.openxmlformats.org/drawingml/2006/main" noGrp="1"/>
          </p:cNvSpPr>
          <p:nvPr/>
        </p:nvSpPr>
        <p:spPr>
          <a:xfrm xmlns:a="http://schemas.openxmlformats.org/drawingml/2006/main">
            <a:off x="8982075" y="1657350"/>
            <a:ext cx="2609850" cy="2009775"/>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0D946D95-8784-458D-A066-F1C219BE1C8F}"/>
              </a:ext>
            </a:extLst>
          </p:cNvPr>
          <p:cNvSpPr>
            <a:spLocks xmlns:a="http://schemas.openxmlformats.org/drawingml/2006/main" noGrp="1"/>
          </p:cNvSpPr>
          <p:nvPr/>
        </p:nvSpPr>
        <p:spPr>
          <a:xfrm xmlns:a="http://schemas.openxmlformats.org/drawingml/2006/main">
            <a:off x="8982075" y="1657350"/>
            <a:ext cx="47625" cy="2009775"/>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A80B8704-A892-4FE1-A4BF-052EF61889D5}"/>
              </a:ext>
            </a:extLst>
          </p:cNvPr>
          <p:cNvSpPr>
            <a:spLocks xmlns:a="http://schemas.openxmlformats.org/drawingml/2006/main" noGrp="1"/>
          </p:cNvSpPr>
          <p:nvPr/>
        </p:nvSpPr>
        <p:spPr>
          <a:xfrm xmlns:a="http://schemas.openxmlformats.org/drawingml/2006/main">
            <a:off x="9172575" y="1800225"/>
            <a:ext cx="2228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defRPr sz="1800" b="1">
                <a:solidFill>
                  <a:srgbClr val="3191B5"/>
                </a:solidFill>
                <a:latin typeface="Arial"/>
                <a:ea typeface="Arial"/>
                <a:cs typeface="Arial"/>
              </a:defRPr>
            </a:lvl1pPr>
            <a:lvl2pPr>
              <a:defRPr sz="1800" b="1">
                <a:solidFill>
                  <a:srgbClr val="3191B5"/>
                </a:solidFill>
                <a:latin typeface="Arial"/>
                <a:ea typeface="Arial"/>
                <a:cs typeface="Arial"/>
              </a:defRPr>
            </a:lvl2pPr>
            <a:lvl3pPr>
              <a:defRPr sz="1800" b="1">
                <a:solidFill>
                  <a:srgbClr val="3191B5"/>
                </a:solidFill>
                <a:latin typeface="Arial"/>
                <a:ea typeface="Arial"/>
                <a:cs typeface="Arial"/>
              </a:defRPr>
            </a:lvl3pPr>
            <a:lvl4pPr>
              <a:defRPr sz="1800" b="1">
                <a:solidFill>
                  <a:srgbClr val="3191B5"/>
                </a:solidFill>
                <a:latin typeface="Arial"/>
                <a:ea typeface="Arial"/>
                <a:cs typeface="Arial"/>
              </a:defRPr>
            </a:lvl4pPr>
            <a:lvl5pPr>
              <a:defRPr sz="1800" b="1">
                <a:solidFill>
                  <a:srgbClr val="3191B5"/>
                </a:solidFill>
                <a:latin typeface="Arial"/>
                <a:ea typeface="Arial"/>
                <a:cs typeface="Arial"/>
              </a:defRPr>
            </a:lvl5pPr>
            <a:lvl6pPr>
              <a:defRPr sz="1800" b="1">
                <a:solidFill>
                  <a:srgbClr val="3191B5"/>
                </a:solidFill>
                <a:latin typeface="Arial"/>
                <a:ea typeface="Arial"/>
                <a:cs typeface="Arial"/>
              </a:defRPr>
            </a:lvl6pPr>
            <a:lvl7pPr>
              <a:defRPr sz="1800" b="1">
                <a:solidFill>
                  <a:srgbClr val="3191B5"/>
                </a:solidFill>
                <a:latin typeface="Arial"/>
                <a:ea typeface="Arial"/>
                <a:cs typeface="Arial"/>
              </a:defRPr>
            </a:lvl7pPr>
            <a:lvl8pPr>
              <a:defRPr sz="1800" b="1">
                <a:solidFill>
                  <a:srgbClr val="3191B5"/>
                </a:solidFill>
                <a:latin typeface="Arial"/>
                <a:ea typeface="Arial"/>
                <a:cs typeface="Arial"/>
              </a:defRPr>
            </a:lvl8pPr>
            <a:lvl9pPr>
              <a:defRPr sz="1800" b="1">
                <a:solidFill>
                  <a:srgbClr val="3191B5"/>
                </a:solidFill>
                <a:latin typeface="Arial"/>
                <a:ea typeface="Arial"/>
                <a:cs typeface="Arial"/>
              </a:defRPr>
            </a:lvl9pPr>
          </a:lstStyle>
          <a:p xmlns:a="http://schemas.openxmlformats.org/drawingml/2006/main">
            <a:pPr>
              <a:defRPr sz="1800" b="1">
                <a:solidFill>
                  <a:srgbClr val="3191B5"/>
                </a:solidFill>
                <a:latin typeface="Arial"/>
                <a:ea typeface="Arial"/>
                <a:cs typeface="Arial"/>
              </a:defRPr>
            </a:pPr>
            <a:r>
              <a:rPr sz="1800" b="1">
                <a:solidFill>
                  <a:srgbClr val="3191B5"/>
                </a:solidFill>
                <a:latin typeface="Arial"/>
                <a:ea typeface="Arial"/>
                <a:cs typeface="Arial"/>
              </a:rPr>
              <a:t>Reconcile the totals</a:t>
            </a:r>
          </a:p>
        </p:txBody>
      </p:sp>
      <p:sp>
        <p:nvSpPr>
          <p:cNvPr id="23" name="">
            <a:extLst xmlns:a="http://schemas.openxmlformats.org/drawingml/2006/main">
              <a:ext uri="{FF2B5EF4-FFF2-40B4-BE49-F238E27FC236}">
                <a16:creationId xmlns:a16="http://schemas.microsoft.com/office/drawing/2014/main" id="{E444C5E6-5232-4326-8820-B692B58E9B82}"/>
              </a:ext>
            </a:extLst>
          </p:cNvPr>
          <p:cNvSpPr>
            <a:spLocks xmlns:a="http://schemas.openxmlformats.org/drawingml/2006/main" noGrp="1"/>
          </p:cNvSpPr>
          <p:nvPr/>
        </p:nvSpPr>
        <p:spPr>
          <a:xfrm xmlns:a="http://schemas.openxmlformats.org/drawingml/2006/main">
            <a:off x="9172575" y="2228850"/>
            <a:ext cx="222885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No duplicate money;</a:t>
            </a:r>
          </a:p>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no missing controls.</a:t>
            </a:r>
          </a:p>
        </p:txBody>
      </p:sp>
      <p:sp>
        <p:nvSpPr>
          <p:cNvPr id="24" name="">
            <a:extLst xmlns:a="http://schemas.openxmlformats.org/drawingml/2006/main">
              <a:ext uri="{FF2B5EF4-FFF2-40B4-BE49-F238E27FC236}">
                <a16:creationId xmlns:a16="http://schemas.microsoft.com/office/drawing/2014/main" id="{E0E0EF20-9326-4E1D-8550-F2926B090492}"/>
              </a:ext>
            </a:extLst>
          </p:cNvPr>
          <p:cNvSpPr>
            <a:spLocks xmlns:a="http://schemas.openxmlformats.org/drawingml/2006/main" noGrp="1"/>
          </p:cNvSpPr>
          <p:nvPr/>
        </p:nvSpPr>
        <p:spPr>
          <a:xfrm xmlns:a="http://schemas.openxmlformats.org/drawingml/2006/main">
            <a:off x="609600" y="4057650"/>
            <a:ext cx="238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650" b="1">
                <a:solidFill>
                  <a:srgbClr val="3191B5"/>
                </a:solidFill>
                <a:latin typeface="Arial"/>
                <a:ea typeface="Arial"/>
                <a:cs typeface="Arial"/>
              </a:defRPr>
            </a:defPPr>
            <a:lvl1pPr>
              <a:defRPr sz="1650" b="1">
                <a:solidFill>
                  <a:srgbClr val="3191B5"/>
                </a:solidFill>
                <a:latin typeface="Arial"/>
                <a:ea typeface="Arial"/>
                <a:cs typeface="Arial"/>
              </a:defRPr>
            </a:lvl1pPr>
            <a:lvl2pPr>
              <a:defRPr sz="1650" b="1">
                <a:solidFill>
                  <a:srgbClr val="3191B5"/>
                </a:solidFill>
                <a:latin typeface="Arial"/>
                <a:ea typeface="Arial"/>
                <a:cs typeface="Arial"/>
              </a:defRPr>
            </a:lvl2pPr>
            <a:lvl3pPr>
              <a:defRPr sz="1650" b="1">
                <a:solidFill>
                  <a:srgbClr val="3191B5"/>
                </a:solidFill>
                <a:latin typeface="Arial"/>
                <a:ea typeface="Arial"/>
                <a:cs typeface="Arial"/>
              </a:defRPr>
            </a:lvl3pPr>
            <a:lvl4pPr>
              <a:defRPr sz="1650" b="1">
                <a:solidFill>
                  <a:srgbClr val="3191B5"/>
                </a:solidFill>
                <a:latin typeface="Arial"/>
                <a:ea typeface="Arial"/>
                <a:cs typeface="Arial"/>
              </a:defRPr>
            </a:lvl4pPr>
            <a:lvl5pPr>
              <a:defRPr sz="1650" b="1">
                <a:solidFill>
                  <a:srgbClr val="3191B5"/>
                </a:solidFill>
                <a:latin typeface="Arial"/>
                <a:ea typeface="Arial"/>
                <a:cs typeface="Arial"/>
              </a:defRPr>
            </a:lvl5pPr>
            <a:lvl6pPr>
              <a:defRPr sz="1650" b="1">
                <a:solidFill>
                  <a:srgbClr val="3191B5"/>
                </a:solidFill>
                <a:latin typeface="Arial"/>
                <a:ea typeface="Arial"/>
                <a:cs typeface="Arial"/>
              </a:defRPr>
            </a:lvl6pPr>
            <a:lvl7pPr>
              <a:defRPr sz="1650" b="1">
                <a:solidFill>
                  <a:srgbClr val="3191B5"/>
                </a:solidFill>
                <a:latin typeface="Arial"/>
                <a:ea typeface="Arial"/>
                <a:cs typeface="Arial"/>
              </a:defRPr>
            </a:lvl7pPr>
            <a:lvl8pPr>
              <a:defRPr sz="1650" b="1">
                <a:solidFill>
                  <a:srgbClr val="3191B5"/>
                </a:solidFill>
                <a:latin typeface="Arial"/>
                <a:ea typeface="Arial"/>
                <a:cs typeface="Arial"/>
              </a:defRPr>
            </a:lvl8pPr>
            <a:lvl9pPr>
              <a:defRPr sz="1650" b="1">
                <a:solidFill>
                  <a:srgbClr val="3191B5"/>
                </a:solidFill>
                <a:latin typeface="Arial"/>
                <a:ea typeface="Arial"/>
                <a:cs typeface="Arial"/>
              </a:defRPr>
            </a:lvl9pPr>
          </a:lstStyle>
          <a:p xmlns:a="http://schemas.openxmlformats.org/drawingml/2006/main">
            <a:pPr>
              <a:defRPr sz="1650" b="1">
                <a:solidFill>
                  <a:srgbClr val="3191B5"/>
                </a:solidFill>
                <a:latin typeface="Arial"/>
                <a:ea typeface="Arial"/>
                <a:cs typeface="Arial"/>
              </a:defRPr>
            </a:pPr>
            <a:r>
              <a:rPr sz="1650" b="1">
                <a:solidFill>
                  <a:srgbClr val="3191B5"/>
                </a:solidFill>
                <a:latin typeface="Arial"/>
                <a:ea typeface="Arial"/>
                <a:cs typeface="Arial"/>
              </a:rPr>
              <a:t>Prompt to try</a:t>
            </a:r>
          </a:p>
        </p:txBody>
      </p:sp>
      <p:sp>
        <p:nvSpPr>
          <p:cNvPr id="25" name="">
            <a:extLst xmlns:a="http://schemas.openxmlformats.org/drawingml/2006/main">
              <a:ext uri="{FF2B5EF4-FFF2-40B4-BE49-F238E27FC236}">
                <a16:creationId xmlns:a16="http://schemas.microsoft.com/office/drawing/2014/main" id="{FE7231C6-873D-4648-A507-C2272873A0B9}"/>
              </a:ext>
            </a:extLst>
          </p:cNvPr>
          <p:cNvSpPr>
            <a:spLocks xmlns:a="http://schemas.openxmlformats.org/drawingml/2006/main" noGrp="1"/>
          </p:cNvSpPr>
          <p:nvPr/>
        </p:nvSpPr>
        <p:spPr>
          <a:xfrm xmlns:a="http://schemas.openxmlformats.org/drawingml/2006/main">
            <a:off x="609600" y="4467225"/>
            <a:ext cx="109728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0">
                <a:solidFill>
                  <a:srgbClr val="172D3C"/>
                </a:solidFill>
                <a:latin typeface="Arial"/>
                <a:ea typeface="Arial"/>
                <a:cs typeface="Arial"/>
              </a:defRPr>
            </a:defPPr>
            <a:lvl1pPr>
              <a:defRPr sz="1800" b="0">
                <a:solidFill>
                  <a:srgbClr val="172D3C"/>
                </a:solidFill>
                <a:latin typeface="Arial"/>
                <a:ea typeface="Arial"/>
                <a:cs typeface="Arial"/>
              </a:defRPr>
            </a:lvl1pPr>
            <a:lvl2pPr>
              <a:defRPr sz="1800" b="0">
                <a:solidFill>
                  <a:srgbClr val="172D3C"/>
                </a:solidFill>
                <a:latin typeface="Arial"/>
                <a:ea typeface="Arial"/>
                <a:cs typeface="Arial"/>
              </a:defRPr>
            </a:lvl2pPr>
            <a:lvl3pPr>
              <a:defRPr sz="1800" b="0">
                <a:solidFill>
                  <a:srgbClr val="172D3C"/>
                </a:solidFill>
                <a:latin typeface="Arial"/>
                <a:ea typeface="Arial"/>
                <a:cs typeface="Arial"/>
              </a:defRPr>
            </a:lvl3pPr>
            <a:lvl4pPr>
              <a:defRPr sz="1800" b="0">
                <a:solidFill>
                  <a:srgbClr val="172D3C"/>
                </a:solidFill>
                <a:latin typeface="Arial"/>
                <a:ea typeface="Arial"/>
                <a:cs typeface="Arial"/>
              </a:defRPr>
            </a:lvl4pPr>
            <a:lvl5pPr>
              <a:defRPr sz="1800" b="0">
                <a:solidFill>
                  <a:srgbClr val="172D3C"/>
                </a:solidFill>
                <a:latin typeface="Arial"/>
                <a:ea typeface="Arial"/>
                <a:cs typeface="Arial"/>
              </a:defRPr>
            </a:lvl5pPr>
            <a:lvl6pPr>
              <a:defRPr sz="1800" b="0">
                <a:solidFill>
                  <a:srgbClr val="172D3C"/>
                </a:solidFill>
                <a:latin typeface="Arial"/>
                <a:ea typeface="Arial"/>
                <a:cs typeface="Arial"/>
              </a:defRPr>
            </a:lvl6pPr>
            <a:lvl7pPr>
              <a:defRPr sz="1800" b="0">
                <a:solidFill>
                  <a:srgbClr val="172D3C"/>
                </a:solidFill>
                <a:latin typeface="Arial"/>
                <a:ea typeface="Arial"/>
                <a:cs typeface="Arial"/>
              </a:defRPr>
            </a:lvl7pPr>
            <a:lvl8pPr>
              <a:defRPr sz="1800" b="0">
                <a:solidFill>
                  <a:srgbClr val="172D3C"/>
                </a:solidFill>
                <a:latin typeface="Arial"/>
                <a:ea typeface="Arial"/>
                <a:cs typeface="Arial"/>
              </a:defRPr>
            </a:lvl8pPr>
            <a:lvl9pPr>
              <a:defRPr sz="1800" b="0">
                <a:solidFill>
                  <a:srgbClr val="172D3C"/>
                </a:solidFill>
                <a:latin typeface="Arial"/>
                <a:ea typeface="Arial"/>
                <a:cs typeface="Arial"/>
              </a:defRPr>
            </a:lvl9pPr>
          </a:lstStyle>
          <a:p xmlns:a="http://schemas.openxmlformats.org/drawingml/2006/main">
            <a:pPr>
              <a:defRPr sz="1800" b="0">
                <a:solidFill>
                  <a:srgbClr val="172D3C"/>
                </a:solidFill>
                <a:latin typeface="Arial"/>
                <a:ea typeface="Arial"/>
                <a:cs typeface="Arial"/>
              </a:defRPr>
            </a:pPr>
            <a:r>
              <a:rPr sz="1800" b="0">
                <a:solidFill>
                  <a:srgbClr val="172D3C"/>
                </a:solidFill>
                <a:latin typeface="Arial"/>
                <a:ea typeface="Arial"/>
                <a:cs typeface="Arial"/>
              </a:rPr>
              <a:t>“Show the SQL that calculates retained customers and contribution by joining month and customer age. Explain the denominator and preserve unobserved future ages as missing.”</a:t>
            </a:r>
          </a:p>
        </p:txBody>
      </p:sp>
      <p:sp>
        <p:nvSpPr>
          <p:cNvPr id="26" name="">
            <a:extLst xmlns:a="http://schemas.openxmlformats.org/drawingml/2006/main">
              <a:ext uri="{FF2B5EF4-FFF2-40B4-BE49-F238E27FC236}">
                <a16:creationId xmlns:a16="http://schemas.microsoft.com/office/drawing/2014/main" id="{AD3EF119-F5AF-4C2B-9979-6AC46FCD2D19}"/>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F939BCD-7418-43E6-8A38-5DB86AB32CCF}"/>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A SQL script makes a calculation inspectable; the data definitions determine whether it answers the right question.</a:t>
            </a:r>
          </a:p>
        </p:txBody>
      </p:sp>
    </p:spTree>
    <p:extLst>
      <p:ext uri="{BB962C8B-B14F-4D97-AF65-F5344CB8AC3E}">
        <p14:creationId xmlns:p14="http://schemas.microsoft.com/office/powerpoint/2010/main" val="134549703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A160381-9CD6-47E4-8716-6D4C983813C0}"/>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68778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4968157-E153-499A-A46F-A2CFA7D02019}"/>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A cohort follows the same original customers</a:t>
            </a:r>
          </a:p>
        </p:txBody>
      </p:sp>
      <p:sp>
        <p:nvSpPr>
          <p:cNvPr id="3" name="">
            <a:extLst xmlns:a="http://schemas.openxmlformats.org/drawingml/2006/main">
              <a:ext uri="{FF2B5EF4-FFF2-40B4-BE49-F238E27FC236}">
                <a16:creationId xmlns:a16="http://schemas.microsoft.com/office/drawing/2014/main" id="{E05E2D30-7B83-44AA-B0F3-948B0D3B17AD}"/>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687780"/>
                </a:solidFill>
                <a:latin typeface="Arial"/>
                <a:ea typeface="Arial"/>
                <a:cs typeface="Arial"/>
              </a:defRPr>
            </a:defPPr>
            <a:lvl1pPr>
              <a:defRPr sz="900" b="1">
                <a:solidFill>
                  <a:srgbClr val="687780"/>
                </a:solidFill>
                <a:latin typeface="Arial"/>
                <a:ea typeface="Arial"/>
                <a:cs typeface="Arial"/>
              </a:defRPr>
            </a:lvl1pPr>
            <a:lvl2pPr>
              <a:defRPr sz="900" b="1">
                <a:solidFill>
                  <a:srgbClr val="687780"/>
                </a:solidFill>
                <a:latin typeface="Arial"/>
                <a:ea typeface="Arial"/>
                <a:cs typeface="Arial"/>
              </a:defRPr>
            </a:lvl2pPr>
            <a:lvl3pPr>
              <a:defRPr sz="900" b="1">
                <a:solidFill>
                  <a:srgbClr val="687780"/>
                </a:solidFill>
                <a:latin typeface="Arial"/>
                <a:ea typeface="Arial"/>
                <a:cs typeface="Arial"/>
              </a:defRPr>
            </a:lvl3pPr>
            <a:lvl4pPr>
              <a:defRPr sz="900" b="1">
                <a:solidFill>
                  <a:srgbClr val="687780"/>
                </a:solidFill>
                <a:latin typeface="Arial"/>
                <a:ea typeface="Arial"/>
                <a:cs typeface="Arial"/>
              </a:defRPr>
            </a:lvl4pPr>
            <a:lvl5pPr>
              <a:defRPr sz="900" b="1">
                <a:solidFill>
                  <a:srgbClr val="687780"/>
                </a:solidFill>
                <a:latin typeface="Arial"/>
                <a:ea typeface="Arial"/>
                <a:cs typeface="Arial"/>
              </a:defRPr>
            </a:lvl5pPr>
            <a:lvl6pPr>
              <a:defRPr sz="900" b="1">
                <a:solidFill>
                  <a:srgbClr val="687780"/>
                </a:solidFill>
                <a:latin typeface="Arial"/>
                <a:ea typeface="Arial"/>
                <a:cs typeface="Arial"/>
              </a:defRPr>
            </a:lvl6pPr>
            <a:lvl7pPr>
              <a:defRPr sz="900" b="1">
                <a:solidFill>
                  <a:srgbClr val="687780"/>
                </a:solidFill>
                <a:latin typeface="Arial"/>
                <a:ea typeface="Arial"/>
                <a:cs typeface="Arial"/>
              </a:defRPr>
            </a:lvl7pPr>
            <a:lvl8pPr>
              <a:defRPr sz="900" b="1">
                <a:solidFill>
                  <a:srgbClr val="687780"/>
                </a:solidFill>
                <a:latin typeface="Arial"/>
                <a:ea typeface="Arial"/>
                <a:cs typeface="Arial"/>
              </a:defRPr>
            </a:lvl8pPr>
            <a:lvl9pPr>
              <a:defRPr sz="900" b="1">
                <a:solidFill>
                  <a:srgbClr val="687780"/>
                </a:solidFill>
                <a:latin typeface="Arial"/>
                <a:ea typeface="Arial"/>
                <a:cs typeface="Arial"/>
              </a:defRPr>
            </a:lvl9pPr>
          </a:lstStyle>
          <a:p xmlns:a="http://schemas.openxmlformats.org/drawingml/2006/main">
            <a:pPr>
              <a:defRPr sz="900" b="1">
                <a:solidFill>
                  <a:srgbClr val="687780"/>
                </a:solidFill>
                <a:latin typeface="Arial"/>
                <a:ea typeface="Arial"/>
                <a:cs typeface="Arial"/>
              </a:defRPr>
            </a:pPr>
            <a:r>
              <a:rPr sz="900" b="1">
                <a:solidFill>
                  <a:srgbClr val="687780"/>
                </a:solidFill>
                <a:latin typeface="Arial"/>
                <a:ea typeface="Arial"/>
                <a:cs typeface="Arial"/>
              </a:rPr>
              <a:t>EVIDENCE INTERPRETATION</a:t>
            </a:r>
          </a:p>
        </p:txBody>
      </p:sp>
      <p:sp>
        <p:nvSpPr>
          <p:cNvPr id="4" name="">
            <a:extLst xmlns:a="http://schemas.openxmlformats.org/drawingml/2006/main">
              <a:ext uri="{FF2B5EF4-FFF2-40B4-BE49-F238E27FC236}">
                <a16:creationId xmlns:a16="http://schemas.microsoft.com/office/drawing/2014/main" id="{7931BAB8-4512-44B4-8D98-E17D96D05F02}"/>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7</a:t>
            </a:r>
          </a:p>
        </p:txBody>
      </p:sp>
      <p:graphicFrame>
        <p:nvGraphicFramePr>
          <p:cNvPr id="5" name="">
            <a:extLst xmlns:a="http://schemas.openxmlformats.org/drawingml/2006/main">
              <a:ext uri="{FF2B5EF4-FFF2-40B4-BE49-F238E27FC236}">
                <a16:creationId xmlns:a16="http://schemas.microsoft.com/office/drawing/2014/main" id="{AEF86DD3-F869-4423-9669-28FAD6CB48B5}"/>
              </a:ext>
            </a:extLst>
          </p:cNvPr>
          <p:cNvGraphicFramePr/>
          <p:nvPr/>
        </p:nvGraphicFramePr>
        <p:xfrm>
          <a:off xmlns:a="http://schemas.openxmlformats.org/drawingml/2006/main" x="609600" y="1685925"/>
          <a:ext xmlns:a="http://schemas.openxmlformats.org/drawingml/2006/main" cx="10972800" cy="2476500"/>
        </p:xfrm>
        <a:graphic xmlns:a="http://schemas.openxmlformats.org/drawingml/2006/main">
          <a:graphicData uri="http://schemas.openxmlformats.org/drawingml/2006/table">
            <a:tbl>
              <a:tblPr/>
              <a:tblGrid>
                <a:gridCol w="2686050"/>
                <a:gridCol w="1381125"/>
                <a:gridCol w="1381125"/>
                <a:gridCol w="1381125"/>
                <a:gridCol w="1381125"/>
                <a:gridCol w="1381125"/>
                <a:gridCol w="1381125"/>
              </a:tblGrid>
              <a:tr h="495300">
                <a:tc>
                  <a:txBody>
                    <a:bodyPr/>
                    <a:lstStyle/>
                    <a:p>
                      <a:r>
                        <a:rPr sz="1350" b="1">
                          <a:solidFill>
                            <a:srgbClr val="FFFFFF"/>
                          </a:solidFill>
                          <a:latin typeface="Arial"/>
                          <a:ea typeface="Arial"/>
                          <a:cs typeface="Arial"/>
                        </a:rPr>
                        <a:t>Joining cohort</a:t>
                      </a:r>
                    </a:p>
                  </a:txBody>
                  <a:tcPr marL="91440" marR="91440" marT="45720" marB="45720">
                    <a:solidFill>
                      <a:srgbClr val="172D3C"/>
                    </a:solidFill>
                  </a:tcPr>
                </a:tc>
                <a:tc>
                  <a:txBody>
                    <a:bodyPr/>
                    <a:lstStyle/>
                    <a:p>
                      <a:r>
                        <a:rPr sz="1350" b="1">
                          <a:solidFill>
                            <a:srgbClr val="FFFFFF"/>
                          </a:solidFill>
                          <a:latin typeface="Arial"/>
                          <a:ea typeface="Arial"/>
                          <a:cs typeface="Arial"/>
                        </a:rPr>
                        <a:t>Age 0</a:t>
                      </a:r>
                    </a:p>
                  </a:txBody>
                  <a:tcPr marL="91440" marR="91440" marT="45720" marB="45720">
                    <a:solidFill>
                      <a:srgbClr val="172D3C"/>
                    </a:solidFill>
                  </a:tcPr>
                </a:tc>
                <a:tc>
                  <a:txBody>
                    <a:bodyPr/>
                    <a:lstStyle/>
                    <a:p>
                      <a:r>
                        <a:rPr sz="1350" b="1">
                          <a:solidFill>
                            <a:srgbClr val="FFFFFF"/>
                          </a:solidFill>
                          <a:latin typeface="Arial"/>
                          <a:ea typeface="Arial"/>
                          <a:cs typeface="Arial"/>
                        </a:rPr>
                        <a:t>Age 1</a:t>
                      </a:r>
                    </a:p>
                  </a:txBody>
                  <a:tcPr marL="91440" marR="91440" marT="45720" marB="45720">
                    <a:solidFill>
                      <a:srgbClr val="172D3C"/>
                    </a:solidFill>
                  </a:tcPr>
                </a:tc>
                <a:tc>
                  <a:txBody>
                    <a:bodyPr/>
                    <a:lstStyle/>
                    <a:p>
                      <a:r>
                        <a:rPr sz="1350" b="1">
                          <a:solidFill>
                            <a:srgbClr val="FFFFFF"/>
                          </a:solidFill>
                          <a:latin typeface="Arial"/>
                          <a:ea typeface="Arial"/>
                          <a:cs typeface="Arial"/>
                        </a:rPr>
                        <a:t>Age 2</a:t>
                      </a:r>
                    </a:p>
                  </a:txBody>
                  <a:tcPr marL="91440" marR="91440" marT="45720" marB="45720">
                    <a:solidFill>
                      <a:srgbClr val="172D3C"/>
                    </a:solidFill>
                  </a:tcPr>
                </a:tc>
                <a:tc>
                  <a:txBody>
                    <a:bodyPr/>
                    <a:lstStyle/>
                    <a:p>
                      <a:r>
                        <a:rPr sz="1350" b="1">
                          <a:solidFill>
                            <a:srgbClr val="FFFFFF"/>
                          </a:solidFill>
                          <a:latin typeface="Arial"/>
                          <a:ea typeface="Arial"/>
                          <a:cs typeface="Arial"/>
                        </a:rPr>
                        <a:t>Age 3</a:t>
                      </a:r>
                    </a:p>
                  </a:txBody>
                  <a:tcPr marL="91440" marR="91440" marT="45720" marB="45720">
                    <a:solidFill>
                      <a:srgbClr val="172D3C"/>
                    </a:solidFill>
                  </a:tcPr>
                </a:tc>
                <a:tc>
                  <a:txBody>
                    <a:bodyPr/>
                    <a:lstStyle/>
                    <a:p>
                      <a:r>
                        <a:rPr sz="1350" b="1">
                          <a:solidFill>
                            <a:srgbClr val="FFFFFF"/>
                          </a:solidFill>
                          <a:latin typeface="Arial"/>
                          <a:ea typeface="Arial"/>
                          <a:cs typeface="Arial"/>
                        </a:rPr>
                        <a:t>Age 4</a:t>
                      </a:r>
                    </a:p>
                  </a:txBody>
                  <a:tcPr marL="91440" marR="91440" marT="45720" marB="45720">
                    <a:solidFill>
                      <a:srgbClr val="172D3C"/>
                    </a:solidFill>
                  </a:tcPr>
                </a:tc>
                <a:tc>
                  <a:txBody>
                    <a:bodyPr/>
                    <a:lstStyle/>
                    <a:p>
                      <a:r>
                        <a:rPr sz="1350" b="1">
                          <a:solidFill>
                            <a:srgbClr val="FFFFFF"/>
                          </a:solidFill>
                          <a:latin typeface="Arial"/>
                          <a:ea typeface="Arial"/>
                          <a:cs typeface="Arial"/>
                        </a:rPr>
                        <a:t>Age 5</a:t>
                      </a:r>
                    </a:p>
                  </a:txBody>
                  <a:tcPr marL="91440" marR="91440" marT="45720" marB="45720">
                    <a:solidFill>
                      <a:srgbClr val="172D3C"/>
                    </a:solidFill>
                  </a:tcPr>
                </a:tc>
              </a:tr>
              <a:tr h="495300">
                <a:tc>
                  <a:txBody>
                    <a:bodyPr/>
                    <a:lstStyle/>
                    <a:p>
                      <a:r>
                        <a:rPr sz="1425" b="0">
                          <a:solidFill>
                            <a:srgbClr val="172D3C"/>
                          </a:solidFill>
                          <a:latin typeface="Arial"/>
                          <a:ea typeface="Arial"/>
                          <a:cs typeface="Arial"/>
                        </a:rPr>
                        <a:t>2024-01</a:t>
                      </a:r>
                    </a:p>
                  </a:txBody>
                  <a:tcPr marL="91440" marR="91440" marT="45720" marB="45720">
                    <a:solidFill>
                      <a:srgbClr val="F0F5F6"/>
                    </a:solidFill>
                  </a:tcPr>
                </a:tc>
                <a:tc>
                  <a:txBody>
                    <a:bodyPr/>
                    <a:lstStyle/>
                    <a:p>
                      <a:r>
                        <a:rPr sz="1425" b="0">
                          <a:solidFill>
                            <a:srgbClr val="172D3C"/>
                          </a:solidFill>
                          <a:latin typeface="Arial"/>
                          <a:ea typeface="Arial"/>
                          <a:cs typeface="Arial"/>
                        </a:rPr>
                        <a:t>100%</a:t>
                      </a:r>
                    </a:p>
                  </a:txBody>
                  <a:tcPr marL="91440" marR="91440" marT="45720" marB="45720">
                    <a:solidFill>
                      <a:srgbClr val="F0F5F6"/>
                    </a:solidFill>
                  </a:tcPr>
                </a:tc>
                <a:tc>
                  <a:txBody>
                    <a:bodyPr/>
                    <a:lstStyle/>
                    <a:p>
                      <a:r>
                        <a:rPr sz="1425" b="0">
                          <a:solidFill>
                            <a:srgbClr val="172D3C"/>
                          </a:solidFill>
                          <a:latin typeface="Arial"/>
                          <a:ea typeface="Arial"/>
                          <a:cs typeface="Arial"/>
                        </a:rPr>
                        <a:t>87%</a:t>
                      </a:r>
                    </a:p>
                  </a:txBody>
                  <a:tcPr marL="91440" marR="91440" marT="45720" marB="45720">
                    <a:solidFill>
                      <a:srgbClr val="F0F5F6"/>
                    </a:solidFill>
                  </a:tcPr>
                </a:tc>
                <a:tc>
                  <a:txBody>
                    <a:bodyPr/>
                    <a:lstStyle/>
                    <a:p>
                      <a:r>
                        <a:rPr sz="1425" b="0">
                          <a:solidFill>
                            <a:srgbClr val="172D3C"/>
                          </a:solidFill>
                          <a:latin typeface="Arial"/>
                          <a:ea typeface="Arial"/>
                          <a:cs typeface="Arial"/>
                        </a:rPr>
                        <a:t>78%</a:t>
                      </a:r>
                    </a:p>
                  </a:txBody>
                  <a:tcPr marL="91440" marR="91440" marT="45720" marB="45720">
                    <a:solidFill>
                      <a:srgbClr val="F0F5F6"/>
                    </a:solidFill>
                  </a:tcPr>
                </a:tc>
                <a:tc>
                  <a:txBody>
                    <a:bodyPr/>
                    <a:lstStyle/>
                    <a:p>
                      <a:r>
                        <a:rPr sz="1425" b="0">
                          <a:solidFill>
                            <a:srgbClr val="172D3C"/>
                          </a:solidFill>
                          <a:latin typeface="Arial"/>
                          <a:ea typeface="Arial"/>
                          <a:cs typeface="Arial"/>
                        </a:rPr>
                        <a:t>72%</a:t>
                      </a:r>
                    </a:p>
                  </a:txBody>
                  <a:tcPr marL="91440" marR="91440" marT="45720" marB="45720">
                    <a:solidFill>
                      <a:srgbClr val="F0F5F6"/>
                    </a:solidFill>
                  </a:tcPr>
                </a:tc>
                <a:tc>
                  <a:txBody>
                    <a:bodyPr/>
                    <a:lstStyle/>
                    <a:p>
                      <a:r>
                        <a:rPr sz="1425" b="0">
                          <a:solidFill>
                            <a:srgbClr val="172D3C"/>
                          </a:solidFill>
                          <a:latin typeface="Arial"/>
                          <a:ea typeface="Arial"/>
                          <a:cs typeface="Arial"/>
                        </a:rPr>
                        <a:t>68%</a:t>
                      </a:r>
                    </a:p>
                  </a:txBody>
                  <a:tcPr marL="91440" marR="91440" marT="45720" marB="45720">
                    <a:solidFill>
                      <a:srgbClr val="F0F5F6"/>
                    </a:solidFill>
                  </a:tcPr>
                </a:tc>
                <a:tc>
                  <a:txBody>
                    <a:bodyPr/>
                    <a:lstStyle/>
                    <a:p>
                      <a:r>
                        <a:rPr sz="1425" b="0">
                          <a:solidFill>
                            <a:srgbClr val="172D3C"/>
                          </a:solidFill>
                          <a:latin typeface="Arial"/>
                          <a:ea typeface="Arial"/>
                          <a:cs typeface="Arial"/>
                        </a:rPr>
                        <a:t>63%</a:t>
                      </a:r>
                    </a:p>
                  </a:txBody>
                  <a:tcPr marL="91440" marR="91440" marT="45720" marB="45720">
                    <a:solidFill>
                      <a:srgbClr val="F0F5F6"/>
                    </a:solidFill>
                  </a:tcPr>
                </a:tc>
              </a:tr>
              <a:tr h="495300">
                <a:tc>
                  <a:txBody>
                    <a:bodyPr/>
                    <a:lstStyle/>
                    <a:p>
                      <a:r>
                        <a:rPr sz="1425" b="0">
                          <a:solidFill>
                            <a:srgbClr val="172D3C"/>
                          </a:solidFill>
                          <a:latin typeface="Arial"/>
                          <a:ea typeface="Arial"/>
                          <a:cs typeface="Arial"/>
                        </a:rPr>
                        <a:t>2024-10</a:t>
                      </a:r>
                    </a:p>
                  </a:txBody>
                  <a:tcPr marL="91440" marR="91440" marT="45720" marB="45720">
                    <a:solidFill>
                      <a:srgbClr val="FFFFFF"/>
                    </a:solidFill>
                  </a:tcPr>
                </a:tc>
                <a:tc>
                  <a:txBody>
                    <a:bodyPr/>
                    <a:lstStyle/>
                    <a:p>
                      <a:r>
                        <a:rPr sz="1425" b="0">
                          <a:solidFill>
                            <a:srgbClr val="172D3C"/>
                          </a:solidFill>
                          <a:latin typeface="Arial"/>
                          <a:ea typeface="Arial"/>
                          <a:cs typeface="Arial"/>
                        </a:rPr>
                        <a:t>100%</a:t>
                      </a:r>
                    </a:p>
                  </a:txBody>
                  <a:tcPr marL="91440" marR="91440" marT="45720" marB="45720">
                    <a:solidFill>
                      <a:srgbClr val="FFFFFF"/>
                    </a:solidFill>
                  </a:tcPr>
                </a:tc>
                <a:tc>
                  <a:txBody>
                    <a:bodyPr/>
                    <a:lstStyle/>
                    <a:p>
                      <a:r>
                        <a:rPr sz="1425" b="0">
                          <a:solidFill>
                            <a:srgbClr val="172D3C"/>
                          </a:solidFill>
                          <a:latin typeface="Arial"/>
                          <a:ea typeface="Arial"/>
                          <a:cs typeface="Arial"/>
                        </a:rPr>
                        <a:t>86%</a:t>
                      </a:r>
                    </a:p>
                  </a:txBody>
                  <a:tcPr marL="91440" marR="91440" marT="45720" marB="45720">
                    <a:solidFill>
                      <a:srgbClr val="FFFFFF"/>
                    </a:solidFill>
                  </a:tcPr>
                </a:tc>
                <a:tc>
                  <a:txBody>
                    <a:bodyPr/>
                    <a:lstStyle/>
                    <a:p>
                      <a:r>
                        <a:rPr sz="1425" b="0">
                          <a:solidFill>
                            <a:srgbClr val="172D3C"/>
                          </a:solidFill>
                          <a:latin typeface="Arial"/>
                          <a:ea typeface="Arial"/>
                          <a:cs typeface="Arial"/>
                        </a:rPr>
                        <a:t>81%</a:t>
                      </a:r>
                    </a:p>
                  </a:txBody>
                  <a:tcPr marL="91440" marR="91440" marT="45720" marB="45720">
                    <a:solidFill>
                      <a:srgbClr val="FFFFFF"/>
                    </a:solidFill>
                  </a:tcPr>
                </a:tc>
                <a:tc>
                  <a:txBody>
                    <a:bodyPr/>
                    <a:lstStyle/>
                    <a:p>
                      <a:r>
                        <a:rPr sz="1425" b="0">
                          <a:solidFill>
                            <a:srgbClr val="172D3C"/>
                          </a:solidFill>
                          <a:latin typeface="Arial"/>
                          <a:ea typeface="Arial"/>
                          <a:cs typeface="Arial"/>
                        </a:rPr>
                        <a:t>75%</a:t>
                      </a:r>
                    </a:p>
                  </a:txBody>
                  <a:tcPr marL="91440" marR="91440" marT="45720" marB="45720">
                    <a:solidFill>
                      <a:srgbClr val="FFFFFF"/>
                    </a:solidFill>
                  </a:tcPr>
                </a:tc>
                <a:tc>
                  <a:txBody>
                    <a:bodyPr/>
                    <a:lstStyle/>
                    <a:p>
                      <a:r>
                        <a:rPr sz="1425" b="0">
                          <a:solidFill>
                            <a:srgbClr val="172D3C"/>
                          </a:solidFill>
                          <a:latin typeface="Arial"/>
                          <a:ea typeface="Arial"/>
                          <a:cs typeface="Arial"/>
                        </a:rPr>
                        <a:t>72%</a:t>
                      </a:r>
                    </a:p>
                  </a:txBody>
                  <a:tcPr marL="91440" marR="91440" marT="45720" marB="45720">
                    <a:solidFill>
                      <a:srgbClr val="FFFFFF"/>
                    </a:solidFill>
                  </a:tcPr>
                </a:tc>
                <a:tc>
                  <a:txBody>
                    <a:bodyPr/>
                    <a:lstStyle/>
                    <a:p>
                      <a:r>
                        <a:rPr sz="1425" b="0">
                          <a:solidFill>
                            <a:srgbClr val="172D3C"/>
                          </a:solidFill>
                          <a:latin typeface="Arial"/>
                          <a:ea typeface="Arial"/>
                          <a:cs typeface="Arial"/>
                        </a:rPr>
                        <a:t>66%</a:t>
                      </a:r>
                    </a:p>
                  </a:txBody>
                  <a:tcPr marL="91440" marR="91440" marT="45720" marB="45720">
                    <a:solidFill>
                      <a:srgbClr val="FFFFFF"/>
                    </a:solidFill>
                  </a:tcPr>
                </a:tc>
              </a:tr>
              <a:tr h="495300">
                <a:tc>
                  <a:txBody>
                    <a:bodyPr/>
                    <a:lstStyle/>
                    <a:p>
                      <a:r>
                        <a:rPr sz="1425" b="0">
                          <a:solidFill>
                            <a:srgbClr val="172D3C"/>
                          </a:solidFill>
                          <a:latin typeface="Arial"/>
                          <a:ea typeface="Arial"/>
                          <a:cs typeface="Arial"/>
                        </a:rPr>
                        <a:t>2025-07</a:t>
                      </a:r>
                    </a:p>
                  </a:txBody>
                  <a:tcPr marL="91440" marR="91440" marT="45720" marB="45720">
                    <a:solidFill>
                      <a:srgbClr val="F0F5F6"/>
                    </a:solidFill>
                  </a:tcPr>
                </a:tc>
                <a:tc>
                  <a:txBody>
                    <a:bodyPr/>
                    <a:lstStyle/>
                    <a:p>
                      <a:r>
                        <a:rPr sz="1425" b="0">
                          <a:solidFill>
                            <a:srgbClr val="172D3C"/>
                          </a:solidFill>
                          <a:latin typeface="Arial"/>
                          <a:ea typeface="Arial"/>
                          <a:cs typeface="Arial"/>
                        </a:rPr>
                        <a:t>100%</a:t>
                      </a:r>
                    </a:p>
                  </a:txBody>
                  <a:tcPr marL="91440" marR="91440" marT="45720" marB="45720">
                    <a:solidFill>
                      <a:srgbClr val="F0F5F6"/>
                    </a:solidFill>
                  </a:tcPr>
                </a:tc>
                <a:tc>
                  <a:txBody>
                    <a:bodyPr/>
                    <a:lstStyle/>
                    <a:p>
                      <a:r>
                        <a:rPr sz="1425" b="0">
                          <a:solidFill>
                            <a:srgbClr val="172D3C"/>
                          </a:solidFill>
                          <a:latin typeface="Arial"/>
                          <a:ea typeface="Arial"/>
                          <a:cs typeface="Arial"/>
                        </a:rPr>
                        <a:t>91%</a:t>
                      </a:r>
                    </a:p>
                  </a:txBody>
                  <a:tcPr marL="91440" marR="91440" marT="45720" marB="45720">
                    <a:solidFill>
                      <a:srgbClr val="F0F5F6"/>
                    </a:solidFill>
                  </a:tcPr>
                </a:tc>
                <a:tc>
                  <a:txBody>
                    <a:bodyPr/>
                    <a:lstStyle/>
                    <a:p>
                      <a:r>
                        <a:rPr sz="1425" b="0">
                          <a:solidFill>
                            <a:srgbClr val="172D3C"/>
                          </a:solidFill>
                          <a:latin typeface="Arial"/>
                          <a:ea typeface="Arial"/>
                          <a:cs typeface="Arial"/>
                        </a:rPr>
                        <a:t>82%</a:t>
                      </a:r>
                    </a:p>
                  </a:txBody>
                  <a:tcPr marL="91440" marR="91440" marT="45720" marB="45720">
                    <a:solidFill>
                      <a:srgbClr val="F0F5F6"/>
                    </a:solidFill>
                  </a:tcPr>
                </a:tc>
                <a:tc>
                  <a:txBody>
                    <a:bodyPr/>
                    <a:lstStyle/>
                    <a:p>
                      <a:r>
                        <a:rPr sz="1425" b="0">
                          <a:solidFill>
                            <a:srgbClr val="172D3C"/>
                          </a:solidFill>
                          <a:latin typeface="Arial"/>
                          <a:ea typeface="Arial"/>
                          <a:cs typeface="Arial"/>
                        </a:rPr>
                        <a:t>76%</a:t>
                      </a:r>
                    </a:p>
                  </a:txBody>
                  <a:tcPr marL="91440" marR="91440" marT="45720" marB="45720">
                    <a:solidFill>
                      <a:srgbClr val="F0F5F6"/>
                    </a:solidFill>
                  </a:tcPr>
                </a:tc>
                <a:tc>
                  <a:txBody>
                    <a:bodyPr/>
                    <a:lstStyle/>
                    <a:p>
                      <a:r>
                        <a:rPr sz="1425" b="0">
                          <a:solidFill>
                            <a:srgbClr val="172D3C"/>
                          </a:solidFill>
                          <a:latin typeface="Arial"/>
                          <a:ea typeface="Arial"/>
                          <a:cs typeface="Arial"/>
                        </a:rPr>
                        <a:t>70%</a:t>
                      </a:r>
                    </a:p>
                  </a:txBody>
                  <a:tcPr marL="91440" marR="91440" marT="45720" marB="45720">
                    <a:solidFill>
                      <a:srgbClr val="F0F5F6"/>
                    </a:solidFill>
                  </a:tcPr>
                </a:tc>
                <a:tc>
                  <a:txBody>
                    <a:bodyPr/>
                    <a:lstStyle/>
                    <a:p>
                      <a:r>
                        <a:rPr sz="1425" b="0">
                          <a:solidFill>
                            <a:srgbClr val="172D3C"/>
                          </a:solidFill>
                          <a:latin typeface="Arial"/>
                          <a:ea typeface="Arial"/>
                          <a:cs typeface="Arial"/>
                        </a:rPr>
                        <a:t>68%</a:t>
                      </a:r>
                    </a:p>
                  </a:txBody>
                  <a:tcPr marL="91440" marR="91440" marT="45720" marB="45720">
                    <a:solidFill>
                      <a:srgbClr val="F0F5F6"/>
                    </a:solidFill>
                  </a:tcPr>
                </a:tc>
              </a:tr>
              <a:tr h="495300">
                <a:tc>
                  <a:txBody>
                    <a:bodyPr/>
                    <a:lstStyle/>
                    <a:p>
                      <a:r>
                        <a:rPr sz="1425" b="0">
                          <a:solidFill>
                            <a:srgbClr val="172D3C"/>
                          </a:solidFill>
                          <a:latin typeface="Arial"/>
                          <a:ea typeface="Arial"/>
                          <a:cs typeface="Arial"/>
                        </a:rPr>
                        <a:t>2025-12</a:t>
                      </a:r>
                    </a:p>
                  </a:txBody>
                  <a:tcPr marL="91440" marR="91440" marT="45720" marB="45720">
                    <a:solidFill>
                      <a:srgbClr val="FFFFFF"/>
                    </a:solidFill>
                  </a:tcPr>
                </a:tc>
                <a:tc>
                  <a:txBody>
                    <a:bodyPr/>
                    <a:lstStyle/>
                    <a:p>
                      <a:r>
                        <a:rPr sz="1425" b="0">
                          <a:solidFill>
                            <a:srgbClr val="172D3C"/>
                          </a:solidFill>
                          <a:latin typeface="Arial"/>
                          <a:ea typeface="Arial"/>
                          <a:cs typeface="Arial"/>
                        </a:rPr>
                        <a:t>100%</a:t>
                      </a:r>
                    </a:p>
                  </a:txBody>
                  <a:tcPr marL="91440" marR="91440" marT="45720" marB="45720">
                    <a:solidFill>
                      <a:srgbClr val="FFFFFF"/>
                    </a:solidFill>
                  </a:tcPr>
                </a:tc>
                <a:tc>
                  <a:txBody>
                    <a:bodyPr/>
                    <a:lstStyle/>
                    <a:p>
                      <a:r>
                        <a:rPr sz="1425" b="0">
                          <a:solidFill>
                            <a:srgbClr val="172D3C"/>
                          </a:solidFill>
                          <a:latin typeface="Arial"/>
                          <a:ea typeface="Arial"/>
                          <a:cs typeface="Arial"/>
                        </a:rPr>
                        <a:t>—</a:t>
                      </a:r>
                    </a:p>
                  </a:txBody>
                  <a:tcPr marL="91440" marR="91440" marT="45720" marB="45720">
                    <a:solidFill>
                      <a:srgbClr val="FFFFFF"/>
                    </a:solidFill>
                  </a:tcPr>
                </a:tc>
                <a:tc>
                  <a:txBody>
                    <a:bodyPr/>
                    <a:lstStyle/>
                    <a:p>
                      <a:r>
                        <a:rPr sz="1425" b="0">
                          <a:solidFill>
                            <a:srgbClr val="172D3C"/>
                          </a:solidFill>
                          <a:latin typeface="Arial"/>
                          <a:ea typeface="Arial"/>
                          <a:cs typeface="Arial"/>
                        </a:rPr>
                        <a:t>—</a:t>
                      </a:r>
                    </a:p>
                  </a:txBody>
                  <a:tcPr marL="91440" marR="91440" marT="45720" marB="45720">
                    <a:solidFill>
                      <a:srgbClr val="FFFFFF"/>
                    </a:solidFill>
                  </a:tcPr>
                </a:tc>
                <a:tc>
                  <a:txBody>
                    <a:bodyPr/>
                    <a:lstStyle/>
                    <a:p>
                      <a:r>
                        <a:rPr sz="1425" b="0">
                          <a:solidFill>
                            <a:srgbClr val="172D3C"/>
                          </a:solidFill>
                          <a:latin typeface="Arial"/>
                          <a:ea typeface="Arial"/>
                          <a:cs typeface="Arial"/>
                        </a:rPr>
                        <a:t>—</a:t>
                      </a:r>
                    </a:p>
                  </a:txBody>
                  <a:tcPr marL="91440" marR="91440" marT="45720" marB="45720">
                    <a:solidFill>
                      <a:srgbClr val="FFFFFF"/>
                    </a:solidFill>
                  </a:tcPr>
                </a:tc>
                <a:tc>
                  <a:txBody>
                    <a:bodyPr/>
                    <a:lstStyle/>
                    <a:p>
                      <a:r>
                        <a:rPr sz="1425" b="0">
                          <a:solidFill>
                            <a:srgbClr val="172D3C"/>
                          </a:solidFill>
                          <a:latin typeface="Arial"/>
                          <a:ea typeface="Arial"/>
                          <a:cs typeface="Arial"/>
                        </a:rPr>
                        <a:t>—</a:t>
                      </a:r>
                    </a:p>
                  </a:txBody>
                  <a:tcPr marL="91440" marR="91440" marT="45720" marB="45720">
                    <a:solidFill>
                      <a:srgbClr val="FFFFFF"/>
                    </a:solidFill>
                  </a:tcPr>
                </a:tc>
                <a:tc>
                  <a:txBody>
                    <a:bodyPr/>
                    <a:lstStyle/>
                    <a:p>
                      <a:r>
                        <a:rPr sz="1425" b="0">
                          <a:solidFill>
                            <a:srgbClr val="172D3C"/>
                          </a:solidFill>
                          <a:latin typeface="Arial"/>
                          <a:ea typeface="Arial"/>
                          <a:cs typeface="Arial"/>
                        </a:rPr>
                        <a:t>—</a:t>
                      </a:r>
                    </a:p>
                  </a:txBody>
                  <a:tcPr marL="91440" marR="91440" marT="45720" marB="4572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9F040F8E-4D44-48FE-928E-7CB74794D200}"/>
              </a:ext>
            </a:extLst>
          </p:cNvPr>
          <p:cNvSpPr>
            <a:spLocks xmlns:a="http://schemas.openxmlformats.org/drawingml/2006/main" noGrp="1"/>
          </p:cNvSpPr>
          <p:nvPr/>
        </p:nvSpPr>
        <p:spPr>
          <a:xfrm xmlns:a="http://schemas.openxmlformats.org/drawingml/2006/main">
            <a:off x="609600" y="4467225"/>
            <a:ext cx="109728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950" b="0">
                <a:solidFill>
                  <a:srgbClr val="172D3C"/>
                </a:solidFill>
                <a:latin typeface="Arial"/>
                <a:ea typeface="Arial"/>
                <a:cs typeface="Arial"/>
              </a:defRPr>
            </a:defPPr>
            <a:lvl1pPr>
              <a:defRPr sz="1950" b="0">
                <a:solidFill>
                  <a:srgbClr val="172D3C"/>
                </a:solidFill>
                <a:latin typeface="Arial"/>
                <a:ea typeface="Arial"/>
                <a:cs typeface="Arial"/>
              </a:defRPr>
            </a:lvl1pPr>
            <a:lvl2pPr>
              <a:defRPr sz="1950" b="0">
                <a:solidFill>
                  <a:srgbClr val="172D3C"/>
                </a:solidFill>
                <a:latin typeface="Arial"/>
                <a:ea typeface="Arial"/>
                <a:cs typeface="Arial"/>
              </a:defRPr>
            </a:lvl2pPr>
            <a:lvl3pPr>
              <a:defRPr sz="1950" b="0">
                <a:solidFill>
                  <a:srgbClr val="172D3C"/>
                </a:solidFill>
                <a:latin typeface="Arial"/>
                <a:ea typeface="Arial"/>
                <a:cs typeface="Arial"/>
              </a:defRPr>
            </a:lvl3pPr>
            <a:lvl4pPr>
              <a:defRPr sz="1950" b="0">
                <a:solidFill>
                  <a:srgbClr val="172D3C"/>
                </a:solidFill>
                <a:latin typeface="Arial"/>
                <a:ea typeface="Arial"/>
                <a:cs typeface="Arial"/>
              </a:defRPr>
            </a:lvl4pPr>
            <a:lvl5pPr>
              <a:defRPr sz="1950" b="0">
                <a:solidFill>
                  <a:srgbClr val="172D3C"/>
                </a:solidFill>
                <a:latin typeface="Arial"/>
                <a:ea typeface="Arial"/>
                <a:cs typeface="Arial"/>
              </a:defRPr>
            </a:lvl5pPr>
            <a:lvl6pPr>
              <a:defRPr sz="1950" b="0">
                <a:solidFill>
                  <a:srgbClr val="172D3C"/>
                </a:solidFill>
                <a:latin typeface="Arial"/>
                <a:ea typeface="Arial"/>
                <a:cs typeface="Arial"/>
              </a:defRPr>
            </a:lvl6pPr>
            <a:lvl7pPr>
              <a:defRPr sz="1950" b="0">
                <a:solidFill>
                  <a:srgbClr val="172D3C"/>
                </a:solidFill>
                <a:latin typeface="Arial"/>
                <a:ea typeface="Arial"/>
                <a:cs typeface="Arial"/>
              </a:defRPr>
            </a:lvl7pPr>
            <a:lvl8pPr>
              <a:defRPr sz="1950" b="0">
                <a:solidFill>
                  <a:srgbClr val="172D3C"/>
                </a:solidFill>
                <a:latin typeface="Arial"/>
                <a:ea typeface="Arial"/>
                <a:cs typeface="Arial"/>
              </a:defRPr>
            </a:lvl8pPr>
            <a:lvl9pPr>
              <a:defRPr sz="1950" b="0">
                <a:solidFill>
                  <a:srgbClr val="172D3C"/>
                </a:solidFill>
                <a:latin typeface="Arial"/>
                <a:ea typeface="Arial"/>
                <a:cs typeface="Arial"/>
              </a:defRPr>
            </a:lvl9pPr>
          </a:lstStyle>
          <a:p xmlns:a="http://schemas.openxmlformats.org/drawingml/2006/main">
            <a:pPr>
              <a:defRPr sz="1950" b="0">
                <a:solidFill>
                  <a:srgbClr val="172D3C"/>
                </a:solidFill>
                <a:latin typeface="Arial"/>
                <a:ea typeface="Arial"/>
                <a:cs typeface="Arial"/>
              </a:defRPr>
            </a:pPr>
            <a:r>
              <a:rPr sz="1950" b="0">
                <a:solidFill>
                  <a:srgbClr val="172D3C"/>
                </a:solidFill>
                <a:latin typeface="Arial"/>
                <a:ea typeface="Arial"/>
                <a:cs typeface="Arial"/>
              </a:rPr>
              <a:t>Across: follow one joining cohort. Down: compare different cohorts at the same customer age.</a:t>
            </a:r>
          </a:p>
        </p:txBody>
      </p:sp>
      <p:sp>
        <p:nvSpPr>
          <p:cNvPr id="7" name="">
            <a:extLst xmlns:a="http://schemas.openxmlformats.org/drawingml/2006/main">
              <a:ext uri="{FF2B5EF4-FFF2-40B4-BE49-F238E27FC236}">
                <a16:creationId xmlns:a16="http://schemas.microsoft.com/office/drawing/2014/main" id="{F863A330-36D0-4B9A-9F71-F64DD825BDA4}"/>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F1F3F4"/>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46F3BFD-CEFD-4D09-A5AC-EACB7C23B114}"/>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As of January 1, 2026, December’s cohort has only age 0 observed. Later ages remain blank.</a:t>
            </a:r>
          </a:p>
        </p:txBody>
      </p:sp>
    </p:spTree>
    <p:extLst>
      <p:ext uri="{BB962C8B-B14F-4D97-AF65-F5344CB8AC3E}">
        <p14:creationId xmlns:p14="http://schemas.microsoft.com/office/powerpoint/2010/main" val="162757904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B4E0A62-FF82-4858-AA90-01CEAAD7EF8D}"/>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BB6427"/>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78DBE67-0EE7-4BA8-BD7D-8B818A2CE3A8}"/>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Group decision 2: is improvement visible within groups?</a:t>
            </a:r>
          </a:p>
        </p:txBody>
      </p:sp>
      <p:sp>
        <p:nvSpPr>
          <p:cNvPr id="3" name="">
            <a:extLst xmlns:a="http://schemas.openxmlformats.org/drawingml/2006/main">
              <a:ext uri="{FF2B5EF4-FFF2-40B4-BE49-F238E27FC236}">
                <a16:creationId xmlns:a16="http://schemas.microsoft.com/office/drawing/2014/main" id="{809342AE-2F8B-4243-98BF-12282F416D29}"/>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BB6427"/>
                </a:solidFill>
                <a:latin typeface="Arial"/>
                <a:ea typeface="Arial"/>
                <a:cs typeface="Arial"/>
              </a:defRPr>
            </a:defPPr>
            <a:lvl1pPr>
              <a:defRPr sz="900" b="1">
                <a:solidFill>
                  <a:srgbClr val="BB6427"/>
                </a:solidFill>
                <a:latin typeface="Arial"/>
                <a:ea typeface="Arial"/>
                <a:cs typeface="Arial"/>
              </a:defRPr>
            </a:lvl1pPr>
            <a:lvl2pPr>
              <a:defRPr sz="900" b="1">
                <a:solidFill>
                  <a:srgbClr val="BB6427"/>
                </a:solidFill>
                <a:latin typeface="Arial"/>
                <a:ea typeface="Arial"/>
                <a:cs typeface="Arial"/>
              </a:defRPr>
            </a:lvl2pPr>
            <a:lvl3pPr>
              <a:defRPr sz="900" b="1">
                <a:solidFill>
                  <a:srgbClr val="BB6427"/>
                </a:solidFill>
                <a:latin typeface="Arial"/>
                <a:ea typeface="Arial"/>
                <a:cs typeface="Arial"/>
              </a:defRPr>
            </a:lvl3pPr>
            <a:lvl4pPr>
              <a:defRPr sz="900" b="1">
                <a:solidFill>
                  <a:srgbClr val="BB6427"/>
                </a:solidFill>
                <a:latin typeface="Arial"/>
                <a:ea typeface="Arial"/>
                <a:cs typeface="Arial"/>
              </a:defRPr>
            </a:lvl4pPr>
            <a:lvl5pPr>
              <a:defRPr sz="900" b="1">
                <a:solidFill>
                  <a:srgbClr val="BB6427"/>
                </a:solidFill>
                <a:latin typeface="Arial"/>
                <a:ea typeface="Arial"/>
                <a:cs typeface="Arial"/>
              </a:defRPr>
            </a:lvl5pPr>
            <a:lvl6pPr>
              <a:defRPr sz="900" b="1">
                <a:solidFill>
                  <a:srgbClr val="BB6427"/>
                </a:solidFill>
                <a:latin typeface="Arial"/>
                <a:ea typeface="Arial"/>
                <a:cs typeface="Arial"/>
              </a:defRPr>
            </a:lvl6pPr>
            <a:lvl7pPr>
              <a:defRPr sz="900" b="1">
                <a:solidFill>
                  <a:srgbClr val="BB6427"/>
                </a:solidFill>
                <a:latin typeface="Arial"/>
                <a:ea typeface="Arial"/>
                <a:cs typeface="Arial"/>
              </a:defRPr>
            </a:lvl7pPr>
            <a:lvl8pPr>
              <a:defRPr sz="900" b="1">
                <a:solidFill>
                  <a:srgbClr val="BB6427"/>
                </a:solidFill>
                <a:latin typeface="Arial"/>
                <a:ea typeface="Arial"/>
                <a:cs typeface="Arial"/>
              </a:defRPr>
            </a:lvl8pPr>
            <a:lvl9pPr>
              <a:defRPr sz="900" b="1">
                <a:solidFill>
                  <a:srgbClr val="BB6427"/>
                </a:solidFill>
                <a:latin typeface="Arial"/>
                <a:ea typeface="Arial"/>
                <a:cs typeface="Arial"/>
              </a:defRPr>
            </a:lvl9pPr>
          </a:lstStyle>
          <a:p xmlns:a="http://schemas.openxmlformats.org/drawingml/2006/main">
            <a:pPr>
              <a:defRPr sz="900" b="1">
                <a:solidFill>
                  <a:srgbClr val="BB6427"/>
                </a:solidFill>
                <a:latin typeface="Arial"/>
                <a:ea typeface="Arial"/>
                <a:cs typeface="Arial"/>
              </a:defRPr>
            </a:pPr>
            <a:r>
              <a:rPr sz="900" b="1">
                <a:solidFill>
                  <a:srgbClr val="BB6427"/>
                </a:solidFill>
                <a:latin typeface="Arial"/>
                <a:ea typeface="Arial"/>
                <a:cs typeface="Arial"/>
              </a:rPr>
              <a:t>GROUP DECISION</a:t>
            </a:r>
          </a:p>
        </p:txBody>
      </p:sp>
      <p:sp>
        <p:nvSpPr>
          <p:cNvPr id="4" name="">
            <a:extLst xmlns:a="http://schemas.openxmlformats.org/drawingml/2006/main">
              <a:ext uri="{FF2B5EF4-FFF2-40B4-BE49-F238E27FC236}">
                <a16:creationId xmlns:a16="http://schemas.microsoft.com/office/drawing/2014/main" id="{9BDEF1BA-D31C-460E-B580-423FF40880DE}"/>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8</a:t>
            </a:r>
          </a:p>
        </p:txBody>
      </p:sp>
      <p:sp>
        <p:nvSpPr>
          <p:cNvPr id="5" name="">
            <a:extLst xmlns:a="http://schemas.openxmlformats.org/drawingml/2006/main">
              <a:ext uri="{FF2B5EF4-FFF2-40B4-BE49-F238E27FC236}">
                <a16:creationId xmlns:a16="http://schemas.microsoft.com/office/drawing/2014/main" id="{C93B70D1-1AA6-489D-8128-E077864CD834}"/>
              </a:ext>
            </a:extLst>
          </p:cNvPr>
          <p:cNvSpPr>
            <a:spLocks xmlns:a="http://schemas.openxmlformats.org/drawingml/2006/main" noGrp="1"/>
          </p:cNvSpPr>
          <p:nvPr/>
        </p:nvSpPr>
        <p:spPr>
          <a:xfrm xmlns:a="http://schemas.openxmlformats.org/drawingml/2006/main">
            <a:off x="2381250" y="1438275"/>
            <a:ext cx="333375" cy="38100"/>
          </a:xfrm>
          <a:prstGeom xmlns:a="http://schemas.openxmlformats.org/drawingml/2006/main" prst="rect">
            <a:avLst/>
          </a:prstGeom>
          <a:solidFill xmlns:a="http://schemas.openxmlformats.org/drawingml/2006/main">
            <a:srgbClr val="68778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D6E2840-F8A6-4B4E-8559-14550169480B}"/>
              </a:ext>
            </a:extLst>
          </p:cNvPr>
          <p:cNvSpPr>
            <a:spLocks xmlns:a="http://schemas.openxmlformats.org/drawingml/2006/main" noGrp="1"/>
          </p:cNvSpPr>
          <p:nvPr/>
        </p:nvSpPr>
        <p:spPr>
          <a:xfrm xmlns:a="http://schemas.openxmlformats.org/drawingml/2006/main">
            <a:off x="2800350" y="1304925"/>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425" b="1">
                <a:solidFill>
                  <a:srgbClr val="687780"/>
                </a:solidFill>
                <a:latin typeface="Arial"/>
                <a:ea typeface="Arial"/>
                <a:cs typeface="Arial"/>
              </a:defRPr>
            </a:defPPr>
            <a:lvl1pPr>
              <a:defRPr sz="1425" b="1">
                <a:solidFill>
                  <a:srgbClr val="687780"/>
                </a:solidFill>
                <a:latin typeface="Arial"/>
                <a:ea typeface="Arial"/>
                <a:cs typeface="Arial"/>
              </a:defRPr>
            </a:lvl1pPr>
            <a:lvl2pPr>
              <a:defRPr sz="1425" b="1">
                <a:solidFill>
                  <a:srgbClr val="687780"/>
                </a:solidFill>
                <a:latin typeface="Arial"/>
                <a:ea typeface="Arial"/>
                <a:cs typeface="Arial"/>
              </a:defRPr>
            </a:lvl2pPr>
            <a:lvl3pPr>
              <a:defRPr sz="1425" b="1">
                <a:solidFill>
                  <a:srgbClr val="687780"/>
                </a:solidFill>
                <a:latin typeface="Arial"/>
                <a:ea typeface="Arial"/>
                <a:cs typeface="Arial"/>
              </a:defRPr>
            </a:lvl3pPr>
            <a:lvl4pPr>
              <a:defRPr sz="1425" b="1">
                <a:solidFill>
                  <a:srgbClr val="687780"/>
                </a:solidFill>
                <a:latin typeface="Arial"/>
                <a:ea typeface="Arial"/>
                <a:cs typeface="Arial"/>
              </a:defRPr>
            </a:lvl4pPr>
            <a:lvl5pPr>
              <a:defRPr sz="1425" b="1">
                <a:solidFill>
                  <a:srgbClr val="687780"/>
                </a:solidFill>
                <a:latin typeface="Arial"/>
                <a:ea typeface="Arial"/>
                <a:cs typeface="Arial"/>
              </a:defRPr>
            </a:lvl5pPr>
            <a:lvl6pPr>
              <a:defRPr sz="1425" b="1">
                <a:solidFill>
                  <a:srgbClr val="687780"/>
                </a:solidFill>
                <a:latin typeface="Arial"/>
                <a:ea typeface="Arial"/>
                <a:cs typeface="Arial"/>
              </a:defRPr>
            </a:lvl6pPr>
            <a:lvl7pPr>
              <a:defRPr sz="1425" b="1">
                <a:solidFill>
                  <a:srgbClr val="687780"/>
                </a:solidFill>
                <a:latin typeface="Arial"/>
                <a:ea typeface="Arial"/>
                <a:cs typeface="Arial"/>
              </a:defRPr>
            </a:lvl7pPr>
            <a:lvl8pPr>
              <a:defRPr sz="1425" b="1">
                <a:solidFill>
                  <a:srgbClr val="687780"/>
                </a:solidFill>
                <a:latin typeface="Arial"/>
                <a:ea typeface="Arial"/>
                <a:cs typeface="Arial"/>
              </a:defRPr>
            </a:lvl8pPr>
            <a:lvl9pPr>
              <a:defRPr sz="1425" b="1">
                <a:solidFill>
                  <a:srgbClr val="687780"/>
                </a:solidFill>
                <a:latin typeface="Arial"/>
                <a:ea typeface="Arial"/>
                <a:cs typeface="Arial"/>
              </a:defRPr>
            </a:lvl9pPr>
          </a:lstStyle>
          <a:p xmlns:a="http://schemas.openxmlformats.org/drawingml/2006/main">
            <a:pPr>
              <a:defRPr sz="1425" b="1">
                <a:solidFill>
                  <a:srgbClr val="687780"/>
                </a:solidFill>
                <a:latin typeface="Arial"/>
                <a:ea typeface="Arial"/>
                <a:cs typeface="Arial"/>
              </a:defRPr>
            </a:pPr>
            <a:r>
              <a:rPr sz="1425" b="1">
                <a:solidFill>
                  <a:srgbClr val="687780"/>
                </a:solidFill>
                <a:latin typeface="Arial"/>
                <a:ea typeface="Arial"/>
                <a:cs typeface="Arial"/>
              </a:rPr>
              <a:t>2024-01</a:t>
            </a:r>
          </a:p>
        </p:txBody>
      </p:sp>
      <p:sp>
        <p:nvSpPr>
          <p:cNvPr id="7" name="">
            <a:extLst xmlns:a="http://schemas.openxmlformats.org/drawingml/2006/main">
              <a:ext uri="{FF2B5EF4-FFF2-40B4-BE49-F238E27FC236}">
                <a16:creationId xmlns:a16="http://schemas.microsoft.com/office/drawing/2014/main" id="{099EBF2A-6488-4D50-9D33-0412B2BEBB03}"/>
              </a:ext>
            </a:extLst>
          </p:cNvPr>
          <p:cNvSpPr>
            <a:spLocks xmlns:a="http://schemas.openxmlformats.org/drawingml/2006/main" noGrp="1"/>
          </p:cNvSpPr>
          <p:nvPr/>
        </p:nvSpPr>
        <p:spPr>
          <a:xfrm xmlns:a="http://schemas.openxmlformats.org/drawingml/2006/main">
            <a:off x="4953000" y="1438275"/>
            <a:ext cx="333375" cy="38100"/>
          </a:xfrm>
          <a:prstGeom xmlns:a="http://schemas.openxmlformats.org/drawingml/2006/main" prst="rect">
            <a:avLst/>
          </a:prstGeom>
          <a:solidFill xmlns:a="http://schemas.openxmlformats.org/drawingml/2006/main">
            <a:srgbClr val="B7843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4628CB3-1318-4E8A-88E4-F2BC6CDBE5E4}"/>
              </a:ext>
            </a:extLst>
          </p:cNvPr>
          <p:cNvSpPr>
            <a:spLocks xmlns:a="http://schemas.openxmlformats.org/drawingml/2006/main" noGrp="1"/>
          </p:cNvSpPr>
          <p:nvPr/>
        </p:nvSpPr>
        <p:spPr>
          <a:xfrm xmlns:a="http://schemas.openxmlformats.org/drawingml/2006/main">
            <a:off x="5372100" y="1304925"/>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425" b="1">
                <a:solidFill>
                  <a:srgbClr val="B78431"/>
                </a:solidFill>
                <a:latin typeface="Arial"/>
                <a:ea typeface="Arial"/>
                <a:cs typeface="Arial"/>
              </a:defRPr>
            </a:defPPr>
            <a:lvl1pPr>
              <a:defRPr sz="1425" b="1">
                <a:solidFill>
                  <a:srgbClr val="B78431"/>
                </a:solidFill>
                <a:latin typeface="Arial"/>
                <a:ea typeface="Arial"/>
                <a:cs typeface="Arial"/>
              </a:defRPr>
            </a:lvl1pPr>
            <a:lvl2pPr>
              <a:defRPr sz="1425" b="1">
                <a:solidFill>
                  <a:srgbClr val="B78431"/>
                </a:solidFill>
                <a:latin typeface="Arial"/>
                <a:ea typeface="Arial"/>
                <a:cs typeface="Arial"/>
              </a:defRPr>
            </a:lvl2pPr>
            <a:lvl3pPr>
              <a:defRPr sz="1425" b="1">
                <a:solidFill>
                  <a:srgbClr val="B78431"/>
                </a:solidFill>
                <a:latin typeface="Arial"/>
                <a:ea typeface="Arial"/>
                <a:cs typeface="Arial"/>
              </a:defRPr>
            </a:lvl3pPr>
            <a:lvl4pPr>
              <a:defRPr sz="1425" b="1">
                <a:solidFill>
                  <a:srgbClr val="B78431"/>
                </a:solidFill>
                <a:latin typeface="Arial"/>
                <a:ea typeface="Arial"/>
                <a:cs typeface="Arial"/>
              </a:defRPr>
            </a:lvl4pPr>
            <a:lvl5pPr>
              <a:defRPr sz="1425" b="1">
                <a:solidFill>
                  <a:srgbClr val="B78431"/>
                </a:solidFill>
                <a:latin typeface="Arial"/>
                <a:ea typeface="Arial"/>
                <a:cs typeface="Arial"/>
              </a:defRPr>
            </a:lvl5pPr>
            <a:lvl6pPr>
              <a:defRPr sz="1425" b="1">
                <a:solidFill>
                  <a:srgbClr val="B78431"/>
                </a:solidFill>
                <a:latin typeface="Arial"/>
                <a:ea typeface="Arial"/>
                <a:cs typeface="Arial"/>
              </a:defRPr>
            </a:lvl6pPr>
            <a:lvl7pPr>
              <a:defRPr sz="1425" b="1">
                <a:solidFill>
                  <a:srgbClr val="B78431"/>
                </a:solidFill>
                <a:latin typeface="Arial"/>
                <a:ea typeface="Arial"/>
                <a:cs typeface="Arial"/>
              </a:defRPr>
            </a:lvl7pPr>
            <a:lvl8pPr>
              <a:defRPr sz="1425" b="1">
                <a:solidFill>
                  <a:srgbClr val="B78431"/>
                </a:solidFill>
                <a:latin typeface="Arial"/>
                <a:ea typeface="Arial"/>
                <a:cs typeface="Arial"/>
              </a:defRPr>
            </a:lvl8pPr>
            <a:lvl9pPr>
              <a:defRPr sz="1425" b="1">
                <a:solidFill>
                  <a:srgbClr val="B78431"/>
                </a:solidFill>
                <a:latin typeface="Arial"/>
                <a:ea typeface="Arial"/>
                <a:cs typeface="Arial"/>
              </a:defRPr>
            </a:lvl9pPr>
          </a:lstStyle>
          <a:p xmlns:a="http://schemas.openxmlformats.org/drawingml/2006/main">
            <a:pPr>
              <a:defRPr sz="1425" b="1">
                <a:solidFill>
                  <a:srgbClr val="B78431"/>
                </a:solidFill>
                <a:latin typeface="Arial"/>
                <a:ea typeface="Arial"/>
                <a:cs typeface="Arial"/>
              </a:defRPr>
            </a:pPr>
            <a:r>
              <a:rPr sz="1425" b="1">
                <a:solidFill>
                  <a:srgbClr val="B78431"/>
                </a:solidFill>
                <a:latin typeface="Arial"/>
                <a:ea typeface="Arial"/>
                <a:cs typeface="Arial"/>
              </a:rPr>
              <a:t>2025-01</a:t>
            </a:r>
          </a:p>
        </p:txBody>
      </p:sp>
      <p:sp>
        <p:nvSpPr>
          <p:cNvPr id="9" name="">
            <a:extLst xmlns:a="http://schemas.openxmlformats.org/drawingml/2006/main">
              <a:ext uri="{FF2B5EF4-FFF2-40B4-BE49-F238E27FC236}">
                <a16:creationId xmlns:a16="http://schemas.microsoft.com/office/drawing/2014/main" id="{DBE1BB12-D310-43AC-95BD-FBA835B8DBE5}"/>
              </a:ext>
            </a:extLst>
          </p:cNvPr>
          <p:cNvSpPr>
            <a:spLocks xmlns:a="http://schemas.openxmlformats.org/drawingml/2006/main" noGrp="1"/>
          </p:cNvSpPr>
          <p:nvPr/>
        </p:nvSpPr>
        <p:spPr>
          <a:xfrm xmlns:a="http://schemas.openxmlformats.org/drawingml/2006/main">
            <a:off x="7524750" y="1438275"/>
            <a:ext cx="333375" cy="38100"/>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D880E33-18E0-46B4-A0C2-1023702EFD48}"/>
              </a:ext>
            </a:extLst>
          </p:cNvPr>
          <p:cNvSpPr>
            <a:spLocks xmlns:a="http://schemas.openxmlformats.org/drawingml/2006/main" noGrp="1"/>
          </p:cNvSpPr>
          <p:nvPr/>
        </p:nvSpPr>
        <p:spPr>
          <a:xfrm xmlns:a="http://schemas.openxmlformats.org/drawingml/2006/main">
            <a:off x="7943850" y="1304925"/>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425" b="1">
                <a:solidFill>
                  <a:srgbClr val="087F8C"/>
                </a:solidFill>
                <a:latin typeface="Arial"/>
                <a:ea typeface="Arial"/>
                <a:cs typeface="Arial"/>
              </a:defRPr>
            </a:defPPr>
            <a:lvl1pPr>
              <a:defRPr sz="1425" b="1">
                <a:solidFill>
                  <a:srgbClr val="087F8C"/>
                </a:solidFill>
                <a:latin typeface="Arial"/>
                <a:ea typeface="Arial"/>
                <a:cs typeface="Arial"/>
              </a:defRPr>
            </a:lvl1pPr>
            <a:lvl2pPr>
              <a:defRPr sz="1425" b="1">
                <a:solidFill>
                  <a:srgbClr val="087F8C"/>
                </a:solidFill>
                <a:latin typeface="Arial"/>
                <a:ea typeface="Arial"/>
                <a:cs typeface="Arial"/>
              </a:defRPr>
            </a:lvl2pPr>
            <a:lvl3pPr>
              <a:defRPr sz="1425" b="1">
                <a:solidFill>
                  <a:srgbClr val="087F8C"/>
                </a:solidFill>
                <a:latin typeface="Arial"/>
                <a:ea typeface="Arial"/>
                <a:cs typeface="Arial"/>
              </a:defRPr>
            </a:lvl3pPr>
            <a:lvl4pPr>
              <a:defRPr sz="1425" b="1">
                <a:solidFill>
                  <a:srgbClr val="087F8C"/>
                </a:solidFill>
                <a:latin typeface="Arial"/>
                <a:ea typeface="Arial"/>
                <a:cs typeface="Arial"/>
              </a:defRPr>
            </a:lvl4pPr>
            <a:lvl5pPr>
              <a:defRPr sz="1425" b="1">
                <a:solidFill>
                  <a:srgbClr val="087F8C"/>
                </a:solidFill>
                <a:latin typeface="Arial"/>
                <a:ea typeface="Arial"/>
                <a:cs typeface="Arial"/>
              </a:defRPr>
            </a:lvl5pPr>
            <a:lvl6pPr>
              <a:defRPr sz="1425" b="1">
                <a:solidFill>
                  <a:srgbClr val="087F8C"/>
                </a:solidFill>
                <a:latin typeface="Arial"/>
                <a:ea typeface="Arial"/>
                <a:cs typeface="Arial"/>
              </a:defRPr>
            </a:lvl6pPr>
            <a:lvl7pPr>
              <a:defRPr sz="1425" b="1">
                <a:solidFill>
                  <a:srgbClr val="087F8C"/>
                </a:solidFill>
                <a:latin typeface="Arial"/>
                <a:ea typeface="Arial"/>
                <a:cs typeface="Arial"/>
              </a:defRPr>
            </a:lvl7pPr>
            <a:lvl8pPr>
              <a:defRPr sz="1425" b="1">
                <a:solidFill>
                  <a:srgbClr val="087F8C"/>
                </a:solidFill>
                <a:latin typeface="Arial"/>
                <a:ea typeface="Arial"/>
                <a:cs typeface="Arial"/>
              </a:defRPr>
            </a:lvl8pPr>
            <a:lvl9pPr>
              <a:defRPr sz="1425" b="1">
                <a:solidFill>
                  <a:srgbClr val="087F8C"/>
                </a:solidFill>
                <a:latin typeface="Arial"/>
                <a:ea typeface="Arial"/>
                <a:cs typeface="Arial"/>
              </a:defRPr>
            </a:lvl9pPr>
          </a:lstStyle>
          <a:p xmlns:a="http://schemas.openxmlformats.org/drawingml/2006/main">
            <a:pPr>
              <a:defRPr sz="1425" b="1">
                <a:solidFill>
                  <a:srgbClr val="087F8C"/>
                </a:solidFill>
                <a:latin typeface="Arial"/>
                <a:ea typeface="Arial"/>
                <a:cs typeface="Arial"/>
              </a:defRPr>
            </a:pPr>
            <a:r>
              <a:rPr sz="1425" b="1">
                <a:solidFill>
                  <a:srgbClr val="087F8C"/>
                </a:solidFill>
                <a:latin typeface="Arial"/>
                <a:ea typeface="Arial"/>
                <a:cs typeface="Arial"/>
              </a:rPr>
              <a:t>2025-07</a:t>
            </a:r>
          </a:p>
        </p:txBody>
      </p:sp>
      <p:graphicFrame>
        <p:nvGraphicFramePr>
          <p:cNvPr id="11" name="Chart">
            <a:extLst xmlns:a="http://schemas.openxmlformats.org/drawingml/2006/main">
              <a:ext uri="{FF2B5EF4-FFF2-40B4-BE49-F238E27FC236}">
                <a16:creationId xmlns:a16="http://schemas.microsoft.com/office/drawing/2014/main" id="{2DEB98C0-9CCB-4D57-A99F-D19230301D66}"/>
              </a:ext>
            </a:extLst>
          </p:cNvPr>
          <p:cNvGraphicFramePr/>
          <p:nvPr/>
        </p:nvGraphicFramePr>
        <p:xfrm>
          <a:off xmlns:a="http://schemas.openxmlformats.org/drawingml/2006/main" x="609600" y="1685925"/>
          <a:ext xmlns:a="http://schemas.openxmlformats.org/drawingml/2006/main" cx="5353050" cy="1790700"/>
        </p:xfrm>
        <a:graphic xmlns:a="http://schemas.openxmlformats.org/drawingml/2006/main">
          <a:graphicData uri="http://schemas.openxmlformats.org/drawingml/2006/chart">
            <c:chart xmlns:r="http://schemas.openxmlformats.org/officeDocument/2006/relationships" xmlns:c="http://schemas.openxmlformats.org/drawingml/2006/chart" r:id="R0c5128facb2947be"/>
          </a:graphicData>
        </a:graphic>
      </p:graphicFrame>
      <p:graphicFrame>
        <p:nvGraphicFramePr>
          <p:cNvPr id="12" name="Chart">
            <a:extLst xmlns:a="http://schemas.openxmlformats.org/drawingml/2006/main">
              <a:ext uri="{FF2B5EF4-FFF2-40B4-BE49-F238E27FC236}">
                <a16:creationId xmlns:a16="http://schemas.microsoft.com/office/drawing/2014/main" id="{C0D18650-2AFF-420B-B46B-D2016ADB9A3B}"/>
              </a:ext>
            </a:extLst>
          </p:cNvPr>
          <p:cNvGraphicFramePr/>
          <p:nvPr/>
        </p:nvGraphicFramePr>
        <p:xfrm>
          <a:off xmlns:a="http://schemas.openxmlformats.org/drawingml/2006/main" x="6229350" y="1685925"/>
          <a:ext xmlns:a="http://schemas.openxmlformats.org/drawingml/2006/main" cx="5353050" cy="1790700"/>
        </p:xfrm>
        <a:graphic xmlns:a="http://schemas.openxmlformats.org/drawingml/2006/main">
          <a:graphicData uri="http://schemas.openxmlformats.org/drawingml/2006/chart">
            <c:chart xmlns:r="http://schemas.openxmlformats.org/officeDocument/2006/relationships" xmlns:c="http://schemas.openxmlformats.org/drawingml/2006/chart" r:id="R3882b08676814721"/>
          </a:graphicData>
        </a:graphic>
      </p:graphicFrame>
      <p:graphicFrame>
        <p:nvGraphicFramePr>
          <p:cNvPr id="13" name="Chart">
            <a:extLst xmlns:a="http://schemas.openxmlformats.org/drawingml/2006/main">
              <a:ext uri="{FF2B5EF4-FFF2-40B4-BE49-F238E27FC236}">
                <a16:creationId xmlns:a16="http://schemas.microsoft.com/office/drawing/2014/main" id="{4F2DA782-E40F-40C8-B3D6-8B56FB089027}"/>
              </a:ext>
            </a:extLst>
          </p:cNvPr>
          <p:cNvGraphicFramePr/>
          <p:nvPr/>
        </p:nvGraphicFramePr>
        <p:xfrm>
          <a:off xmlns:a="http://schemas.openxmlformats.org/drawingml/2006/main" x="609600" y="3533775"/>
          <a:ext xmlns:a="http://schemas.openxmlformats.org/drawingml/2006/main" cx="5353050" cy="1790700"/>
        </p:xfrm>
        <a:graphic xmlns:a="http://schemas.openxmlformats.org/drawingml/2006/main">
          <a:graphicData uri="http://schemas.openxmlformats.org/drawingml/2006/chart">
            <c:chart xmlns:r="http://schemas.openxmlformats.org/officeDocument/2006/relationships" xmlns:c="http://schemas.openxmlformats.org/drawingml/2006/chart" r:id="R4cceba9dd3744065"/>
          </a:graphicData>
        </a:graphic>
      </p:graphicFrame>
      <p:graphicFrame>
        <p:nvGraphicFramePr>
          <p:cNvPr id="14" name="Chart">
            <a:extLst xmlns:a="http://schemas.openxmlformats.org/drawingml/2006/main">
              <a:ext uri="{FF2B5EF4-FFF2-40B4-BE49-F238E27FC236}">
                <a16:creationId xmlns:a16="http://schemas.microsoft.com/office/drawing/2014/main" id="{9C7AD9A5-E23A-4BD5-9924-9EBD8562B3B6}"/>
              </a:ext>
            </a:extLst>
          </p:cNvPr>
          <p:cNvGraphicFramePr/>
          <p:nvPr/>
        </p:nvGraphicFramePr>
        <p:xfrm>
          <a:off xmlns:a="http://schemas.openxmlformats.org/drawingml/2006/main" x="6229350" y="3533775"/>
          <a:ext xmlns:a="http://schemas.openxmlformats.org/drawingml/2006/main" cx="5353050" cy="1790700"/>
        </p:xfrm>
        <a:graphic xmlns:a="http://schemas.openxmlformats.org/drawingml/2006/main">
          <a:graphicData uri="http://schemas.openxmlformats.org/drawingml/2006/chart">
            <c:chart xmlns:r="http://schemas.openxmlformats.org/officeDocument/2006/relationships" xmlns:c="http://schemas.openxmlformats.org/drawingml/2006/chart" r:id="R419cce86652d4e1a"/>
          </a:graphicData>
        </a:graphic>
      </p:graphicFrame>
      <p:sp>
        <p:nvSpPr>
          <p:cNvPr id="15" name="">
            <a:extLst xmlns:a="http://schemas.openxmlformats.org/drawingml/2006/main">
              <a:ext uri="{FF2B5EF4-FFF2-40B4-BE49-F238E27FC236}">
                <a16:creationId xmlns:a16="http://schemas.microsoft.com/office/drawing/2014/main" id="{310BB047-A2C4-4A40-A9D0-03AC4AF3ED69}"/>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FCF1E7"/>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4972C91-450F-40D3-A7A5-873C15333DBD}"/>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Compare cohorts within each channel and need. Is progress broad, or concentrated in particular groups?</a:t>
            </a:r>
          </a:p>
        </p:txBody>
      </p:sp>
    </p:spTree>
    <p:extLst>
      <p:ext uri="{BB962C8B-B14F-4D97-AF65-F5344CB8AC3E}">
        <p14:creationId xmlns:p14="http://schemas.microsoft.com/office/powerpoint/2010/main" val="98298011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6BA5270-06F3-4058-9F35-522C5916C852}"/>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68778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72D3DD3-9E48-4147-814F-5A19E4AD1E50}"/>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Joining cohorts accumulate into the company</a:t>
            </a:r>
          </a:p>
        </p:txBody>
      </p:sp>
      <p:sp>
        <p:nvSpPr>
          <p:cNvPr id="3" name="">
            <a:extLst xmlns:a="http://schemas.openxmlformats.org/drawingml/2006/main">
              <a:ext uri="{FF2B5EF4-FFF2-40B4-BE49-F238E27FC236}">
                <a16:creationId xmlns:a16="http://schemas.microsoft.com/office/drawing/2014/main" id="{75528C28-DA6C-4794-A405-6AA117996807}"/>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687780"/>
                </a:solidFill>
                <a:latin typeface="Arial"/>
                <a:ea typeface="Arial"/>
                <a:cs typeface="Arial"/>
              </a:defRPr>
            </a:defPPr>
            <a:lvl1pPr>
              <a:defRPr sz="900" b="1">
                <a:solidFill>
                  <a:srgbClr val="687780"/>
                </a:solidFill>
                <a:latin typeface="Arial"/>
                <a:ea typeface="Arial"/>
                <a:cs typeface="Arial"/>
              </a:defRPr>
            </a:lvl1pPr>
            <a:lvl2pPr>
              <a:defRPr sz="900" b="1">
                <a:solidFill>
                  <a:srgbClr val="687780"/>
                </a:solidFill>
                <a:latin typeface="Arial"/>
                <a:ea typeface="Arial"/>
                <a:cs typeface="Arial"/>
              </a:defRPr>
            </a:lvl2pPr>
            <a:lvl3pPr>
              <a:defRPr sz="900" b="1">
                <a:solidFill>
                  <a:srgbClr val="687780"/>
                </a:solidFill>
                <a:latin typeface="Arial"/>
                <a:ea typeface="Arial"/>
                <a:cs typeface="Arial"/>
              </a:defRPr>
            </a:lvl3pPr>
            <a:lvl4pPr>
              <a:defRPr sz="900" b="1">
                <a:solidFill>
                  <a:srgbClr val="687780"/>
                </a:solidFill>
                <a:latin typeface="Arial"/>
                <a:ea typeface="Arial"/>
                <a:cs typeface="Arial"/>
              </a:defRPr>
            </a:lvl4pPr>
            <a:lvl5pPr>
              <a:defRPr sz="900" b="1">
                <a:solidFill>
                  <a:srgbClr val="687780"/>
                </a:solidFill>
                <a:latin typeface="Arial"/>
                <a:ea typeface="Arial"/>
                <a:cs typeface="Arial"/>
              </a:defRPr>
            </a:lvl5pPr>
            <a:lvl6pPr>
              <a:defRPr sz="900" b="1">
                <a:solidFill>
                  <a:srgbClr val="687780"/>
                </a:solidFill>
                <a:latin typeface="Arial"/>
                <a:ea typeface="Arial"/>
                <a:cs typeface="Arial"/>
              </a:defRPr>
            </a:lvl6pPr>
            <a:lvl7pPr>
              <a:defRPr sz="900" b="1">
                <a:solidFill>
                  <a:srgbClr val="687780"/>
                </a:solidFill>
                <a:latin typeface="Arial"/>
                <a:ea typeface="Arial"/>
                <a:cs typeface="Arial"/>
              </a:defRPr>
            </a:lvl7pPr>
            <a:lvl8pPr>
              <a:defRPr sz="900" b="1">
                <a:solidFill>
                  <a:srgbClr val="687780"/>
                </a:solidFill>
                <a:latin typeface="Arial"/>
                <a:ea typeface="Arial"/>
                <a:cs typeface="Arial"/>
              </a:defRPr>
            </a:lvl8pPr>
            <a:lvl9pPr>
              <a:defRPr sz="900" b="1">
                <a:solidFill>
                  <a:srgbClr val="687780"/>
                </a:solidFill>
                <a:latin typeface="Arial"/>
                <a:ea typeface="Arial"/>
                <a:cs typeface="Arial"/>
              </a:defRPr>
            </a:lvl9pPr>
          </a:lstStyle>
          <a:p xmlns:a="http://schemas.openxmlformats.org/drawingml/2006/main">
            <a:pPr>
              <a:defRPr sz="900" b="1">
                <a:solidFill>
                  <a:srgbClr val="687780"/>
                </a:solidFill>
                <a:latin typeface="Arial"/>
                <a:ea typeface="Arial"/>
                <a:cs typeface="Arial"/>
              </a:defRPr>
            </a:pPr>
            <a:r>
              <a:rPr sz="900" b="1">
                <a:solidFill>
                  <a:srgbClr val="687780"/>
                </a:solidFill>
                <a:latin typeface="Arial"/>
                <a:ea typeface="Arial"/>
                <a:cs typeface="Arial"/>
              </a:rPr>
              <a:t>EVIDENCE INTERPRETATION</a:t>
            </a:r>
          </a:p>
        </p:txBody>
      </p:sp>
      <p:sp>
        <p:nvSpPr>
          <p:cNvPr id="4" name="">
            <a:extLst xmlns:a="http://schemas.openxmlformats.org/drawingml/2006/main">
              <a:ext uri="{FF2B5EF4-FFF2-40B4-BE49-F238E27FC236}">
                <a16:creationId xmlns:a16="http://schemas.microsoft.com/office/drawing/2014/main" id="{E12E8FD4-1E09-4F3D-97F0-E543A1615CF5}"/>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9</a:t>
            </a:r>
          </a:p>
        </p:txBody>
      </p:sp>
      <p:graphicFrame>
        <p:nvGraphicFramePr>
          <p:cNvPr id="5" name="Chart">
            <a:extLst xmlns:a="http://schemas.openxmlformats.org/drawingml/2006/main">
              <a:ext uri="{FF2B5EF4-FFF2-40B4-BE49-F238E27FC236}">
                <a16:creationId xmlns:a16="http://schemas.microsoft.com/office/drawing/2014/main" id="{9D5D049C-F0D5-47BF-945F-D477431D01EA}"/>
              </a:ext>
            </a:extLst>
          </p:cNvPr>
          <p:cNvGraphicFramePr/>
          <p:nvPr/>
        </p:nvGraphicFramePr>
        <p:xfrm>
          <a:off xmlns:a="http://schemas.openxmlformats.org/drawingml/2006/main" x="609600" y="1562100"/>
          <a:ext xmlns:a="http://schemas.openxmlformats.org/drawingml/2006/main" cx="10972800" cy="3476625"/>
        </p:xfrm>
        <a:graphic xmlns:a="http://schemas.openxmlformats.org/drawingml/2006/main">
          <a:graphicData uri="http://schemas.openxmlformats.org/drawingml/2006/chart">
            <c:chart xmlns:r="http://schemas.openxmlformats.org/officeDocument/2006/relationships" xmlns:c="http://schemas.openxmlformats.org/drawingml/2006/chart" r:id="R5bbc165a84a84afc"/>
          </a:graphicData>
        </a:graphic>
      </p:graphicFrame>
      <p:sp>
        <p:nvSpPr>
          <p:cNvPr id="6" name="">
            <a:extLst xmlns:a="http://schemas.openxmlformats.org/drawingml/2006/main">
              <a:ext uri="{FF2B5EF4-FFF2-40B4-BE49-F238E27FC236}">
                <a16:creationId xmlns:a16="http://schemas.microsoft.com/office/drawing/2014/main" id="{4CB05A46-5F21-4234-B92A-5E5A13FDDDA0}"/>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F1F3F4"/>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C3F33190-5F16-463D-8DA3-2CD0538DA85F}"/>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Each band is one joining cohort. The height is the retained customer base, not cumulative acquisitions.</a:t>
            </a:r>
          </a:p>
        </p:txBody>
      </p:sp>
    </p:spTree>
    <p:extLst>
      <p:ext uri="{BB962C8B-B14F-4D97-AF65-F5344CB8AC3E}">
        <p14:creationId xmlns:p14="http://schemas.microsoft.com/office/powerpoint/2010/main" val="153199462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E1E7414-2B39-4174-8D08-1C674E78B788}"/>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BB6427"/>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13A04E3-E0C7-4F68-A577-C8F49BADE11F}"/>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Group decision 3: is one month enough to decide?</a:t>
            </a:r>
          </a:p>
        </p:txBody>
      </p:sp>
      <p:sp>
        <p:nvSpPr>
          <p:cNvPr id="3" name="">
            <a:extLst xmlns:a="http://schemas.openxmlformats.org/drawingml/2006/main">
              <a:ext uri="{FF2B5EF4-FFF2-40B4-BE49-F238E27FC236}">
                <a16:creationId xmlns:a16="http://schemas.microsoft.com/office/drawing/2014/main" id="{D079BD4A-A036-4A3C-BAD0-BCD67E12B76C}"/>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BB6427"/>
                </a:solidFill>
                <a:latin typeface="Arial"/>
                <a:ea typeface="Arial"/>
                <a:cs typeface="Arial"/>
              </a:defRPr>
            </a:defPPr>
            <a:lvl1pPr>
              <a:defRPr sz="900" b="1">
                <a:solidFill>
                  <a:srgbClr val="BB6427"/>
                </a:solidFill>
                <a:latin typeface="Arial"/>
                <a:ea typeface="Arial"/>
                <a:cs typeface="Arial"/>
              </a:defRPr>
            </a:lvl1pPr>
            <a:lvl2pPr>
              <a:defRPr sz="900" b="1">
                <a:solidFill>
                  <a:srgbClr val="BB6427"/>
                </a:solidFill>
                <a:latin typeface="Arial"/>
                <a:ea typeface="Arial"/>
                <a:cs typeface="Arial"/>
              </a:defRPr>
            </a:lvl2pPr>
            <a:lvl3pPr>
              <a:defRPr sz="900" b="1">
                <a:solidFill>
                  <a:srgbClr val="BB6427"/>
                </a:solidFill>
                <a:latin typeface="Arial"/>
                <a:ea typeface="Arial"/>
                <a:cs typeface="Arial"/>
              </a:defRPr>
            </a:lvl3pPr>
            <a:lvl4pPr>
              <a:defRPr sz="900" b="1">
                <a:solidFill>
                  <a:srgbClr val="BB6427"/>
                </a:solidFill>
                <a:latin typeface="Arial"/>
                <a:ea typeface="Arial"/>
                <a:cs typeface="Arial"/>
              </a:defRPr>
            </a:lvl4pPr>
            <a:lvl5pPr>
              <a:defRPr sz="900" b="1">
                <a:solidFill>
                  <a:srgbClr val="BB6427"/>
                </a:solidFill>
                <a:latin typeface="Arial"/>
                <a:ea typeface="Arial"/>
                <a:cs typeface="Arial"/>
              </a:defRPr>
            </a:lvl5pPr>
            <a:lvl6pPr>
              <a:defRPr sz="900" b="1">
                <a:solidFill>
                  <a:srgbClr val="BB6427"/>
                </a:solidFill>
                <a:latin typeface="Arial"/>
                <a:ea typeface="Arial"/>
                <a:cs typeface="Arial"/>
              </a:defRPr>
            </a:lvl6pPr>
            <a:lvl7pPr>
              <a:defRPr sz="900" b="1">
                <a:solidFill>
                  <a:srgbClr val="BB6427"/>
                </a:solidFill>
                <a:latin typeface="Arial"/>
                <a:ea typeface="Arial"/>
                <a:cs typeface="Arial"/>
              </a:defRPr>
            </a:lvl7pPr>
            <a:lvl8pPr>
              <a:defRPr sz="900" b="1">
                <a:solidFill>
                  <a:srgbClr val="BB6427"/>
                </a:solidFill>
                <a:latin typeface="Arial"/>
                <a:ea typeface="Arial"/>
                <a:cs typeface="Arial"/>
              </a:defRPr>
            </a:lvl8pPr>
            <a:lvl9pPr>
              <a:defRPr sz="900" b="1">
                <a:solidFill>
                  <a:srgbClr val="BB6427"/>
                </a:solidFill>
                <a:latin typeface="Arial"/>
                <a:ea typeface="Arial"/>
                <a:cs typeface="Arial"/>
              </a:defRPr>
            </a:lvl9pPr>
          </a:lstStyle>
          <a:p xmlns:a="http://schemas.openxmlformats.org/drawingml/2006/main">
            <a:pPr>
              <a:defRPr sz="900" b="1">
                <a:solidFill>
                  <a:srgbClr val="BB6427"/>
                </a:solidFill>
                <a:latin typeface="Arial"/>
                <a:ea typeface="Arial"/>
                <a:cs typeface="Arial"/>
              </a:defRPr>
            </a:pPr>
            <a:r>
              <a:rPr sz="900" b="1">
                <a:solidFill>
                  <a:srgbClr val="BB6427"/>
                </a:solidFill>
                <a:latin typeface="Arial"/>
                <a:ea typeface="Arial"/>
                <a:cs typeface="Arial"/>
              </a:rPr>
              <a:t>GROUP DECISION</a:t>
            </a:r>
          </a:p>
        </p:txBody>
      </p:sp>
      <p:sp>
        <p:nvSpPr>
          <p:cNvPr id="4" name="">
            <a:extLst xmlns:a="http://schemas.openxmlformats.org/drawingml/2006/main">
              <a:ext uri="{FF2B5EF4-FFF2-40B4-BE49-F238E27FC236}">
                <a16:creationId xmlns:a16="http://schemas.microsoft.com/office/drawing/2014/main" id="{FECAD0A0-4178-4AC9-89E0-9B46B1699C71}"/>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D5A6D2C2-02B3-4000-8A2B-283BD8A66E26}"/>
              </a:ext>
            </a:extLst>
          </p:cNvPr>
          <p:cNvSpPr>
            <a:spLocks xmlns:a="http://schemas.openxmlformats.org/drawingml/2006/main" noGrp="1"/>
          </p:cNvSpPr>
          <p:nvPr/>
        </p:nvSpPr>
        <p:spPr>
          <a:xfrm xmlns:a="http://schemas.openxmlformats.org/drawingml/2006/main">
            <a:off x="609600" y="1495425"/>
            <a:ext cx="10972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75" b="0">
                <a:solidFill>
                  <a:srgbClr val="172D3C"/>
                </a:solidFill>
                <a:latin typeface="Arial"/>
                <a:ea typeface="Arial"/>
                <a:cs typeface="Arial"/>
              </a:defRPr>
            </a:defPPr>
            <a:lvl1pPr>
              <a:defRPr sz="1875" b="0">
                <a:solidFill>
                  <a:srgbClr val="172D3C"/>
                </a:solidFill>
                <a:latin typeface="Arial"/>
                <a:ea typeface="Arial"/>
                <a:cs typeface="Arial"/>
              </a:defRPr>
            </a:lvl1pPr>
            <a:lvl2pPr>
              <a:defRPr sz="1875" b="0">
                <a:solidFill>
                  <a:srgbClr val="172D3C"/>
                </a:solidFill>
                <a:latin typeface="Arial"/>
                <a:ea typeface="Arial"/>
                <a:cs typeface="Arial"/>
              </a:defRPr>
            </a:lvl2pPr>
            <a:lvl3pPr>
              <a:defRPr sz="1875" b="0">
                <a:solidFill>
                  <a:srgbClr val="172D3C"/>
                </a:solidFill>
                <a:latin typeface="Arial"/>
                <a:ea typeface="Arial"/>
                <a:cs typeface="Arial"/>
              </a:defRPr>
            </a:lvl3pPr>
            <a:lvl4pPr>
              <a:defRPr sz="1875" b="0">
                <a:solidFill>
                  <a:srgbClr val="172D3C"/>
                </a:solidFill>
                <a:latin typeface="Arial"/>
                <a:ea typeface="Arial"/>
                <a:cs typeface="Arial"/>
              </a:defRPr>
            </a:lvl4pPr>
            <a:lvl5pPr>
              <a:defRPr sz="1875" b="0">
                <a:solidFill>
                  <a:srgbClr val="172D3C"/>
                </a:solidFill>
                <a:latin typeface="Arial"/>
                <a:ea typeface="Arial"/>
                <a:cs typeface="Arial"/>
              </a:defRPr>
            </a:lvl5pPr>
            <a:lvl6pPr>
              <a:defRPr sz="1875" b="0">
                <a:solidFill>
                  <a:srgbClr val="172D3C"/>
                </a:solidFill>
                <a:latin typeface="Arial"/>
                <a:ea typeface="Arial"/>
                <a:cs typeface="Arial"/>
              </a:defRPr>
            </a:lvl6pPr>
            <a:lvl7pPr>
              <a:defRPr sz="1875" b="0">
                <a:solidFill>
                  <a:srgbClr val="172D3C"/>
                </a:solidFill>
                <a:latin typeface="Arial"/>
                <a:ea typeface="Arial"/>
                <a:cs typeface="Arial"/>
              </a:defRPr>
            </a:lvl7pPr>
            <a:lvl8pPr>
              <a:defRPr sz="1875" b="0">
                <a:solidFill>
                  <a:srgbClr val="172D3C"/>
                </a:solidFill>
                <a:latin typeface="Arial"/>
                <a:ea typeface="Arial"/>
                <a:cs typeface="Arial"/>
              </a:defRPr>
            </a:lvl8pPr>
            <a:lvl9pPr>
              <a:defRPr sz="1875" b="0">
                <a:solidFill>
                  <a:srgbClr val="172D3C"/>
                </a:solidFill>
                <a:latin typeface="Arial"/>
                <a:ea typeface="Arial"/>
                <a:cs typeface="Arial"/>
              </a:defRPr>
            </a:lvl9pPr>
          </a:lstStyle>
          <a:p xmlns:a="http://schemas.openxmlformats.org/drawingml/2006/main">
            <a:pPr>
              <a:defRPr sz="1875" b="0">
                <a:solidFill>
                  <a:srgbClr val="172D3C"/>
                </a:solidFill>
                <a:latin typeface="Arial"/>
                <a:ea typeface="Arial"/>
                <a:cs typeface="Arial"/>
              </a:defRPr>
            </a:pPr>
            <a:r>
              <a:rPr sz="1875" b="0">
                <a:solidFill>
                  <a:srgbClr val="172D3C"/>
                </a:solidFill>
                <a:latin typeface="Arial"/>
                <a:ea typeface="Arial"/>
                <a:cs typeface="Arial"/>
              </a:rPr>
              <a:t>Each campaign randomized 250 prospects to treatment and 250 to its own control. Follow-up lasts about one month.</a:t>
            </a:r>
          </a:p>
        </p:txBody>
      </p:sp>
      <p:graphicFrame>
        <p:nvGraphicFramePr>
          <p:cNvPr id="6" name="">
            <a:extLst xmlns:a="http://schemas.openxmlformats.org/drawingml/2006/main">
              <a:ext uri="{FF2B5EF4-FFF2-40B4-BE49-F238E27FC236}">
                <a16:creationId xmlns:a16="http://schemas.microsoft.com/office/drawing/2014/main" id="{6A04DBAA-9152-448B-B53C-F11E9F034DAF}"/>
              </a:ext>
            </a:extLst>
          </p:cNvPr>
          <p:cNvGraphicFramePr/>
          <p:nvPr/>
        </p:nvGraphicFramePr>
        <p:xfrm>
          <a:off xmlns:a="http://schemas.openxmlformats.org/drawingml/2006/main" x="609600" y="2381250"/>
          <a:ext xmlns:a="http://schemas.openxmlformats.org/drawingml/2006/main" cx="10972800" cy="1714500"/>
        </p:xfrm>
        <a:graphic xmlns:a="http://schemas.openxmlformats.org/drawingml/2006/main">
          <a:graphicData uri="http://schemas.openxmlformats.org/drawingml/2006/table">
            <a:tbl>
              <a:tblPr/>
              <a:tblGrid>
                <a:gridCol w="3429000"/>
                <a:gridCol w="1619250"/>
                <a:gridCol w="2857500"/>
                <a:gridCol w="3067050"/>
              </a:tblGrid>
              <a:tr h="571500">
                <a:tc>
                  <a:txBody>
                    <a:bodyPr/>
                    <a:lstStyle/>
                    <a:p>
                      <a:r>
                        <a:rPr sz="1350" b="1">
                          <a:solidFill>
                            <a:srgbClr val="FFFFFF"/>
                          </a:solidFill>
                          <a:latin typeface="Arial"/>
                          <a:ea typeface="Arial"/>
                          <a:cs typeface="Arial"/>
                        </a:rPr>
                        <a:t>Test</a:t>
                      </a:r>
                    </a:p>
                  </a:txBody>
                  <a:tcPr marL="91440" marR="91440" marT="45720" marB="45720">
                    <a:solidFill>
                      <a:srgbClr val="172D3C"/>
                    </a:solidFill>
                  </a:tcPr>
                </a:tc>
                <a:tc>
                  <a:txBody>
                    <a:bodyPr/>
                    <a:lstStyle/>
                    <a:p>
                      <a:r>
                        <a:rPr sz="1350" b="1">
                          <a:solidFill>
                            <a:srgbClr val="FFFFFF"/>
                          </a:solidFill>
                          <a:latin typeface="Arial"/>
                          <a:ea typeface="Arial"/>
                          <a:cs typeface="Arial"/>
                        </a:rPr>
                        <a:t>Follow-up</a:t>
                      </a:r>
                    </a:p>
                  </a:txBody>
                  <a:tcPr marL="91440" marR="91440" marT="45720" marB="45720">
                    <a:solidFill>
                      <a:srgbClr val="172D3C"/>
                    </a:solidFill>
                  </a:tcPr>
                </a:tc>
                <a:tc>
                  <a:txBody>
                    <a:bodyPr/>
                    <a:lstStyle/>
                    <a:p>
                      <a:r>
                        <a:rPr sz="1350" b="1">
                          <a:solidFill>
                            <a:srgbClr val="FFFFFF"/>
                          </a:solidFill>
                          <a:latin typeface="Arial"/>
                          <a:ea typeface="Arial"/>
                          <a:cs typeface="Arial"/>
                        </a:rPr>
                        <a:t>Incremental contribution after media / prospect</a:t>
                      </a:r>
                    </a:p>
                  </a:txBody>
                  <a:tcPr marL="91440" marR="91440" marT="45720" marB="45720">
                    <a:solidFill>
                      <a:srgbClr val="172D3C"/>
                    </a:solidFill>
                  </a:tcPr>
                </a:tc>
                <a:tc>
                  <a:txBody>
                    <a:bodyPr/>
                    <a:lstStyle/>
                    <a:p>
                      <a:r>
                        <a:rPr sz="1350" b="1">
                          <a:solidFill>
                            <a:srgbClr val="FFFFFF"/>
                          </a:solidFill>
                          <a:latin typeface="Arial"/>
                          <a:ea typeface="Arial"/>
                          <a:cs typeface="Arial"/>
                        </a:rPr>
                        <a:t>Approx. 95% interval</a:t>
                      </a:r>
                    </a:p>
                  </a:txBody>
                  <a:tcPr marL="91440" marR="91440" marT="45720" marB="45720">
                    <a:solidFill>
                      <a:srgbClr val="172D3C"/>
                    </a:solidFill>
                  </a:tcPr>
                </a:tc>
              </a:tr>
              <a:tr h="571500">
                <a:tc>
                  <a:txBody>
                    <a:bodyPr/>
                    <a:lstStyle/>
                    <a:p>
                      <a:r>
                        <a:rPr sz="1425" b="0">
                          <a:solidFill>
                            <a:srgbClr val="172D3C"/>
                          </a:solidFill>
                          <a:latin typeface="Arial"/>
                          <a:ea typeface="Arial"/>
                          <a:cs typeface="Arial"/>
                        </a:rPr>
                        <a:t>search / save time</a:t>
                      </a:r>
                    </a:p>
                  </a:txBody>
                  <a:tcPr marL="91440" marR="91440" marT="45720" marB="45720">
                    <a:solidFill>
                      <a:srgbClr val="F0F5F6"/>
                    </a:solidFill>
                  </a:tcPr>
                </a:tc>
                <a:tc>
                  <a:txBody>
                    <a:bodyPr/>
                    <a:lstStyle/>
                    <a:p>
                      <a:r>
                        <a:rPr sz="1425" b="0">
                          <a:solidFill>
                            <a:srgbClr val="172D3C"/>
                          </a:solidFill>
                          <a:latin typeface="Arial"/>
                          <a:ea typeface="Arial"/>
                          <a:cs typeface="Arial"/>
                        </a:rPr>
                        <a:t>31 days</a:t>
                      </a:r>
                    </a:p>
                  </a:txBody>
                  <a:tcPr marL="91440" marR="91440" marT="45720" marB="45720">
                    <a:solidFill>
                      <a:srgbClr val="F0F5F6"/>
                    </a:solidFill>
                  </a:tcPr>
                </a:tc>
                <a:tc>
                  <a:txBody>
                    <a:bodyPr/>
                    <a:lstStyle/>
                    <a:p>
                      <a:r>
                        <a:rPr sz="1425" b="0">
                          <a:solidFill>
                            <a:srgbClr val="172D3C"/>
                          </a:solidFill>
                          <a:latin typeface="Arial"/>
                          <a:ea typeface="Arial"/>
                          <a:cs typeface="Arial"/>
                        </a:rPr>
                        <a:t>$1.16</a:t>
                      </a:r>
                    </a:p>
                  </a:txBody>
                  <a:tcPr marL="91440" marR="91440" marT="45720" marB="45720">
                    <a:solidFill>
                      <a:srgbClr val="F0F5F6"/>
                    </a:solidFill>
                  </a:tcPr>
                </a:tc>
                <a:tc>
                  <a:txBody>
                    <a:bodyPr/>
                    <a:lstStyle/>
                    <a:p>
                      <a:r>
                        <a:rPr sz="1425" b="0">
                          <a:solidFill>
                            <a:srgbClr val="172D3C"/>
                          </a:solidFill>
                          <a:latin typeface="Arial"/>
                          <a:ea typeface="Arial"/>
                          <a:cs typeface="Arial"/>
                        </a:rPr>
                        <a:t>-$0.62 to $2.94</a:t>
                      </a:r>
                    </a:p>
                  </a:txBody>
                  <a:tcPr marL="91440" marR="91440" marT="45720" marB="45720">
                    <a:solidFill>
                      <a:srgbClr val="F0F5F6"/>
                    </a:solidFill>
                  </a:tcPr>
                </a:tc>
              </a:tr>
              <a:tr h="571500">
                <a:tc>
                  <a:txBody>
                    <a:bodyPr/>
                    <a:lstStyle/>
                    <a:p>
                      <a:r>
                        <a:rPr sz="1425" b="0">
                          <a:solidFill>
                            <a:srgbClr val="172D3C"/>
                          </a:solidFill>
                          <a:latin typeface="Arial"/>
                          <a:ea typeface="Arial"/>
                          <a:cs typeface="Arial"/>
                        </a:rPr>
                        <a:t>partner / build skill</a:t>
                      </a:r>
                    </a:p>
                  </a:txBody>
                  <a:tcPr marL="91440" marR="91440" marT="45720" marB="45720">
                    <a:solidFill>
                      <a:srgbClr val="FFFFFF"/>
                    </a:solidFill>
                  </a:tcPr>
                </a:tc>
                <a:tc>
                  <a:txBody>
                    <a:bodyPr/>
                    <a:lstStyle/>
                    <a:p>
                      <a:r>
                        <a:rPr sz="1425" b="0">
                          <a:solidFill>
                            <a:srgbClr val="172D3C"/>
                          </a:solidFill>
                          <a:latin typeface="Arial"/>
                          <a:ea typeface="Arial"/>
                          <a:cs typeface="Arial"/>
                        </a:rPr>
                        <a:t>30 days</a:t>
                      </a:r>
                    </a:p>
                  </a:txBody>
                  <a:tcPr marL="91440" marR="91440" marT="45720" marB="45720">
                    <a:solidFill>
                      <a:srgbClr val="FFFFFF"/>
                    </a:solidFill>
                  </a:tcPr>
                </a:tc>
                <a:tc>
                  <a:txBody>
                    <a:bodyPr/>
                    <a:lstStyle/>
                    <a:p>
                      <a:r>
                        <a:rPr sz="1425" b="0">
                          <a:solidFill>
                            <a:srgbClr val="172D3C"/>
                          </a:solidFill>
                          <a:latin typeface="Arial"/>
                          <a:ea typeface="Arial"/>
                          <a:cs typeface="Arial"/>
                        </a:rPr>
                        <a:t>-$0.36</a:t>
                      </a:r>
                    </a:p>
                  </a:txBody>
                  <a:tcPr marL="91440" marR="91440" marT="45720" marB="45720">
                    <a:solidFill>
                      <a:srgbClr val="FFFFFF"/>
                    </a:solidFill>
                  </a:tcPr>
                </a:tc>
                <a:tc>
                  <a:txBody>
                    <a:bodyPr/>
                    <a:lstStyle/>
                    <a:p>
                      <a:r>
                        <a:rPr sz="1425" b="0">
                          <a:solidFill>
                            <a:srgbClr val="172D3C"/>
                          </a:solidFill>
                          <a:latin typeface="Arial"/>
                          <a:ea typeface="Arial"/>
                          <a:cs typeface="Arial"/>
                        </a:rPr>
                        <a:t>-$2.26 to $1.54</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FB4276DE-C0AF-4EED-8D2C-F6E92CCB3224}"/>
              </a:ext>
            </a:extLst>
          </p:cNvPr>
          <p:cNvSpPr>
            <a:spLocks xmlns:a="http://schemas.openxmlformats.org/drawingml/2006/main" noGrp="1"/>
          </p:cNvSpPr>
          <p:nvPr/>
        </p:nvSpPr>
        <p:spPr>
          <a:xfrm xmlns:a="http://schemas.openxmlformats.org/drawingml/2006/main">
            <a:off x="609600" y="4352925"/>
            <a:ext cx="109728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025" b="1">
                <a:solidFill>
                  <a:srgbClr val="BB6427"/>
                </a:solidFill>
                <a:latin typeface="Arial"/>
                <a:ea typeface="Arial"/>
                <a:cs typeface="Arial"/>
              </a:defRPr>
            </a:defPPr>
            <a:lvl1pPr>
              <a:defRPr sz="2025" b="1">
                <a:solidFill>
                  <a:srgbClr val="BB6427"/>
                </a:solidFill>
                <a:latin typeface="Arial"/>
                <a:ea typeface="Arial"/>
                <a:cs typeface="Arial"/>
              </a:defRPr>
            </a:lvl1pPr>
            <a:lvl2pPr>
              <a:defRPr sz="2025" b="1">
                <a:solidFill>
                  <a:srgbClr val="BB6427"/>
                </a:solidFill>
                <a:latin typeface="Arial"/>
                <a:ea typeface="Arial"/>
                <a:cs typeface="Arial"/>
              </a:defRPr>
            </a:lvl2pPr>
            <a:lvl3pPr>
              <a:defRPr sz="2025" b="1">
                <a:solidFill>
                  <a:srgbClr val="BB6427"/>
                </a:solidFill>
                <a:latin typeface="Arial"/>
                <a:ea typeface="Arial"/>
                <a:cs typeface="Arial"/>
              </a:defRPr>
            </a:lvl3pPr>
            <a:lvl4pPr>
              <a:defRPr sz="2025" b="1">
                <a:solidFill>
                  <a:srgbClr val="BB6427"/>
                </a:solidFill>
                <a:latin typeface="Arial"/>
                <a:ea typeface="Arial"/>
                <a:cs typeface="Arial"/>
              </a:defRPr>
            </a:lvl4pPr>
            <a:lvl5pPr>
              <a:defRPr sz="2025" b="1">
                <a:solidFill>
                  <a:srgbClr val="BB6427"/>
                </a:solidFill>
                <a:latin typeface="Arial"/>
                <a:ea typeface="Arial"/>
                <a:cs typeface="Arial"/>
              </a:defRPr>
            </a:lvl5pPr>
            <a:lvl6pPr>
              <a:defRPr sz="2025" b="1">
                <a:solidFill>
                  <a:srgbClr val="BB6427"/>
                </a:solidFill>
                <a:latin typeface="Arial"/>
                <a:ea typeface="Arial"/>
                <a:cs typeface="Arial"/>
              </a:defRPr>
            </a:lvl6pPr>
            <a:lvl7pPr>
              <a:defRPr sz="2025" b="1">
                <a:solidFill>
                  <a:srgbClr val="BB6427"/>
                </a:solidFill>
                <a:latin typeface="Arial"/>
                <a:ea typeface="Arial"/>
                <a:cs typeface="Arial"/>
              </a:defRPr>
            </a:lvl7pPr>
            <a:lvl8pPr>
              <a:defRPr sz="2025" b="1">
                <a:solidFill>
                  <a:srgbClr val="BB6427"/>
                </a:solidFill>
                <a:latin typeface="Arial"/>
                <a:ea typeface="Arial"/>
                <a:cs typeface="Arial"/>
              </a:defRPr>
            </a:lvl8pPr>
            <a:lvl9pPr>
              <a:defRPr sz="2025" b="1">
                <a:solidFill>
                  <a:srgbClr val="BB6427"/>
                </a:solidFill>
                <a:latin typeface="Arial"/>
                <a:ea typeface="Arial"/>
                <a:cs typeface="Arial"/>
              </a:defRPr>
            </a:lvl9pPr>
          </a:lstStyle>
          <a:p xmlns:a="http://schemas.openxmlformats.org/drawingml/2006/main">
            <a:pPr>
              <a:defRPr sz="2025" b="1">
                <a:solidFill>
                  <a:srgbClr val="BB6427"/>
                </a:solidFill>
                <a:latin typeface="Arial"/>
                <a:ea typeface="Arial"/>
                <a:cs typeface="Arial"/>
              </a:defRPr>
            </a:pPr>
            <a:r>
              <a:rPr sz="2025" b="1">
                <a:solidFill>
                  <a:srgbClr val="BB6427"/>
                </a:solidFill>
                <a:latin typeface="Arial"/>
                <a:ea typeface="Arial"/>
                <a:cs typeface="Arial"/>
              </a:rPr>
              <a:t>Would you scale, stop, or keep measuring? What evidence would change your decision?</a:t>
            </a:r>
          </a:p>
        </p:txBody>
      </p:sp>
      <p:sp>
        <p:nvSpPr>
          <p:cNvPr id="8" name="">
            <a:extLst xmlns:a="http://schemas.openxmlformats.org/drawingml/2006/main">
              <a:ext uri="{FF2B5EF4-FFF2-40B4-BE49-F238E27FC236}">
                <a16:creationId xmlns:a16="http://schemas.microsoft.com/office/drawing/2014/main" id="{73C7F91F-D197-480C-89BA-2941ECC2349F}"/>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FCF1E7"/>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6F76899-C22C-4AFB-94E8-09A045ECD8C6}"/>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Cohort payback takes months. Predicted customer LTV cannot replace longer experimental follow-up.</a:t>
            </a:r>
          </a:p>
        </p:txBody>
      </p:sp>
    </p:spTree>
    <p:extLst>
      <p:ext uri="{BB962C8B-B14F-4D97-AF65-F5344CB8AC3E}">
        <p14:creationId xmlns:p14="http://schemas.microsoft.com/office/powerpoint/2010/main" val="4438445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6FACA31C-8688-483E-A379-3A817092343C}"/>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CA6623C-5F27-4688-891E-193B0F4E67DA}"/>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A model turns observed renewal histories into an LTV forecast</a:t>
            </a:r>
          </a:p>
        </p:txBody>
      </p:sp>
      <p:sp>
        <p:nvSpPr>
          <p:cNvPr id="3" name="">
            <a:extLst xmlns:a="http://schemas.openxmlformats.org/drawingml/2006/main">
              <a:ext uri="{FF2B5EF4-FFF2-40B4-BE49-F238E27FC236}">
                <a16:creationId xmlns:a16="http://schemas.microsoft.com/office/drawing/2014/main" id="{C9D73068-1D55-4140-837E-04A8336D5140}"/>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3191B5"/>
                </a:solidFill>
                <a:latin typeface="Arial"/>
                <a:ea typeface="Arial"/>
                <a:cs typeface="Arial"/>
              </a:defRPr>
            </a:defPPr>
            <a:lvl1pPr>
              <a:defRPr sz="900" b="1">
                <a:solidFill>
                  <a:srgbClr val="3191B5"/>
                </a:solidFill>
                <a:latin typeface="Arial"/>
                <a:ea typeface="Arial"/>
                <a:cs typeface="Arial"/>
              </a:defRPr>
            </a:lvl1pPr>
            <a:lvl2pPr>
              <a:defRPr sz="900" b="1">
                <a:solidFill>
                  <a:srgbClr val="3191B5"/>
                </a:solidFill>
                <a:latin typeface="Arial"/>
                <a:ea typeface="Arial"/>
                <a:cs typeface="Arial"/>
              </a:defRPr>
            </a:lvl2pPr>
            <a:lvl3pPr>
              <a:defRPr sz="900" b="1">
                <a:solidFill>
                  <a:srgbClr val="3191B5"/>
                </a:solidFill>
                <a:latin typeface="Arial"/>
                <a:ea typeface="Arial"/>
                <a:cs typeface="Arial"/>
              </a:defRPr>
            </a:lvl3pPr>
            <a:lvl4pPr>
              <a:defRPr sz="900" b="1">
                <a:solidFill>
                  <a:srgbClr val="3191B5"/>
                </a:solidFill>
                <a:latin typeface="Arial"/>
                <a:ea typeface="Arial"/>
                <a:cs typeface="Arial"/>
              </a:defRPr>
            </a:lvl4pPr>
            <a:lvl5pPr>
              <a:defRPr sz="900" b="1">
                <a:solidFill>
                  <a:srgbClr val="3191B5"/>
                </a:solidFill>
                <a:latin typeface="Arial"/>
                <a:ea typeface="Arial"/>
                <a:cs typeface="Arial"/>
              </a:defRPr>
            </a:lvl5pPr>
            <a:lvl6pPr>
              <a:defRPr sz="900" b="1">
                <a:solidFill>
                  <a:srgbClr val="3191B5"/>
                </a:solidFill>
                <a:latin typeface="Arial"/>
                <a:ea typeface="Arial"/>
                <a:cs typeface="Arial"/>
              </a:defRPr>
            </a:lvl6pPr>
            <a:lvl7pPr>
              <a:defRPr sz="900" b="1">
                <a:solidFill>
                  <a:srgbClr val="3191B5"/>
                </a:solidFill>
                <a:latin typeface="Arial"/>
                <a:ea typeface="Arial"/>
                <a:cs typeface="Arial"/>
              </a:defRPr>
            </a:lvl7pPr>
            <a:lvl8pPr>
              <a:defRPr sz="900" b="1">
                <a:solidFill>
                  <a:srgbClr val="3191B5"/>
                </a:solidFill>
                <a:latin typeface="Arial"/>
                <a:ea typeface="Arial"/>
                <a:cs typeface="Arial"/>
              </a:defRPr>
            </a:lvl8pPr>
            <a:lvl9pPr>
              <a:defRPr sz="900" b="1">
                <a:solidFill>
                  <a:srgbClr val="3191B5"/>
                </a:solidFill>
                <a:latin typeface="Arial"/>
                <a:ea typeface="Arial"/>
                <a:cs typeface="Arial"/>
              </a:defRPr>
            </a:lvl9pPr>
          </a:lstStyle>
          <a:p xmlns:a="http://schemas.openxmlformats.org/drawingml/2006/main">
            <a:pPr>
              <a:defRPr sz="900" b="1">
                <a:solidFill>
                  <a:srgbClr val="3191B5"/>
                </a:solidFill>
                <a:latin typeface="Arial"/>
                <a:ea typeface="Arial"/>
                <a:cs typeface="Arial"/>
              </a:defRPr>
            </a:pPr>
            <a:r>
              <a:rPr sz="900" b="1">
                <a:solidFill>
                  <a:srgbClr val="3191B5"/>
                </a:solidFill>
                <a:latin typeface="Arial"/>
                <a:ea typeface="Arial"/>
                <a:cs typeface="Arial"/>
              </a:rPr>
              <a:t>CONCEPT</a:t>
            </a:r>
          </a:p>
        </p:txBody>
      </p:sp>
      <p:sp>
        <p:nvSpPr>
          <p:cNvPr id="4" name="">
            <a:extLst xmlns:a="http://schemas.openxmlformats.org/drawingml/2006/main">
              <a:ext uri="{FF2B5EF4-FFF2-40B4-BE49-F238E27FC236}">
                <a16:creationId xmlns:a16="http://schemas.microsoft.com/office/drawing/2014/main" id="{9EE0572B-0BAC-47B5-A565-D25738108890}"/>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4F871FA3-2B31-47A4-BBA5-08C62D300563}"/>
              </a:ext>
            </a:extLst>
          </p:cNvPr>
          <p:cNvSpPr>
            <a:spLocks xmlns:a="http://schemas.openxmlformats.org/drawingml/2006/main" noGrp="1"/>
          </p:cNvSpPr>
          <p:nvPr/>
        </p:nvSpPr>
        <p:spPr>
          <a:xfrm xmlns:a="http://schemas.openxmlformats.org/drawingml/2006/main">
            <a:off x="609600" y="1685925"/>
            <a:ext cx="3429000" cy="2590800"/>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E9C527E-ADAC-4C3F-8B40-5C21B8E880AF}"/>
              </a:ext>
            </a:extLst>
          </p:cNvPr>
          <p:cNvSpPr>
            <a:spLocks xmlns:a="http://schemas.openxmlformats.org/drawingml/2006/main" noGrp="1"/>
          </p:cNvSpPr>
          <p:nvPr/>
        </p:nvSpPr>
        <p:spPr>
          <a:xfrm xmlns:a="http://schemas.openxmlformats.org/drawingml/2006/main">
            <a:off x="609600" y="1685925"/>
            <a:ext cx="47625" cy="259080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B861253-F942-4758-9656-AFB38E63AAAA}"/>
              </a:ext>
            </a:extLst>
          </p:cNvPr>
          <p:cNvSpPr>
            <a:spLocks xmlns:a="http://schemas.openxmlformats.org/drawingml/2006/main" noGrp="1"/>
          </p:cNvSpPr>
          <p:nvPr/>
        </p:nvSpPr>
        <p:spPr>
          <a:xfrm xmlns:a="http://schemas.openxmlformats.org/drawingml/2006/main">
            <a:off x="800100" y="1828800"/>
            <a:ext cx="304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defRPr sz="1800" b="1">
                <a:solidFill>
                  <a:srgbClr val="3191B5"/>
                </a:solidFill>
                <a:latin typeface="Arial"/>
                <a:ea typeface="Arial"/>
                <a:cs typeface="Arial"/>
              </a:defRPr>
            </a:lvl1pPr>
            <a:lvl2pPr>
              <a:defRPr sz="1800" b="1">
                <a:solidFill>
                  <a:srgbClr val="3191B5"/>
                </a:solidFill>
                <a:latin typeface="Arial"/>
                <a:ea typeface="Arial"/>
                <a:cs typeface="Arial"/>
              </a:defRPr>
            </a:lvl2pPr>
            <a:lvl3pPr>
              <a:defRPr sz="1800" b="1">
                <a:solidFill>
                  <a:srgbClr val="3191B5"/>
                </a:solidFill>
                <a:latin typeface="Arial"/>
                <a:ea typeface="Arial"/>
                <a:cs typeface="Arial"/>
              </a:defRPr>
            </a:lvl3pPr>
            <a:lvl4pPr>
              <a:defRPr sz="1800" b="1">
                <a:solidFill>
                  <a:srgbClr val="3191B5"/>
                </a:solidFill>
                <a:latin typeface="Arial"/>
                <a:ea typeface="Arial"/>
                <a:cs typeface="Arial"/>
              </a:defRPr>
            </a:lvl4pPr>
            <a:lvl5pPr>
              <a:defRPr sz="1800" b="1">
                <a:solidFill>
                  <a:srgbClr val="3191B5"/>
                </a:solidFill>
                <a:latin typeface="Arial"/>
                <a:ea typeface="Arial"/>
                <a:cs typeface="Arial"/>
              </a:defRPr>
            </a:lvl5pPr>
            <a:lvl6pPr>
              <a:defRPr sz="1800" b="1">
                <a:solidFill>
                  <a:srgbClr val="3191B5"/>
                </a:solidFill>
                <a:latin typeface="Arial"/>
                <a:ea typeface="Arial"/>
                <a:cs typeface="Arial"/>
              </a:defRPr>
            </a:lvl6pPr>
            <a:lvl7pPr>
              <a:defRPr sz="1800" b="1">
                <a:solidFill>
                  <a:srgbClr val="3191B5"/>
                </a:solidFill>
                <a:latin typeface="Arial"/>
                <a:ea typeface="Arial"/>
                <a:cs typeface="Arial"/>
              </a:defRPr>
            </a:lvl7pPr>
            <a:lvl8pPr>
              <a:defRPr sz="1800" b="1">
                <a:solidFill>
                  <a:srgbClr val="3191B5"/>
                </a:solidFill>
                <a:latin typeface="Arial"/>
                <a:ea typeface="Arial"/>
                <a:cs typeface="Arial"/>
              </a:defRPr>
            </a:lvl8pPr>
            <a:lvl9pPr>
              <a:defRPr sz="1800" b="1">
                <a:solidFill>
                  <a:srgbClr val="3191B5"/>
                </a:solidFill>
                <a:latin typeface="Arial"/>
                <a:ea typeface="Arial"/>
                <a:cs typeface="Arial"/>
              </a:defRPr>
            </a:lvl9pPr>
          </a:lstStyle>
          <a:p xmlns:a="http://schemas.openxmlformats.org/drawingml/2006/main">
            <a:pPr>
              <a:defRPr sz="1800" b="1">
                <a:solidFill>
                  <a:srgbClr val="3191B5"/>
                </a:solidFill>
                <a:latin typeface="Arial"/>
                <a:ea typeface="Arial"/>
                <a:cs typeface="Arial"/>
              </a:defRPr>
            </a:pPr>
            <a:r>
              <a:rPr sz="1800" b="1">
                <a:solidFill>
                  <a:srgbClr val="3191B5"/>
                </a:solidFill>
                <a:latin typeface="Arial"/>
                <a:ea typeface="Arial"/>
                <a:cs typeface="Arial"/>
              </a:rPr>
              <a:t>Different customer risks</a:t>
            </a:r>
          </a:p>
        </p:txBody>
      </p:sp>
      <p:sp>
        <p:nvSpPr>
          <p:cNvPr id="8" name="">
            <a:extLst xmlns:a="http://schemas.openxmlformats.org/drawingml/2006/main">
              <a:ext uri="{FF2B5EF4-FFF2-40B4-BE49-F238E27FC236}">
                <a16:creationId xmlns:a16="http://schemas.microsoft.com/office/drawing/2014/main" id="{8F78CB94-809D-4EAF-B728-016C9ED277B6}"/>
              </a:ext>
            </a:extLst>
          </p:cNvPr>
          <p:cNvSpPr>
            <a:spLocks xmlns:a="http://schemas.openxmlformats.org/drawingml/2006/main" noGrp="1"/>
          </p:cNvSpPr>
          <p:nvPr/>
        </p:nvSpPr>
        <p:spPr>
          <a:xfrm xmlns:a="http://schemas.openxmlformats.org/drawingml/2006/main">
            <a:off x="800100" y="2257425"/>
            <a:ext cx="3048000" cy="1876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The synthetic business gives each member a persistent baseline churn propensity. A mixture of two distributions creates heterogeneity within segments.</a:t>
            </a:r>
          </a:p>
        </p:txBody>
      </p:sp>
      <p:sp>
        <p:nvSpPr>
          <p:cNvPr id="9" name="">
            <a:extLst xmlns:a="http://schemas.openxmlformats.org/drawingml/2006/main">
              <a:ext uri="{FF2B5EF4-FFF2-40B4-BE49-F238E27FC236}">
                <a16:creationId xmlns:a16="http://schemas.microsoft.com/office/drawing/2014/main" id="{D591A1DB-B3FC-40F5-A16A-B8F8838C7B52}"/>
              </a:ext>
            </a:extLst>
          </p:cNvPr>
          <p:cNvSpPr>
            <a:spLocks xmlns:a="http://schemas.openxmlformats.org/drawingml/2006/main" noGrp="1"/>
          </p:cNvSpPr>
          <p:nvPr/>
        </p:nvSpPr>
        <p:spPr>
          <a:xfrm xmlns:a="http://schemas.openxmlformats.org/drawingml/2006/main">
            <a:off x="4381500" y="1685925"/>
            <a:ext cx="3429000" cy="2590800"/>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3FFD39E-6EAC-4245-8E6E-EFB4F54F087D}"/>
              </a:ext>
            </a:extLst>
          </p:cNvPr>
          <p:cNvSpPr>
            <a:spLocks xmlns:a="http://schemas.openxmlformats.org/drawingml/2006/main" noGrp="1"/>
          </p:cNvSpPr>
          <p:nvPr/>
        </p:nvSpPr>
        <p:spPr>
          <a:xfrm xmlns:a="http://schemas.openxmlformats.org/drawingml/2006/main">
            <a:off x="4381500" y="1685925"/>
            <a:ext cx="47625" cy="259080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F09DB25-70A2-41AD-862F-FB23A2F2F640}"/>
              </a:ext>
            </a:extLst>
          </p:cNvPr>
          <p:cNvSpPr>
            <a:spLocks xmlns:a="http://schemas.openxmlformats.org/drawingml/2006/main" noGrp="1"/>
          </p:cNvSpPr>
          <p:nvPr/>
        </p:nvSpPr>
        <p:spPr>
          <a:xfrm xmlns:a="http://schemas.openxmlformats.org/drawingml/2006/main">
            <a:off x="4572000" y="1828800"/>
            <a:ext cx="304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defRPr sz="1800" b="1">
                <a:solidFill>
                  <a:srgbClr val="3191B5"/>
                </a:solidFill>
                <a:latin typeface="Arial"/>
                <a:ea typeface="Arial"/>
                <a:cs typeface="Arial"/>
              </a:defRPr>
            </a:lvl1pPr>
            <a:lvl2pPr>
              <a:defRPr sz="1800" b="1">
                <a:solidFill>
                  <a:srgbClr val="3191B5"/>
                </a:solidFill>
                <a:latin typeface="Arial"/>
                <a:ea typeface="Arial"/>
                <a:cs typeface="Arial"/>
              </a:defRPr>
            </a:lvl2pPr>
            <a:lvl3pPr>
              <a:defRPr sz="1800" b="1">
                <a:solidFill>
                  <a:srgbClr val="3191B5"/>
                </a:solidFill>
                <a:latin typeface="Arial"/>
                <a:ea typeface="Arial"/>
                <a:cs typeface="Arial"/>
              </a:defRPr>
            </a:lvl3pPr>
            <a:lvl4pPr>
              <a:defRPr sz="1800" b="1">
                <a:solidFill>
                  <a:srgbClr val="3191B5"/>
                </a:solidFill>
                <a:latin typeface="Arial"/>
                <a:ea typeface="Arial"/>
                <a:cs typeface="Arial"/>
              </a:defRPr>
            </a:lvl4pPr>
            <a:lvl5pPr>
              <a:defRPr sz="1800" b="1">
                <a:solidFill>
                  <a:srgbClr val="3191B5"/>
                </a:solidFill>
                <a:latin typeface="Arial"/>
                <a:ea typeface="Arial"/>
                <a:cs typeface="Arial"/>
              </a:defRPr>
            </a:lvl5pPr>
            <a:lvl6pPr>
              <a:defRPr sz="1800" b="1">
                <a:solidFill>
                  <a:srgbClr val="3191B5"/>
                </a:solidFill>
                <a:latin typeface="Arial"/>
                <a:ea typeface="Arial"/>
                <a:cs typeface="Arial"/>
              </a:defRPr>
            </a:lvl6pPr>
            <a:lvl7pPr>
              <a:defRPr sz="1800" b="1">
                <a:solidFill>
                  <a:srgbClr val="3191B5"/>
                </a:solidFill>
                <a:latin typeface="Arial"/>
                <a:ea typeface="Arial"/>
                <a:cs typeface="Arial"/>
              </a:defRPr>
            </a:lvl7pPr>
            <a:lvl8pPr>
              <a:defRPr sz="1800" b="1">
                <a:solidFill>
                  <a:srgbClr val="3191B5"/>
                </a:solidFill>
                <a:latin typeface="Arial"/>
                <a:ea typeface="Arial"/>
                <a:cs typeface="Arial"/>
              </a:defRPr>
            </a:lvl8pPr>
            <a:lvl9pPr>
              <a:defRPr sz="1800" b="1">
                <a:solidFill>
                  <a:srgbClr val="3191B5"/>
                </a:solidFill>
                <a:latin typeface="Arial"/>
                <a:ea typeface="Arial"/>
                <a:cs typeface="Arial"/>
              </a:defRPr>
            </a:lvl9pPr>
          </a:lstStyle>
          <a:p xmlns:a="http://schemas.openxmlformats.org/drawingml/2006/main">
            <a:pPr>
              <a:defRPr sz="1800" b="1">
                <a:solidFill>
                  <a:srgbClr val="3191B5"/>
                </a:solidFill>
                <a:latin typeface="Arial"/>
                <a:ea typeface="Arial"/>
                <a:cs typeface="Arial"/>
              </a:defRPr>
            </a:pPr>
            <a:r>
              <a:rPr sz="1800" b="1">
                <a:solidFill>
                  <a:srgbClr val="3191B5"/>
                </a:solidFill>
                <a:latin typeface="Arial"/>
                <a:ea typeface="Arial"/>
                <a:cs typeface="Arial"/>
              </a:rPr>
              <a:t>A simpler fitted model</a:t>
            </a:r>
          </a:p>
        </p:txBody>
      </p:sp>
      <p:sp>
        <p:nvSpPr>
          <p:cNvPr id="12" name="">
            <a:extLst xmlns:a="http://schemas.openxmlformats.org/drawingml/2006/main">
              <a:ext uri="{FF2B5EF4-FFF2-40B4-BE49-F238E27FC236}">
                <a16:creationId xmlns:a16="http://schemas.microsoft.com/office/drawing/2014/main" id="{6C8DD597-3306-46AA-8524-C48C056FA889}"/>
              </a:ext>
            </a:extLst>
          </p:cNvPr>
          <p:cNvSpPr>
            <a:spLocks xmlns:a="http://schemas.openxmlformats.org/drawingml/2006/main" noGrp="1"/>
          </p:cNvSpPr>
          <p:nvPr/>
        </p:nvSpPr>
        <p:spPr>
          <a:xfrm xmlns:a="http://schemas.openxmlformats.org/drawingml/2006/main">
            <a:off x="4572000" y="2257425"/>
            <a:ext cx="3048000" cy="1876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The main shifted Beta-Geometric model estimates one Beta distribution per cell, with partial pooling across cohorts. It learns from renewals and exits.</a:t>
            </a:r>
          </a:p>
        </p:txBody>
      </p:sp>
      <p:sp>
        <p:nvSpPr>
          <p:cNvPr id="13" name="">
            <a:extLst xmlns:a="http://schemas.openxmlformats.org/drawingml/2006/main">
              <a:ext uri="{FF2B5EF4-FFF2-40B4-BE49-F238E27FC236}">
                <a16:creationId xmlns:a16="http://schemas.microsoft.com/office/drawing/2014/main" id="{0DBB21A8-5898-4AFB-BD2D-BEA443AF0BD4}"/>
              </a:ext>
            </a:extLst>
          </p:cNvPr>
          <p:cNvSpPr>
            <a:spLocks xmlns:a="http://schemas.openxmlformats.org/drawingml/2006/main" noGrp="1"/>
          </p:cNvSpPr>
          <p:nvPr/>
        </p:nvSpPr>
        <p:spPr>
          <a:xfrm xmlns:a="http://schemas.openxmlformats.org/drawingml/2006/main">
            <a:off x="8153400" y="1685925"/>
            <a:ext cx="3429000" cy="2590800"/>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3B5520E-FA24-4303-A005-2B3EF177E142}"/>
              </a:ext>
            </a:extLst>
          </p:cNvPr>
          <p:cNvSpPr>
            <a:spLocks xmlns:a="http://schemas.openxmlformats.org/drawingml/2006/main" noGrp="1"/>
          </p:cNvSpPr>
          <p:nvPr/>
        </p:nvSpPr>
        <p:spPr>
          <a:xfrm xmlns:a="http://schemas.openxmlformats.org/drawingml/2006/main">
            <a:off x="8153400" y="1685925"/>
            <a:ext cx="47625" cy="2590800"/>
          </a:xfrm>
          <a:prstGeom xmlns:a="http://schemas.openxmlformats.org/drawingml/2006/main" prst="rect">
            <a:avLst/>
          </a:prstGeom>
          <a:solidFill xmlns:a="http://schemas.openxmlformats.org/drawingml/2006/main">
            <a:srgbClr val="3191B5"/>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BD43C1B-22DF-4F2E-BDB6-6B3D1E01CFC9}"/>
              </a:ext>
            </a:extLst>
          </p:cNvPr>
          <p:cNvSpPr>
            <a:spLocks xmlns:a="http://schemas.openxmlformats.org/drawingml/2006/main" noGrp="1"/>
          </p:cNvSpPr>
          <p:nvPr/>
        </p:nvSpPr>
        <p:spPr>
          <a:xfrm xmlns:a="http://schemas.openxmlformats.org/drawingml/2006/main">
            <a:off x="8343900" y="1828800"/>
            <a:ext cx="304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3191B5"/>
                </a:solidFill>
                <a:latin typeface="Arial"/>
                <a:ea typeface="Arial"/>
                <a:cs typeface="Arial"/>
              </a:defRPr>
            </a:defPPr>
            <a:lvl1pPr>
              <a:defRPr sz="1800" b="1">
                <a:solidFill>
                  <a:srgbClr val="3191B5"/>
                </a:solidFill>
                <a:latin typeface="Arial"/>
                <a:ea typeface="Arial"/>
                <a:cs typeface="Arial"/>
              </a:defRPr>
            </a:lvl1pPr>
            <a:lvl2pPr>
              <a:defRPr sz="1800" b="1">
                <a:solidFill>
                  <a:srgbClr val="3191B5"/>
                </a:solidFill>
                <a:latin typeface="Arial"/>
                <a:ea typeface="Arial"/>
                <a:cs typeface="Arial"/>
              </a:defRPr>
            </a:lvl2pPr>
            <a:lvl3pPr>
              <a:defRPr sz="1800" b="1">
                <a:solidFill>
                  <a:srgbClr val="3191B5"/>
                </a:solidFill>
                <a:latin typeface="Arial"/>
                <a:ea typeface="Arial"/>
                <a:cs typeface="Arial"/>
              </a:defRPr>
            </a:lvl3pPr>
            <a:lvl4pPr>
              <a:defRPr sz="1800" b="1">
                <a:solidFill>
                  <a:srgbClr val="3191B5"/>
                </a:solidFill>
                <a:latin typeface="Arial"/>
                <a:ea typeface="Arial"/>
                <a:cs typeface="Arial"/>
              </a:defRPr>
            </a:lvl4pPr>
            <a:lvl5pPr>
              <a:defRPr sz="1800" b="1">
                <a:solidFill>
                  <a:srgbClr val="3191B5"/>
                </a:solidFill>
                <a:latin typeface="Arial"/>
                <a:ea typeface="Arial"/>
                <a:cs typeface="Arial"/>
              </a:defRPr>
            </a:lvl5pPr>
            <a:lvl6pPr>
              <a:defRPr sz="1800" b="1">
                <a:solidFill>
                  <a:srgbClr val="3191B5"/>
                </a:solidFill>
                <a:latin typeface="Arial"/>
                <a:ea typeface="Arial"/>
                <a:cs typeface="Arial"/>
              </a:defRPr>
            </a:lvl6pPr>
            <a:lvl7pPr>
              <a:defRPr sz="1800" b="1">
                <a:solidFill>
                  <a:srgbClr val="3191B5"/>
                </a:solidFill>
                <a:latin typeface="Arial"/>
                <a:ea typeface="Arial"/>
                <a:cs typeface="Arial"/>
              </a:defRPr>
            </a:lvl7pPr>
            <a:lvl8pPr>
              <a:defRPr sz="1800" b="1">
                <a:solidFill>
                  <a:srgbClr val="3191B5"/>
                </a:solidFill>
                <a:latin typeface="Arial"/>
                <a:ea typeface="Arial"/>
                <a:cs typeface="Arial"/>
              </a:defRPr>
            </a:lvl8pPr>
            <a:lvl9pPr>
              <a:defRPr sz="1800" b="1">
                <a:solidFill>
                  <a:srgbClr val="3191B5"/>
                </a:solidFill>
                <a:latin typeface="Arial"/>
                <a:ea typeface="Arial"/>
                <a:cs typeface="Arial"/>
              </a:defRPr>
            </a:lvl9pPr>
          </a:lstStyle>
          <a:p xmlns:a="http://schemas.openxmlformats.org/drawingml/2006/main">
            <a:pPr>
              <a:defRPr sz="1800" b="1">
                <a:solidFill>
                  <a:srgbClr val="3191B5"/>
                </a:solidFill>
                <a:latin typeface="Arial"/>
                <a:ea typeface="Arial"/>
                <a:cs typeface="Arial"/>
              </a:defRPr>
            </a:pPr>
            <a:r>
              <a:rPr sz="1800" b="1">
                <a:solidFill>
                  <a:srgbClr val="3191B5"/>
                </a:solidFill>
                <a:latin typeface="Arial"/>
                <a:ea typeface="Arial"/>
                <a:cs typeface="Arial"/>
              </a:rPr>
              <a:t>Revenue and value</a:t>
            </a:r>
          </a:p>
        </p:txBody>
      </p:sp>
      <p:sp>
        <p:nvSpPr>
          <p:cNvPr id="16" name="">
            <a:extLst xmlns:a="http://schemas.openxmlformats.org/drawingml/2006/main">
              <a:ext uri="{FF2B5EF4-FFF2-40B4-BE49-F238E27FC236}">
                <a16:creationId xmlns:a16="http://schemas.microsoft.com/office/drawing/2014/main" id="{C115171D-3B04-4B6F-9E0A-247132472C2F}"/>
              </a:ext>
            </a:extLst>
          </p:cNvPr>
          <p:cNvSpPr>
            <a:spLocks xmlns:a="http://schemas.openxmlformats.org/drawingml/2006/main" noGrp="1"/>
          </p:cNvSpPr>
          <p:nvPr/>
        </p:nvSpPr>
        <p:spPr>
          <a:xfrm xmlns:a="http://schemas.openxmlformats.org/drawingml/2006/main">
            <a:off x="8343900" y="2257425"/>
            <a:ext cx="3048000" cy="1876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00" b="0">
                <a:solidFill>
                  <a:srgbClr val="172D3C"/>
                </a:solidFill>
                <a:latin typeface="Arial"/>
                <a:ea typeface="Arial"/>
                <a:cs typeface="Arial"/>
              </a:defRPr>
            </a:defPPr>
            <a:lvl1pPr>
              <a:defRPr sz="1500" b="0">
                <a:solidFill>
                  <a:srgbClr val="172D3C"/>
                </a:solidFill>
                <a:latin typeface="Arial"/>
                <a:ea typeface="Arial"/>
                <a:cs typeface="Arial"/>
              </a:defRPr>
            </a:lvl1pPr>
            <a:lvl2pPr>
              <a:defRPr sz="1500" b="0">
                <a:solidFill>
                  <a:srgbClr val="172D3C"/>
                </a:solidFill>
                <a:latin typeface="Arial"/>
                <a:ea typeface="Arial"/>
                <a:cs typeface="Arial"/>
              </a:defRPr>
            </a:lvl2pPr>
            <a:lvl3pPr>
              <a:defRPr sz="1500" b="0">
                <a:solidFill>
                  <a:srgbClr val="172D3C"/>
                </a:solidFill>
                <a:latin typeface="Arial"/>
                <a:ea typeface="Arial"/>
                <a:cs typeface="Arial"/>
              </a:defRPr>
            </a:lvl3pPr>
            <a:lvl4pPr>
              <a:defRPr sz="1500" b="0">
                <a:solidFill>
                  <a:srgbClr val="172D3C"/>
                </a:solidFill>
                <a:latin typeface="Arial"/>
                <a:ea typeface="Arial"/>
                <a:cs typeface="Arial"/>
              </a:defRPr>
            </a:lvl4pPr>
            <a:lvl5pPr>
              <a:defRPr sz="1500" b="0">
                <a:solidFill>
                  <a:srgbClr val="172D3C"/>
                </a:solidFill>
                <a:latin typeface="Arial"/>
                <a:ea typeface="Arial"/>
                <a:cs typeface="Arial"/>
              </a:defRPr>
            </a:lvl5pPr>
            <a:lvl6pPr>
              <a:defRPr sz="1500" b="0">
                <a:solidFill>
                  <a:srgbClr val="172D3C"/>
                </a:solidFill>
                <a:latin typeface="Arial"/>
                <a:ea typeface="Arial"/>
                <a:cs typeface="Arial"/>
              </a:defRPr>
            </a:lvl6pPr>
            <a:lvl7pPr>
              <a:defRPr sz="1500" b="0">
                <a:solidFill>
                  <a:srgbClr val="172D3C"/>
                </a:solidFill>
                <a:latin typeface="Arial"/>
                <a:ea typeface="Arial"/>
                <a:cs typeface="Arial"/>
              </a:defRPr>
            </a:lvl7pPr>
            <a:lvl8pPr>
              <a:defRPr sz="1500" b="0">
                <a:solidFill>
                  <a:srgbClr val="172D3C"/>
                </a:solidFill>
                <a:latin typeface="Arial"/>
                <a:ea typeface="Arial"/>
                <a:cs typeface="Arial"/>
              </a:defRPr>
            </a:lvl8pPr>
            <a:lvl9pPr>
              <a:defRPr sz="1500" b="0">
                <a:solidFill>
                  <a:srgbClr val="172D3C"/>
                </a:solidFill>
                <a:latin typeface="Arial"/>
                <a:ea typeface="Arial"/>
                <a:cs typeface="Arial"/>
              </a:defRPr>
            </a:lvl9pPr>
          </a:lstStyle>
          <a:p xmlns:a="http://schemas.openxmlformats.org/drawingml/2006/main">
            <a:pPr>
              <a:defRPr sz="1500" b="0">
                <a:solidFill>
                  <a:srgbClr val="172D3C"/>
                </a:solidFill>
                <a:latin typeface="Arial"/>
                <a:ea typeface="Arial"/>
                <a:cs typeface="Arial"/>
              </a:defRPr>
            </a:pPr>
            <a:r>
              <a:rPr sz="1500" b="0">
                <a:solidFill>
                  <a:srgbClr val="172D3C"/>
                </a:solidFill>
                <a:latin typeface="Arial"/>
                <a:ea typeface="Arial"/>
                <a:cs typeface="Arial"/>
              </a:rPr>
              <a:t>A Gamma revenue model forecasts spending. Combine retention, contribution and observed months over a common 12-month horizon; subtract CAC for net LTV.</a:t>
            </a:r>
          </a:p>
        </p:txBody>
      </p:sp>
      <p:sp>
        <p:nvSpPr>
          <p:cNvPr id="17" name="">
            <a:extLst xmlns:a="http://schemas.openxmlformats.org/drawingml/2006/main">
              <a:ext uri="{FF2B5EF4-FFF2-40B4-BE49-F238E27FC236}">
                <a16:creationId xmlns:a16="http://schemas.microsoft.com/office/drawing/2014/main" id="{55FE941C-C406-48FF-8A8C-6C9D798D9CB5}"/>
              </a:ext>
            </a:extLst>
          </p:cNvPr>
          <p:cNvSpPr>
            <a:spLocks xmlns:a="http://schemas.openxmlformats.org/drawingml/2006/main" noGrp="1"/>
          </p:cNvSpPr>
          <p:nvPr/>
        </p:nvSpPr>
        <p:spPr>
          <a:xfrm xmlns:a="http://schemas.openxmlformats.org/drawingml/2006/main">
            <a:off x="609600" y="443865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800" b="1">
                <a:solidFill>
                  <a:srgbClr val="172D3C"/>
                </a:solidFill>
                <a:latin typeface="Arial"/>
                <a:ea typeface="Arial"/>
                <a:cs typeface="Arial"/>
              </a:defRPr>
            </a:defPPr>
            <a:lvl1pPr>
              <a:defRPr sz="1800" b="1">
                <a:solidFill>
                  <a:srgbClr val="172D3C"/>
                </a:solidFill>
                <a:latin typeface="Arial"/>
                <a:ea typeface="Arial"/>
                <a:cs typeface="Arial"/>
              </a:defRPr>
            </a:lvl1pPr>
            <a:lvl2pPr>
              <a:defRPr sz="1800" b="1">
                <a:solidFill>
                  <a:srgbClr val="172D3C"/>
                </a:solidFill>
                <a:latin typeface="Arial"/>
                <a:ea typeface="Arial"/>
                <a:cs typeface="Arial"/>
              </a:defRPr>
            </a:lvl2pPr>
            <a:lvl3pPr>
              <a:defRPr sz="1800" b="1">
                <a:solidFill>
                  <a:srgbClr val="172D3C"/>
                </a:solidFill>
                <a:latin typeface="Arial"/>
                <a:ea typeface="Arial"/>
                <a:cs typeface="Arial"/>
              </a:defRPr>
            </a:lvl3pPr>
            <a:lvl4pPr>
              <a:defRPr sz="1800" b="1">
                <a:solidFill>
                  <a:srgbClr val="172D3C"/>
                </a:solidFill>
                <a:latin typeface="Arial"/>
                <a:ea typeface="Arial"/>
                <a:cs typeface="Arial"/>
              </a:defRPr>
            </a:lvl4pPr>
            <a:lvl5pPr>
              <a:defRPr sz="1800" b="1">
                <a:solidFill>
                  <a:srgbClr val="172D3C"/>
                </a:solidFill>
                <a:latin typeface="Arial"/>
                <a:ea typeface="Arial"/>
                <a:cs typeface="Arial"/>
              </a:defRPr>
            </a:lvl5pPr>
            <a:lvl6pPr>
              <a:defRPr sz="1800" b="1">
                <a:solidFill>
                  <a:srgbClr val="172D3C"/>
                </a:solidFill>
                <a:latin typeface="Arial"/>
                <a:ea typeface="Arial"/>
                <a:cs typeface="Arial"/>
              </a:defRPr>
            </a:lvl6pPr>
            <a:lvl7pPr>
              <a:defRPr sz="1800" b="1">
                <a:solidFill>
                  <a:srgbClr val="172D3C"/>
                </a:solidFill>
                <a:latin typeface="Arial"/>
                <a:ea typeface="Arial"/>
                <a:cs typeface="Arial"/>
              </a:defRPr>
            </a:lvl7pPr>
            <a:lvl8pPr>
              <a:defRPr sz="1800" b="1">
                <a:solidFill>
                  <a:srgbClr val="172D3C"/>
                </a:solidFill>
                <a:latin typeface="Arial"/>
                <a:ea typeface="Arial"/>
                <a:cs typeface="Arial"/>
              </a:defRPr>
            </a:lvl8pPr>
            <a:lvl9pPr>
              <a:defRPr sz="1800" b="1">
                <a:solidFill>
                  <a:srgbClr val="172D3C"/>
                </a:solidFill>
                <a:latin typeface="Arial"/>
                <a:ea typeface="Arial"/>
                <a:cs typeface="Arial"/>
              </a:defRPr>
            </a:lvl9pPr>
          </a:lstStyle>
          <a:p xmlns:a="http://schemas.openxmlformats.org/drawingml/2006/main">
            <a:pPr>
              <a:defRPr sz="1800" b="1">
                <a:solidFill>
                  <a:srgbClr val="172D3C"/>
                </a:solidFill>
                <a:latin typeface="Arial"/>
                <a:ea typeface="Arial"/>
                <a:cs typeface="Arial"/>
              </a:defRPr>
            </a:pPr>
            <a:r>
              <a:rPr sz="1800" b="1">
                <a:solidFill>
                  <a:srgbClr val="172D3C"/>
                </a:solidFill>
                <a:latin typeface="Arial"/>
                <a:ea typeface="Arial"/>
                <a:cs typeface="Arial"/>
              </a:rPr>
              <a:t>Separate benchmark: an Orduz-style Bayesian neural network. Compare both models with held-out outcomes and a simple baseline.</a:t>
            </a:r>
          </a:p>
        </p:txBody>
      </p:sp>
      <p:sp>
        <p:nvSpPr>
          <p:cNvPr id="18" name="">
            <a:extLst xmlns:a="http://schemas.openxmlformats.org/drawingml/2006/main">
              <a:ext uri="{FF2B5EF4-FFF2-40B4-BE49-F238E27FC236}">
                <a16:creationId xmlns:a16="http://schemas.microsoft.com/office/drawing/2014/main" id="{5B6042E9-B1CB-4963-AE02-F3EF18FB9C2C}"/>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EDF5FA"/>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81B64DE-3CE9-4E78-BA56-501B871B9042}"/>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Describe the model before its results. Generation and inference differ; forecast performance must be tested.</a:t>
            </a:r>
          </a:p>
        </p:txBody>
      </p:sp>
    </p:spTree>
    <p:extLst>
      <p:ext uri="{BB962C8B-B14F-4D97-AF65-F5344CB8AC3E}">
        <p14:creationId xmlns:p14="http://schemas.microsoft.com/office/powerpoint/2010/main" val="122096592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19776C8-2EF9-47E8-B4D2-9B09FE9D2F1A}"/>
              </a:ext>
            </a:extLst>
          </p:cNvPr>
          <p:cNvSpPr>
            <a:spLocks xmlns:a="http://schemas.openxmlformats.org/drawingml/2006/main" noGrp="1"/>
          </p:cNvSpPr>
          <p:nvPr/>
        </p:nvSpPr>
        <p:spPr>
          <a:xfrm xmlns:a="http://schemas.openxmlformats.org/drawingml/2006/main">
            <a:off x="609600" y="352425"/>
            <a:ext cx="10972800" cy="19050"/>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79AD6DB-102B-4A95-B446-9C43908F6F56}"/>
              </a:ext>
            </a:extLst>
          </p:cNvPr>
          <p:cNvSpPr>
            <a:spLocks xmlns:a="http://schemas.openxmlformats.org/drawingml/2006/main" noGrp="1"/>
          </p:cNvSpPr>
          <p:nvPr/>
        </p:nvSpPr>
        <p:spPr>
          <a:xfrm xmlns:a="http://schemas.openxmlformats.org/drawingml/2006/main">
            <a:off x="609600" y="581025"/>
            <a:ext cx="1097280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700" b="1">
                <a:solidFill>
                  <a:srgbClr val="172D3C"/>
                </a:solidFill>
                <a:latin typeface="Arial"/>
                <a:ea typeface="Arial"/>
                <a:cs typeface="Arial"/>
              </a:defRPr>
            </a:defPPr>
            <a:lvl1pPr>
              <a:defRPr sz="2700" b="1">
                <a:solidFill>
                  <a:srgbClr val="172D3C"/>
                </a:solidFill>
                <a:latin typeface="Arial"/>
                <a:ea typeface="Arial"/>
                <a:cs typeface="Arial"/>
              </a:defRPr>
            </a:lvl1pPr>
            <a:lvl2pPr>
              <a:defRPr sz="2700" b="1">
                <a:solidFill>
                  <a:srgbClr val="172D3C"/>
                </a:solidFill>
                <a:latin typeface="Arial"/>
                <a:ea typeface="Arial"/>
                <a:cs typeface="Arial"/>
              </a:defRPr>
            </a:lvl2pPr>
            <a:lvl3pPr>
              <a:defRPr sz="2700" b="1">
                <a:solidFill>
                  <a:srgbClr val="172D3C"/>
                </a:solidFill>
                <a:latin typeface="Arial"/>
                <a:ea typeface="Arial"/>
                <a:cs typeface="Arial"/>
              </a:defRPr>
            </a:lvl3pPr>
            <a:lvl4pPr>
              <a:defRPr sz="2700" b="1">
                <a:solidFill>
                  <a:srgbClr val="172D3C"/>
                </a:solidFill>
                <a:latin typeface="Arial"/>
                <a:ea typeface="Arial"/>
                <a:cs typeface="Arial"/>
              </a:defRPr>
            </a:lvl4pPr>
            <a:lvl5pPr>
              <a:defRPr sz="2700" b="1">
                <a:solidFill>
                  <a:srgbClr val="172D3C"/>
                </a:solidFill>
                <a:latin typeface="Arial"/>
                <a:ea typeface="Arial"/>
                <a:cs typeface="Arial"/>
              </a:defRPr>
            </a:lvl5pPr>
            <a:lvl6pPr>
              <a:defRPr sz="2700" b="1">
                <a:solidFill>
                  <a:srgbClr val="172D3C"/>
                </a:solidFill>
                <a:latin typeface="Arial"/>
                <a:ea typeface="Arial"/>
                <a:cs typeface="Arial"/>
              </a:defRPr>
            </a:lvl6pPr>
            <a:lvl7pPr>
              <a:defRPr sz="2700" b="1">
                <a:solidFill>
                  <a:srgbClr val="172D3C"/>
                </a:solidFill>
                <a:latin typeface="Arial"/>
                <a:ea typeface="Arial"/>
                <a:cs typeface="Arial"/>
              </a:defRPr>
            </a:lvl7pPr>
            <a:lvl8pPr>
              <a:defRPr sz="2700" b="1">
                <a:solidFill>
                  <a:srgbClr val="172D3C"/>
                </a:solidFill>
                <a:latin typeface="Arial"/>
                <a:ea typeface="Arial"/>
                <a:cs typeface="Arial"/>
              </a:defRPr>
            </a:lvl8pPr>
            <a:lvl9pPr>
              <a:defRPr sz="2700" b="1">
                <a:solidFill>
                  <a:srgbClr val="172D3C"/>
                </a:solidFill>
                <a:latin typeface="Arial"/>
                <a:ea typeface="Arial"/>
                <a:cs typeface="Arial"/>
              </a:defRPr>
            </a:lvl9pPr>
          </a:lstStyle>
          <a:p xmlns:a="http://schemas.openxmlformats.org/drawingml/2006/main">
            <a:pPr>
              <a:defRPr sz="2700" b="1">
                <a:solidFill>
                  <a:srgbClr val="172D3C"/>
                </a:solidFill>
                <a:latin typeface="Arial"/>
                <a:ea typeface="Arial"/>
                <a:cs typeface="Arial"/>
              </a:defRPr>
            </a:pPr>
            <a:r>
              <a:rPr sz="2700" b="1">
                <a:solidFill>
                  <a:srgbClr val="172D3C"/>
                </a:solidFill>
                <a:latin typeface="Arial"/>
                <a:ea typeface="Arial"/>
                <a:cs typeface="Arial"/>
              </a:rPr>
              <a:t>Hand your team a decision and a reproducible report</a:t>
            </a:r>
          </a:p>
        </p:txBody>
      </p:sp>
      <p:sp>
        <p:nvSpPr>
          <p:cNvPr id="3" name="">
            <a:extLst xmlns:a="http://schemas.openxmlformats.org/drawingml/2006/main">
              <a:ext uri="{FF2B5EF4-FFF2-40B4-BE49-F238E27FC236}">
                <a16:creationId xmlns:a16="http://schemas.microsoft.com/office/drawing/2014/main" id="{52DB604E-0B9C-4D77-8281-BC444C0AC11B}"/>
              </a:ext>
            </a:extLst>
          </p:cNvPr>
          <p:cNvSpPr>
            <a:spLocks xmlns:a="http://schemas.openxmlformats.org/drawingml/2006/main" noGrp="1"/>
          </p:cNvSpPr>
          <p:nvPr/>
        </p:nvSpPr>
        <p:spPr>
          <a:xfrm xmlns:a="http://schemas.openxmlformats.org/drawingml/2006/main">
            <a:off x="609600" y="6238875"/>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1">
                <a:solidFill>
                  <a:srgbClr val="087F8C"/>
                </a:solidFill>
                <a:latin typeface="Arial"/>
                <a:ea typeface="Arial"/>
                <a:cs typeface="Arial"/>
              </a:defRPr>
            </a:defPPr>
            <a:lvl1pPr>
              <a:defRPr sz="900" b="1">
                <a:solidFill>
                  <a:srgbClr val="087F8C"/>
                </a:solidFill>
                <a:latin typeface="Arial"/>
                <a:ea typeface="Arial"/>
                <a:cs typeface="Arial"/>
              </a:defRPr>
            </a:lvl1pPr>
            <a:lvl2pPr>
              <a:defRPr sz="900" b="1">
                <a:solidFill>
                  <a:srgbClr val="087F8C"/>
                </a:solidFill>
                <a:latin typeface="Arial"/>
                <a:ea typeface="Arial"/>
                <a:cs typeface="Arial"/>
              </a:defRPr>
            </a:lvl2pPr>
            <a:lvl3pPr>
              <a:defRPr sz="900" b="1">
                <a:solidFill>
                  <a:srgbClr val="087F8C"/>
                </a:solidFill>
                <a:latin typeface="Arial"/>
                <a:ea typeface="Arial"/>
                <a:cs typeface="Arial"/>
              </a:defRPr>
            </a:lvl3pPr>
            <a:lvl4pPr>
              <a:defRPr sz="900" b="1">
                <a:solidFill>
                  <a:srgbClr val="087F8C"/>
                </a:solidFill>
                <a:latin typeface="Arial"/>
                <a:ea typeface="Arial"/>
                <a:cs typeface="Arial"/>
              </a:defRPr>
            </a:lvl4pPr>
            <a:lvl5pPr>
              <a:defRPr sz="900" b="1">
                <a:solidFill>
                  <a:srgbClr val="087F8C"/>
                </a:solidFill>
                <a:latin typeface="Arial"/>
                <a:ea typeface="Arial"/>
                <a:cs typeface="Arial"/>
              </a:defRPr>
            </a:lvl5pPr>
            <a:lvl6pPr>
              <a:defRPr sz="900" b="1">
                <a:solidFill>
                  <a:srgbClr val="087F8C"/>
                </a:solidFill>
                <a:latin typeface="Arial"/>
                <a:ea typeface="Arial"/>
                <a:cs typeface="Arial"/>
              </a:defRPr>
            </a:lvl6pPr>
            <a:lvl7pPr>
              <a:defRPr sz="900" b="1">
                <a:solidFill>
                  <a:srgbClr val="087F8C"/>
                </a:solidFill>
                <a:latin typeface="Arial"/>
                <a:ea typeface="Arial"/>
                <a:cs typeface="Arial"/>
              </a:defRPr>
            </a:lvl7pPr>
            <a:lvl8pPr>
              <a:defRPr sz="900" b="1">
                <a:solidFill>
                  <a:srgbClr val="087F8C"/>
                </a:solidFill>
                <a:latin typeface="Arial"/>
                <a:ea typeface="Arial"/>
                <a:cs typeface="Arial"/>
              </a:defRPr>
            </a:lvl8pPr>
            <a:lvl9pPr>
              <a:defRPr sz="900" b="1">
                <a:solidFill>
                  <a:srgbClr val="087F8C"/>
                </a:solidFill>
                <a:latin typeface="Arial"/>
                <a:ea typeface="Arial"/>
                <a:cs typeface="Arial"/>
              </a:defRPr>
            </a:lvl9pPr>
          </a:lstStyle>
          <a:p xmlns:a="http://schemas.openxmlformats.org/drawingml/2006/main">
            <a:pPr>
              <a:defRPr sz="900" b="1">
                <a:solidFill>
                  <a:srgbClr val="087F8C"/>
                </a:solidFill>
                <a:latin typeface="Arial"/>
                <a:ea typeface="Arial"/>
                <a:cs typeface="Arial"/>
              </a:defRPr>
            </a:pPr>
            <a:r>
              <a:rPr sz="900" b="1">
                <a:solidFill>
                  <a:srgbClr val="087F8C"/>
                </a:solidFill>
                <a:latin typeface="Arial"/>
                <a:ea typeface="Arial"/>
                <a:cs typeface="Arial"/>
              </a:rPr>
              <a:t>CASE APPLICATION</a:t>
            </a:r>
          </a:p>
        </p:txBody>
      </p:sp>
      <p:sp>
        <p:nvSpPr>
          <p:cNvPr id="4" name="">
            <a:extLst xmlns:a="http://schemas.openxmlformats.org/drawingml/2006/main">
              <a:ext uri="{FF2B5EF4-FFF2-40B4-BE49-F238E27FC236}">
                <a16:creationId xmlns:a16="http://schemas.microsoft.com/office/drawing/2014/main" id="{33EB8221-E8DF-41BA-972D-4BC81D3463AC}"/>
              </a:ext>
            </a:extLst>
          </p:cNvPr>
          <p:cNvSpPr>
            <a:spLocks xmlns:a="http://schemas.openxmlformats.org/drawingml/2006/main" noGrp="1"/>
          </p:cNvSpPr>
          <p:nvPr/>
        </p:nvSpPr>
        <p:spPr>
          <a:xfrm xmlns:a="http://schemas.openxmlformats.org/drawingml/2006/main">
            <a:off x="11068050" y="6238875"/>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900" b="0">
                <a:solidFill>
                  <a:srgbClr val="687780"/>
                </a:solidFill>
                <a:latin typeface="Arial"/>
                <a:ea typeface="Arial"/>
                <a:cs typeface="Arial"/>
              </a:defRPr>
            </a:defPPr>
            <a:lvl1pPr>
              <a:defRPr sz="900" b="0">
                <a:solidFill>
                  <a:srgbClr val="687780"/>
                </a:solidFill>
                <a:latin typeface="Arial"/>
                <a:ea typeface="Arial"/>
                <a:cs typeface="Arial"/>
              </a:defRPr>
            </a:lvl1pPr>
            <a:lvl2pPr>
              <a:defRPr sz="900" b="0">
                <a:solidFill>
                  <a:srgbClr val="687780"/>
                </a:solidFill>
                <a:latin typeface="Arial"/>
                <a:ea typeface="Arial"/>
                <a:cs typeface="Arial"/>
              </a:defRPr>
            </a:lvl2pPr>
            <a:lvl3pPr>
              <a:defRPr sz="900" b="0">
                <a:solidFill>
                  <a:srgbClr val="687780"/>
                </a:solidFill>
                <a:latin typeface="Arial"/>
                <a:ea typeface="Arial"/>
                <a:cs typeface="Arial"/>
              </a:defRPr>
            </a:lvl3pPr>
            <a:lvl4pPr>
              <a:defRPr sz="900" b="0">
                <a:solidFill>
                  <a:srgbClr val="687780"/>
                </a:solidFill>
                <a:latin typeface="Arial"/>
                <a:ea typeface="Arial"/>
                <a:cs typeface="Arial"/>
              </a:defRPr>
            </a:lvl4pPr>
            <a:lvl5pPr>
              <a:defRPr sz="900" b="0">
                <a:solidFill>
                  <a:srgbClr val="687780"/>
                </a:solidFill>
                <a:latin typeface="Arial"/>
                <a:ea typeface="Arial"/>
                <a:cs typeface="Arial"/>
              </a:defRPr>
            </a:lvl5pPr>
            <a:lvl6pPr>
              <a:defRPr sz="900" b="0">
                <a:solidFill>
                  <a:srgbClr val="687780"/>
                </a:solidFill>
                <a:latin typeface="Arial"/>
                <a:ea typeface="Arial"/>
                <a:cs typeface="Arial"/>
              </a:defRPr>
            </a:lvl6pPr>
            <a:lvl7pPr>
              <a:defRPr sz="900" b="0">
                <a:solidFill>
                  <a:srgbClr val="687780"/>
                </a:solidFill>
                <a:latin typeface="Arial"/>
                <a:ea typeface="Arial"/>
                <a:cs typeface="Arial"/>
              </a:defRPr>
            </a:lvl7pPr>
            <a:lvl8pPr>
              <a:defRPr sz="900" b="0">
                <a:solidFill>
                  <a:srgbClr val="687780"/>
                </a:solidFill>
                <a:latin typeface="Arial"/>
                <a:ea typeface="Arial"/>
                <a:cs typeface="Arial"/>
              </a:defRPr>
            </a:lvl8pPr>
            <a:lvl9pPr>
              <a:defRPr sz="900" b="0">
                <a:solidFill>
                  <a:srgbClr val="687780"/>
                </a:solidFill>
                <a:latin typeface="Arial"/>
                <a:ea typeface="Arial"/>
                <a:cs typeface="Arial"/>
              </a:defRPr>
            </a:lvl9pPr>
          </a:lstStyle>
          <a:p xmlns:a="http://schemas.openxmlformats.org/drawingml/2006/main">
            <a:pPr>
              <a:defRPr sz="900" b="0">
                <a:solidFill>
                  <a:srgbClr val="687780"/>
                </a:solidFill>
                <a:latin typeface="Arial"/>
                <a:ea typeface="Arial"/>
                <a:cs typeface="Arial"/>
              </a:defRPr>
            </a:pPr>
            <a:r>
              <a:rPr sz="900" b="0">
                <a:solidFill>
                  <a:srgbClr val="687780"/>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1B26CA6F-8F12-488B-99C9-A87A7437A1AC}"/>
              </a:ext>
            </a:extLst>
          </p:cNvPr>
          <p:cNvSpPr>
            <a:spLocks xmlns:a="http://schemas.openxmlformats.org/drawingml/2006/main" noGrp="1"/>
          </p:cNvSpPr>
          <p:nvPr/>
        </p:nvSpPr>
        <p:spPr>
          <a:xfrm xmlns:a="http://schemas.openxmlformats.org/drawingml/2006/main">
            <a:off x="609600" y="1495425"/>
            <a:ext cx="109728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2325" b="1">
                <a:solidFill>
                  <a:srgbClr val="087F8C"/>
                </a:solidFill>
                <a:latin typeface="Arial"/>
                <a:ea typeface="Arial"/>
                <a:cs typeface="Arial"/>
              </a:defRPr>
            </a:defPPr>
            <a:lvl1pPr>
              <a:defRPr sz="2325" b="1">
                <a:solidFill>
                  <a:srgbClr val="087F8C"/>
                </a:solidFill>
                <a:latin typeface="Arial"/>
                <a:ea typeface="Arial"/>
                <a:cs typeface="Arial"/>
              </a:defRPr>
            </a:lvl1pPr>
            <a:lvl2pPr>
              <a:defRPr sz="2325" b="1">
                <a:solidFill>
                  <a:srgbClr val="087F8C"/>
                </a:solidFill>
                <a:latin typeface="Arial"/>
                <a:ea typeface="Arial"/>
                <a:cs typeface="Arial"/>
              </a:defRPr>
            </a:lvl2pPr>
            <a:lvl3pPr>
              <a:defRPr sz="2325" b="1">
                <a:solidFill>
                  <a:srgbClr val="087F8C"/>
                </a:solidFill>
                <a:latin typeface="Arial"/>
                <a:ea typeface="Arial"/>
                <a:cs typeface="Arial"/>
              </a:defRPr>
            </a:lvl3pPr>
            <a:lvl4pPr>
              <a:defRPr sz="2325" b="1">
                <a:solidFill>
                  <a:srgbClr val="087F8C"/>
                </a:solidFill>
                <a:latin typeface="Arial"/>
                <a:ea typeface="Arial"/>
                <a:cs typeface="Arial"/>
              </a:defRPr>
            </a:lvl4pPr>
            <a:lvl5pPr>
              <a:defRPr sz="2325" b="1">
                <a:solidFill>
                  <a:srgbClr val="087F8C"/>
                </a:solidFill>
                <a:latin typeface="Arial"/>
                <a:ea typeface="Arial"/>
                <a:cs typeface="Arial"/>
              </a:defRPr>
            </a:lvl5pPr>
            <a:lvl6pPr>
              <a:defRPr sz="2325" b="1">
                <a:solidFill>
                  <a:srgbClr val="087F8C"/>
                </a:solidFill>
                <a:latin typeface="Arial"/>
                <a:ea typeface="Arial"/>
                <a:cs typeface="Arial"/>
              </a:defRPr>
            </a:lvl6pPr>
            <a:lvl7pPr>
              <a:defRPr sz="2325" b="1">
                <a:solidFill>
                  <a:srgbClr val="087F8C"/>
                </a:solidFill>
                <a:latin typeface="Arial"/>
                <a:ea typeface="Arial"/>
                <a:cs typeface="Arial"/>
              </a:defRPr>
            </a:lvl7pPr>
            <a:lvl8pPr>
              <a:defRPr sz="2325" b="1">
                <a:solidFill>
                  <a:srgbClr val="087F8C"/>
                </a:solidFill>
                <a:latin typeface="Arial"/>
                <a:ea typeface="Arial"/>
                <a:cs typeface="Arial"/>
              </a:defRPr>
            </a:lvl8pPr>
            <a:lvl9pPr>
              <a:defRPr sz="2325" b="1">
                <a:solidFill>
                  <a:srgbClr val="087F8C"/>
                </a:solidFill>
                <a:latin typeface="Arial"/>
                <a:ea typeface="Arial"/>
                <a:cs typeface="Arial"/>
              </a:defRPr>
            </a:lvl9pPr>
          </a:lstStyle>
          <a:p xmlns:a="http://schemas.openxmlformats.org/drawingml/2006/main">
            <a:pPr>
              <a:defRPr sz="2325" b="1">
                <a:solidFill>
                  <a:srgbClr val="087F8C"/>
                </a:solidFill>
                <a:latin typeface="Arial"/>
                <a:ea typeface="Arial"/>
                <a:cs typeface="Arial"/>
              </a:defRPr>
            </a:pPr>
            <a:r>
              <a:rPr sz="2325" b="1">
                <a:solidFill>
                  <a:srgbClr val="087F8C"/>
                </a:solidFill>
                <a:latin typeface="Arial"/>
                <a:ea typeface="Arial"/>
                <a:cs typeface="Arial"/>
              </a:rPr>
              <a:t>Are successive cohorts becoming more valuable relative to acquisition cost?</a:t>
            </a:r>
          </a:p>
        </p:txBody>
      </p:sp>
      <p:graphicFrame>
        <p:nvGraphicFramePr>
          <p:cNvPr id="6" name="">
            <a:extLst xmlns:a="http://schemas.openxmlformats.org/drawingml/2006/main">
              <a:ext uri="{FF2B5EF4-FFF2-40B4-BE49-F238E27FC236}">
                <a16:creationId xmlns:a16="http://schemas.microsoft.com/office/drawing/2014/main" id="{9F2CF167-E83C-4F45-B377-9708BF58FB53}"/>
              </a:ext>
            </a:extLst>
          </p:cNvPr>
          <p:cNvGraphicFramePr/>
          <p:nvPr/>
        </p:nvGraphicFramePr>
        <p:xfrm>
          <a:off xmlns:a="http://schemas.openxmlformats.org/drawingml/2006/main" x="609600" y="2362200"/>
          <a:ext xmlns:a="http://schemas.openxmlformats.org/drawingml/2006/main" cx="10972800" cy="2514600"/>
        </p:xfrm>
        <a:graphic xmlns:a="http://schemas.openxmlformats.org/drawingml/2006/main">
          <a:graphicData uri="http://schemas.openxmlformats.org/drawingml/2006/table">
            <a:tbl>
              <a:tblPr/>
              <a:tblGrid>
                <a:gridCol w="2952750"/>
                <a:gridCol w="8020050"/>
              </a:tblGrid>
              <a:tr h="502920">
                <a:tc>
                  <a:txBody>
                    <a:bodyPr/>
                    <a:lstStyle/>
                    <a:p>
                      <a:r>
                        <a:rPr sz="1350" b="1">
                          <a:solidFill>
                            <a:srgbClr val="FFFFFF"/>
                          </a:solidFill>
                          <a:latin typeface="Arial"/>
                          <a:ea typeface="Arial"/>
                          <a:cs typeface="Arial"/>
                        </a:rPr>
                        <a:t>Report component</a:t>
                      </a:r>
                    </a:p>
                  </a:txBody>
                  <a:tcPr marL="91440" marR="91440" marT="45720" marB="45720">
                    <a:solidFill>
                      <a:srgbClr val="172D3C"/>
                    </a:solidFill>
                  </a:tcPr>
                </a:tc>
                <a:tc>
                  <a:txBody>
                    <a:bodyPr/>
                    <a:lstStyle/>
                    <a:p>
                      <a:r>
                        <a:rPr sz="1350" b="1">
                          <a:solidFill>
                            <a:srgbClr val="FFFFFF"/>
                          </a:solidFill>
                          <a:latin typeface="Arial"/>
                          <a:ea typeface="Arial"/>
                          <a:cs typeface="Arial"/>
                        </a:rPr>
                        <a:t>What your team should receive</a:t>
                      </a:r>
                    </a:p>
                  </a:txBody>
                  <a:tcPr marL="91440" marR="91440" marT="45720" marB="45720">
                    <a:solidFill>
                      <a:srgbClr val="172D3C"/>
                    </a:solidFill>
                  </a:tcPr>
                </a:tc>
              </a:tr>
              <a:tr h="502920">
                <a:tc>
                  <a:txBody>
                    <a:bodyPr/>
                    <a:lstStyle/>
                    <a:p>
                      <a:r>
                        <a:rPr sz="1425" b="0">
                          <a:solidFill>
                            <a:srgbClr val="172D3C"/>
                          </a:solidFill>
                          <a:latin typeface="Arial"/>
                          <a:ea typeface="Arial"/>
                          <a:cs typeface="Arial"/>
                        </a:rPr>
                        <a:t>Executive summary</a:t>
                      </a:r>
                    </a:p>
                  </a:txBody>
                  <a:tcPr marL="91440" marR="91440" marT="45720" marB="45720">
                    <a:solidFill>
                      <a:srgbClr val="F0F5F6"/>
                    </a:solidFill>
                  </a:tcPr>
                </a:tc>
                <a:tc>
                  <a:txBody>
                    <a:bodyPr/>
                    <a:lstStyle/>
                    <a:p>
                      <a:r>
                        <a:rPr sz="1425" b="0">
                          <a:solidFill>
                            <a:srgbClr val="172D3C"/>
                          </a:solidFill>
                          <a:latin typeface="Arial"/>
                          <a:ea typeface="Arial"/>
                          <a:cs typeface="Arial"/>
                        </a:rPr>
                        <a:t>The business, a supported verdict, a proposed action and what would change it.</a:t>
                      </a:r>
                    </a:p>
                  </a:txBody>
                  <a:tcPr marL="91440" marR="91440" marT="45720" marB="45720">
                    <a:solidFill>
                      <a:srgbClr val="F0F5F6"/>
                    </a:solidFill>
                  </a:tcPr>
                </a:tc>
              </a:tr>
              <a:tr h="502920">
                <a:tc>
                  <a:txBody>
                    <a:bodyPr/>
                    <a:lstStyle/>
                    <a:p>
                      <a:r>
                        <a:rPr sz="1425" b="0">
                          <a:solidFill>
                            <a:srgbClr val="172D3C"/>
                          </a:solidFill>
                          <a:latin typeface="Arial"/>
                          <a:ea typeface="Arial"/>
                          <a:cs typeface="Arial"/>
                        </a:rPr>
                        <a:t>Observed and forecast evidence</a:t>
                      </a:r>
                    </a:p>
                  </a:txBody>
                  <a:tcPr marL="91440" marR="91440" marT="45720" marB="45720">
                    <a:solidFill>
                      <a:srgbClr val="FFFFFF"/>
                    </a:solidFill>
                  </a:tcPr>
                </a:tc>
                <a:tc>
                  <a:txBody>
                    <a:bodyPr/>
                    <a:lstStyle/>
                    <a:p>
                      <a:r>
                        <a:rPr sz="1425" b="0">
                          <a:solidFill>
                            <a:srgbClr val="172D3C"/>
                          </a:solidFill>
                          <a:latin typeface="Arial"/>
                          <a:ea typeface="Arial"/>
                          <a:cs typeface="Arial"/>
                        </a:rPr>
                        <a:t>Same-age retention, revenue, contribution, CAC and cash payback.</a:t>
                      </a:r>
                    </a:p>
                  </a:txBody>
                  <a:tcPr marL="91440" marR="91440" marT="45720" marB="45720">
                    <a:solidFill>
                      <a:srgbClr val="FFFFFF"/>
                    </a:solidFill>
                  </a:tcPr>
                </a:tc>
              </a:tr>
              <a:tr h="502920">
                <a:tc>
                  <a:txBody>
                    <a:bodyPr/>
                    <a:lstStyle/>
                    <a:p>
                      <a:r>
                        <a:rPr sz="1425" b="0">
                          <a:solidFill>
                            <a:srgbClr val="172D3C"/>
                          </a:solidFill>
                          <a:latin typeface="Arial"/>
                          <a:ea typeface="Arial"/>
                          <a:cs typeface="Arial"/>
                        </a:rPr>
                        <a:t>Model appendix</a:t>
                      </a:r>
                    </a:p>
                  </a:txBody>
                  <a:tcPr marL="91440" marR="91440" marT="45720" marB="45720">
                    <a:solidFill>
                      <a:srgbClr val="F0F5F6"/>
                    </a:solidFill>
                  </a:tcPr>
                </a:tc>
                <a:tc>
                  <a:txBody>
                    <a:bodyPr/>
                    <a:lstStyle/>
                    <a:p>
                      <a:r>
                        <a:rPr sz="1425" b="0">
                          <a:solidFill>
                            <a:srgbClr val="172D3C"/>
                          </a:solidFill>
                          <a:latin typeface="Arial"/>
                          <a:ea typeface="Arial"/>
                          <a:cs typeface="Arial"/>
                        </a:rPr>
                        <a:t>Model story, parameters, priors, uncertainty and chronological validation.</a:t>
                      </a:r>
                    </a:p>
                  </a:txBody>
                  <a:tcPr marL="91440" marR="91440" marT="45720" marB="45720">
                    <a:solidFill>
                      <a:srgbClr val="F0F5F6"/>
                    </a:solidFill>
                  </a:tcPr>
                </a:tc>
              </a:tr>
              <a:tr h="502920">
                <a:tc>
                  <a:txBody>
                    <a:bodyPr/>
                    <a:lstStyle/>
                    <a:p>
                      <a:r>
                        <a:rPr sz="1425" b="0">
                          <a:solidFill>
                            <a:srgbClr val="172D3C"/>
                          </a:solidFill>
                          <a:latin typeface="Arial"/>
                          <a:ea typeface="Arial"/>
                          <a:cs typeface="Arial"/>
                        </a:rPr>
                        <a:t>Data and reproducibility appendix</a:t>
                      </a:r>
                    </a:p>
                  </a:txBody>
                  <a:tcPr marL="91440" marR="91440" marT="45720" marB="45720">
                    <a:solidFill>
                      <a:srgbClr val="FFFFFF"/>
                    </a:solidFill>
                  </a:tcPr>
                </a:tc>
                <a:tc>
                  <a:txBody>
                    <a:bodyPr/>
                    <a:lstStyle/>
                    <a:p>
                      <a:r>
                        <a:rPr sz="1425" b="0">
                          <a:solidFill>
                            <a:srgbClr val="172D3C"/>
                          </a:solidFill>
                          <a:latin typeface="Arial"/>
                          <a:ea typeface="Arial"/>
                          <a:cs typeface="Arial"/>
                        </a:rPr>
                        <a:t>UCV tables, Archify key map and saved SQL; saved manifests accompany the report.</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947E5E8F-B403-4EA4-BCCE-89BBCCB4EF49}"/>
              </a:ext>
            </a:extLst>
          </p:cNvPr>
          <p:cNvSpPr>
            <a:spLocks xmlns:a="http://schemas.openxmlformats.org/drawingml/2006/main" noGrp="1"/>
          </p:cNvSpPr>
          <p:nvPr/>
        </p:nvSpPr>
        <p:spPr>
          <a:xfrm xmlns:a="http://schemas.openxmlformats.org/drawingml/2006/main">
            <a:off x="609600" y="5467350"/>
            <a:ext cx="10972800" cy="600075"/>
          </a:xfrm>
          <a:prstGeom xmlns:a="http://schemas.openxmlformats.org/drawingml/2006/main" prst="rect">
            <a:avLst/>
          </a:prstGeom>
          <a:solidFill xmlns:a="http://schemas.openxmlformats.org/drawingml/2006/main">
            <a:srgbClr val="EAF4F3"/>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AFE77C8-2452-4561-A971-210524C03011}"/>
              </a:ext>
            </a:extLst>
          </p:cNvPr>
          <p:cNvSpPr>
            <a:spLocks xmlns:a="http://schemas.openxmlformats.org/drawingml/2006/main" noGrp="1"/>
          </p:cNvSpPr>
          <p:nvPr/>
        </p:nvSpPr>
        <p:spPr>
          <a:xfrm xmlns:a="http://schemas.openxmlformats.org/drawingml/2006/main">
            <a:off x="790575" y="5534025"/>
            <a:ext cx="106108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defPPr>
              <a:defRPr sz="1575" b="1">
                <a:solidFill>
                  <a:srgbClr val="172D3C"/>
                </a:solidFill>
                <a:latin typeface="Arial"/>
                <a:ea typeface="Arial"/>
                <a:cs typeface="Arial"/>
              </a:defRPr>
            </a:defPPr>
            <a:lvl1pPr>
              <a:defRPr sz="1575" b="1">
                <a:solidFill>
                  <a:srgbClr val="172D3C"/>
                </a:solidFill>
                <a:latin typeface="Arial"/>
                <a:ea typeface="Arial"/>
                <a:cs typeface="Arial"/>
              </a:defRPr>
            </a:lvl1pPr>
            <a:lvl2pPr>
              <a:defRPr sz="1575" b="1">
                <a:solidFill>
                  <a:srgbClr val="172D3C"/>
                </a:solidFill>
                <a:latin typeface="Arial"/>
                <a:ea typeface="Arial"/>
                <a:cs typeface="Arial"/>
              </a:defRPr>
            </a:lvl2pPr>
            <a:lvl3pPr>
              <a:defRPr sz="1575" b="1">
                <a:solidFill>
                  <a:srgbClr val="172D3C"/>
                </a:solidFill>
                <a:latin typeface="Arial"/>
                <a:ea typeface="Arial"/>
                <a:cs typeface="Arial"/>
              </a:defRPr>
            </a:lvl3pPr>
            <a:lvl4pPr>
              <a:defRPr sz="1575" b="1">
                <a:solidFill>
                  <a:srgbClr val="172D3C"/>
                </a:solidFill>
                <a:latin typeface="Arial"/>
                <a:ea typeface="Arial"/>
                <a:cs typeface="Arial"/>
              </a:defRPr>
            </a:lvl4pPr>
            <a:lvl5pPr>
              <a:defRPr sz="1575" b="1">
                <a:solidFill>
                  <a:srgbClr val="172D3C"/>
                </a:solidFill>
                <a:latin typeface="Arial"/>
                <a:ea typeface="Arial"/>
                <a:cs typeface="Arial"/>
              </a:defRPr>
            </a:lvl5pPr>
            <a:lvl6pPr>
              <a:defRPr sz="1575" b="1">
                <a:solidFill>
                  <a:srgbClr val="172D3C"/>
                </a:solidFill>
                <a:latin typeface="Arial"/>
                <a:ea typeface="Arial"/>
                <a:cs typeface="Arial"/>
              </a:defRPr>
            </a:lvl6pPr>
            <a:lvl7pPr>
              <a:defRPr sz="1575" b="1">
                <a:solidFill>
                  <a:srgbClr val="172D3C"/>
                </a:solidFill>
                <a:latin typeface="Arial"/>
                <a:ea typeface="Arial"/>
                <a:cs typeface="Arial"/>
              </a:defRPr>
            </a:lvl7pPr>
            <a:lvl8pPr>
              <a:defRPr sz="1575" b="1">
                <a:solidFill>
                  <a:srgbClr val="172D3C"/>
                </a:solidFill>
                <a:latin typeface="Arial"/>
                <a:ea typeface="Arial"/>
                <a:cs typeface="Arial"/>
              </a:defRPr>
            </a:lvl8pPr>
            <a:lvl9pPr>
              <a:defRPr sz="1575" b="1">
                <a:solidFill>
                  <a:srgbClr val="172D3C"/>
                </a:solidFill>
                <a:latin typeface="Arial"/>
                <a:ea typeface="Arial"/>
                <a:cs typeface="Arial"/>
              </a:defRPr>
            </a:lvl9pPr>
          </a:lstStyle>
          <a:p xmlns:a="http://schemas.openxmlformats.org/drawingml/2006/main">
            <a:pPr>
              <a:defRPr sz="1575" b="1">
                <a:solidFill>
                  <a:srgbClr val="172D3C"/>
                </a:solidFill>
                <a:latin typeface="Arial"/>
                <a:ea typeface="Arial"/>
                <a:cs typeface="Arial"/>
              </a:defRPr>
            </a:pPr>
            <a:r>
              <a:rPr sz="1575" b="1">
                <a:solidFill>
                  <a:srgbClr val="172D3C"/>
                </a:solidFill>
                <a:latin typeface="Arial"/>
                <a:ea typeface="Arial"/>
                <a:cs typeface="Arial"/>
              </a:rPr>
              <a:t>The bundled report skill carries the formatting with the project. Each result traces to saved SQL or a documented model.</a:t>
            </a:r>
          </a:p>
        </p:txBody>
      </p:sp>
    </p:spTree>
    <p:extLst>
      <p:ext uri="{BB962C8B-B14F-4D97-AF65-F5344CB8AC3E}">
        <p14:creationId xmlns:p14="http://schemas.microsoft.com/office/powerpoint/2010/main" val="89973171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2026-10-29T13:00:06.4670000Z</dcterms:created>
  <dcterms:modified xsi:type="dcterms:W3CDTF">2026-10-29T13:00:06.4670000Z</dcterms:modified>
</coreProperties>
</file>