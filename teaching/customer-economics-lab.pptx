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3765539923421e" /><Relationship Type="http://schemas.openxmlformats.org/officeDocument/2006/relationships/extended-properties" Target="/docProps/app.xml" Id="R734ebbdb41684f41" /><Relationship Type="http://schemas.openxmlformats.org/officeDocument/2006/relationships/officeDocument" Target="/ppt/presentation.xml" Id="R0419a857a8504dae" /></Relationships>
</file>

<file path=ppt/presentation.xml><?xml version="1.0" encoding="utf-8"?>
<p:presentation xmlns:p="http://schemas.openxmlformats.org/presentationml/2006/main">
  <p:sldMasterIdLst>
    <p:sldMasterId xmlns:r="http://schemas.openxmlformats.org/officeDocument/2006/relationships" id="2147483648" r:id="Rdb6b17954b13474a"/>
  </p:sldMasterIdLst>
  <p:notesMasterIdLst>
    <p:notesMasterId xmlns:r="http://schemas.openxmlformats.org/officeDocument/2006/relationships" r:id="R930e0ce95f6a4306"/>
  </p:notesMasterIdLst>
  <p:sldIdLst>
    <p:sldId xmlns:r="http://schemas.openxmlformats.org/officeDocument/2006/relationships" id="256" r:id="R90cd745bf3b049d6"/>
    <p:sldId xmlns:r="http://schemas.openxmlformats.org/officeDocument/2006/relationships" id="257" r:id="Rcb56fcda1bef402e"/>
    <p:sldId xmlns:r="http://schemas.openxmlformats.org/officeDocument/2006/relationships" id="258" r:id="Rb52f85ba5d3a4a75"/>
    <p:sldId xmlns:r="http://schemas.openxmlformats.org/officeDocument/2006/relationships" id="259" r:id="Re5fe3bdefb4f4c51"/>
    <p:sldId xmlns:r="http://schemas.openxmlformats.org/officeDocument/2006/relationships" id="260" r:id="R845ddcc884324296"/>
    <p:sldId xmlns:r="http://schemas.openxmlformats.org/officeDocument/2006/relationships" id="261" r:id="Radcf7148bf044ef2"/>
    <p:sldId xmlns:r="http://schemas.openxmlformats.org/officeDocument/2006/relationships" id="262" r:id="Rc7dcad0987ce4764"/>
    <p:sldId xmlns:r="http://schemas.openxmlformats.org/officeDocument/2006/relationships" id="263" r:id="R99037c7595e2415f"/>
    <p:sldId xmlns:r="http://schemas.openxmlformats.org/officeDocument/2006/relationships" id="264" r:id="R2102579be3e7405b"/>
    <p:sldId xmlns:r="http://schemas.openxmlformats.org/officeDocument/2006/relationships" id="265" r:id="R0a3bd925640642fe"/>
    <p:sldId xmlns:r="http://schemas.openxmlformats.org/officeDocument/2006/relationships" id="266" r:id="R2d9e68953a454d5b"/>
    <p:sldId xmlns:r="http://schemas.openxmlformats.org/officeDocument/2006/relationships" id="267" r:id="R01e008a541db44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0433f096714ead" /><Relationship Type="http://schemas.openxmlformats.org/officeDocument/2006/relationships/slideMaster" Target="/ppt/slideMasters/slideMaster1.xml" Id="Rdb6b17954b13474a" /><Relationship Type="http://schemas.openxmlformats.org/officeDocument/2006/relationships/notesMaster" Target="/ppt/notesMasters/notesMaster1.xml" Id="R930e0ce95f6a4306" /><Relationship Type="http://schemas.openxmlformats.org/officeDocument/2006/relationships/presProps" Target="/ppt/presProps.xml" Id="Reb535ea0498143a5" /><Relationship Type="http://schemas.openxmlformats.org/officeDocument/2006/relationships/tableStyles" Target="/ppt/tableStyles.xml" Id="R37eb6c250eab4832" /><Relationship Type="http://schemas.openxmlformats.org/officeDocument/2006/relationships/slide" Target="/ppt/slides/slide1.xml" Id="R90cd745bf3b049d6" /><Relationship Type="http://schemas.openxmlformats.org/officeDocument/2006/relationships/slide" Target="/ppt/slides/slide2.xml" Id="Rcb56fcda1bef402e" /><Relationship Type="http://schemas.openxmlformats.org/officeDocument/2006/relationships/slide" Target="/ppt/slides/slide3.xml" Id="Rb52f85ba5d3a4a75" /><Relationship Type="http://schemas.openxmlformats.org/officeDocument/2006/relationships/slide" Target="/ppt/slides/slide4.xml" Id="Re5fe3bdefb4f4c51" /><Relationship Type="http://schemas.openxmlformats.org/officeDocument/2006/relationships/slide" Target="/ppt/slides/slide5.xml" Id="R845ddcc884324296" /><Relationship Type="http://schemas.openxmlformats.org/officeDocument/2006/relationships/slide" Target="/ppt/slides/slide6.xml" Id="Radcf7148bf044ef2" /><Relationship Type="http://schemas.openxmlformats.org/officeDocument/2006/relationships/slide" Target="/ppt/slides/slide7.xml" Id="Rc7dcad0987ce4764" /><Relationship Type="http://schemas.openxmlformats.org/officeDocument/2006/relationships/slide" Target="/ppt/slides/slide8.xml" Id="R99037c7595e2415f" /><Relationship Type="http://schemas.openxmlformats.org/officeDocument/2006/relationships/slide" Target="/ppt/slides/slide9.xml" Id="R2102579be3e7405b" /><Relationship Type="http://schemas.openxmlformats.org/officeDocument/2006/relationships/slide" Target="/ppt/slides/slide10.xml" Id="R0a3bd925640642fe" /><Relationship Type="http://schemas.openxmlformats.org/officeDocument/2006/relationships/slide" Target="/ppt/slides/slide11.xml" Id="R2d9e68953a454d5b" /><Relationship Type="http://schemas.openxmlformats.org/officeDocument/2006/relationships/slide" Target="/ppt/slides/slide12.xml" Id="R01e008a541db44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2b507ffd1a42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eb211ba0c8456b" /><Relationship Type="http://schemas.openxmlformats.org/officeDocument/2006/relationships/notesMaster" Target="/ppt/notesMasters/notesMaster1.xml" Id="Radb6956dbb3a43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bb22f3689547e1" /><Relationship Type="http://schemas.openxmlformats.org/officeDocument/2006/relationships/notesMaster" Target="/ppt/notesMasters/notesMaster1.xml" Id="Rb8b8436997dc44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8c2fd5d2b94a32" /><Relationship Type="http://schemas.openxmlformats.org/officeDocument/2006/relationships/notesMaster" Target="/ppt/notesMasters/notesMaster1.xml" Id="Rb0b67222396746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e989fbb49d4e6a" /><Relationship Type="http://schemas.openxmlformats.org/officeDocument/2006/relationships/notesMaster" Target="/ppt/notesMasters/notesMaster1.xml" Id="R2176b24102e94b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96ddcc3b63441d" /><Relationship Type="http://schemas.openxmlformats.org/officeDocument/2006/relationships/notesMaster" Target="/ppt/notesMasters/notesMaster1.xml" Id="Rf76dc57e93e749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734065c7b340b2" /><Relationship Type="http://schemas.openxmlformats.org/officeDocument/2006/relationships/notesMaster" Target="/ppt/notesMasters/notesMaster1.xml" Id="R8649ec41965049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bb1f12d5064bc5" /><Relationship Type="http://schemas.openxmlformats.org/officeDocument/2006/relationships/notesMaster" Target="/ppt/notesMasters/notesMaster1.xml" Id="Rb6f58930990c4e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b04fda3beb4106" /><Relationship Type="http://schemas.openxmlformats.org/officeDocument/2006/relationships/notesMaster" Target="/ppt/notesMasters/notesMaster1.xml" Id="R5a507415c3d84c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5909b0db1743e6" /><Relationship Type="http://schemas.openxmlformats.org/officeDocument/2006/relationships/notesMaster" Target="/ppt/notesMasters/notesMaster1.xml" Id="R25f0aa1a93bd4b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8cfd5cde9049b4" /><Relationship Type="http://schemas.openxmlformats.org/officeDocument/2006/relationships/notesMaster" Target="/ppt/notesMasters/notesMaster1.xml" Id="R763542e138454f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bf13b9c1d94f9e" /><Relationship Type="http://schemas.openxmlformats.org/officeDocument/2006/relationships/notesMaster" Target="/ppt/notesMasters/notesMaster1.xml" Id="R94a6fd8bc9bd49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7600b1967b4ef1" /><Relationship Type="http://schemas.openxmlformats.org/officeDocument/2006/relationships/notesMaster" Target="/ppt/notesMasters/notesMaster1.xml" Id="Rb0418011c88a4c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class: use uv sync --frozen and uv run for Python. Complete the CPU Python environment, Node20+, pinned Playwright/Chromium, TeX and model smoke tests. The public ZIP works without Git. Use the bundled executive-report skill and style assets. This lab begins with eight raw CSVs, not a prejoined database. Keep one AI conversation and pause after each stage until the group says next.</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colors identify the teaching task. Labels repeat the color meaning so the deck does not rely on color perception alone.</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80-minute route: setup2; inspect/mapCSV12; customer reasoning10; SQL/cohorts16; charts10; experiment10; model12; report8. Dependencies must be installed before class. These are time budgets, not an invitation to skip a stage automatically.</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Stage1 produces a separate UCV table for every source: Identifiers, Engagement, Relationship, Perception. Every actual field appears once; justify ambiguous operational metadata and leave absent categories empty. In this example, age_band, household_type and region are profile descriptors in Identifiers. primary_need is self-reported before acquisition. The two timestamps are relationship/provenance metadata, not acquisition dates. Open diagrams/ucv-tables.json and source-tables.html. The full ERD retains all fields, SQL types, keys and cardinality; campaign_metadata is explicitly derived. One person links to many cycles, transactions, events and responses. Aggregate campaign spending independently before joining customer outcomes.</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Stage2 group decision, about3minutes. Stated need directly describes the intended onboarding objective, so it is the more defensible starting representation for this design. It does not prove everyone with the same need wants the identical experience, nor establish a causal benefit of tailored onboarding. The single introductory business map contains hypotheses, not measured sentiment. The report compares average retention and contribution before showing residual within-group variation in its appendix. At stage4 inspect the actual six-month within-group variance; the current results must be inspected rather than assuming an old ranking persists. Do not announce a predictive finding before constructing the SQL evidence.</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stage3. Inspect executed.sql and at least one named derived view. The return values are not sufficient: ask the AI to explain why it joins that grain and which assertions protect the money and eligible-person denominators.</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Stage3. Every one of the 24 joining cohorts is displayed. Each percentage uses the original acquired cohort as denominator. Contractual retention comes from renewal status, not a product event or a payment in a particular month. Age0 is the first paid month. December2025 has only age0 observed at the January1,2026 cutoff. A blank future age is not churn. No interpolation fills these future cells.</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Saved SQL output: tables/cohort_totals.csv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Stage4 group decision, about3minutes. The four panels include all24 joining cohorts with red older and blue newer. Shared retained-share and customer-age axes make comparisons meaningful. Each curve stops at its observed age. Compare within channel and pre-acquisition need before attributing company-level improvement to a changing mix. Improvement in a cohort is descriptive evidence; it does not establish a causal channel effect. Use the full report to compare retained people with revenue and cash recovery. Visual grammar is inspired by the course multi-brand retention example, with original lab data and native editable charts.</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Saved SQL output: tables/cohort_age_summary.csv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Stage4. All24 monthly joining cohorts appear. Exact SQL cohort layers sum to company totals. Blank pre-acquisition months are displayed as zero because those customers do not yet belong to the firm. This differs from a cohort triangle’s unobserved future ages. Inspect acquisition spending and contribution as separate company series.</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Saved SQL output: tables/company_month.csv</a:t>
            </a:r>
          </a:p>
          <a:p xmlns:a="http://schemas.openxmlformats.org/drawingml/2006/main">
            <a:r>
              <a:t>Saved SQL output: tables/company_totals.csv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Discuss4minutes at stage5. Read the current table before deciding. Both experiments retain all randomized prospects, including nonbuyers. The short experimental windows do not establish lifetime campaign profitability. Preserve randomized groups and follow their contribution longer, with a prespecified horizon and uncertainty. Cohort accounting payback is not incremental payback. Different populations and periods prevent treating the tests as a direct head-to-head ranking. Predicted buyer LTV is not an experimental lifetime treatment effect.</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Saved SQL output: tables/experiment_effects.csv</a:t>
            </a:r>
          </a:p>
          <a:p xmlns:a="http://schemas.openxmlformats.org/drawingml/2006/main">
            <a:r>
              <a:t>Saved SQL output: tables/experiment_summary.csv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Stage6. The main inference model is hierarchical shifted Beta-Geometric, fitted with NumPyro NUTS. The positive-revenue component is Gamma. A separate Orduz-style four-hidden-unit Bayesian neural network is fitted with SVI as a benchmark; it is not the main model. The frozen article source-notebook PDF is in assets/articles/orduz-2024-cohort-revenue-retention. Lab inference adapts rather than exactly reproduces that notebook. Describe the model first; put parameters, priors, units, sampler diagnostics, uncertainty and chronological validation in the appendix. Use observed contribution where available; forecast only unobserved ages of a common12-month valuation horizon. Discount month-end receipts at1% per month, including age0 once. Cash payback is undiscounted. Model performance does not establish marketing incrementality. Do not expose private future outcomes or data-generation parameters.</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Saved SQL output: tables/forecast_curve.csv</a:t>
            </a:r>
          </a:p>
          <a:p xmlns:a="http://schemas.openxmlformats.org/drawingml/2006/main">
            <a:r>
              <a:t>Saved SQL output: tables/cohort_valuation.csv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Stage7. Write final_verdict and recommended_action in the same chat; the skill must wait for next between stages. The opening executive summary describes Studio North and states a bounded managerial recommendation before technical methods. Explain the model before presenting its results. Use dedicated section-opening pages. Cash-table numerals stay red below CAC and green at or above break-even, with an outline at first observed recovery. One broad experience map introduces the business; do not create a journey map for each segment. The appendix is mandatory: parameters, units, priors, uncertainty, validation, every per-dataset UCV table, source grains/keys, and reproducibility evidence. The public project carries the Source Sans / forest-green / ochre LaTeX style and executive-report skill, so students do not need the instructor’s private skill directory. No Git installation is required. The report must distinguish observed, forecast and experimental evidence. Its figures and tables should not quietly replace a student’s supported judgment. Bonus challenge: investigate an alternative CPU-capable retention or revenue model using only the observed data. Preserve the published prediction-grid schema and forecast retained customers, net revenue and contribution for January–December2026 for the existing24cohorts. This next12calendar-month target differs from the first12receipt-month LTV metric. The primary score is cohort-by-calendar-month contribution WAPE, with retention WAPE and portfolio bias as secondary checks. Future outcomes are held by the instructor, not supplied to the chat. Evaluate learning on the same rows and metrics; do not select a model after seeing private outcomes.</a:t>
            </a:r>
          </a:p>
          <a:p xmlns:a="http://schemas.openxmlformats.org/drawingml/2006/main">
            <a:r>
              <a:t/>
            </a:r>
          </a:p>
          <a:p xmlns:a="http://schemas.openxmlformats.org/drawingml/2006/main">
            <a:r>
              <a:t>[Sources]</a:t>
            </a:r>
          </a:p>
          <a:p xmlns:a="http://schemas.openxmlformats.org/drawingml/2006/main">
            <a:r>
              <a:t>Original synthetic lab data and original teaching visuals.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c65f61f0764c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f0301dc6cf4e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0c145c19f942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1ee6f64da34d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440f4046fc40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96f5845d0848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6B54F3-82FF-48EB-9DC5-074CAC52E3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67844A-1882-4C5A-BFBD-E90C84830C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21F469-6B67-4332-8B4B-2E737D5DAF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7D2BA7-BEA9-4E4B-9704-46101C3374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928CBA-D3D6-4879-89A9-105B4EC0DA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05405F-88A1-45B7-82FA-2C300DCB0D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772D62-A3C4-44F3-B4BA-85A84E29EE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FD6683-350A-4FBD-A8F0-4C669C0628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6F3024-6244-4449-9212-661185A0F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CD3067-B86D-4D49-ACF7-FD81B0768C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dfc1651f0d4a38" /><Relationship Type="http://schemas.openxmlformats.org/officeDocument/2006/relationships/slideLayout" Target="/ppt/slideLayouts/slideLayout1.xml" Id="Rfd4b571cdbe5428e" /><Relationship Type="http://schemas.openxmlformats.org/officeDocument/2006/relationships/slideLayout" Target="/ppt/slideLayouts/slideLayout2.xml" Id="R85d3e7f462c4438c" /><Relationship Type="http://schemas.openxmlformats.org/officeDocument/2006/relationships/slideLayout" Target="/ppt/slideLayouts/slideLayout3.xml" Id="R9497d2f9669b4300" /><Relationship Type="http://schemas.openxmlformats.org/officeDocument/2006/relationships/slideLayout" Target="/ppt/slideLayouts/slideLayout4.xml" Id="Rdc844fbc56c34815" /><Relationship Type="http://schemas.openxmlformats.org/officeDocument/2006/relationships/slideLayout" Target="/ppt/slideLayouts/slideLayout5.xml" Id="Rae8b0a0157494c4c" /><Relationship Type="http://schemas.openxmlformats.org/officeDocument/2006/relationships/slideLayout" Target="/ppt/slideLayouts/slideLayout6.xml" Id="R7322438070f64a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4b571cdbe5428e"/>
    <p:sldLayoutId xmlns:r="http://schemas.openxmlformats.org/officeDocument/2006/relationships" id="2147483650" r:id="R85d3e7f462c4438c"/>
    <p:sldLayoutId xmlns:r="http://schemas.openxmlformats.org/officeDocument/2006/relationships" id="2147483651" r:id="R9497d2f9669b4300"/>
    <p:sldLayoutId xmlns:r="http://schemas.openxmlformats.org/officeDocument/2006/relationships" id="2147483652" r:id="Rdc844fbc56c34815"/>
    <p:sldLayoutId xmlns:r="http://schemas.openxmlformats.org/officeDocument/2006/relationships" id="2147483653" r:id="Rae8b0a0157494c4c"/>
    <p:sldLayoutId xmlns:r="http://schemas.openxmlformats.org/officeDocument/2006/relationships" id="2147483654" r:id="R7322438070f64a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e1f504c9e64e7b" /><Relationship Type="http://schemas.openxmlformats.org/officeDocument/2006/relationships/notesSlide" Target="/ppt/notesSlides/notesSlide1.xml" Id="R697acee3663440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170a999b444071" /><Relationship Type="http://schemas.openxmlformats.org/officeDocument/2006/relationships/notesSlide" Target="/ppt/notesSlides/notesSlide2.xml" Id="R8db4a7cfeae544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e16ebe7f0d4965" /><Relationship Type="http://schemas.openxmlformats.org/officeDocument/2006/relationships/notesSlide" Target="/ppt/notesSlides/notesSlide3.xml" Id="R9a2b6b40d95444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ce6808491b4456" /><Relationship Type="http://schemas.openxmlformats.org/officeDocument/2006/relationships/notesSlide" Target="/ppt/notesSlides/notesSlide4.xml" Id="R851d946ab4d045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8ce551970f404b" /><Relationship Type="http://schemas.openxmlformats.org/officeDocument/2006/relationships/notesSlide" Target="/ppt/notesSlides/notesSlide5.xml" Id="R5385394f358f40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343e2cbb6f4cc7" /><Relationship Type="http://schemas.openxmlformats.org/officeDocument/2006/relationships/notesSlide" Target="/ppt/notesSlides/notesSlide6.xml" Id="Rc3d622ab919243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625c7767a04303" /><Relationship Type="http://schemas.openxmlformats.org/officeDocument/2006/relationships/notesSlide" Target="/ppt/notesSlides/notesSlide7.xml" Id="R94e5f4590fed44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c119b6f13c4c9d" /><Relationship Type="http://schemas.openxmlformats.org/officeDocument/2006/relationships/chart" Target="/ppt/slides/charts/chart1.xml" Id="R7b122cae30004d32" /><Relationship Type="http://schemas.openxmlformats.org/officeDocument/2006/relationships/chart" Target="/ppt/slides/charts/chart2.xml" Id="Reb2af82907a040df" /><Relationship Type="http://schemas.openxmlformats.org/officeDocument/2006/relationships/chart" Target="/ppt/slides/charts/chart3.xml" Id="Rd6031c4e79a24489" /><Relationship Type="http://schemas.openxmlformats.org/officeDocument/2006/relationships/chart" Target="/ppt/slides/charts/chart4.xml" Id="R47982e60afe1420b" /><Relationship Type="http://schemas.openxmlformats.org/officeDocument/2006/relationships/notesSlide" Target="/ppt/notesSlides/notesSlide8.xml" Id="R653f6c718a7946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1f0ad0d3d904cf4" /><Relationship Type="http://schemas.openxmlformats.org/officeDocument/2006/relationships/chart" Target="/ppt/slides/charts/chart5.xml" Id="Re89f4e795fbf41e3" /><Relationship Type="http://schemas.openxmlformats.org/officeDocument/2006/relationships/notesSlide" Target="/ppt/notesSlides/notesSlide9.xml" Id="R6b605a1c739a42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007bfc544e4fb0" /><Relationship Type="http://schemas.openxmlformats.org/officeDocument/2006/relationships/notesSlide" Target="/ppt/notesSlides/notesSlide10.xml" Id="Rc4fecf3979c647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649bb85ff8a4e48" /><Relationship Type="http://schemas.openxmlformats.org/officeDocument/2006/relationships/notesSlide" Target="/ppt/notesSlides/notesSlide11.xml" Id="R3698d89f0d0948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2bd6bad3da34e3a" /><Relationship Type="http://schemas.openxmlformats.org/officeDocument/2006/relationships/notesSlide" Target="/ppt/notesSlides/notesSlide12.xml" Id="Rd341f80e140540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72D3C"/>
                </a:solidFill>
                <a:latin typeface="Arial"/>
                <a:ea typeface="Arial"/>
                <a:cs typeface="Arial"/>
              </a:rPr>
              <a:t>search / save time</a:t>
            </a:r>
          </a:p>
        </c:rich>
      </c:tx>
      <c:overlay val="0"/>
      <c:txPr>
        <a:bodyPr xmlns:a="http://schemas.openxmlformats.org/drawingml/2006/main" anchorCtr="1"/>
        <a:lstStyle xmlns:a="http://schemas.openxmlformats.org/drawingml/2006/main"/>
        <a:p xmlns:a="http://schemas.openxmlformats.org/drawingml/2006/main">
          <a:pPr>
            <a:defRPr sz="1425" b="1">
              <a:solidFill>
                <a:srgbClr val="172D3C"/>
              </a:solidFill>
              <a:latin typeface="Arial"/>
              <a:ea typeface="Arial"/>
              <a:cs typeface="Arial"/>
            </a:defRPr>
          </a:pPr>
        </a:p>
      </c:txPr>
    </c:title>
    <c:plotArea>
      <c:lineChart>
        <c:grouping val="standard"/>
        <c:varyColors val="0"/>
        <c:ser>
          <c:idx val="0"/>
          <c:order val="0"/>
          <c:tx>
            <c:v>2024-01</c:v>
          </c:tx>
          <c:spPr>
            <a:ln xmlns:a="http://schemas.openxmlformats.org/drawingml/2006/main" w="11906">
              <a:solidFill>
                <a:srgbClr val="B44041"/>
              </a:solidFill>
            </a:ln>
          </c:spPr>
          <c:marker>
            <c:symbol val="none"/>
          </c:marker>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1</c:v>
                </c:pt>
                <c:pt idx="1">
                  <c:v>0.712328767123</c:v>
                </c:pt>
                <c:pt idx="2">
                  <c:v>0.602739726027</c:v>
                </c:pt>
                <c:pt idx="3">
                  <c:v>0.547945205479</c:v>
                </c:pt>
                <c:pt idx="4">
                  <c:v>0.452054794521</c:v>
                </c:pt>
                <c:pt idx="5">
                  <c:v>0.424657534247</c:v>
                </c:pt>
                <c:pt idx="6">
                  <c:v>0.383561643836</c:v>
                </c:pt>
                <c:pt idx="7">
                  <c:v>0.356164383562</c:v>
                </c:pt>
                <c:pt idx="8">
                  <c:v>0.315068493151</c:v>
                </c:pt>
                <c:pt idx="9">
                  <c:v>0.287671232877</c:v>
                </c:pt>
                <c:pt idx="10">
                  <c:v>0.260273972603</c:v>
                </c:pt>
                <c:pt idx="11">
                  <c:v>0.232876712329</c:v>
                </c:pt>
                <c:pt idx="12">
                  <c:v>0.232876712329</c:v>
                </c:pt>
                <c:pt idx="13">
                  <c:v>0.205479452055</c:v>
                </c:pt>
                <c:pt idx="14">
                  <c:v>0.164383561644</c:v>
                </c:pt>
                <c:pt idx="15">
                  <c:v>0.164383561644</c:v>
                </c:pt>
                <c:pt idx="16">
                  <c:v>0.150684931507</c:v>
                </c:pt>
                <c:pt idx="17">
                  <c:v>0.13698630137</c:v>
                </c:pt>
                <c:pt idx="18">
                  <c:v>0.123287671233</c:v>
                </c:pt>
                <c:pt idx="19">
                  <c:v>0.123287671233</c:v>
                </c:pt>
                <c:pt idx="20">
                  <c:v>0.123287671233</c:v>
                </c:pt>
                <c:pt idx="21">
                  <c:v>0.123287671233</c:v>
                </c:pt>
                <c:pt idx="22">
                  <c:v>0.123287671233</c:v>
                </c:pt>
                <c:pt idx="23">
                  <c:v>0.0958904109589</c:v>
                </c:pt>
              </c:numCache>
            </c:numRef>
          </c:val>
          <c:smooth val="0"/>
        </c:ser>
        <c:ser>
          <c:idx val="1"/>
          <c:order val="1"/>
          <c:tx>
            <c:v>2024-02</c:v>
          </c:tx>
          <c:spPr>
            <a:ln xmlns:a="http://schemas.openxmlformats.org/drawingml/2006/main" w="11906">
              <a:solidFill>
                <a:srgbClr val="AE4246"/>
              </a:solidFill>
            </a:ln>
          </c:spPr>
          <c:marker>
            <c:symbol val="none"/>
          </c:marker>
          <c:cat>
            <c:numRef>
              <c:f>'Chart Data'!$C$2:$C$24</c:f>
              <c:numCache>
                <c:formatCode>0</c:formatCode>
                <c:ptCount val="2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numCache>
            </c:numRef>
          </c:cat>
          <c:val>
            <c:numRef>
              <c:f>'Chart Data'!$D$2:$D$24</c:f>
              <c:numCache>
                <c:formatCode>0%</c:formatCode>
                <c:ptCount val="23"/>
                <c:pt idx="0">
                  <c:v>1</c:v>
                </c:pt>
                <c:pt idx="1">
                  <c:v>0.679487179487</c:v>
                </c:pt>
                <c:pt idx="2">
                  <c:v>0.538461538462</c:v>
                </c:pt>
                <c:pt idx="3">
                  <c:v>0.371794871795</c:v>
                </c:pt>
                <c:pt idx="4">
                  <c:v>0.294871794872</c:v>
                </c:pt>
                <c:pt idx="5">
                  <c:v>0.269230769231</c:v>
                </c:pt>
                <c:pt idx="6">
                  <c:v>0.217948717949</c:v>
                </c:pt>
                <c:pt idx="7">
                  <c:v>0.179487179487</c:v>
                </c:pt>
                <c:pt idx="8">
                  <c:v>0.179487179487</c:v>
                </c:pt>
                <c:pt idx="9">
                  <c:v>0.153846153846</c:v>
                </c:pt>
                <c:pt idx="10">
                  <c:v>0.128205128205</c:v>
                </c:pt>
                <c:pt idx="11">
                  <c:v>0.128205128205</c:v>
                </c:pt>
                <c:pt idx="12">
                  <c:v>0.102564102564</c:v>
                </c:pt>
                <c:pt idx="13">
                  <c:v>0.102564102564</c:v>
                </c:pt>
                <c:pt idx="14">
                  <c:v>0.102564102564</c:v>
                </c:pt>
                <c:pt idx="15">
                  <c:v>0.102564102564</c:v>
                </c:pt>
                <c:pt idx="16">
                  <c:v>0.102564102564</c:v>
                </c:pt>
                <c:pt idx="17">
                  <c:v>0.0897435897436</c:v>
                </c:pt>
                <c:pt idx="18">
                  <c:v>0.0897435897436</c:v>
                </c:pt>
                <c:pt idx="19">
                  <c:v>0.0897435897436</c:v>
                </c:pt>
                <c:pt idx="20">
                  <c:v>0.0897435897436</c:v>
                </c:pt>
                <c:pt idx="21">
                  <c:v>0.0897435897436</c:v>
                </c:pt>
                <c:pt idx="22">
                  <c:v>0.0897435897436</c:v>
                </c:pt>
              </c:numCache>
            </c:numRef>
          </c:val>
          <c:smooth val="0"/>
        </c:ser>
        <c:ser>
          <c:idx val="2"/>
          <c:order val="2"/>
          <c:tx>
            <c:v>2024-03</c:v>
          </c:tx>
          <c:spPr>
            <a:ln xmlns:a="http://schemas.openxmlformats.org/drawingml/2006/main" w="11906">
              <a:solidFill>
                <a:srgbClr val="A8434A"/>
              </a:solidFill>
            </a:ln>
          </c:spPr>
          <c:marker>
            <c:symbol val="none"/>
          </c:marker>
          <c:cat>
            <c:numRef>
              <c:f>'Chart Data'!$E$2:$E$23</c:f>
              <c:numCache>
                <c:formatCode>0</c:formatCod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numCache>
            </c:numRef>
          </c:cat>
          <c:val>
            <c:numRef>
              <c:f>'Chart Data'!$F$2:$F$23</c:f>
              <c:numCache>
                <c:formatCode>0%</c:formatCode>
                <c:ptCount val="22"/>
                <c:pt idx="0">
                  <c:v>1</c:v>
                </c:pt>
                <c:pt idx="1">
                  <c:v>0.701298701299</c:v>
                </c:pt>
                <c:pt idx="2">
                  <c:v>0.558441558442</c:v>
                </c:pt>
                <c:pt idx="3">
                  <c:v>0.467532467532</c:v>
                </c:pt>
                <c:pt idx="4">
                  <c:v>0.350649350649</c:v>
                </c:pt>
                <c:pt idx="5">
                  <c:v>0.285714285714</c:v>
                </c:pt>
                <c:pt idx="6">
                  <c:v>0.25974025974</c:v>
                </c:pt>
                <c:pt idx="7">
                  <c:v>0.246753246753</c:v>
                </c:pt>
                <c:pt idx="8">
                  <c:v>0.233766233766</c:v>
                </c:pt>
                <c:pt idx="9">
                  <c:v>0.220779220779</c:v>
                </c:pt>
                <c:pt idx="10">
                  <c:v>0.220779220779</c:v>
                </c:pt>
                <c:pt idx="11">
                  <c:v>0.181818181818</c:v>
                </c:pt>
                <c:pt idx="12">
                  <c:v>0.168831168831</c:v>
                </c:pt>
                <c:pt idx="13">
                  <c:v>0.155844155844</c:v>
                </c:pt>
                <c:pt idx="14">
                  <c:v>0.12987012987</c:v>
                </c:pt>
                <c:pt idx="15">
                  <c:v>0.12987012987</c:v>
                </c:pt>
                <c:pt idx="16">
                  <c:v>0.116883116883</c:v>
                </c:pt>
                <c:pt idx="17">
                  <c:v>0.103896103896</c:v>
                </c:pt>
                <c:pt idx="18">
                  <c:v>0.103896103896</c:v>
                </c:pt>
                <c:pt idx="19">
                  <c:v>0.103896103896</c:v>
                </c:pt>
                <c:pt idx="20">
                  <c:v>0.0909090909091</c:v>
                </c:pt>
                <c:pt idx="21">
                  <c:v>0.0909090909091</c:v>
                </c:pt>
              </c:numCache>
            </c:numRef>
          </c:val>
          <c:smooth val="0"/>
        </c:ser>
        <c:ser>
          <c:idx val="3"/>
          <c:order val="3"/>
          <c:tx>
            <c:v>2024-04</c:v>
          </c:tx>
          <c:spPr>
            <a:ln xmlns:a="http://schemas.openxmlformats.org/drawingml/2006/main" w="11906">
              <a:solidFill>
                <a:srgbClr val="A3454F"/>
              </a:solidFill>
            </a:ln>
          </c:spPr>
          <c:marker>
            <c:symbol val="none"/>
          </c:marker>
          <c:cat>
            <c:numRef>
              <c:f>'Chart Data'!$G$2:$G$22</c:f>
              <c:numCache>
                <c:formatCode>0</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Data'!$H$2:$H$22</c:f>
              <c:numCache>
                <c:formatCode>0%</c:formatCode>
                <c:ptCount val="21"/>
                <c:pt idx="0">
                  <c:v>1</c:v>
                </c:pt>
                <c:pt idx="1">
                  <c:v>0.746478873239</c:v>
                </c:pt>
                <c:pt idx="2">
                  <c:v>0.577464788732</c:v>
                </c:pt>
                <c:pt idx="3">
                  <c:v>0.535211267606</c:v>
                </c:pt>
                <c:pt idx="4">
                  <c:v>0.492957746479</c:v>
                </c:pt>
                <c:pt idx="5">
                  <c:v>0.450704225352</c:v>
                </c:pt>
                <c:pt idx="6">
                  <c:v>0.408450704225</c:v>
                </c:pt>
                <c:pt idx="7">
                  <c:v>0.408450704225</c:v>
                </c:pt>
                <c:pt idx="8">
                  <c:v>0.394366197183</c:v>
                </c:pt>
                <c:pt idx="9">
                  <c:v>0.366197183099</c:v>
                </c:pt>
                <c:pt idx="10">
                  <c:v>0.295774647887</c:v>
                </c:pt>
                <c:pt idx="11">
                  <c:v>0.281690140845</c:v>
                </c:pt>
                <c:pt idx="12">
                  <c:v>0.281690140845</c:v>
                </c:pt>
                <c:pt idx="13">
                  <c:v>0.253521126761</c:v>
                </c:pt>
                <c:pt idx="14">
                  <c:v>0.239436619718</c:v>
                </c:pt>
                <c:pt idx="15">
                  <c:v>0.211267605634</c:v>
                </c:pt>
                <c:pt idx="16">
                  <c:v>0.197183098592</c:v>
                </c:pt>
                <c:pt idx="17">
                  <c:v>0.169014084507</c:v>
                </c:pt>
                <c:pt idx="18">
                  <c:v>0.169014084507</c:v>
                </c:pt>
                <c:pt idx="19">
                  <c:v>0.169014084507</c:v>
                </c:pt>
                <c:pt idx="20">
                  <c:v>0.169014084507</c:v>
                </c:pt>
              </c:numCache>
            </c:numRef>
          </c:val>
          <c:smooth val="0"/>
        </c:ser>
        <c:ser>
          <c:idx val="4"/>
          <c:order val="4"/>
          <c:tx>
            <c:v>2024-05</c:v>
          </c:tx>
          <c:spPr>
            <a:ln xmlns:a="http://schemas.openxmlformats.org/drawingml/2006/main" w="11906">
              <a:solidFill>
                <a:srgbClr val="9D4654"/>
              </a:solidFill>
            </a:ln>
          </c:spPr>
          <c:marker>
            <c:symbol val="none"/>
          </c:marker>
          <c:cat>
            <c:numRef>
              <c:f>'Chart Data'!$I$2:$I$21</c:f>
              <c:numCache>
                <c:formatCode>0</c:formatCod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numCache>
            </c:numRef>
          </c:cat>
          <c:val>
            <c:numRef>
              <c:f>'Chart Data'!$J$2:$J$21</c:f>
              <c:numCache>
                <c:formatCode>0%</c:formatCode>
                <c:ptCount val="20"/>
                <c:pt idx="0">
                  <c:v>1</c:v>
                </c:pt>
                <c:pt idx="1">
                  <c:v>0.684931506849</c:v>
                </c:pt>
                <c:pt idx="2">
                  <c:v>0.561643835616</c:v>
                </c:pt>
                <c:pt idx="3">
                  <c:v>0.547945205479</c:v>
                </c:pt>
                <c:pt idx="4">
                  <c:v>0.534246575342</c:v>
                </c:pt>
                <c:pt idx="5">
                  <c:v>0.506849315068</c:v>
                </c:pt>
                <c:pt idx="6">
                  <c:v>0.465753424658</c:v>
                </c:pt>
                <c:pt idx="7">
                  <c:v>0.452054794521</c:v>
                </c:pt>
                <c:pt idx="8">
                  <c:v>0.41095890411</c:v>
                </c:pt>
                <c:pt idx="9">
                  <c:v>0.383561643836</c:v>
                </c:pt>
                <c:pt idx="10">
                  <c:v>0.383561643836</c:v>
                </c:pt>
                <c:pt idx="11">
                  <c:v>0.342465753425</c:v>
                </c:pt>
                <c:pt idx="12">
                  <c:v>0.328767123288</c:v>
                </c:pt>
                <c:pt idx="13">
                  <c:v>0.315068493151</c:v>
                </c:pt>
                <c:pt idx="14">
                  <c:v>0.315068493151</c:v>
                </c:pt>
                <c:pt idx="15">
                  <c:v>0.301369863014</c:v>
                </c:pt>
                <c:pt idx="16">
                  <c:v>0.246575342466</c:v>
                </c:pt>
                <c:pt idx="17">
                  <c:v>0.232876712329</c:v>
                </c:pt>
                <c:pt idx="18">
                  <c:v>0.232876712329</c:v>
                </c:pt>
                <c:pt idx="19">
                  <c:v>0.219178082192</c:v>
                </c:pt>
              </c:numCache>
            </c:numRef>
          </c:val>
          <c:smooth val="0"/>
        </c:ser>
        <c:ser>
          <c:idx val="5"/>
          <c:order val="5"/>
          <c:tx>
            <c:v>2024-06</c:v>
          </c:tx>
          <c:spPr>
            <a:ln xmlns:a="http://schemas.openxmlformats.org/drawingml/2006/main" w="11906">
              <a:solidFill>
                <a:srgbClr val="974859"/>
              </a:solidFill>
            </a:ln>
          </c:spPr>
          <c:marker>
            <c:symbol val="none"/>
          </c:marker>
          <c:cat>
            <c:numRef>
              <c:f>'Chart Data'!$K$2:$K$20</c:f>
              <c:numCache>
                <c:formatCode>0</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Cache>
            </c:numRef>
          </c:cat>
          <c:val>
            <c:numRef>
              <c:f>'Chart Data'!$L$2:$L$20</c:f>
              <c:numCache>
                <c:formatCode>0%</c:formatCode>
                <c:ptCount val="19"/>
                <c:pt idx="0">
                  <c:v>1</c:v>
                </c:pt>
                <c:pt idx="1">
                  <c:v>0.753246753247</c:v>
                </c:pt>
                <c:pt idx="2">
                  <c:v>0.649350649351</c:v>
                </c:pt>
                <c:pt idx="3">
                  <c:v>0.532467532468</c:v>
                </c:pt>
                <c:pt idx="4">
                  <c:v>0.454545454545</c:v>
                </c:pt>
                <c:pt idx="5">
                  <c:v>0.415584415584</c:v>
                </c:pt>
                <c:pt idx="6">
                  <c:v>0.337662337662</c:v>
                </c:pt>
                <c:pt idx="7">
                  <c:v>0.285714285714</c:v>
                </c:pt>
                <c:pt idx="8">
                  <c:v>0.25974025974</c:v>
                </c:pt>
                <c:pt idx="9">
                  <c:v>0.220779220779</c:v>
                </c:pt>
                <c:pt idx="10">
                  <c:v>0.220779220779</c:v>
                </c:pt>
                <c:pt idx="11">
                  <c:v>0.207792207792</c:v>
                </c:pt>
                <c:pt idx="12">
                  <c:v>0.207792207792</c:v>
                </c:pt>
                <c:pt idx="13">
                  <c:v>0.207792207792</c:v>
                </c:pt>
                <c:pt idx="14">
                  <c:v>0.194805194805</c:v>
                </c:pt>
                <c:pt idx="15">
                  <c:v>0.181818181818</c:v>
                </c:pt>
                <c:pt idx="16">
                  <c:v>0.168831168831</c:v>
                </c:pt>
                <c:pt idx="17">
                  <c:v>0.168831168831</c:v>
                </c:pt>
                <c:pt idx="18">
                  <c:v>0.168831168831</c:v>
                </c:pt>
              </c:numCache>
            </c:numRef>
          </c:val>
          <c:smooth val="0"/>
        </c:ser>
        <c:ser>
          <c:idx val="6"/>
          <c:order val="6"/>
          <c:tx>
            <c:v>2024-07</c:v>
          </c:tx>
          <c:spPr>
            <a:ln xmlns:a="http://schemas.openxmlformats.org/drawingml/2006/main" w="11906">
              <a:solidFill>
                <a:srgbClr val="91495D"/>
              </a:solidFill>
            </a:ln>
          </c:spPr>
          <c:marker>
            <c:symbol val="none"/>
          </c:marker>
          <c:cat>
            <c:numRef>
              <c:f>'Chart Data'!$M$2:$M$19</c:f>
              <c:numCache>
                <c:formatCode>0</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cat>
          <c:val>
            <c:numRef>
              <c:f>'Chart Data'!$N$2:$N$19</c:f>
              <c:numCache>
                <c:formatCode>0%</c:formatCode>
                <c:ptCount val="18"/>
                <c:pt idx="0">
                  <c:v>1</c:v>
                </c:pt>
                <c:pt idx="1">
                  <c:v>0.783783783784</c:v>
                </c:pt>
                <c:pt idx="2">
                  <c:v>0.702702702703</c:v>
                </c:pt>
                <c:pt idx="3">
                  <c:v>0.675675675676</c:v>
                </c:pt>
                <c:pt idx="4">
                  <c:v>0.567567567568</c:v>
                </c:pt>
                <c:pt idx="5">
                  <c:v>0.540540540541</c:v>
                </c:pt>
                <c:pt idx="6">
                  <c:v>0.472972972973</c:v>
                </c:pt>
                <c:pt idx="7">
                  <c:v>0.418918918919</c:v>
                </c:pt>
                <c:pt idx="8">
                  <c:v>0.418918918919</c:v>
                </c:pt>
                <c:pt idx="9">
                  <c:v>0.378378378378</c:v>
                </c:pt>
                <c:pt idx="10">
                  <c:v>0.364864864865</c:v>
                </c:pt>
                <c:pt idx="11">
                  <c:v>0.324324324324</c:v>
                </c:pt>
                <c:pt idx="12">
                  <c:v>0.310810810811</c:v>
                </c:pt>
                <c:pt idx="13">
                  <c:v>0.310810810811</c:v>
                </c:pt>
                <c:pt idx="14">
                  <c:v>0.297297297297</c:v>
                </c:pt>
                <c:pt idx="15">
                  <c:v>0.297297297297</c:v>
                </c:pt>
                <c:pt idx="16">
                  <c:v>0.297297297297</c:v>
                </c:pt>
                <c:pt idx="17">
                  <c:v>0.283783783784</c:v>
                </c:pt>
              </c:numCache>
            </c:numRef>
          </c:val>
          <c:smooth val="0"/>
        </c:ser>
        <c:ser>
          <c:idx val="7"/>
          <c:order val="7"/>
          <c:tx>
            <c:v>2024-08</c:v>
          </c:tx>
          <c:spPr>
            <a:ln xmlns:a="http://schemas.openxmlformats.org/drawingml/2006/main" w="11906">
              <a:solidFill>
                <a:srgbClr val="8C4B62"/>
              </a:solidFill>
            </a:ln>
          </c:spPr>
          <c:marker>
            <c:symbol val="none"/>
          </c:marker>
          <c:cat>
            <c:numRef>
              <c:f>'Chart Data'!$O$2:$O$18</c:f>
              <c:numCache>
                <c:formatCode>0</c:formatCode>
                <c:ptCount val="1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numCache>
            </c:numRef>
          </c:cat>
          <c:val>
            <c:numRef>
              <c:f>'Chart Data'!$P$2:$P$18</c:f>
              <c:numCache>
                <c:formatCode>0%</c:formatCode>
                <c:ptCount val="17"/>
                <c:pt idx="0">
                  <c:v>1</c:v>
                </c:pt>
                <c:pt idx="1">
                  <c:v>0.7125</c:v>
                </c:pt>
                <c:pt idx="2">
                  <c:v>0.5875</c:v>
                </c:pt>
                <c:pt idx="3">
                  <c:v>0.525</c:v>
                </c:pt>
                <c:pt idx="4">
                  <c:v>0.475</c:v>
                </c:pt>
                <c:pt idx="5">
                  <c:v>0.45</c:v>
                </c:pt>
                <c:pt idx="6">
                  <c:v>0.375</c:v>
                </c:pt>
                <c:pt idx="7">
                  <c:v>0.3625</c:v>
                </c:pt>
                <c:pt idx="8">
                  <c:v>0.3375</c:v>
                </c:pt>
                <c:pt idx="9">
                  <c:v>0.325</c:v>
                </c:pt>
                <c:pt idx="10">
                  <c:v>0.3125</c:v>
                </c:pt>
                <c:pt idx="11">
                  <c:v>0.2875</c:v>
                </c:pt>
                <c:pt idx="12">
                  <c:v>0.2875</c:v>
                </c:pt>
                <c:pt idx="13">
                  <c:v>0.275</c:v>
                </c:pt>
                <c:pt idx="14">
                  <c:v>0.275</c:v>
                </c:pt>
                <c:pt idx="15">
                  <c:v>0.275</c:v>
                </c:pt>
                <c:pt idx="16">
                  <c:v>0.275</c:v>
                </c:pt>
              </c:numCache>
            </c:numRef>
          </c:val>
          <c:smooth val="0"/>
        </c:ser>
        <c:ser>
          <c:idx val="8"/>
          <c:order val="8"/>
          <c:tx>
            <c:v>2024-09</c:v>
          </c:tx>
          <c:spPr>
            <a:ln xmlns:a="http://schemas.openxmlformats.org/drawingml/2006/main" w="11906">
              <a:solidFill>
                <a:srgbClr val="864C67"/>
              </a:solidFill>
            </a:ln>
          </c:spPr>
          <c:marker>
            <c:symbol val="none"/>
          </c:marker>
          <c:cat>
            <c:numRef>
              <c:f>'Chart Data'!$Q$2:$Q$17</c:f>
              <c:numCache>
                <c:formatCode>0</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Data'!$R$2:$R$17</c:f>
              <c:numCache>
                <c:formatCode>0%</c:formatCode>
                <c:ptCount val="16"/>
                <c:pt idx="0">
                  <c:v>1</c:v>
                </c:pt>
                <c:pt idx="1">
                  <c:v>0.818181818182</c:v>
                </c:pt>
                <c:pt idx="2">
                  <c:v>0.662337662338</c:v>
                </c:pt>
                <c:pt idx="3">
                  <c:v>0.597402597403</c:v>
                </c:pt>
                <c:pt idx="4">
                  <c:v>0.532467532468</c:v>
                </c:pt>
                <c:pt idx="5">
                  <c:v>0.480519480519</c:v>
                </c:pt>
                <c:pt idx="6">
                  <c:v>0.441558441558</c:v>
                </c:pt>
                <c:pt idx="7">
                  <c:v>0.38961038961</c:v>
                </c:pt>
                <c:pt idx="8">
                  <c:v>0.363636363636</c:v>
                </c:pt>
                <c:pt idx="9">
                  <c:v>0.350649350649</c:v>
                </c:pt>
                <c:pt idx="10">
                  <c:v>0.337662337662</c:v>
                </c:pt>
                <c:pt idx="11">
                  <c:v>0.337662337662</c:v>
                </c:pt>
                <c:pt idx="12">
                  <c:v>0.285714285714</c:v>
                </c:pt>
                <c:pt idx="13">
                  <c:v>0.272727272727</c:v>
                </c:pt>
                <c:pt idx="14">
                  <c:v>0.272727272727</c:v>
                </c:pt>
                <c:pt idx="15">
                  <c:v>0.272727272727</c:v>
                </c:pt>
              </c:numCache>
            </c:numRef>
          </c:val>
          <c:smooth val="0"/>
        </c:ser>
        <c:ser>
          <c:idx val="9"/>
          <c:order val="9"/>
          <c:tx>
            <c:v>2024-10</c:v>
          </c:tx>
          <c:spPr>
            <a:ln xmlns:a="http://schemas.openxmlformats.org/drawingml/2006/main" w="11906">
              <a:solidFill>
                <a:srgbClr val="804E6C"/>
              </a:solidFill>
            </a:ln>
          </c:spPr>
          <c:marker>
            <c:symbol val="none"/>
          </c:marker>
          <c:cat>
            <c:numRef>
              <c:f>'Chart Data'!$S$2:$S$16</c:f>
              <c:numCache>
                <c:formatCode>0</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cat>
          <c:val>
            <c:numRef>
              <c:f>'Chart Data'!$T$2:$T$16</c:f>
              <c:numCache>
                <c:formatCode>0%</c:formatCode>
                <c:ptCount val="15"/>
                <c:pt idx="0">
                  <c:v>1</c:v>
                </c:pt>
                <c:pt idx="1">
                  <c:v>0.79746835443</c:v>
                </c:pt>
                <c:pt idx="2">
                  <c:v>0.658227848101</c:v>
                </c:pt>
                <c:pt idx="3">
                  <c:v>0.556962025316</c:v>
                </c:pt>
                <c:pt idx="4">
                  <c:v>0.493670886076</c:v>
                </c:pt>
                <c:pt idx="5">
                  <c:v>0.481012658228</c:v>
                </c:pt>
                <c:pt idx="6">
                  <c:v>0.443037974684</c:v>
                </c:pt>
                <c:pt idx="7">
                  <c:v>0.379746835443</c:v>
                </c:pt>
                <c:pt idx="8">
                  <c:v>0.367088607595</c:v>
                </c:pt>
                <c:pt idx="9">
                  <c:v>0.354430379747</c:v>
                </c:pt>
                <c:pt idx="10">
                  <c:v>0.329113924051</c:v>
                </c:pt>
                <c:pt idx="11">
                  <c:v>0.303797468354</c:v>
                </c:pt>
                <c:pt idx="12">
                  <c:v>0.278481012658</c:v>
                </c:pt>
                <c:pt idx="13">
                  <c:v>0.278481012658</c:v>
                </c:pt>
                <c:pt idx="14">
                  <c:v>0.26582278481</c:v>
                </c:pt>
              </c:numCache>
            </c:numRef>
          </c:val>
          <c:smooth val="0"/>
        </c:ser>
        <c:ser>
          <c:idx val="10"/>
          <c:order val="10"/>
          <c:tx>
            <c:v>2024-11</c:v>
          </c:tx>
          <c:spPr>
            <a:ln xmlns:a="http://schemas.openxmlformats.org/drawingml/2006/main" w="11906">
              <a:solidFill>
                <a:srgbClr val="7A4F70"/>
              </a:solidFill>
            </a:ln>
          </c:spPr>
          <c:marker>
            <c:symbol val="none"/>
          </c:marker>
          <c:cat>
            <c:numRef>
              <c:f>'Chart Data'!$U$2:$U$15</c:f>
              <c:numCache>
                <c:formatCode>0</c:formatCode>
                <c:ptCount val="14"/>
                <c:pt idx="0">
                  <c:v>0</c:v>
                </c:pt>
                <c:pt idx="1">
                  <c:v>1</c:v>
                </c:pt>
                <c:pt idx="2">
                  <c:v>2</c:v>
                </c:pt>
                <c:pt idx="3">
                  <c:v>3</c:v>
                </c:pt>
                <c:pt idx="4">
                  <c:v>4</c:v>
                </c:pt>
                <c:pt idx="5">
                  <c:v>5</c:v>
                </c:pt>
                <c:pt idx="6">
                  <c:v>6</c:v>
                </c:pt>
                <c:pt idx="7">
                  <c:v>7</c:v>
                </c:pt>
                <c:pt idx="8">
                  <c:v>8</c:v>
                </c:pt>
                <c:pt idx="9">
                  <c:v>9</c:v>
                </c:pt>
                <c:pt idx="10">
                  <c:v>10</c:v>
                </c:pt>
                <c:pt idx="11">
                  <c:v>11</c:v>
                </c:pt>
                <c:pt idx="12">
                  <c:v>12</c:v>
                </c:pt>
                <c:pt idx="13">
                  <c:v>13</c:v>
                </c:pt>
              </c:numCache>
            </c:numRef>
          </c:cat>
          <c:val>
            <c:numRef>
              <c:f>'Chart Data'!$V$2:$V$15</c:f>
              <c:numCache>
                <c:formatCode>0%</c:formatCode>
                <c:ptCount val="14"/>
                <c:pt idx="0">
                  <c:v>1</c:v>
                </c:pt>
                <c:pt idx="1">
                  <c:v>0.784810126582</c:v>
                </c:pt>
                <c:pt idx="2">
                  <c:v>0.670886075949</c:v>
                </c:pt>
                <c:pt idx="3">
                  <c:v>0.607594936709</c:v>
                </c:pt>
                <c:pt idx="4">
                  <c:v>0.544303797468</c:v>
                </c:pt>
                <c:pt idx="5">
                  <c:v>0.443037974684</c:v>
                </c:pt>
                <c:pt idx="6">
                  <c:v>0.379746835443</c:v>
                </c:pt>
                <c:pt idx="7">
                  <c:v>0.354430379747</c:v>
                </c:pt>
                <c:pt idx="8">
                  <c:v>0.354430379747</c:v>
                </c:pt>
                <c:pt idx="9">
                  <c:v>0.329113924051</c:v>
                </c:pt>
                <c:pt idx="10">
                  <c:v>0.291139240506</c:v>
                </c:pt>
                <c:pt idx="11">
                  <c:v>0.291139240506</c:v>
                </c:pt>
                <c:pt idx="12">
                  <c:v>0.278481012658</c:v>
                </c:pt>
                <c:pt idx="13">
                  <c:v>0.253164556962</c:v>
                </c:pt>
              </c:numCache>
            </c:numRef>
          </c:val>
          <c:smooth val="0"/>
        </c:ser>
        <c:ser>
          <c:idx val="11"/>
          <c:order val="11"/>
          <c:tx>
            <c:v>2024-12</c:v>
          </c:tx>
          <c:spPr>
            <a:ln xmlns:a="http://schemas.openxmlformats.org/drawingml/2006/main" w="11906">
              <a:solidFill>
                <a:srgbClr val="745175"/>
              </a:solidFill>
            </a:ln>
          </c:spPr>
          <c:marker>
            <c:symbol val="none"/>
          </c:marker>
          <c:cat>
            <c:numRef>
              <c:f>'Chart Data'!$W$2:$W$14</c:f>
              <c:numCache>
                <c:formatCode>0</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'Chart Data'!$X$2:$X$14</c:f>
              <c:numCache>
                <c:formatCode>0%</c:formatCode>
                <c:ptCount val="13"/>
                <c:pt idx="0">
                  <c:v>1</c:v>
                </c:pt>
                <c:pt idx="1">
                  <c:v>0.688311688312</c:v>
                </c:pt>
                <c:pt idx="2">
                  <c:v>0.584415584416</c:v>
                </c:pt>
                <c:pt idx="3">
                  <c:v>0.467532467532</c:v>
                </c:pt>
                <c:pt idx="4">
                  <c:v>0.415584415584</c:v>
                </c:pt>
                <c:pt idx="5">
                  <c:v>0.402597402597</c:v>
                </c:pt>
                <c:pt idx="6">
                  <c:v>0.376623376623</c:v>
                </c:pt>
                <c:pt idx="7">
                  <c:v>0.350649350649</c:v>
                </c:pt>
                <c:pt idx="8">
                  <c:v>0.311688311688</c:v>
                </c:pt>
                <c:pt idx="9">
                  <c:v>0.311688311688</c:v>
                </c:pt>
                <c:pt idx="10">
                  <c:v>0.285714285714</c:v>
                </c:pt>
                <c:pt idx="11">
                  <c:v>0.25974025974</c:v>
                </c:pt>
                <c:pt idx="12">
                  <c:v>0.25974025974</c:v>
                </c:pt>
              </c:numCache>
            </c:numRef>
          </c:val>
          <c:smooth val="0"/>
        </c:ser>
        <c:ser>
          <c:idx val="12"/>
          <c:order val="12"/>
          <c:tx>
            <c:v>2025-01</c:v>
          </c:tx>
          <c:spPr>
            <a:ln xmlns:a="http://schemas.openxmlformats.org/drawingml/2006/main" w="11906">
              <a:solidFill>
                <a:srgbClr val="6F527A"/>
              </a:solidFill>
            </a:ln>
          </c:spPr>
          <c:marker>
            <c:symbol val="none"/>
          </c:marker>
          <c:cat>
            <c:numRef>
              <c:f>'Chart Data'!$Y$2:$Y$13</c:f>
              <c:numCache>
                <c:formatCode>0</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Data'!$Z$2:$Z$13</c:f>
              <c:numCache>
                <c:formatCode>0%</c:formatCode>
                <c:ptCount val="12"/>
                <c:pt idx="0">
                  <c:v>1</c:v>
                </c:pt>
                <c:pt idx="1">
                  <c:v>0.857142857143</c:v>
                </c:pt>
                <c:pt idx="2">
                  <c:v>0.678571428571</c:v>
                </c:pt>
                <c:pt idx="3">
                  <c:v>0.583333333333</c:v>
                </c:pt>
                <c:pt idx="4">
                  <c:v>0.511904761905</c:v>
                </c:pt>
                <c:pt idx="5">
                  <c:v>0.440476190476</c:v>
                </c:pt>
                <c:pt idx="6">
                  <c:v>0.404761904762</c:v>
                </c:pt>
                <c:pt idx="7">
                  <c:v>0.357142857143</c:v>
                </c:pt>
                <c:pt idx="8">
                  <c:v>0.345238095238</c:v>
                </c:pt>
                <c:pt idx="9">
                  <c:v>0.333333333333</c:v>
                </c:pt>
                <c:pt idx="10">
                  <c:v>0.321428571429</c:v>
                </c:pt>
                <c:pt idx="11">
                  <c:v>0.297619047619</c:v>
                </c:pt>
              </c:numCache>
            </c:numRef>
          </c:val>
          <c:smooth val="0"/>
        </c:ser>
        <c:ser>
          <c:idx val="13"/>
          <c:order val="13"/>
          <c:tx>
            <c:v>2025-02</c:v>
          </c:tx>
          <c:spPr>
            <a:ln xmlns:a="http://schemas.openxmlformats.org/drawingml/2006/main" w="11906">
              <a:solidFill>
                <a:srgbClr val="69547F"/>
              </a:solidFill>
            </a:ln>
          </c:spPr>
          <c:marker>
            <c:symbol val="none"/>
          </c:marker>
          <c:cat>
            <c:numRef>
              <c:f>'Chart Data'!$AA$2:$AA$12</c:f>
              <c:numCache>
                <c:formatCode>0</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Data'!$AB$2:$AB$12</c:f>
              <c:numCache>
                <c:formatCode>0%</c:formatCode>
                <c:ptCount val="11"/>
                <c:pt idx="0">
                  <c:v>1</c:v>
                </c:pt>
                <c:pt idx="1">
                  <c:v>0.708860759494</c:v>
                </c:pt>
                <c:pt idx="2">
                  <c:v>0.556962025316</c:v>
                </c:pt>
                <c:pt idx="3">
                  <c:v>0.46835443038</c:v>
                </c:pt>
                <c:pt idx="4">
                  <c:v>0.417721518987</c:v>
                </c:pt>
                <c:pt idx="5">
                  <c:v>0.392405063291</c:v>
                </c:pt>
                <c:pt idx="6">
                  <c:v>0.367088607595</c:v>
                </c:pt>
                <c:pt idx="7">
                  <c:v>0.329113924051</c:v>
                </c:pt>
                <c:pt idx="8">
                  <c:v>0.316455696203</c:v>
                </c:pt>
                <c:pt idx="9">
                  <c:v>0.316455696203</c:v>
                </c:pt>
                <c:pt idx="10">
                  <c:v>0.303797468354</c:v>
                </c:pt>
              </c:numCache>
            </c:numRef>
          </c:val>
          <c:smooth val="0"/>
        </c:ser>
        <c:ser>
          <c:idx val="14"/>
          <c:order val="14"/>
          <c:tx>
            <c:v>2025-03</c:v>
          </c:tx>
          <c:spPr>
            <a:ln xmlns:a="http://schemas.openxmlformats.org/drawingml/2006/main" w="11906">
              <a:solidFill>
                <a:srgbClr val="635583"/>
              </a:solidFill>
            </a:ln>
          </c:spPr>
          <c:marker>
            <c:symbol val="none"/>
          </c:marker>
          <c:cat>
            <c:numRef>
              <c:f>'Chart Data'!$AC$2:$AC$11</c:f>
              <c:numCache>
                <c:formatCode>0</c:formatCode>
                <c:ptCount val="10"/>
                <c:pt idx="0">
                  <c:v>0</c:v>
                </c:pt>
                <c:pt idx="1">
                  <c:v>1</c:v>
                </c:pt>
                <c:pt idx="2">
                  <c:v>2</c:v>
                </c:pt>
                <c:pt idx="3">
                  <c:v>3</c:v>
                </c:pt>
                <c:pt idx="4">
                  <c:v>4</c:v>
                </c:pt>
                <c:pt idx="5">
                  <c:v>5</c:v>
                </c:pt>
                <c:pt idx="6">
                  <c:v>6</c:v>
                </c:pt>
                <c:pt idx="7">
                  <c:v>7</c:v>
                </c:pt>
                <c:pt idx="8">
                  <c:v>8</c:v>
                </c:pt>
                <c:pt idx="9">
                  <c:v>9</c:v>
                </c:pt>
              </c:numCache>
            </c:numRef>
          </c:cat>
          <c:val>
            <c:numRef>
              <c:f>'Chart Data'!$AD$2:$AD$11</c:f>
              <c:numCache>
                <c:formatCode>0%</c:formatCode>
                <c:ptCount val="10"/>
                <c:pt idx="0">
                  <c:v>1</c:v>
                </c:pt>
                <c:pt idx="1">
                  <c:v>0.833333333333</c:v>
                </c:pt>
                <c:pt idx="2">
                  <c:v>0.690476190476</c:v>
                </c:pt>
                <c:pt idx="3">
                  <c:v>0.607142857143</c:v>
                </c:pt>
                <c:pt idx="4">
                  <c:v>0.559523809524</c:v>
                </c:pt>
                <c:pt idx="5">
                  <c:v>0.511904761905</c:v>
                </c:pt>
                <c:pt idx="6">
                  <c:v>0.488095238095</c:v>
                </c:pt>
                <c:pt idx="7">
                  <c:v>0.464285714286</c:v>
                </c:pt>
                <c:pt idx="8">
                  <c:v>0.440476190476</c:v>
                </c:pt>
                <c:pt idx="9">
                  <c:v>0.428571428571</c:v>
                </c:pt>
              </c:numCache>
            </c:numRef>
          </c:val>
          <c:smooth val="0"/>
        </c:ser>
        <c:ser>
          <c:idx val="15"/>
          <c:order val="15"/>
          <c:tx>
            <c:v>2025-04</c:v>
          </c:tx>
          <c:spPr>
            <a:ln xmlns:a="http://schemas.openxmlformats.org/drawingml/2006/main" w="11906">
              <a:solidFill>
                <a:srgbClr val="5D5788"/>
              </a:solidFill>
            </a:ln>
          </c:spPr>
          <c:marker>
            <c:symbol val="none"/>
          </c:marker>
          <c:cat>
            <c:numRef>
              <c:f>'Chart Data'!$AE$2:$AE$10</c:f>
              <c:numCache>
                <c:formatCode>0</c:formatCode>
                <c:ptCount val="9"/>
                <c:pt idx="0">
                  <c:v>0</c:v>
                </c:pt>
                <c:pt idx="1">
                  <c:v>1</c:v>
                </c:pt>
                <c:pt idx="2">
                  <c:v>2</c:v>
                </c:pt>
                <c:pt idx="3">
                  <c:v>3</c:v>
                </c:pt>
                <c:pt idx="4">
                  <c:v>4</c:v>
                </c:pt>
                <c:pt idx="5">
                  <c:v>5</c:v>
                </c:pt>
                <c:pt idx="6">
                  <c:v>6</c:v>
                </c:pt>
                <c:pt idx="7">
                  <c:v>7</c:v>
                </c:pt>
                <c:pt idx="8">
                  <c:v>8</c:v>
                </c:pt>
              </c:numCache>
            </c:numRef>
          </c:cat>
          <c:val>
            <c:numRef>
              <c:f>'Chart Data'!$AF$2:$AF$10</c:f>
              <c:numCache>
                <c:formatCode>0%</c:formatCode>
                <c:ptCount val="9"/>
                <c:pt idx="0">
                  <c:v>1</c:v>
                </c:pt>
                <c:pt idx="1">
                  <c:v>0.8125</c:v>
                </c:pt>
                <c:pt idx="2">
                  <c:v>0.6375</c:v>
                </c:pt>
                <c:pt idx="3">
                  <c:v>0.6</c:v>
                </c:pt>
                <c:pt idx="4">
                  <c:v>0.575</c:v>
                </c:pt>
                <c:pt idx="5">
                  <c:v>0.55</c:v>
                </c:pt>
                <c:pt idx="6">
                  <c:v>0.45</c:v>
                </c:pt>
                <c:pt idx="7">
                  <c:v>0.425</c:v>
                </c:pt>
                <c:pt idx="8">
                  <c:v>0.4125</c:v>
                </c:pt>
              </c:numCache>
            </c:numRef>
          </c:val>
          <c:smooth val="0"/>
        </c:ser>
        <c:ser>
          <c:idx val="16"/>
          <c:order val="16"/>
          <c:tx>
            <c:v>2025-05</c:v>
          </c:tx>
          <c:spPr>
            <a:ln xmlns:a="http://schemas.openxmlformats.org/drawingml/2006/main" w="11906">
              <a:solidFill>
                <a:srgbClr val="57588D"/>
              </a:solidFill>
            </a:ln>
          </c:spPr>
          <c:marker>
            <c:symbol val="none"/>
          </c:marker>
          <c:cat>
            <c:numRef>
              <c:f>'Chart Data'!$AG$2:$AG$9</c:f>
              <c:numCache>
                <c:formatCode>0</c:formatCode>
                <c:ptCount val="8"/>
                <c:pt idx="0">
                  <c:v>0</c:v>
                </c:pt>
                <c:pt idx="1">
                  <c:v>1</c:v>
                </c:pt>
                <c:pt idx="2">
                  <c:v>2</c:v>
                </c:pt>
                <c:pt idx="3">
                  <c:v>3</c:v>
                </c:pt>
                <c:pt idx="4">
                  <c:v>4</c:v>
                </c:pt>
                <c:pt idx="5">
                  <c:v>5</c:v>
                </c:pt>
                <c:pt idx="6">
                  <c:v>6</c:v>
                </c:pt>
                <c:pt idx="7">
                  <c:v>7</c:v>
                </c:pt>
              </c:numCache>
            </c:numRef>
          </c:cat>
          <c:val>
            <c:numRef>
              <c:f>'Chart Data'!$AH$2:$AH$9</c:f>
              <c:numCache>
                <c:formatCode>0%</c:formatCode>
                <c:ptCount val="8"/>
                <c:pt idx="0">
                  <c:v>1</c:v>
                </c:pt>
                <c:pt idx="1">
                  <c:v>0.770700636943</c:v>
                </c:pt>
                <c:pt idx="2">
                  <c:v>0.656050955414</c:v>
                </c:pt>
                <c:pt idx="3">
                  <c:v>0.573248407643</c:v>
                </c:pt>
                <c:pt idx="4">
                  <c:v>0.547770700637</c:v>
                </c:pt>
                <c:pt idx="5">
                  <c:v>0.509554140127</c:v>
                </c:pt>
                <c:pt idx="6">
                  <c:v>0.484076433121</c:v>
                </c:pt>
                <c:pt idx="7">
                  <c:v>0.433121019108</c:v>
                </c:pt>
              </c:numCache>
            </c:numRef>
          </c:val>
          <c:smooth val="0"/>
        </c:ser>
        <c:ser>
          <c:idx val="17"/>
          <c:order val="17"/>
          <c:tx>
            <c:v>2025-06</c:v>
          </c:tx>
          <c:spPr>
            <a:ln xmlns:a="http://schemas.openxmlformats.org/drawingml/2006/main" w="11906">
              <a:solidFill>
                <a:srgbClr val="525A92"/>
              </a:solidFill>
            </a:ln>
          </c:spPr>
          <c:marker>
            <c:symbol val="none"/>
          </c:marker>
          <c:cat>
            <c:numRef>
              <c:f>'Chart Data'!$AI$2:$AI$8</c:f>
              <c:numCache>
                <c:formatCode>0</c:formatCode>
                <c:ptCount val="7"/>
                <c:pt idx="0">
                  <c:v>0</c:v>
                </c:pt>
                <c:pt idx="1">
                  <c:v>1</c:v>
                </c:pt>
                <c:pt idx="2">
                  <c:v>2</c:v>
                </c:pt>
                <c:pt idx="3">
                  <c:v>3</c:v>
                </c:pt>
                <c:pt idx="4">
                  <c:v>4</c:v>
                </c:pt>
                <c:pt idx="5">
                  <c:v>5</c:v>
                </c:pt>
                <c:pt idx="6">
                  <c:v>6</c:v>
                </c:pt>
              </c:numCache>
            </c:numRef>
          </c:cat>
          <c:val>
            <c:numRef>
              <c:f>'Chart Data'!$AJ$2:$AJ$8</c:f>
              <c:numCache>
                <c:formatCode>0%</c:formatCode>
                <c:ptCount val="7"/>
                <c:pt idx="0">
                  <c:v>1</c:v>
                </c:pt>
                <c:pt idx="1">
                  <c:v>0.86170212766</c:v>
                </c:pt>
                <c:pt idx="2">
                  <c:v>0.776595744681</c:v>
                </c:pt>
                <c:pt idx="3">
                  <c:v>0.670212765957</c:v>
                </c:pt>
                <c:pt idx="4">
                  <c:v>0.606382978723</c:v>
                </c:pt>
                <c:pt idx="5">
                  <c:v>0.542553191489</c:v>
                </c:pt>
                <c:pt idx="6">
                  <c:v>0.489361702128</c:v>
                </c:pt>
              </c:numCache>
            </c:numRef>
          </c:val>
          <c:smooth val="0"/>
        </c:ser>
        <c:ser>
          <c:idx val="18"/>
          <c:order val="18"/>
          <c:tx>
            <c:v>2025-07</c:v>
          </c:tx>
          <c:spPr>
            <a:ln xmlns:a="http://schemas.openxmlformats.org/drawingml/2006/main" w="11906">
              <a:solidFill>
                <a:srgbClr val="4C5B96"/>
              </a:solidFill>
            </a:ln>
          </c:spPr>
          <c:marker>
            <c:symbol val="none"/>
          </c:marker>
          <c:cat>
            <c:numRef>
              <c:f>'Chart Data'!$AK$2:$AK$7</c:f>
              <c:numCache>
                <c:formatCode>0</c:formatCode>
                <c:ptCount val="6"/>
                <c:pt idx="0">
                  <c:v>0</c:v>
                </c:pt>
                <c:pt idx="1">
                  <c:v>1</c:v>
                </c:pt>
                <c:pt idx="2">
                  <c:v>2</c:v>
                </c:pt>
                <c:pt idx="3">
                  <c:v>3</c:v>
                </c:pt>
                <c:pt idx="4">
                  <c:v>4</c:v>
                </c:pt>
                <c:pt idx="5">
                  <c:v>5</c:v>
                </c:pt>
              </c:numCache>
            </c:numRef>
          </c:cat>
          <c:val>
            <c:numRef>
              <c:f>'Chart Data'!$AL$2:$AL$7</c:f>
              <c:numCache>
                <c:formatCode>0%</c:formatCode>
                <c:ptCount val="6"/>
                <c:pt idx="0">
                  <c:v>1</c:v>
                </c:pt>
                <c:pt idx="1">
                  <c:v>0.885057471264</c:v>
                </c:pt>
                <c:pt idx="2">
                  <c:v>0.735632183908</c:v>
                </c:pt>
                <c:pt idx="3">
                  <c:v>0.609195402299</c:v>
                </c:pt>
                <c:pt idx="4">
                  <c:v>0.528735632184</c:v>
                </c:pt>
                <c:pt idx="5">
                  <c:v>0.494252873563</c:v>
                </c:pt>
              </c:numCache>
            </c:numRef>
          </c:val>
          <c:smooth val="0"/>
        </c:ser>
        <c:ser>
          <c:idx val="19"/>
          <c:order val="19"/>
          <c:tx>
            <c:v>2025-08</c:v>
          </c:tx>
          <c:spPr>
            <a:ln xmlns:a="http://schemas.openxmlformats.org/drawingml/2006/main" w="11906">
              <a:solidFill>
                <a:srgbClr val="465D9B"/>
              </a:solidFill>
            </a:ln>
          </c:spPr>
          <c:marker>
            <c:symbol val="none"/>
          </c:marker>
          <c:cat>
            <c:numRef>
              <c:f>'Chart Data'!$AM$2:$AM$6</c:f>
              <c:numCache>
                <c:formatCode>0</c:formatCode>
                <c:ptCount val="5"/>
                <c:pt idx="0">
                  <c:v>0</c:v>
                </c:pt>
                <c:pt idx="1">
                  <c:v>1</c:v>
                </c:pt>
                <c:pt idx="2">
                  <c:v>2</c:v>
                </c:pt>
                <c:pt idx="3">
                  <c:v>3</c:v>
                </c:pt>
                <c:pt idx="4">
                  <c:v>4</c:v>
                </c:pt>
              </c:numCache>
            </c:numRef>
          </c:cat>
          <c:val>
            <c:numRef>
              <c:f>'Chart Data'!$AN$2:$AN$6</c:f>
              <c:numCache>
                <c:formatCode>0%</c:formatCode>
                <c:ptCount val="5"/>
                <c:pt idx="0">
                  <c:v>1</c:v>
                </c:pt>
                <c:pt idx="1">
                  <c:v>0.802197802198</c:v>
                </c:pt>
                <c:pt idx="2">
                  <c:v>0.747252747253</c:v>
                </c:pt>
                <c:pt idx="3">
                  <c:v>0.692307692308</c:v>
                </c:pt>
                <c:pt idx="4">
                  <c:v>0.626373626374</c:v>
                </c:pt>
              </c:numCache>
            </c:numRef>
          </c:val>
          <c:smooth val="0"/>
        </c:ser>
        <c:ser>
          <c:idx val="20"/>
          <c:order val="20"/>
          <c:tx>
            <c:v>2025-09</c:v>
          </c:tx>
          <c:spPr>
            <a:ln xmlns:a="http://schemas.openxmlformats.org/drawingml/2006/main" w="11906">
              <a:solidFill>
                <a:srgbClr val="405EA0"/>
              </a:solidFill>
            </a:ln>
          </c:spPr>
          <c:marker>
            <c:symbol val="none"/>
          </c:marker>
          <c:cat>
            <c:numRef>
              <c:f>'Chart Data'!$AO$2:$AO$5</c:f>
              <c:numCache>
                <c:formatCode>0</c:formatCode>
                <c:ptCount val="4"/>
                <c:pt idx="0">
                  <c:v>0</c:v>
                </c:pt>
                <c:pt idx="1">
                  <c:v>1</c:v>
                </c:pt>
                <c:pt idx="2">
                  <c:v>2</c:v>
                </c:pt>
                <c:pt idx="3">
                  <c:v>3</c:v>
                </c:pt>
              </c:numCache>
            </c:numRef>
          </c:cat>
          <c:val>
            <c:numRef>
              <c:f>'Chart Data'!$AP$2:$AP$5</c:f>
              <c:numCache>
                <c:formatCode>0%</c:formatCode>
                <c:ptCount val="4"/>
                <c:pt idx="0">
                  <c:v>1</c:v>
                </c:pt>
                <c:pt idx="1">
                  <c:v>0.770114942529</c:v>
                </c:pt>
                <c:pt idx="2">
                  <c:v>0.712643678161</c:v>
                </c:pt>
                <c:pt idx="3">
                  <c:v>0.620689655172</c:v>
                </c:pt>
              </c:numCache>
            </c:numRef>
          </c:val>
          <c:smooth val="0"/>
        </c:ser>
        <c:ser>
          <c:idx val="21"/>
          <c:order val="21"/>
          <c:tx>
            <c:v>2025-10</c:v>
          </c:tx>
          <c:spPr>
            <a:ln xmlns:a="http://schemas.openxmlformats.org/drawingml/2006/main" w="11906">
              <a:solidFill>
                <a:srgbClr val="3B60A5"/>
              </a:solidFill>
            </a:ln>
          </c:spPr>
          <c:marker>
            <c:symbol val="none"/>
          </c:marker>
          <c:cat>
            <c:numRef>
              <c:f>'Chart Data'!$AQ$2:$AQ$4</c:f>
              <c:numCache>
                <c:formatCode>0</c:formatCode>
                <c:ptCount val="3"/>
                <c:pt idx="0">
                  <c:v>0</c:v>
                </c:pt>
                <c:pt idx="1">
                  <c:v>1</c:v>
                </c:pt>
                <c:pt idx="2">
                  <c:v>2</c:v>
                </c:pt>
              </c:numCache>
            </c:numRef>
          </c:cat>
          <c:val>
            <c:numRef>
              <c:f>'Chart Data'!$AR$2:$AR$4</c:f>
              <c:numCache>
                <c:formatCode>0%</c:formatCode>
                <c:ptCount val="3"/>
                <c:pt idx="0">
                  <c:v>1</c:v>
                </c:pt>
                <c:pt idx="1">
                  <c:v>0.837209302326</c:v>
                </c:pt>
                <c:pt idx="2">
                  <c:v>0.802325581395</c:v>
                </c:pt>
              </c:numCache>
            </c:numRef>
          </c:val>
          <c:smooth val="0"/>
        </c:ser>
        <c:ser>
          <c:idx val="22"/>
          <c:order val="22"/>
          <c:tx>
            <c:v>2025-11</c:v>
          </c:tx>
          <c:spPr>
            <a:ln xmlns:a="http://schemas.openxmlformats.org/drawingml/2006/main" w="11906">
              <a:solidFill>
                <a:srgbClr val="3561A9"/>
              </a:solidFill>
            </a:ln>
          </c:spPr>
          <c:marker>
            <c:symbol val="none"/>
          </c:marker>
          <c:cat>
            <c:numRef>
              <c:f>'Chart Data'!$AS$2:$AS$3</c:f>
              <c:numCache>
                <c:formatCode>0</c:formatCode>
                <c:ptCount val="2"/>
                <c:pt idx="0">
                  <c:v>0</c:v>
                </c:pt>
                <c:pt idx="1">
                  <c:v>1</c:v>
                </c:pt>
              </c:numCache>
            </c:numRef>
          </c:cat>
          <c:val>
            <c:numRef>
              <c:f>'Chart Data'!$AT$2:$AT$3</c:f>
              <c:numCache>
                <c:formatCode>0%</c:formatCode>
                <c:ptCount val="2"/>
                <c:pt idx="0">
                  <c:v>1</c:v>
                </c:pt>
                <c:pt idx="1">
                  <c:v>0.829787234043</c:v>
                </c:pt>
              </c:numCache>
            </c:numRef>
          </c:val>
          <c:smooth val="0"/>
        </c:ser>
        <c:ser>
          <c:idx val="23"/>
          <c:order val="23"/>
          <c:tx>
            <c:v>2025-12</c:v>
          </c:tx>
          <c:spPr>
            <a:ln xmlns:a="http://schemas.openxmlformats.org/drawingml/2006/main" w="11906">
              <a:solidFill>
                <a:srgbClr val="2F63AE"/>
              </a:solidFill>
            </a:ln>
          </c:spPr>
          <c:marker>
            <c:symbol val="none"/>
          </c:marker>
          <c:cat>
            <c:numRef>
              <c:f>'Chart Data'!$AU$2:$AU$2</c:f>
              <c:numCache>
                <c:formatCode>0</c:formatCode>
                <c:ptCount val="1"/>
                <c:pt idx="0">
                  <c:v>0</c:v>
                </c:pt>
              </c:numCache>
            </c:numRef>
          </c:cat>
          <c:val>
            <c:numRef>
              <c:f>'Chart Data'!$AV$2:$AV$2</c:f>
              <c:numCache>
                <c:formatCode>0%</c:formatCode>
                <c:ptCount val="1"/>
                <c:pt idx="0">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Customer age</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Retained</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5"/>
      </c:valAx>
    </c:plotArea>
    <c:plotVisOnly val="1"/>
    <c:dispBlanksAs val="gap"/>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72D3C"/>
                </a:solidFill>
                <a:latin typeface="Arial"/>
                <a:ea typeface="Arial"/>
                <a:cs typeface="Arial"/>
              </a:rPr>
              <a:t>search / build skill</a:t>
            </a:r>
          </a:p>
        </c:rich>
      </c:tx>
      <c:overlay val="0"/>
      <c:txPr>
        <a:bodyPr xmlns:a="http://schemas.openxmlformats.org/drawingml/2006/main" anchorCtr="1"/>
        <a:lstStyle xmlns:a="http://schemas.openxmlformats.org/drawingml/2006/main"/>
        <a:p xmlns:a="http://schemas.openxmlformats.org/drawingml/2006/main">
          <a:pPr>
            <a:defRPr sz="1425" b="1">
              <a:solidFill>
                <a:srgbClr val="172D3C"/>
              </a:solidFill>
              <a:latin typeface="Arial"/>
              <a:ea typeface="Arial"/>
              <a:cs typeface="Arial"/>
            </a:defRPr>
          </a:pPr>
        </a:p>
      </c:txPr>
    </c:title>
    <c:plotArea>
      <c:lineChart>
        <c:grouping val="standard"/>
        <c:varyColors val="0"/>
        <c:ser>
          <c:idx val="0"/>
          <c:order val="0"/>
          <c:tx>
            <c:v>2024-01</c:v>
          </c:tx>
          <c:spPr>
            <a:ln xmlns:a="http://schemas.openxmlformats.org/drawingml/2006/main" w="11906">
              <a:solidFill>
                <a:srgbClr val="B44041"/>
              </a:solidFill>
            </a:ln>
          </c:spPr>
          <c:marker>
            <c:symbol val="none"/>
          </c:marker>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1</c:v>
                </c:pt>
                <c:pt idx="1">
                  <c:v>0.897435897436</c:v>
                </c:pt>
                <c:pt idx="2">
                  <c:v>0.871794871795</c:v>
                </c:pt>
                <c:pt idx="3">
                  <c:v>0.794871794872</c:v>
                </c:pt>
                <c:pt idx="4">
                  <c:v>0.692307692308</c:v>
                </c:pt>
                <c:pt idx="5">
                  <c:v>0.666666666667</c:v>
                </c:pt>
                <c:pt idx="6">
                  <c:v>0.615384615385</c:v>
                </c:pt>
                <c:pt idx="7">
                  <c:v>0.615384615385</c:v>
                </c:pt>
                <c:pt idx="8">
                  <c:v>0.589743589744</c:v>
                </c:pt>
                <c:pt idx="9">
                  <c:v>0.564102564103</c:v>
                </c:pt>
                <c:pt idx="10">
                  <c:v>0.564102564103</c:v>
                </c:pt>
                <c:pt idx="11">
                  <c:v>0.487179487179</c:v>
                </c:pt>
                <c:pt idx="12">
                  <c:v>0.461538461538</c:v>
                </c:pt>
                <c:pt idx="13">
                  <c:v>0.461538461538</c:v>
                </c:pt>
                <c:pt idx="14">
                  <c:v>0.461538461538</c:v>
                </c:pt>
                <c:pt idx="15">
                  <c:v>0.435897435897</c:v>
                </c:pt>
                <c:pt idx="16">
                  <c:v>0.410256410256</c:v>
                </c:pt>
                <c:pt idx="17">
                  <c:v>0.410256410256</c:v>
                </c:pt>
                <c:pt idx="18">
                  <c:v>0.410256410256</c:v>
                </c:pt>
                <c:pt idx="19">
                  <c:v>0.410256410256</c:v>
                </c:pt>
                <c:pt idx="20">
                  <c:v>0.410256410256</c:v>
                </c:pt>
                <c:pt idx="21">
                  <c:v>0.410256410256</c:v>
                </c:pt>
                <c:pt idx="22">
                  <c:v>0.358974358974</c:v>
                </c:pt>
                <c:pt idx="23">
                  <c:v>0.358974358974</c:v>
                </c:pt>
              </c:numCache>
            </c:numRef>
          </c:val>
          <c:smooth val="0"/>
        </c:ser>
        <c:ser>
          <c:idx val="1"/>
          <c:order val="1"/>
          <c:tx>
            <c:v>2024-02</c:v>
          </c:tx>
          <c:spPr>
            <a:ln xmlns:a="http://schemas.openxmlformats.org/drawingml/2006/main" w="11906">
              <a:solidFill>
                <a:srgbClr val="AE4246"/>
              </a:solidFill>
            </a:ln>
          </c:spPr>
          <c:marker>
            <c:symbol val="none"/>
          </c:marker>
          <c:cat>
            <c:numRef>
              <c:f>'Chart Data'!$C$2:$C$24</c:f>
              <c:numCache>
                <c:formatCode>0</c:formatCode>
                <c:ptCount val="2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numCache>
            </c:numRef>
          </c:cat>
          <c:val>
            <c:numRef>
              <c:f>'Chart Data'!$D$2:$D$24</c:f>
              <c:numCache>
                <c:formatCode>0%</c:formatCode>
                <c:ptCount val="23"/>
                <c:pt idx="0">
                  <c:v>1</c:v>
                </c:pt>
                <c:pt idx="1">
                  <c:v>0.894736842105</c:v>
                </c:pt>
                <c:pt idx="2">
                  <c:v>0.868421052632</c:v>
                </c:pt>
                <c:pt idx="3">
                  <c:v>0.789473684211</c:v>
                </c:pt>
                <c:pt idx="4">
                  <c:v>0.710526315789</c:v>
                </c:pt>
                <c:pt idx="5">
                  <c:v>0.657894736842</c:v>
                </c:pt>
                <c:pt idx="6">
                  <c:v>0.605263157895</c:v>
                </c:pt>
                <c:pt idx="7">
                  <c:v>0.526315789474</c:v>
                </c:pt>
                <c:pt idx="8">
                  <c:v>0.5</c:v>
                </c:pt>
                <c:pt idx="9">
                  <c:v>0.5</c:v>
                </c:pt>
                <c:pt idx="10">
                  <c:v>0.5</c:v>
                </c:pt>
                <c:pt idx="11">
                  <c:v>0.447368421053</c:v>
                </c:pt>
                <c:pt idx="12">
                  <c:v>0.421052631579</c:v>
                </c:pt>
                <c:pt idx="13">
                  <c:v>0.394736842105</c:v>
                </c:pt>
                <c:pt idx="14">
                  <c:v>0.394736842105</c:v>
                </c:pt>
                <c:pt idx="15">
                  <c:v>0.368421052632</c:v>
                </c:pt>
                <c:pt idx="16">
                  <c:v>0.342105263158</c:v>
                </c:pt>
                <c:pt idx="17">
                  <c:v>0.342105263158</c:v>
                </c:pt>
                <c:pt idx="18">
                  <c:v>0.342105263158</c:v>
                </c:pt>
                <c:pt idx="19">
                  <c:v>0.342105263158</c:v>
                </c:pt>
                <c:pt idx="20">
                  <c:v>0.342105263158</c:v>
                </c:pt>
                <c:pt idx="21">
                  <c:v>0.342105263158</c:v>
                </c:pt>
                <c:pt idx="22">
                  <c:v>0.342105263158</c:v>
                </c:pt>
              </c:numCache>
            </c:numRef>
          </c:val>
          <c:smooth val="0"/>
        </c:ser>
        <c:ser>
          <c:idx val="2"/>
          <c:order val="2"/>
          <c:tx>
            <c:v>2024-03</c:v>
          </c:tx>
          <c:spPr>
            <a:ln xmlns:a="http://schemas.openxmlformats.org/drawingml/2006/main" w="11906">
              <a:solidFill>
                <a:srgbClr val="A8434A"/>
              </a:solidFill>
            </a:ln>
          </c:spPr>
          <c:marker>
            <c:symbol val="none"/>
          </c:marker>
          <c:cat>
            <c:numRef>
              <c:f>'Chart Data'!$E$2:$E$23</c:f>
              <c:numCache>
                <c:formatCode>0</c:formatCod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numCache>
            </c:numRef>
          </c:cat>
          <c:val>
            <c:numRef>
              <c:f>'Chart Data'!$F$2:$F$23</c:f>
              <c:numCache>
                <c:formatCode>0%</c:formatCode>
                <c:ptCount val="22"/>
                <c:pt idx="0">
                  <c:v>1</c:v>
                </c:pt>
                <c:pt idx="1">
                  <c:v>0.74358974359</c:v>
                </c:pt>
                <c:pt idx="2">
                  <c:v>0.615384615385</c:v>
                </c:pt>
                <c:pt idx="3">
                  <c:v>0.615384615385</c:v>
                </c:pt>
                <c:pt idx="4">
                  <c:v>0.589743589744</c:v>
                </c:pt>
                <c:pt idx="5">
                  <c:v>0.487179487179</c:v>
                </c:pt>
                <c:pt idx="6">
                  <c:v>0.487179487179</c:v>
                </c:pt>
                <c:pt idx="7">
                  <c:v>0.487179487179</c:v>
                </c:pt>
                <c:pt idx="8">
                  <c:v>0.461538461538</c:v>
                </c:pt>
                <c:pt idx="9">
                  <c:v>0.410256410256</c:v>
                </c:pt>
                <c:pt idx="10">
                  <c:v>0.358974358974</c:v>
                </c:pt>
                <c:pt idx="11">
                  <c:v>0.358974358974</c:v>
                </c:pt>
                <c:pt idx="12">
                  <c:v>0.358974358974</c:v>
                </c:pt>
                <c:pt idx="13">
                  <c:v>0.358974358974</c:v>
                </c:pt>
                <c:pt idx="14">
                  <c:v>0.333333333333</c:v>
                </c:pt>
                <c:pt idx="15">
                  <c:v>0.333333333333</c:v>
                </c:pt>
                <c:pt idx="16">
                  <c:v>0.333333333333</c:v>
                </c:pt>
                <c:pt idx="17">
                  <c:v>0.333333333333</c:v>
                </c:pt>
                <c:pt idx="18">
                  <c:v>0.333333333333</c:v>
                </c:pt>
                <c:pt idx="19">
                  <c:v>0.333333333333</c:v>
                </c:pt>
                <c:pt idx="20">
                  <c:v>0.333333333333</c:v>
                </c:pt>
                <c:pt idx="21">
                  <c:v>0.333333333333</c:v>
                </c:pt>
              </c:numCache>
            </c:numRef>
          </c:val>
          <c:smooth val="0"/>
        </c:ser>
        <c:ser>
          <c:idx val="3"/>
          <c:order val="3"/>
          <c:tx>
            <c:v>2024-04</c:v>
          </c:tx>
          <c:spPr>
            <a:ln xmlns:a="http://schemas.openxmlformats.org/drawingml/2006/main" w="11906">
              <a:solidFill>
                <a:srgbClr val="A3454F"/>
              </a:solidFill>
            </a:ln>
          </c:spPr>
          <c:marker>
            <c:symbol val="none"/>
          </c:marker>
          <c:cat>
            <c:numRef>
              <c:f>'Chart Data'!$G$2:$G$22</c:f>
              <c:numCache>
                <c:formatCode>0</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Data'!$H$2:$H$22</c:f>
              <c:numCache>
                <c:formatCode>0%</c:formatCode>
                <c:ptCount val="21"/>
                <c:pt idx="0">
                  <c:v>1</c:v>
                </c:pt>
                <c:pt idx="1">
                  <c:v>0.925</c:v>
                </c:pt>
                <c:pt idx="2">
                  <c:v>0.875</c:v>
                </c:pt>
                <c:pt idx="3">
                  <c:v>0.775</c:v>
                </c:pt>
                <c:pt idx="4">
                  <c:v>0.75</c:v>
                </c:pt>
                <c:pt idx="5">
                  <c:v>0.75</c:v>
                </c:pt>
                <c:pt idx="6">
                  <c:v>0.75</c:v>
                </c:pt>
                <c:pt idx="7">
                  <c:v>0.7</c:v>
                </c:pt>
                <c:pt idx="8">
                  <c:v>0.675</c:v>
                </c:pt>
                <c:pt idx="9">
                  <c:v>0.65</c:v>
                </c:pt>
                <c:pt idx="10">
                  <c:v>0.625</c:v>
                </c:pt>
                <c:pt idx="11">
                  <c:v>0.6</c:v>
                </c:pt>
                <c:pt idx="12">
                  <c:v>0.55</c:v>
                </c:pt>
                <c:pt idx="13">
                  <c:v>0.55</c:v>
                </c:pt>
                <c:pt idx="14">
                  <c:v>0.55</c:v>
                </c:pt>
                <c:pt idx="15">
                  <c:v>0.55</c:v>
                </c:pt>
                <c:pt idx="16">
                  <c:v>0.55</c:v>
                </c:pt>
                <c:pt idx="17">
                  <c:v>0.55</c:v>
                </c:pt>
                <c:pt idx="18">
                  <c:v>0.475</c:v>
                </c:pt>
                <c:pt idx="19">
                  <c:v>0.475</c:v>
                </c:pt>
                <c:pt idx="20">
                  <c:v>0.475</c:v>
                </c:pt>
              </c:numCache>
            </c:numRef>
          </c:val>
          <c:smooth val="0"/>
        </c:ser>
        <c:ser>
          <c:idx val="4"/>
          <c:order val="4"/>
          <c:tx>
            <c:v>2024-05</c:v>
          </c:tx>
          <c:spPr>
            <a:ln xmlns:a="http://schemas.openxmlformats.org/drawingml/2006/main" w="11906">
              <a:solidFill>
                <a:srgbClr val="9D4654"/>
              </a:solidFill>
            </a:ln>
          </c:spPr>
          <c:marker>
            <c:symbol val="none"/>
          </c:marker>
          <c:cat>
            <c:numRef>
              <c:f>'Chart Data'!$I$2:$I$21</c:f>
              <c:numCache>
                <c:formatCode>0</c:formatCod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numCache>
            </c:numRef>
          </c:cat>
          <c:val>
            <c:numRef>
              <c:f>'Chart Data'!$J$2:$J$21</c:f>
              <c:numCache>
                <c:formatCode>0%</c:formatCode>
                <c:ptCount val="20"/>
                <c:pt idx="0">
                  <c:v>1</c:v>
                </c:pt>
                <c:pt idx="1">
                  <c:v>0.8</c:v>
                </c:pt>
                <c:pt idx="2">
                  <c:v>0.8</c:v>
                </c:pt>
                <c:pt idx="3">
                  <c:v>0.775</c:v>
                </c:pt>
                <c:pt idx="4">
                  <c:v>0.75</c:v>
                </c:pt>
                <c:pt idx="5">
                  <c:v>0.725</c:v>
                </c:pt>
                <c:pt idx="6">
                  <c:v>0.7</c:v>
                </c:pt>
                <c:pt idx="7">
                  <c:v>0.675</c:v>
                </c:pt>
                <c:pt idx="8">
                  <c:v>0.625</c:v>
                </c:pt>
                <c:pt idx="9">
                  <c:v>0.6</c:v>
                </c:pt>
                <c:pt idx="10">
                  <c:v>0.55</c:v>
                </c:pt>
                <c:pt idx="11">
                  <c:v>0.525</c:v>
                </c:pt>
                <c:pt idx="12">
                  <c:v>0.5</c:v>
                </c:pt>
                <c:pt idx="13">
                  <c:v>0.5</c:v>
                </c:pt>
                <c:pt idx="14">
                  <c:v>0.5</c:v>
                </c:pt>
                <c:pt idx="15">
                  <c:v>0.5</c:v>
                </c:pt>
                <c:pt idx="16">
                  <c:v>0.475</c:v>
                </c:pt>
                <c:pt idx="17">
                  <c:v>0.475</c:v>
                </c:pt>
                <c:pt idx="18">
                  <c:v>0.475</c:v>
                </c:pt>
                <c:pt idx="19">
                  <c:v>0.475</c:v>
                </c:pt>
              </c:numCache>
            </c:numRef>
          </c:val>
          <c:smooth val="0"/>
        </c:ser>
        <c:ser>
          <c:idx val="5"/>
          <c:order val="5"/>
          <c:tx>
            <c:v>2024-06</c:v>
          </c:tx>
          <c:spPr>
            <a:ln xmlns:a="http://schemas.openxmlformats.org/drawingml/2006/main" w="11906">
              <a:solidFill>
                <a:srgbClr val="974859"/>
              </a:solidFill>
            </a:ln>
          </c:spPr>
          <c:marker>
            <c:symbol val="none"/>
          </c:marker>
          <c:cat>
            <c:numRef>
              <c:f>'Chart Data'!$K$2:$K$20</c:f>
              <c:numCache>
                <c:formatCode>0</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Cache>
            </c:numRef>
          </c:cat>
          <c:val>
            <c:numRef>
              <c:f>'Chart Data'!$L$2:$L$20</c:f>
              <c:numCache>
                <c:formatCode>0%</c:formatCode>
                <c:ptCount val="19"/>
                <c:pt idx="0">
                  <c:v>1</c:v>
                </c:pt>
                <c:pt idx="1">
                  <c:v>0.906976744186</c:v>
                </c:pt>
                <c:pt idx="2">
                  <c:v>0.767441860465</c:v>
                </c:pt>
                <c:pt idx="3">
                  <c:v>0.674418604651</c:v>
                </c:pt>
                <c:pt idx="4">
                  <c:v>0.581395348837</c:v>
                </c:pt>
                <c:pt idx="5">
                  <c:v>0.581395348837</c:v>
                </c:pt>
                <c:pt idx="6">
                  <c:v>0.558139534884</c:v>
                </c:pt>
                <c:pt idx="7">
                  <c:v>0.558139534884</c:v>
                </c:pt>
                <c:pt idx="8">
                  <c:v>0.511627906977</c:v>
                </c:pt>
                <c:pt idx="9">
                  <c:v>0.488372093023</c:v>
                </c:pt>
                <c:pt idx="10">
                  <c:v>0.441860465116</c:v>
                </c:pt>
                <c:pt idx="11">
                  <c:v>0.418604651163</c:v>
                </c:pt>
                <c:pt idx="12">
                  <c:v>0.418604651163</c:v>
                </c:pt>
                <c:pt idx="13">
                  <c:v>0.418604651163</c:v>
                </c:pt>
                <c:pt idx="14">
                  <c:v>0.372093023256</c:v>
                </c:pt>
                <c:pt idx="15">
                  <c:v>0.372093023256</c:v>
                </c:pt>
                <c:pt idx="16">
                  <c:v>0.372093023256</c:v>
                </c:pt>
                <c:pt idx="17">
                  <c:v>0.372093023256</c:v>
                </c:pt>
                <c:pt idx="18">
                  <c:v>0.372093023256</c:v>
                </c:pt>
              </c:numCache>
            </c:numRef>
          </c:val>
          <c:smooth val="0"/>
        </c:ser>
        <c:ser>
          <c:idx val="6"/>
          <c:order val="6"/>
          <c:tx>
            <c:v>2024-07</c:v>
          </c:tx>
          <c:spPr>
            <a:ln xmlns:a="http://schemas.openxmlformats.org/drawingml/2006/main" w="11906">
              <a:solidFill>
                <a:srgbClr val="91495D"/>
              </a:solidFill>
            </a:ln>
          </c:spPr>
          <c:marker>
            <c:symbol val="none"/>
          </c:marker>
          <c:cat>
            <c:numRef>
              <c:f>'Chart Data'!$M$2:$M$19</c:f>
              <c:numCache>
                <c:formatCode>0</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cat>
          <c:val>
            <c:numRef>
              <c:f>'Chart Data'!$N$2:$N$19</c:f>
              <c:numCache>
                <c:formatCode>0%</c:formatCode>
                <c:ptCount val="18"/>
                <c:pt idx="0">
                  <c:v>1</c:v>
                </c:pt>
                <c:pt idx="1">
                  <c:v>0.933333333333</c:v>
                </c:pt>
                <c:pt idx="2">
                  <c:v>0.888888888889</c:v>
                </c:pt>
                <c:pt idx="3">
                  <c:v>0.866666666667</c:v>
                </c:pt>
                <c:pt idx="4">
                  <c:v>0.8</c:v>
                </c:pt>
                <c:pt idx="5">
                  <c:v>0.8</c:v>
                </c:pt>
                <c:pt idx="6">
                  <c:v>0.733333333333</c:v>
                </c:pt>
                <c:pt idx="7">
                  <c:v>0.711111111111</c:v>
                </c:pt>
                <c:pt idx="8">
                  <c:v>0.711111111111</c:v>
                </c:pt>
                <c:pt idx="9">
                  <c:v>0.688888888889</c:v>
                </c:pt>
                <c:pt idx="10">
                  <c:v>0.6</c:v>
                </c:pt>
                <c:pt idx="11">
                  <c:v>0.533333333333</c:v>
                </c:pt>
                <c:pt idx="12">
                  <c:v>0.533333333333</c:v>
                </c:pt>
                <c:pt idx="13">
                  <c:v>0.511111111111</c:v>
                </c:pt>
                <c:pt idx="14">
                  <c:v>0.511111111111</c:v>
                </c:pt>
                <c:pt idx="15">
                  <c:v>0.488888888889</c:v>
                </c:pt>
                <c:pt idx="16">
                  <c:v>0.488888888889</c:v>
                </c:pt>
                <c:pt idx="17">
                  <c:v>0.444444444444</c:v>
                </c:pt>
              </c:numCache>
            </c:numRef>
          </c:val>
          <c:smooth val="0"/>
        </c:ser>
        <c:ser>
          <c:idx val="7"/>
          <c:order val="7"/>
          <c:tx>
            <c:v>2024-08</c:v>
          </c:tx>
          <c:spPr>
            <a:ln xmlns:a="http://schemas.openxmlformats.org/drawingml/2006/main" w="11906">
              <a:solidFill>
                <a:srgbClr val="8C4B62"/>
              </a:solidFill>
            </a:ln>
          </c:spPr>
          <c:marker>
            <c:symbol val="none"/>
          </c:marker>
          <c:cat>
            <c:numRef>
              <c:f>'Chart Data'!$O$2:$O$18</c:f>
              <c:numCache>
                <c:formatCode>0</c:formatCode>
                <c:ptCount val="1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numCache>
            </c:numRef>
          </c:cat>
          <c:val>
            <c:numRef>
              <c:f>'Chart Data'!$P$2:$P$18</c:f>
              <c:numCache>
                <c:formatCode>0%</c:formatCode>
                <c:ptCount val="17"/>
                <c:pt idx="0">
                  <c:v>1</c:v>
                </c:pt>
                <c:pt idx="1">
                  <c:v>0.8125</c:v>
                </c:pt>
                <c:pt idx="2">
                  <c:v>0.791666666667</c:v>
                </c:pt>
                <c:pt idx="3">
                  <c:v>0.770833333333</c:v>
                </c:pt>
                <c:pt idx="4">
                  <c:v>0.708333333333</c:v>
                </c:pt>
                <c:pt idx="5">
                  <c:v>0.645833333333</c:v>
                </c:pt>
                <c:pt idx="6">
                  <c:v>0.625</c:v>
                </c:pt>
                <c:pt idx="7">
                  <c:v>0.625</c:v>
                </c:pt>
                <c:pt idx="8">
                  <c:v>0.604166666667</c:v>
                </c:pt>
                <c:pt idx="9">
                  <c:v>0.583333333333</c:v>
                </c:pt>
                <c:pt idx="10">
                  <c:v>0.583333333333</c:v>
                </c:pt>
                <c:pt idx="11">
                  <c:v>0.583333333333</c:v>
                </c:pt>
                <c:pt idx="12">
                  <c:v>0.520833333333</c:v>
                </c:pt>
                <c:pt idx="13">
                  <c:v>0.5</c:v>
                </c:pt>
                <c:pt idx="14">
                  <c:v>0.479166666667</c:v>
                </c:pt>
                <c:pt idx="15">
                  <c:v>0.416666666667</c:v>
                </c:pt>
                <c:pt idx="16">
                  <c:v>0.395833333333</c:v>
                </c:pt>
              </c:numCache>
            </c:numRef>
          </c:val>
          <c:smooth val="0"/>
        </c:ser>
        <c:ser>
          <c:idx val="8"/>
          <c:order val="8"/>
          <c:tx>
            <c:v>2024-09</c:v>
          </c:tx>
          <c:spPr>
            <a:ln xmlns:a="http://schemas.openxmlformats.org/drawingml/2006/main" w="11906">
              <a:solidFill>
                <a:srgbClr val="864C67"/>
              </a:solidFill>
            </a:ln>
          </c:spPr>
          <c:marker>
            <c:symbol val="none"/>
          </c:marker>
          <c:cat>
            <c:numRef>
              <c:f>'Chart Data'!$Q$2:$Q$17</c:f>
              <c:numCache>
                <c:formatCode>0</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Data'!$R$2:$R$17</c:f>
              <c:numCache>
                <c:formatCode>0%</c:formatCode>
                <c:ptCount val="16"/>
                <c:pt idx="0">
                  <c:v>1</c:v>
                </c:pt>
                <c:pt idx="1">
                  <c:v>0.980769230769</c:v>
                </c:pt>
                <c:pt idx="2">
                  <c:v>0.923076923077</c:v>
                </c:pt>
                <c:pt idx="3">
                  <c:v>0.865384615385</c:v>
                </c:pt>
                <c:pt idx="4">
                  <c:v>0.807692307692</c:v>
                </c:pt>
                <c:pt idx="5">
                  <c:v>0.788461538462</c:v>
                </c:pt>
                <c:pt idx="6">
                  <c:v>0.730769230769</c:v>
                </c:pt>
                <c:pt idx="7">
                  <c:v>0.634615384615</c:v>
                </c:pt>
                <c:pt idx="8">
                  <c:v>0.576923076923</c:v>
                </c:pt>
                <c:pt idx="9">
                  <c:v>0.576923076923</c:v>
                </c:pt>
                <c:pt idx="10">
                  <c:v>0.557692307692</c:v>
                </c:pt>
                <c:pt idx="11">
                  <c:v>0.538461538462</c:v>
                </c:pt>
                <c:pt idx="12">
                  <c:v>0.480769230769</c:v>
                </c:pt>
                <c:pt idx="13">
                  <c:v>0.461538461538</c:v>
                </c:pt>
                <c:pt idx="14">
                  <c:v>0.461538461538</c:v>
                </c:pt>
                <c:pt idx="15">
                  <c:v>0.442307692308</c:v>
                </c:pt>
              </c:numCache>
            </c:numRef>
          </c:val>
          <c:smooth val="0"/>
        </c:ser>
        <c:ser>
          <c:idx val="9"/>
          <c:order val="9"/>
          <c:tx>
            <c:v>2024-10</c:v>
          </c:tx>
          <c:spPr>
            <a:ln xmlns:a="http://schemas.openxmlformats.org/drawingml/2006/main" w="11906">
              <a:solidFill>
                <a:srgbClr val="804E6C"/>
              </a:solidFill>
            </a:ln>
          </c:spPr>
          <c:marker>
            <c:symbol val="none"/>
          </c:marker>
          <c:cat>
            <c:numRef>
              <c:f>'Chart Data'!$S$2:$S$16</c:f>
              <c:numCache>
                <c:formatCode>0</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cat>
          <c:val>
            <c:numRef>
              <c:f>'Chart Data'!$T$2:$T$16</c:f>
              <c:numCache>
                <c:formatCode>0%</c:formatCode>
                <c:ptCount val="15"/>
                <c:pt idx="0">
                  <c:v>1</c:v>
                </c:pt>
                <c:pt idx="1">
                  <c:v>0.814814814815</c:v>
                </c:pt>
                <c:pt idx="2">
                  <c:v>0.759259259259</c:v>
                </c:pt>
                <c:pt idx="3">
                  <c:v>0.685185185185</c:v>
                </c:pt>
                <c:pt idx="4">
                  <c:v>0.62962962963</c:v>
                </c:pt>
                <c:pt idx="5">
                  <c:v>0.518518518519</c:v>
                </c:pt>
                <c:pt idx="6">
                  <c:v>0.518518518519</c:v>
                </c:pt>
                <c:pt idx="7">
                  <c:v>0.518518518519</c:v>
                </c:pt>
                <c:pt idx="8">
                  <c:v>0.481481481481</c:v>
                </c:pt>
                <c:pt idx="9">
                  <c:v>0.481481481481</c:v>
                </c:pt>
                <c:pt idx="10">
                  <c:v>0.462962962963</c:v>
                </c:pt>
                <c:pt idx="11">
                  <c:v>0.462962962963</c:v>
                </c:pt>
                <c:pt idx="12">
                  <c:v>0.444444444444</c:v>
                </c:pt>
                <c:pt idx="13">
                  <c:v>0.444444444444</c:v>
                </c:pt>
                <c:pt idx="14">
                  <c:v>0.444444444444</c:v>
                </c:pt>
              </c:numCache>
            </c:numRef>
          </c:val>
          <c:smooth val="0"/>
        </c:ser>
        <c:ser>
          <c:idx val="10"/>
          <c:order val="10"/>
          <c:tx>
            <c:v>2024-11</c:v>
          </c:tx>
          <c:spPr>
            <a:ln xmlns:a="http://schemas.openxmlformats.org/drawingml/2006/main" w="11906">
              <a:solidFill>
                <a:srgbClr val="7A4F70"/>
              </a:solidFill>
            </a:ln>
          </c:spPr>
          <c:marker>
            <c:symbol val="none"/>
          </c:marker>
          <c:cat>
            <c:numRef>
              <c:f>'Chart Data'!$U$2:$U$15</c:f>
              <c:numCache>
                <c:formatCode>0</c:formatCode>
                <c:ptCount val="14"/>
                <c:pt idx="0">
                  <c:v>0</c:v>
                </c:pt>
                <c:pt idx="1">
                  <c:v>1</c:v>
                </c:pt>
                <c:pt idx="2">
                  <c:v>2</c:v>
                </c:pt>
                <c:pt idx="3">
                  <c:v>3</c:v>
                </c:pt>
                <c:pt idx="4">
                  <c:v>4</c:v>
                </c:pt>
                <c:pt idx="5">
                  <c:v>5</c:v>
                </c:pt>
                <c:pt idx="6">
                  <c:v>6</c:v>
                </c:pt>
                <c:pt idx="7">
                  <c:v>7</c:v>
                </c:pt>
                <c:pt idx="8">
                  <c:v>8</c:v>
                </c:pt>
                <c:pt idx="9">
                  <c:v>9</c:v>
                </c:pt>
                <c:pt idx="10">
                  <c:v>10</c:v>
                </c:pt>
                <c:pt idx="11">
                  <c:v>11</c:v>
                </c:pt>
                <c:pt idx="12">
                  <c:v>12</c:v>
                </c:pt>
                <c:pt idx="13">
                  <c:v>13</c:v>
                </c:pt>
              </c:numCache>
            </c:numRef>
          </c:cat>
          <c:val>
            <c:numRef>
              <c:f>'Chart Data'!$V$2:$V$15</c:f>
              <c:numCache>
                <c:formatCode>0%</c:formatCode>
                <c:ptCount val="14"/>
                <c:pt idx="0">
                  <c:v>1</c:v>
                </c:pt>
                <c:pt idx="1">
                  <c:v>0.941176470588</c:v>
                </c:pt>
                <c:pt idx="2">
                  <c:v>0.882352941176</c:v>
                </c:pt>
                <c:pt idx="3">
                  <c:v>0.78431372549</c:v>
                </c:pt>
                <c:pt idx="4">
                  <c:v>0.725490196078</c:v>
                </c:pt>
                <c:pt idx="5">
                  <c:v>0.686274509804</c:v>
                </c:pt>
                <c:pt idx="6">
                  <c:v>0.666666666667</c:v>
                </c:pt>
                <c:pt idx="7">
                  <c:v>0.588235294118</c:v>
                </c:pt>
                <c:pt idx="8">
                  <c:v>0.509803921569</c:v>
                </c:pt>
                <c:pt idx="9">
                  <c:v>0.509803921569</c:v>
                </c:pt>
                <c:pt idx="10">
                  <c:v>0.490196078431</c:v>
                </c:pt>
                <c:pt idx="11">
                  <c:v>0.490196078431</c:v>
                </c:pt>
                <c:pt idx="12">
                  <c:v>0.450980392157</c:v>
                </c:pt>
                <c:pt idx="13">
                  <c:v>0.450980392157</c:v>
                </c:pt>
              </c:numCache>
            </c:numRef>
          </c:val>
          <c:smooth val="0"/>
        </c:ser>
        <c:ser>
          <c:idx val="11"/>
          <c:order val="11"/>
          <c:tx>
            <c:v>2024-12</c:v>
          </c:tx>
          <c:spPr>
            <a:ln xmlns:a="http://schemas.openxmlformats.org/drawingml/2006/main" w="11906">
              <a:solidFill>
                <a:srgbClr val="745175"/>
              </a:solidFill>
            </a:ln>
          </c:spPr>
          <c:marker>
            <c:symbol val="none"/>
          </c:marker>
          <c:cat>
            <c:numRef>
              <c:f>'Chart Data'!$W$2:$W$14</c:f>
              <c:numCache>
                <c:formatCode>0</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'Chart Data'!$X$2:$X$14</c:f>
              <c:numCache>
                <c:formatCode>0%</c:formatCode>
                <c:ptCount val="13"/>
                <c:pt idx="0">
                  <c:v>1</c:v>
                </c:pt>
                <c:pt idx="1">
                  <c:v>0.875</c:v>
                </c:pt>
                <c:pt idx="2">
                  <c:v>0.785714285714</c:v>
                </c:pt>
                <c:pt idx="3">
                  <c:v>0.75</c:v>
                </c:pt>
                <c:pt idx="4">
                  <c:v>0.714285714286</c:v>
                </c:pt>
                <c:pt idx="5">
                  <c:v>0.678571428571</c:v>
                </c:pt>
                <c:pt idx="6">
                  <c:v>0.642857142857</c:v>
                </c:pt>
                <c:pt idx="7">
                  <c:v>0.625</c:v>
                </c:pt>
                <c:pt idx="8">
                  <c:v>0.607142857143</c:v>
                </c:pt>
                <c:pt idx="9">
                  <c:v>0.553571428571</c:v>
                </c:pt>
                <c:pt idx="10">
                  <c:v>0.553571428571</c:v>
                </c:pt>
                <c:pt idx="11">
                  <c:v>0.553571428571</c:v>
                </c:pt>
                <c:pt idx="12">
                  <c:v>0.553571428571</c:v>
                </c:pt>
              </c:numCache>
            </c:numRef>
          </c:val>
          <c:smooth val="0"/>
        </c:ser>
        <c:ser>
          <c:idx val="12"/>
          <c:order val="12"/>
          <c:tx>
            <c:v>2025-01</c:v>
          </c:tx>
          <c:spPr>
            <a:ln xmlns:a="http://schemas.openxmlformats.org/drawingml/2006/main" w="11906">
              <a:solidFill>
                <a:srgbClr val="6F527A"/>
              </a:solidFill>
            </a:ln>
          </c:spPr>
          <c:marker>
            <c:symbol val="none"/>
          </c:marker>
          <c:cat>
            <c:numRef>
              <c:f>'Chart Data'!$Y$2:$Y$13</c:f>
              <c:numCache>
                <c:formatCode>0</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Data'!$Z$2:$Z$13</c:f>
              <c:numCache>
                <c:formatCode>0%</c:formatCode>
                <c:ptCount val="12"/>
                <c:pt idx="0">
                  <c:v>1</c:v>
                </c:pt>
                <c:pt idx="1">
                  <c:v>0.88</c:v>
                </c:pt>
                <c:pt idx="2">
                  <c:v>0.8</c:v>
                </c:pt>
                <c:pt idx="3">
                  <c:v>0.72</c:v>
                </c:pt>
                <c:pt idx="4">
                  <c:v>0.7</c:v>
                </c:pt>
                <c:pt idx="5">
                  <c:v>0.66</c:v>
                </c:pt>
                <c:pt idx="6">
                  <c:v>0.56</c:v>
                </c:pt>
                <c:pt idx="7">
                  <c:v>0.56</c:v>
                </c:pt>
                <c:pt idx="8">
                  <c:v>0.52</c:v>
                </c:pt>
                <c:pt idx="9">
                  <c:v>0.5</c:v>
                </c:pt>
                <c:pt idx="10">
                  <c:v>0.46</c:v>
                </c:pt>
                <c:pt idx="11">
                  <c:v>0.42</c:v>
                </c:pt>
              </c:numCache>
            </c:numRef>
          </c:val>
          <c:smooth val="0"/>
        </c:ser>
        <c:ser>
          <c:idx val="13"/>
          <c:order val="13"/>
          <c:tx>
            <c:v>2025-02</c:v>
          </c:tx>
          <c:spPr>
            <a:ln xmlns:a="http://schemas.openxmlformats.org/drawingml/2006/main" w="11906">
              <a:solidFill>
                <a:srgbClr val="69547F"/>
              </a:solidFill>
            </a:ln>
          </c:spPr>
          <c:marker>
            <c:symbol val="none"/>
          </c:marker>
          <c:cat>
            <c:numRef>
              <c:f>'Chart Data'!$AA$2:$AA$12</c:f>
              <c:numCache>
                <c:formatCode>0</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Data'!$AB$2:$AB$12</c:f>
              <c:numCache>
                <c:formatCode>0%</c:formatCode>
                <c:ptCount val="11"/>
                <c:pt idx="0">
                  <c:v>1</c:v>
                </c:pt>
                <c:pt idx="1">
                  <c:v>0.943396226415</c:v>
                </c:pt>
                <c:pt idx="2">
                  <c:v>0.905660377358</c:v>
                </c:pt>
                <c:pt idx="3">
                  <c:v>0.830188679245</c:v>
                </c:pt>
                <c:pt idx="4">
                  <c:v>0.754716981132</c:v>
                </c:pt>
                <c:pt idx="5">
                  <c:v>0.735849056604</c:v>
                </c:pt>
                <c:pt idx="6">
                  <c:v>0.698113207547</c:v>
                </c:pt>
                <c:pt idx="7">
                  <c:v>0.660377358491</c:v>
                </c:pt>
                <c:pt idx="8">
                  <c:v>0.641509433962</c:v>
                </c:pt>
                <c:pt idx="9">
                  <c:v>0.622641509434</c:v>
                </c:pt>
                <c:pt idx="10">
                  <c:v>0.622641509434</c:v>
                </c:pt>
              </c:numCache>
            </c:numRef>
          </c:val>
          <c:smooth val="0"/>
        </c:ser>
        <c:ser>
          <c:idx val="14"/>
          <c:order val="14"/>
          <c:tx>
            <c:v>2025-03</c:v>
          </c:tx>
          <c:spPr>
            <a:ln xmlns:a="http://schemas.openxmlformats.org/drawingml/2006/main" w="11906">
              <a:solidFill>
                <a:srgbClr val="635583"/>
              </a:solidFill>
            </a:ln>
          </c:spPr>
          <c:marker>
            <c:symbol val="none"/>
          </c:marker>
          <c:cat>
            <c:numRef>
              <c:f>'Chart Data'!$AC$2:$AC$11</c:f>
              <c:numCache>
                <c:formatCode>0</c:formatCode>
                <c:ptCount val="10"/>
                <c:pt idx="0">
                  <c:v>0</c:v>
                </c:pt>
                <c:pt idx="1">
                  <c:v>1</c:v>
                </c:pt>
                <c:pt idx="2">
                  <c:v>2</c:v>
                </c:pt>
                <c:pt idx="3">
                  <c:v>3</c:v>
                </c:pt>
                <c:pt idx="4">
                  <c:v>4</c:v>
                </c:pt>
                <c:pt idx="5">
                  <c:v>5</c:v>
                </c:pt>
                <c:pt idx="6">
                  <c:v>6</c:v>
                </c:pt>
                <c:pt idx="7">
                  <c:v>7</c:v>
                </c:pt>
                <c:pt idx="8">
                  <c:v>8</c:v>
                </c:pt>
                <c:pt idx="9">
                  <c:v>9</c:v>
                </c:pt>
              </c:numCache>
            </c:numRef>
          </c:cat>
          <c:val>
            <c:numRef>
              <c:f>'Chart Data'!$AD$2:$AD$11</c:f>
              <c:numCache>
                <c:formatCode>0%</c:formatCode>
                <c:ptCount val="10"/>
                <c:pt idx="0">
                  <c:v>1</c:v>
                </c:pt>
                <c:pt idx="1">
                  <c:v>0.894736842105</c:v>
                </c:pt>
                <c:pt idx="2">
                  <c:v>0.771929824561</c:v>
                </c:pt>
                <c:pt idx="3">
                  <c:v>0.754385964912</c:v>
                </c:pt>
                <c:pt idx="4">
                  <c:v>0.684210526316</c:v>
                </c:pt>
                <c:pt idx="5">
                  <c:v>0.666666666667</c:v>
                </c:pt>
                <c:pt idx="6">
                  <c:v>0.59649122807</c:v>
                </c:pt>
                <c:pt idx="7">
                  <c:v>0.578947368421</c:v>
                </c:pt>
                <c:pt idx="8">
                  <c:v>0.561403508772</c:v>
                </c:pt>
                <c:pt idx="9">
                  <c:v>0.543859649123</c:v>
                </c:pt>
              </c:numCache>
            </c:numRef>
          </c:val>
          <c:smooth val="0"/>
        </c:ser>
        <c:ser>
          <c:idx val="15"/>
          <c:order val="15"/>
          <c:tx>
            <c:v>2025-04</c:v>
          </c:tx>
          <c:spPr>
            <a:ln xmlns:a="http://schemas.openxmlformats.org/drawingml/2006/main" w="11906">
              <a:solidFill>
                <a:srgbClr val="5D5788"/>
              </a:solidFill>
            </a:ln>
          </c:spPr>
          <c:marker>
            <c:symbol val="none"/>
          </c:marker>
          <c:cat>
            <c:numRef>
              <c:f>'Chart Data'!$AE$2:$AE$10</c:f>
              <c:numCache>
                <c:formatCode>0</c:formatCode>
                <c:ptCount val="9"/>
                <c:pt idx="0">
                  <c:v>0</c:v>
                </c:pt>
                <c:pt idx="1">
                  <c:v>1</c:v>
                </c:pt>
                <c:pt idx="2">
                  <c:v>2</c:v>
                </c:pt>
                <c:pt idx="3">
                  <c:v>3</c:v>
                </c:pt>
                <c:pt idx="4">
                  <c:v>4</c:v>
                </c:pt>
                <c:pt idx="5">
                  <c:v>5</c:v>
                </c:pt>
                <c:pt idx="6">
                  <c:v>6</c:v>
                </c:pt>
                <c:pt idx="7">
                  <c:v>7</c:v>
                </c:pt>
                <c:pt idx="8">
                  <c:v>8</c:v>
                </c:pt>
              </c:numCache>
            </c:numRef>
          </c:cat>
          <c:val>
            <c:numRef>
              <c:f>'Chart Data'!$AF$2:$AF$10</c:f>
              <c:numCache>
                <c:formatCode>0%</c:formatCode>
                <c:ptCount val="9"/>
                <c:pt idx="0">
                  <c:v>1</c:v>
                </c:pt>
                <c:pt idx="1">
                  <c:v>0.928571428571</c:v>
                </c:pt>
                <c:pt idx="2">
                  <c:v>0.857142857143</c:v>
                </c:pt>
                <c:pt idx="3">
                  <c:v>0.767857142857</c:v>
                </c:pt>
                <c:pt idx="4">
                  <c:v>0.714285714286</c:v>
                </c:pt>
                <c:pt idx="5">
                  <c:v>0.678571428571</c:v>
                </c:pt>
                <c:pt idx="6">
                  <c:v>0.678571428571</c:v>
                </c:pt>
                <c:pt idx="7">
                  <c:v>0.660714285714</c:v>
                </c:pt>
                <c:pt idx="8">
                  <c:v>0.642857142857</c:v>
                </c:pt>
              </c:numCache>
            </c:numRef>
          </c:val>
          <c:smooth val="0"/>
        </c:ser>
        <c:ser>
          <c:idx val="16"/>
          <c:order val="16"/>
          <c:tx>
            <c:v>2025-05</c:v>
          </c:tx>
          <c:spPr>
            <a:ln xmlns:a="http://schemas.openxmlformats.org/drawingml/2006/main" w="11906">
              <a:solidFill>
                <a:srgbClr val="57588D"/>
              </a:solidFill>
            </a:ln>
          </c:spPr>
          <c:marker>
            <c:symbol val="none"/>
          </c:marker>
          <c:cat>
            <c:numRef>
              <c:f>'Chart Data'!$AG$2:$AG$9</c:f>
              <c:numCache>
                <c:formatCode>0</c:formatCode>
                <c:ptCount val="8"/>
                <c:pt idx="0">
                  <c:v>0</c:v>
                </c:pt>
                <c:pt idx="1">
                  <c:v>1</c:v>
                </c:pt>
                <c:pt idx="2">
                  <c:v>2</c:v>
                </c:pt>
                <c:pt idx="3">
                  <c:v>3</c:v>
                </c:pt>
                <c:pt idx="4">
                  <c:v>4</c:v>
                </c:pt>
                <c:pt idx="5">
                  <c:v>5</c:v>
                </c:pt>
                <c:pt idx="6">
                  <c:v>6</c:v>
                </c:pt>
                <c:pt idx="7">
                  <c:v>7</c:v>
                </c:pt>
              </c:numCache>
            </c:numRef>
          </c:cat>
          <c:val>
            <c:numRef>
              <c:f>'Chart Data'!$AH$2:$AH$9</c:f>
              <c:numCache>
                <c:formatCode>0%</c:formatCode>
                <c:ptCount val="8"/>
                <c:pt idx="0">
                  <c:v>1</c:v>
                </c:pt>
                <c:pt idx="1">
                  <c:v>0.948275862069</c:v>
                </c:pt>
                <c:pt idx="2">
                  <c:v>0.913793103448</c:v>
                </c:pt>
                <c:pt idx="3">
                  <c:v>0.862068965517</c:v>
                </c:pt>
                <c:pt idx="4">
                  <c:v>0.827586206897</c:v>
                </c:pt>
                <c:pt idx="5">
                  <c:v>0.775862068966</c:v>
                </c:pt>
                <c:pt idx="6">
                  <c:v>0.724137931034</c:v>
                </c:pt>
                <c:pt idx="7">
                  <c:v>0.706896551724</c:v>
                </c:pt>
              </c:numCache>
            </c:numRef>
          </c:val>
          <c:smooth val="0"/>
        </c:ser>
        <c:ser>
          <c:idx val="17"/>
          <c:order val="17"/>
          <c:tx>
            <c:v>2025-06</c:v>
          </c:tx>
          <c:spPr>
            <a:ln xmlns:a="http://schemas.openxmlformats.org/drawingml/2006/main" w="11906">
              <a:solidFill>
                <a:srgbClr val="525A92"/>
              </a:solidFill>
            </a:ln>
          </c:spPr>
          <c:marker>
            <c:symbol val="none"/>
          </c:marker>
          <c:cat>
            <c:numRef>
              <c:f>'Chart Data'!$AI$2:$AI$8</c:f>
              <c:numCache>
                <c:formatCode>0</c:formatCode>
                <c:ptCount val="7"/>
                <c:pt idx="0">
                  <c:v>0</c:v>
                </c:pt>
                <c:pt idx="1">
                  <c:v>1</c:v>
                </c:pt>
                <c:pt idx="2">
                  <c:v>2</c:v>
                </c:pt>
                <c:pt idx="3">
                  <c:v>3</c:v>
                </c:pt>
                <c:pt idx="4">
                  <c:v>4</c:v>
                </c:pt>
                <c:pt idx="5">
                  <c:v>5</c:v>
                </c:pt>
                <c:pt idx="6">
                  <c:v>6</c:v>
                </c:pt>
              </c:numCache>
            </c:numRef>
          </c:cat>
          <c:val>
            <c:numRef>
              <c:f>'Chart Data'!$AJ$2:$AJ$8</c:f>
              <c:numCache>
                <c:formatCode>0%</c:formatCode>
                <c:ptCount val="7"/>
                <c:pt idx="0">
                  <c:v>1</c:v>
                </c:pt>
                <c:pt idx="1">
                  <c:v>0.870967741935</c:v>
                </c:pt>
                <c:pt idx="2">
                  <c:v>0.838709677419</c:v>
                </c:pt>
                <c:pt idx="3">
                  <c:v>0.758064516129</c:v>
                </c:pt>
                <c:pt idx="4">
                  <c:v>0.741935483871</c:v>
                </c:pt>
                <c:pt idx="5">
                  <c:v>0.677419354839</c:v>
                </c:pt>
                <c:pt idx="6">
                  <c:v>0.677419354839</c:v>
                </c:pt>
              </c:numCache>
            </c:numRef>
          </c:val>
          <c:smooth val="0"/>
        </c:ser>
        <c:ser>
          <c:idx val="18"/>
          <c:order val="18"/>
          <c:tx>
            <c:v>2025-07</c:v>
          </c:tx>
          <c:spPr>
            <a:ln xmlns:a="http://schemas.openxmlformats.org/drawingml/2006/main" w="11906">
              <a:solidFill>
                <a:srgbClr val="4C5B96"/>
              </a:solidFill>
            </a:ln>
          </c:spPr>
          <c:marker>
            <c:symbol val="none"/>
          </c:marker>
          <c:cat>
            <c:numRef>
              <c:f>'Chart Data'!$AK$2:$AK$7</c:f>
              <c:numCache>
                <c:formatCode>0</c:formatCode>
                <c:ptCount val="6"/>
                <c:pt idx="0">
                  <c:v>0</c:v>
                </c:pt>
                <c:pt idx="1">
                  <c:v>1</c:v>
                </c:pt>
                <c:pt idx="2">
                  <c:v>2</c:v>
                </c:pt>
                <c:pt idx="3">
                  <c:v>3</c:v>
                </c:pt>
                <c:pt idx="4">
                  <c:v>4</c:v>
                </c:pt>
                <c:pt idx="5">
                  <c:v>5</c:v>
                </c:pt>
              </c:numCache>
            </c:numRef>
          </c:cat>
          <c:val>
            <c:numRef>
              <c:f>'Chart Data'!$AL$2:$AL$7</c:f>
              <c:numCache>
                <c:formatCode>0%</c:formatCode>
                <c:ptCount val="6"/>
                <c:pt idx="0">
                  <c:v>1</c:v>
                </c:pt>
                <c:pt idx="1">
                  <c:v>0.967213114754</c:v>
                </c:pt>
                <c:pt idx="2">
                  <c:v>0.901639344262</c:v>
                </c:pt>
                <c:pt idx="3">
                  <c:v>0.885245901639</c:v>
                </c:pt>
                <c:pt idx="4">
                  <c:v>0.819672131148</c:v>
                </c:pt>
                <c:pt idx="5">
                  <c:v>0.770491803279</c:v>
                </c:pt>
              </c:numCache>
            </c:numRef>
          </c:val>
          <c:smooth val="0"/>
        </c:ser>
        <c:ser>
          <c:idx val="19"/>
          <c:order val="19"/>
          <c:tx>
            <c:v>2025-08</c:v>
          </c:tx>
          <c:spPr>
            <a:ln xmlns:a="http://schemas.openxmlformats.org/drawingml/2006/main" w="11906">
              <a:solidFill>
                <a:srgbClr val="465D9B"/>
              </a:solidFill>
            </a:ln>
          </c:spPr>
          <c:marker>
            <c:symbol val="none"/>
          </c:marker>
          <c:cat>
            <c:numRef>
              <c:f>'Chart Data'!$AM$2:$AM$6</c:f>
              <c:numCache>
                <c:formatCode>0</c:formatCode>
                <c:ptCount val="5"/>
                <c:pt idx="0">
                  <c:v>0</c:v>
                </c:pt>
                <c:pt idx="1">
                  <c:v>1</c:v>
                </c:pt>
                <c:pt idx="2">
                  <c:v>2</c:v>
                </c:pt>
                <c:pt idx="3">
                  <c:v>3</c:v>
                </c:pt>
                <c:pt idx="4">
                  <c:v>4</c:v>
                </c:pt>
              </c:numCache>
            </c:numRef>
          </c:cat>
          <c:val>
            <c:numRef>
              <c:f>'Chart Data'!$AN$2:$AN$6</c:f>
              <c:numCache>
                <c:formatCode>0%</c:formatCode>
                <c:ptCount val="5"/>
                <c:pt idx="0">
                  <c:v>1</c:v>
                </c:pt>
                <c:pt idx="1">
                  <c:v>0.936507936508</c:v>
                </c:pt>
                <c:pt idx="2">
                  <c:v>0.920634920635</c:v>
                </c:pt>
                <c:pt idx="3">
                  <c:v>0.873015873016</c:v>
                </c:pt>
                <c:pt idx="4">
                  <c:v>0.857142857143</c:v>
                </c:pt>
              </c:numCache>
            </c:numRef>
          </c:val>
          <c:smooth val="0"/>
        </c:ser>
        <c:ser>
          <c:idx val="20"/>
          <c:order val="20"/>
          <c:tx>
            <c:v>2025-09</c:v>
          </c:tx>
          <c:spPr>
            <a:ln xmlns:a="http://schemas.openxmlformats.org/drawingml/2006/main" w="11906">
              <a:solidFill>
                <a:srgbClr val="405EA0"/>
              </a:solidFill>
            </a:ln>
          </c:spPr>
          <c:marker>
            <c:symbol val="none"/>
          </c:marker>
          <c:cat>
            <c:numRef>
              <c:f>'Chart Data'!$AO$2:$AO$5</c:f>
              <c:numCache>
                <c:formatCode>0</c:formatCode>
                <c:ptCount val="4"/>
                <c:pt idx="0">
                  <c:v>0</c:v>
                </c:pt>
                <c:pt idx="1">
                  <c:v>1</c:v>
                </c:pt>
                <c:pt idx="2">
                  <c:v>2</c:v>
                </c:pt>
                <c:pt idx="3">
                  <c:v>3</c:v>
                </c:pt>
              </c:numCache>
            </c:numRef>
          </c:cat>
          <c:val>
            <c:numRef>
              <c:f>'Chart Data'!$AP$2:$AP$5</c:f>
              <c:numCache>
                <c:formatCode>0%</c:formatCode>
                <c:ptCount val="4"/>
                <c:pt idx="0">
                  <c:v>1</c:v>
                </c:pt>
                <c:pt idx="1">
                  <c:v>0.947368421053</c:v>
                </c:pt>
                <c:pt idx="2">
                  <c:v>0.894736842105</c:v>
                </c:pt>
                <c:pt idx="3">
                  <c:v>0.877192982456</c:v>
                </c:pt>
              </c:numCache>
            </c:numRef>
          </c:val>
          <c:smooth val="0"/>
        </c:ser>
        <c:ser>
          <c:idx val="21"/>
          <c:order val="21"/>
          <c:tx>
            <c:v>2025-10</c:v>
          </c:tx>
          <c:spPr>
            <a:ln xmlns:a="http://schemas.openxmlformats.org/drawingml/2006/main" w="11906">
              <a:solidFill>
                <a:srgbClr val="3B60A5"/>
              </a:solidFill>
            </a:ln>
          </c:spPr>
          <c:marker>
            <c:symbol val="none"/>
          </c:marker>
          <c:cat>
            <c:numRef>
              <c:f>'Chart Data'!$AQ$2:$AQ$4</c:f>
              <c:numCache>
                <c:formatCode>0</c:formatCode>
                <c:ptCount val="3"/>
                <c:pt idx="0">
                  <c:v>0</c:v>
                </c:pt>
                <c:pt idx="1">
                  <c:v>1</c:v>
                </c:pt>
                <c:pt idx="2">
                  <c:v>2</c:v>
                </c:pt>
              </c:numCache>
            </c:numRef>
          </c:cat>
          <c:val>
            <c:numRef>
              <c:f>'Chart Data'!$AR$2:$AR$4</c:f>
              <c:numCache>
                <c:formatCode>0%</c:formatCode>
                <c:ptCount val="3"/>
                <c:pt idx="0">
                  <c:v>1</c:v>
                </c:pt>
                <c:pt idx="1">
                  <c:v>0.881355932203</c:v>
                </c:pt>
                <c:pt idx="2">
                  <c:v>0.847457627119</c:v>
                </c:pt>
              </c:numCache>
            </c:numRef>
          </c:val>
          <c:smooth val="0"/>
        </c:ser>
        <c:ser>
          <c:idx val="22"/>
          <c:order val="22"/>
          <c:tx>
            <c:v>2025-11</c:v>
          </c:tx>
          <c:spPr>
            <a:ln xmlns:a="http://schemas.openxmlformats.org/drawingml/2006/main" w="11906">
              <a:solidFill>
                <a:srgbClr val="3561A9"/>
              </a:solidFill>
            </a:ln>
          </c:spPr>
          <c:marker>
            <c:symbol val="none"/>
          </c:marker>
          <c:cat>
            <c:numRef>
              <c:f>'Chart Data'!$AS$2:$AS$3</c:f>
              <c:numCache>
                <c:formatCode>0</c:formatCode>
                <c:ptCount val="2"/>
                <c:pt idx="0">
                  <c:v>0</c:v>
                </c:pt>
                <c:pt idx="1">
                  <c:v>1</c:v>
                </c:pt>
              </c:numCache>
            </c:numRef>
          </c:cat>
          <c:val>
            <c:numRef>
              <c:f>'Chart Data'!$AT$2:$AT$3</c:f>
              <c:numCache>
                <c:formatCode>0%</c:formatCode>
                <c:ptCount val="2"/>
                <c:pt idx="0">
                  <c:v>1</c:v>
                </c:pt>
                <c:pt idx="1">
                  <c:v>0.913043478261</c:v>
                </c:pt>
              </c:numCache>
            </c:numRef>
          </c:val>
          <c:smooth val="0"/>
        </c:ser>
        <c:ser>
          <c:idx val="23"/>
          <c:order val="23"/>
          <c:tx>
            <c:v>2025-12</c:v>
          </c:tx>
          <c:spPr>
            <a:ln xmlns:a="http://schemas.openxmlformats.org/drawingml/2006/main" w="11906">
              <a:solidFill>
                <a:srgbClr val="2F63AE"/>
              </a:solidFill>
            </a:ln>
          </c:spPr>
          <c:marker>
            <c:symbol val="none"/>
          </c:marker>
          <c:cat>
            <c:numRef>
              <c:f>'Chart Data'!$AU$2:$AU$2</c:f>
              <c:numCache>
                <c:formatCode>0</c:formatCode>
                <c:ptCount val="1"/>
                <c:pt idx="0">
                  <c:v>0</c:v>
                </c:pt>
              </c:numCache>
            </c:numRef>
          </c:cat>
          <c:val>
            <c:numRef>
              <c:f>'Chart Data'!$AV$2:$AV$2</c:f>
              <c:numCache>
                <c:formatCode>0%</c:formatCode>
                <c:ptCount val="1"/>
                <c:pt idx="0">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Customer age</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Retained</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5"/>
      </c:valAx>
    </c:plotArea>
    <c:plotVisOnly val="1"/>
    <c:dispBlanksAs val="gap"/>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72D3C"/>
                </a:solidFill>
                <a:latin typeface="Arial"/>
                <a:ea typeface="Arial"/>
                <a:cs typeface="Arial"/>
              </a:rPr>
              <a:t>partner / save time</a:t>
            </a:r>
          </a:p>
        </c:rich>
      </c:tx>
      <c:overlay val="0"/>
      <c:txPr>
        <a:bodyPr xmlns:a="http://schemas.openxmlformats.org/drawingml/2006/main" anchorCtr="1"/>
        <a:lstStyle xmlns:a="http://schemas.openxmlformats.org/drawingml/2006/main"/>
        <a:p xmlns:a="http://schemas.openxmlformats.org/drawingml/2006/main">
          <a:pPr>
            <a:defRPr sz="1425" b="1">
              <a:solidFill>
                <a:srgbClr val="172D3C"/>
              </a:solidFill>
              <a:latin typeface="Arial"/>
              <a:ea typeface="Arial"/>
              <a:cs typeface="Arial"/>
            </a:defRPr>
          </a:pPr>
        </a:p>
      </c:txPr>
    </c:title>
    <c:plotArea>
      <c:lineChart>
        <c:grouping val="standard"/>
        <c:varyColors val="0"/>
        <c:ser>
          <c:idx val="0"/>
          <c:order val="0"/>
          <c:tx>
            <c:v>2024-01</c:v>
          </c:tx>
          <c:spPr>
            <a:ln xmlns:a="http://schemas.openxmlformats.org/drawingml/2006/main" w="11906">
              <a:solidFill>
                <a:srgbClr val="B44041"/>
              </a:solidFill>
            </a:ln>
          </c:spPr>
          <c:marker>
            <c:symbol val="none"/>
          </c:marker>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1</c:v>
                </c:pt>
                <c:pt idx="1">
                  <c:v>0.733333333333</c:v>
                </c:pt>
                <c:pt idx="2">
                  <c:v>0.6</c:v>
                </c:pt>
                <c:pt idx="3">
                  <c:v>0.533333333333</c:v>
                </c:pt>
                <c:pt idx="4">
                  <c:v>0.466666666667</c:v>
                </c:pt>
                <c:pt idx="5">
                  <c:v>0.4</c:v>
                </c:pt>
                <c:pt idx="6">
                  <c:v>0.366666666667</c:v>
                </c:pt>
                <c:pt idx="7">
                  <c:v>0.333333333333</c:v>
                </c:pt>
                <c:pt idx="8">
                  <c:v>0.333333333333</c:v>
                </c:pt>
                <c:pt idx="9">
                  <c:v>0.3</c:v>
                </c:pt>
                <c:pt idx="10">
                  <c:v>0.3</c:v>
                </c:pt>
                <c:pt idx="11">
                  <c:v>0.266666666667</c:v>
                </c:pt>
                <c:pt idx="12">
                  <c:v>0.266666666667</c:v>
                </c:pt>
                <c:pt idx="13">
                  <c:v>0.233333333333</c:v>
                </c:pt>
                <c:pt idx="14">
                  <c:v>0.2</c:v>
                </c:pt>
                <c:pt idx="15">
                  <c:v>0.2</c:v>
                </c:pt>
                <c:pt idx="16">
                  <c:v>0.2</c:v>
                </c:pt>
                <c:pt idx="17">
                  <c:v>0.2</c:v>
                </c:pt>
                <c:pt idx="18">
                  <c:v>0.2</c:v>
                </c:pt>
                <c:pt idx="19">
                  <c:v>0.2</c:v>
                </c:pt>
                <c:pt idx="20">
                  <c:v>0.2</c:v>
                </c:pt>
                <c:pt idx="21">
                  <c:v>0.2</c:v>
                </c:pt>
                <c:pt idx="22">
                  <c:v>0.2</c:v>
                </c:pt>
                <c:pt idx="23">
                  <c:v>0.166666666667</c:v>
                </c:pt>
              </c:numCache>
            </c:numRef>
          </c:val>
          <c:smooth val="0"/>
        </c:ser>
        <c:ser>
          <c:idx val="1"/>
          <c:order val="1"/>
          <c:tx>
            <c:v>2024-02</c:v>
          </c:tx>
          <c:spPr>
            <a:ln xmlns:a="http://schemas.openxmlformats.org/drawingml/2006/main" w="11906">
              <a:solidFill>
                <a:srgbClr val="AE4246"/>
              </a:solidFill>
            </a:ln>
          </c:spPr>
          <c:marker>
            <c:symbol val="none"/>
          </c:marker>
          <c:cat>
            <c:numRef>
              <c:f>'Chart Data'!$C$2:$C$24</c:f>
              <c:numCache>
                <c:formatCode>0</c:formatCode>
                <c:ptCount val="2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numCache>
            </c:numRef>
          </c:cat>
          <c:val>
            <c:numRef>
              <c:f>'Chart Data'!$D$2:$D$24</c:f>
              <c:numCache>
                <c:formatCode>0%</c:formatCode>
                <c:ptCount val="23"/>
                <c:pt idx="0">
                  <c:v>1</c:v>
                </c:pt>
                <c:pt idx="1">
                  <c:v>0.783783783784</c:v>
                </c:pt>
                <c:pt idx="2">
                  <c:v>0.72972972973</c:v>
                </c:pt>
                <c:pt idx="3">
                  <c:v>0.513513513514</c:v>
                </c:pt>
                <c:pt idx="4">
                  <c:v>0.486486486486</c:v>
                </c:pt>
                <c:pt idx="5">
                  <c:v>0.432432432432</c:v>
                </c:pt>
                <c:pt idx="6">
                  <c:v>0.405405405405</c:v>
                </c:pt>
                <c:pt idx="7">
                  <c:v>0.405405405405</c:v>
                </c:pt>
                <c:pt idx="8">
                  <c:v>0.378378378378</c:v>
                </c:pt>
                <c:pt idx="9">
                  <c:v>0.378378378378</c:v>
                </c:pt>
                <c:pt idx="10">
                  <c:v>0.324324324324</c:v>
                </c:pt>
                <c:pt idx="11">
                  <c:v>0.297297297297</c:v>
                </c:pt>
                <c:pt idx="12">
                  <c:v>0.297297297297</c:v>
                </c:pt>
                <c:pt idx="13">
                  <c:v>0.297297297297</c:v>
                </c:pt>
                <c:pt idx="14">
                  <c:v>0.27027027027</c:v>
                </c:pt>
                <c:pt idx="15">
                  <c:v>0.27027027027</c:v>
                </c:pt>
                <c:pt idx="16">
                  <c:v>0.27027027027</c:v>
                </c:pt>
                <c:pt idx="17">
                  <c:v>0.27027027027</c:v>
                </c:pt>
                <c:pt idx="18">
                  <c:v>0.27027027027</c:v>
                </c:pt>
                <c:pt idx="19">
                  <c:v>0.243243243243</c:v>
                </c:pt>
                <c:pt idx="20">
                  <c:v>0.243243243243</c:v>
                </c:pt>
                <c:pt idx="21">
                  <c:v>0.243243243243</c:v>
                </c:pt>
                <c:pt idx="22">
                  <c:v>0.243243243243</c:v>
                </c:pt>
              </c:numCache>
            </c:numRef>
          </c:val>
          <c:smooth val="0"/>
        </c:ser>
        <c:ser>
          <c:idx val="2"/>
          <c:order val="2"/>
          <c:tx>
            <c:v>2024-03</c:v>
          </c:tx>
          <c:spPr>
            <a:ln xmlns:a="http://schemas.openxmlformats.org/drawingml/2006/main" w="11906">
              <a:solidFill>
                <a:srgbClr val="A8434A"/>
              </a:solidFill>
            </a:ln>
          </c:spPr>
          <c:marker>
            <c:symbol val="none"/>
          </c:marker>
          <c:cat>
            <c:numRef>
              <c:f>'Chart Data'!$E$2:$E$23</c:f>
              <c:numCache>
                <c:formatCode>0</c:formatCod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numCache>
            </c:numRef>
          </c:cat>
          <c:val>
            <c:numRef>
              <c:f>'Chart Data'!$F$2:$F$23</c:f>
              <c:numCache>
                <c:formatCode>0%</c:formatCode>
                <c:ptCount val="22"/>
                <c:pt idx="0">
                  <c:v>1</c:v>
                </c:pt>
                <c:pt idx="1">
                  <c:v>0.805555555556</c:v>
                </c:pt>
                <c:pt idx="2">
                  <c:v>0.666666666667</c:v>
                </c:pt>
                <c:pt idx="3">
                  <c:v>0.555555555556</c:v>
                </c:pt>
                <c:pt idx="4">
                  <c:v>0.472222222222</c:v>
                </c:pt>
                <c:pt idx="5">
                  <c:v>0.416666666667</c:v>
                </c:pt>
                <c:pt idx="6">
                  <c:v>0.388888888889</c:v>
                </c:pt>
                <c:pt idx="7">
                  <c:v>0.333333333333</c:v>
                </c:pt>
                <c:pt idx="8">
                  <c:v>0.305555555556</c:v>
                </c:pt>
                <c:pt idx="9">
                  <c:v>0.305555555556</c:v>
                </c:pt>
                <c:pt idx="10">
                  <c:v>0.277777777778</c:v>
                </c:pt>
                <c:pt idx="11">
                  <c:v>0.277777777778</c:v>
                </c:pt>
                <c:pt idx="12">
                  <c:v>0.277777777778</c:v>
                </c:pt>
                <c:pt idx="13">
                  <c:v>0.25</c:v>
                </c:pt>
                <c:pt idx="14">
                  <c:v>0.25</c:v>
                </c:pt>
                <c:pt idx="15">
                  <c:v>0.25</c:v>
                </c:pt>
                <c:pt idx="16">
                  <c:v>0.25</c:v>
                </c:pt>
                <c:pt idx="17">
                  <c:v>0.25</c:v>
                </c:pt>
                <c:pt idx="18">
                  <c:v>0.25</c:v>
                </c:pt>
                <c:pt idx="19">
                  <c:v>0.25</c:v>
                </c:pt>
                <c:pt idx="20">
                  <c:v>0.25</c:v>
                </c:pt>
                <c:pt idx="21">
                  <c:v>0.25</c:v>
                </c:pt>
              </c:numCache>
            </c:numRef>
          </c:val>
          <c:smooth val="0"/>
        </c:ser>
        <c:ser>
          <c:idx val="3"/>
          <c:order val="3"/>
          <c:tx>
            <c:v>2024-04</c:v>
          </c:tx>
          <c:spPr>
            <a:ln xmlns:a="http://schemas.openxmlformats.org/drawingml/2006/main" w="11906">
              <a:solidFill>
                <a:srgbClr val="A3454F"/>
              </a:solidFill>
            </a:ln>
          </c:spPr>
          <c:marker>
            <c:symbol val="none"/>
          </c:marker>
          <c:cat>
            <c:numRef>
              <c:f>'Chart Data'!$G$2:$G$22</c:f>
              <c:numCache>
                <c:formatCode>0</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Data'!$H$2:$H$22</c:f>
              <c:numCache>
                <c:formatCode>0%</c:formatCode>
                <c:ptCount val="21"/>
                <c:pt idx="0">
                  <c:v>1</c:v>
                </c:pt>
                <c:pt idx="1">
                  <c:v>0.777777777778</c:v>
                </c:pt>
                <c:pt idx="2">
                  <c:v>0.666666666667</c:v>
                </c:pt>
                <c:pt idx="3">
                  <c:v>0.583333333333</c:v>
                </c:pt>
                <c:pt idx="4">
                  <c:v>0.527777777778</c:v>
                </c:pt>
                <c:pt idx="5">
                  <c:v>0.472222222222</c:v>
                </c:pt>
                <c:pt idx="6">
                  <c:v>0.416666666667</c:v>
                </c:pt>
                <c:pt idx="7">
                  <c:v>0.361111111111</c:v>
                </c:pt>
                <c:pt idx="8">
                  <c:v>0.361111111111</c:v>
                </c:pt>
                <c:pt idx="9">
                  <c:v>0.333333333333</c:v>
                </c:pt>
                <c:pt idx="10">
                  <c:v>0.333333333333</c:v>
                </c:pt>
                <c:pt idx="11">
                  <c:v>0.277777777778</c:v>
                </c:pt>
                <c:pt idx="12">
                  <c:v>0.25</c:v>
                </c:pt>
                <c:pt idx="13">
                  <c:v>0.222222222222</c:v>
                </c:pt>
                <c:pt idx="14">
                  <c:v>0.194444444444</c:v>
                </c:pt>
                <c:pt idx="15">
                  <c:v>0.194444444444</c:v>
                </c:pt>
                <c:pt idx="16">
                  <c:v>0.166666666667</c:v>
                </c:pt>
                <c:pt idx="17">
                  <c:v>0.166666666667</c:v>
                </c:pt>
                <c:pt idx="18">
                  <c:v>0.166666666667</c:v>
                </c:pt>
                <c:pt idx="19">
                  <c:v>0.166666666667</c:v>
                </c:pt>
                <c:pt idx="20">
                  <c:v>0.166666666667</c:v>
                </c:pt>
              </c:numCache>
            </c:numRef>
          </c:val>
          <c:smooth val="0"/>
        </c:ser>
        <c:ser>
          <c:idx val="4"/>
          <c:order val="4"/>
          <c:tx>
            <c:v>2024-05</c:v>
          </c:tx>
          <c:spPr>
            <a:ln xmlns:a="http://schemas.openxmlformats.org/drawingml/2006/main" w="11906">
              <a:solidFill>
                <a:srgbClr val="9D4654"/>
              </a:solidFill>
            </a:ln>
          </c:spPr>
          <c:marker>
            <c:symbol val="none"/>
          </c:marker>
          <c:cat>
            <c:numRef>
              <c:f>'Chart Data'!$I$2:$I$21</c:f>
              <c:numCache>
                <c:formatCode>0</c:formatCod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numCache>
            </c:numRef>
          </c:cat>
          <c:val>
            <c:numRef>
              <c:f>'Chart Data'!$J$2:$J$21</c:f>
              <c:numCache>
                <c:formatCode>0%</c:formatCode>
                <c:ptCount val="20"/>
                <c:pt idx="0">
                  <c:v>1</c:v>
                </c:pt>
                <c:pt idx="1">
                  <c:v>0.75</c:v>
                </c:pt>
                <c:pt idx="2">
                  <c:v>0.555555555556</c:v>
                </c:pt>
                <c:pt idx="3">
                  <c:v>0.5</c:v>
                </c:pt>
                <c:pt idx="4">
                  <c:v>0.472222222222</c:v>
                </c:pt>
                <c:pt idx="5">
                  <c:v>0.472222222222</c:v>
                </c:pt>
                <c:pt idx="6">
                  <c:v>0.444444444444</c:v>
                </c:pt>
                <c:pt idx="7">
                  <c:v>0.416666666667</c:v>
                </c:pt>
                <c:pt idx="8">
                  <c:v>0.361111111111</c:v>
                </c:pt>
                <c:pt idx="9">
                  <c:v>0.333333333333</c:v>
                </c:pt>
                <c:pt idx="10">
                  <c:v>0.305555555556</c:v>
                </c:pt>
                <c:pt idx="11">
                  <c:v>0.305555555556</c:v>
                </c:pt>
                <c:pt idx="12">
                  <c:v>0.277777777778</c:v>
                </c:pt>
                <c:pt idx="13">
                  <c:v>0.25</c:v>
                </c:pt>
                <c:pt idx="14">
                  <c:v>0.25</c:v>
                </c:pt>
                <c:pt idx="15">
                  <c:v>0.25</c:v>
                </c:pt>
                <c:pt idx="16">
                  <c:v>0.25</c:v>
                </c:pt>
                <c:pt idx="17">
                  <c:v>0.222222222222</c:v>
                </c:pt>
                <c:pt idx="18">
                  <c:v>0.222222222222</c:v>
                </c:pt>
                <c:pt idx="19">
                  <c:v>0.194444444444</c:v>
                </c:pt>
              </c:numCache>
            </c:numRef>
          </c:val>
          <c:smooth val="0"/>
        </c:ser>
        <c:ser>
          <c:idx val="5"/>
          <c:order val="5"/>
          <c:tx>
            <c:v>2024-06</c:v>
          </c:tx>
          <c:spPr>
            <a:ln xmlns:a="http://schemas.openxmlformats.org/drawingml/2006/main" w="11906">
              <a:solidFill>
                <a:srgbClr val="974859"/>
              </a:solidFill>
            </a:ln>
          </c:spPr>
          <c:marker>
            <c:symbol val="none"/>
          </c:marker>
          <c:cat>
            <c:numRef>
              <c:f>'Chart Data'!$K$2:$K$20</c:f>
              <c:numCache>
                <c:formatCode>0</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Cache>
            </c:numRef>
          </c:cat>
          <c:val>
            <c:numRef>
              <c:f>'Chart Data'!$L$2:$L$20</c:f>
              <c:numCache>
                <c:formatCode>0%</c:formatCode>
                <c:ptCount val="19"/>
                <c:pt idx="0">
                  <c:v>1</c:v>
                </c:pt>
                <c:pt idx="1">
                  <c:v>0.756756756757</c:v>
                </c:pt>
                <c:pt idx="2">
                  <c:v>0.702702702703</c:v>
                </c:pt>
                <c:pt idx="3">
                  <c:v>0.675675675676</c:v>
                </c:pt>
                <c:pt idx="4">
                  <c:v>0.594594594595</c:v>
                </c:pt>
                <c:pt idx="5">
                  <c:v>0.513513513514</c:v>
                </c:pt>
                <c:pt idx="6">
                  <c:v>0.459459459459</c:v>
                </c:pt>
                <c:pt idx="7">
                  <c:v>0.432432432432</c:v>
                </c:pt>
                <c:pt idx="8">
                  <c:v>0.432432432432</c:v>
                </c:pt>
                <c:pt idx="9">
                  <c:v>0.432432432432</c:v>
                </c:pt>
                <c:pt idx="10">
                  <c:v>0.405405405405</c:v>
                </c:pt>
                <c:pt idx="11">
                  <c:v>0.351351351351</c:v>
                </c:pt>
                <c:pt idx="12">
                  <c:v>0.351351351351</c:v>
                </c:pt>
                <c:pt idx="13">
                  <c:v>0.351351351351</c:v>
                </c:pt>
                <c:pt idx="14">
                  <c:v>0.27027027027</c:v>
                </c:pt>
                <c:pt idx="15">
                  <c:v>0.216216216216</c:v>
                </c:pt>
                <c:pt idx="16">
                  <c:v>0.216216216216</c:v>
                </c:pt>
                <c:pt idx="17">
                  <c:v>0.162162162162</c:v>
                </c:pt>
                <c:pt idx="18">
                  <c:v>0.162162162162</c:v>
                </c:pt>
              </c:numCache>
            </c:numRef>
          </c:val>
          <c:smooth val="0"/>
        </c:ser>
        <c:ser>
          <c:idx val="6"/>
          <c:order val="6"/>
          <c:tx>
            <c:v>2024-07</c:v>
          </c:tx>
          <c:spPr>
            <a:ln xmlns:a="http://schemas.openxmlformats.org/drawingml/2006/main" w="11906">
              <a:solidFill>
                <a:srgbClr val="91495D"/>
              </a:solidFill>
            </a:ln>
          </c:spPr>
          <c:marker>
            <c:symbol val="none"/>
          </c:marker>
          <c:cat>
            <c:numRef>
              <c:f>'Chart Data'!$M$2:$M$19</c:f>
              <c:numCache>
                <c:formatCode>0</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cat>
          <c:val>
            <c:numRef>
              <c:f>'Chart Data'!$N$2:$N$19</c:f>
              <c:numCache>
                <c:formatCode>0%</c:formatCode>
                <c:ptCount val="18"/>
                <c:pt idx="0">
                  <c:v>1</c:v>
                </c:pt>
                <c:pt idx="1">
                  <c:v>0.828571428571</c:v>
                </c:pt>
                <c:pt idx="2">
                  <c:v>0.714285714286</c:v>
                </c:pt>
                <c:pt idx="3">
                  <c:v>0.542857142857</c:v>
                </c:pt>
                <c:pt idx="4">
                  <c:v>0.457142857143</c:v>
                </c:pt>
                <c:pt idx="5">
                  <c:v>0.371428571429</c:v>
                </c:pt>
                <c:pt idx="6">
                  <c:v>0.342857142857</c:v>
                </c:pt>
                <c:pt idx="7">
                  <c:v>0.314285714286</c:v>
                </c:pt>
                <c:pt idx="8">
                  <c:v>0.314285714286</c:v>
                </c:pt>
                <c:pt idx="9">
                  <c:v>0.314285714286</c:v>
                </c:pt>
                <c:pt idx="10">
                  <c:v>0.257142857143</c:v>
                </c:pt>
                <c:pt idx="11">
                  <c:v>0.257142857143</c:v>
                </c:pt>
                <c:pt idx="12">
                  <c:v>0.257142857143</c:v>
                </c:pt>
                <c:pt idx="13">
                  <c:v>0.257142857143</c:v>
                </c:pt>
                <c:pt idx="14">
                  <c:v>0.228571428571</c:v>
                </c:pt>
                <c:pt idx="15">
                  <c:v>0.228571428571</c:v>
                </c:pt>
                <c:pt idx="16">
                  <c:v>0.228571428571</c:v>
                </c:pt>
                <c:pt idx="17">
                  <c:v>0.228571428571</c:v>
                </c:pt>
              </c:numCache>
            </c:numRef>
          </c:val>
          <c:smooth val="0"/>
        </c:ser>
        <c:ser>
          <c:idx val="7"/>
          <c:order val="7"/>
          <c:tx>
            <c:v>2024-08</c:v>
          </c:tx>
          <c:spPr>
            <a:ln xmlns:a="http://schemas.openxmlformats.org/drawingml/2006/main" w="11906">
              <a:solidFill>
                <a:srgbClr val="8C4B62"/>
              </a:solidFill>
            </a:ln>
          </c:spPr>
          <c:marker>
            <c:symbol val="none"/>
          </c:marker>
          <c:cat>
            <c:numRef>
              <c:f>'Chart Data'!$O$2:$O$18</c:f>
              <c:numCache>
                <c:formatCode>0</c:formatCode>
                <c:ptCount val="1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numCache>
            </c:numRef>
          </c:cat>
          <c:val>
            <c:numRef>
              <c:f>'Chart Data'!$P$2:$P$18</c:f>
              <c:numCache>
                <c:formatCode>0%</c:formatCode>
                <c:ptCount val="17"/>
                <c:pt idx="0">
                  <c:v>1</c:v>
                </c:pt>
                <c:pt idx="1">
                  <c:v>0.837837837838</c:v>
                </c:pt>
                <c:pt idx="2">
                  <c:v>0.810810810811</c:v>
                </c:pt>
                <c:pt idx="3">
                  <c:v>0.675675675676</c:v>
                </c:pt>
                <c:pt idx="4">
                  <c:v>0.648648648649</c:v>
                </c:pt>
                <c:pt idx="5">
                  <c:v>0.567567567568</c:v>
                </c:pt>
                <c:pt idx="6">
                  <c:v>0.540540540541</c:v>
                </c:pt>
                <c:pt idx="7">
                  <c:v>0.540540540541</c:v>
                </c:pt>
                <c:pt idx="8">
                  <c:v>0.513513513514</c:v>
                </c:pt>
                <c:pt idx="9">
                  <c:v>0.486486486486</c:v>
                </c:pt>
                <c:pt idx="10">
                  <c:v>0.486486486486</c:v>
                </c:pt>
                <c:pt idx="11">
                  <c:v>0.459459459459</c:v>
                </c:pt>
                <c:pt idx="12">
                  <c:v>0.459459459459</c:v>
                </c:pt>
                <c:pt idx="13">
                  <c:v>0.459459459459</c:v>
                </c:pt>
                <c:pt idx="14">
                  <c:v>0.432432432432</c:v>
                </c:pt>
                <c:pt idx="15">
                  <c:v>0.432432432432</c:v>
                </c:pt>
                <c:pt idx="16">
                  <c:v>0.432432432432</c:v>
                </c:pt>
              </c:numCache>
            </c:numRef>
          </c:val>
          <c:smooth val="0"/>
        </c:ser>
        <c:ser>
          <c:idx val="8"/>
          <c:order val="8"/>
          <c:tx>
            <c:v>2024-09</c:v>
          </c:tx>
          <c:spPr>
            <a:ln xmlns:a="http://schemas.openxmlformats.org/drawingml/2006/main" w="11906">
              <a:solidFill>
                <a:srgbClr val="864C67"/>
              </a:solidFill>
            </a:ln>
          </c:spPr>
          <c:marker>
            <c:symbol val="none"/>
          </c:marker>
          <c:cat>
            <c:numRef>
              <c:f>'Chart Data'!$Q$2:$Q$17</c:f>
              <c:numCache>
                <c:formatCode>0</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Data'!$R$2:$R$17</c:f>
              <c:numCache>
                <c:formatCode>0%</c:formatCode>
                <c:ptCount val="16"/>
                <c:pt idx="0">
                  <c:v>1</c:v>
                </c:pt>
                <c:pt idx="1">
                  <c:v>0.829268292683</c:v>
                </c:pt>
                <c:pt idx="2">
                  <c:v>0.682926829268</c:v>
                </c:pt>
                <c:pt idx="3">
                  <c:v>0.585365853659</c:v>
                </c:pt>
                <c:pt idx="4">
                  <c:v>0.560975609756</c:v>
                </c:pt>
                <c:pt idx="5">
                  <c:v>0.560975609756</c:v>
                </c:pt>
                <c:pt idx="6">
                  <c:v>0.536585365854</c:v>
                </c:pt>
                <c:pt idx="7">
                  <c:v>0.487804878049</c:v>
                </c:pt>
                <c:pt idx="8">
                  <c:v>0.463414634146</c:v>
                </c:pt>
                <c:pt idx="9">
                  <c:v>0.463414634146</c:v>
                </c:pt>
                <c:pt idx="10">
                  <c:v>0.439024390244</c:v>
                </c:pt>
                <c:pt idx="11">
                  <c:v>0.414634146341</c:v>
                </c:pt>
                <c:pt idx="12">
                  <c:v>0.390243902439</c:v>
                </c:pt>
                <c:pt idx="13">
                  <c:v>0.365853658537</c:v>
                </c:pt>
                <c:pt idx="14">
                  <c:v>0.365853658537</c:v>
                </c:pt>
                <c:pt idx="15">
                  <c:v>0.365853658537</c:v>
                </c:pt>
              </c:numCache>
            </c:numRef>
          </c:val>
          <c:smooth val="0"/>
        </c:ser>
        <c:ser>
          <c:idx val="9"/>
          <c:order val="9"/>
          <c:tx>
            <c:v>2024-10</c:v>
          </c:tx>
          <c:spPr>
            <a:ln xmlns:a="http://schemas.openxmlformats.org/drawingml/2006/main" w="11906">
              <a:solidFill>
                <a:srgbClr val="804E6C"/>
              </a:solidFill>
            </a:ln>
          </c:spPr>
          <c:marker>
            <c:symbol val="none"/>
          </c:marker>
          <c:cat>
            <c:numRef>
              <c:f>'Chart Data'!$S$2:$S$16</c:f>
              <c:numCache>
                <c:formatCode>0</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cat>
          <c:val>
            <c:numRef>
              <c:f>'Chart Data'!$T$2:$T$16</c:f>
              <c:numCache>
                <c:formatCode>0%</c:formatCode>
                <c:ptCount val="15"/>
                <c:pt idx="0">
                  <c:v>1</c:v>
                </c:pt>
                <c:pt idx="1">
                  <c:v>0.780487804878</c:v>
                </c:pt>
                <c:pt idx="2">
                  <c:v>0.609756097561</c:v>
                </c:pt>
                <c:pt idx="3">
                  <c:v>0.560975609756</c:v>
                </c:pt>
                <c:pt idx="4">
                  <c:v>0.512195121951</c:v>
                </c:pt>
                <c:pt idx="5">
                  <c:v>0.463414634146</c:v>
                </c:pt>
                <c:pt idx="6">
                  <c:v>0.414634146341</c:v>
                </c:pt>
                <c:pt idx="7">
                  <c:v>0.390243902439</c:v>
                </c:pt>
                <c:pt idx="8">
                  <c:v>0.390243902439</c:v>
                </c:pt>
                <c:pt idx="9">
                  <c:v>0.390243902439</c:v>
                </c:pt>
                <c:pt idx="10">
                  <c:v>0.341463414634</c:v>
                </c:pt>
                <c:pt idx="11">
                  <c:v>0.292682926829</c:v>
                </c:pt>
                <c:pt idx="12">
                  <c:v>0.292682926829</c:v>
                </c:pt>
                <c:pt idx="13">
                  <c:v>0.268292682927</c:v>
                </c:pt>
                <c:pt idx="14">
                  <c:v>0.243902439024</c:v>
                </c:pt>
              </c:numCache>
            </c:numRef>
          </c:val>
          <c:smooth val="0"/>
        </c:ser>
        <c:ser>
          <c:idx val="10"/>
          <c:order val="10"/>
          <c:tx>
            <c:v>2024-11</c:v>
          </c:tx>
          <c:spPr>
            <a:ln xmlns:a="http://schemas.openxmlformats.org/drawingml/2006/main" w="11906">
              <a:solidFill>
                <a:srgbClr val="7A4F70"/>
              </a:solidFill>
            </a:ln>
          </c:spPr>
          <c:marker>
            <c:symbol val="none"/>
          </c:marker>
          <c:cat>
            <c:numRef>
              <c:f>'Chart Data'!$U$2:$U$15</c:f>
              <c:numCache>
                <c:formatCode>0</c:formatCode>
                <c:ptCount val="14"/>
                <c:pt idx="0">
                  <c:v>0</c:v>
                </c:pt>
                <c:pt idx="1">
                  <c:v>1</c:v>
                </c:pt>
                <c:pt idx="2">
                  <c:v>2</c:v>
                </c:pt>
                <c:pt idx="3">
                  <c:v>3</c:v>
                </c:pt>
                <c:pt idx="4">
                  <c:v>4</c:v>
                </c:pt>
                <c:pt idx="5">
                  <c:v>5</c:v>
                </c:pt>
                <c:pt idx="6">
                  <c:v>6</c:v>
                </c:pt>
                <c:pt idx="7">
                  <c:v>7</c:v>
                </c:pt>
                <c:pt idx="8">
                  <c:v>8</c:v>
                </c:pt>
                <c:pt idx="9">
                  <c:v>9</c:v>
                </c:pt>
                <c:pt idx="10">
                  <c:v>10</c:v>
                </c:pt>
                <c:pt idx="11">
                  <c:v>11</c:v>
                </c:pt>
                <c:pt idx="12">
                  <c:v>12</c:v>
                </c:pt>
                <c:pt idx="13">
                  <c:v>13</c:v>
                </c:pt>
              </c:numCache>
            </c:numRef>
          </c:cat>
          <c:val>
            <c:numRef>
              <c:f>'Chart Data'!$V$2:$V$15</c:f>
              <c:numCache>
                <c:formatCode>0%</c:formatCode>
                <c:ptCount val="14"/>
                <c:pt idx="0">
                  <c:v>1</c:v>
                </c:pt>
                <c:pt idx="1">
                  <c:v>0.90243902439</c:v>
                </c:pt>
                <c:pt idx="2">
                  <c:v>0.853658536585</c:v>
                </c:pt>
                <c:pt idx="3">
                  <c:v>0.780487804878</c:v>
                </c:pt>
                <c:pt idx="4">
                  <c:v>0.634146341463</c:v>
                </c:pt>
                <c:pt idx="5">
                  <c:v>0.585365853659</c:v>
                </c:pt>
                <c:pt idx="6">
                  <c:v>0.560975609756</c:v>
                </c:pt>
                <c:pt idx="7">
                  <c:v>0.512195121951</c:v>
                </c:pt>
                <c:pt idx="8">
                  <c:v>0.512195121951</c:v>
                </c:pt>
                <c:pt idx="9">
                  <c:v>0.487804878049</c:v>
                </c:pt>
                <c:pt idx="10">
                  <c:v>0.463414634146</c:v>
                </c:pt>
                <c:pt idx="11">
                  <c:v>0.463414634146</c:v>
                </c:pt>
                <c:pt idx="12">
                  <c:v>0.463414634146</c:v>
                </c:pt>
                <c:pt idx="13">
                  <c:v>0.463414634146</c:v>
                </c:pt>
              </c:numCache>
            </c:numRef>
          </c:val>
          <c:smooth val="0"/>
        </c:ser>
        <c:ser>
          <c:idx val="11"/>
          <c:order val="11"/>
          <c:tx>
            <c:v>2024-12</c:v>
          </c:tx>
          <c:spPr>
            <a:ln xmlns:a="http://schemas.openxmlformats.org/drawingml/2006/main" w="11906">
              <a:solidFill>
                <a:srgbClr val="745175"/>
              </a:solidFill>
            </a:ln>
          </c:spPr>
          <c:marker>
            <c:symbol val="none"/>
          </c:marker>
          <c:cat>
            <c:numRef>
              <c:f>'Chart Data'!$W$2:$W$14</c:f>
              <c:numCache>
                <c:formatCode>0</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'Chart Data'!$X$2:$X$14</c:f>
              <c:numCache>
                <c:formatCode>0%</c:formatCode>
                <c:ptCount val="13"/>
                <c:pt idx="0">
                  <c:v>1</c:v>
                </c:pt>
                <c:pt idx="1">
                  <c:v>0.75</c:v>
                </c:pt>
                <c:pt idx="2">
                  <c:v>0.704545454545</c:v>
                </c:pt>
                <c:pt idx="3">
                  <c:v>0.545454545455</c:v>
                </c:pt>
                <c:pt idx="4">
                  <c:v>0.454545454545</c:v>
                </c:pt>
                <c:pt idx="5">
                  <c:v>0.409090909091</c:v>
                </c:pt>
                <c:pt idx="6">
                  <c:v>0.363636363636</c:v>
                </c:pt>
                <c:pt idx="7">
                  <c:v>0.340909090909</c:v>
                </c:pt>
                <c:pt idx="8">
                  <c:v>0.318181818182</c:v>
                </c:pt>
                <c:pt idx="9">
                  <c:v>0.318181818182</c:v>
                </c:pt>
                <c:pt idx="10">
                  <c:v>0.318181818182</c:v>
                </c:pt>
                <c:pt idx="11">
                  <c:v>0.272727272727</c:v>
                </c:pt>
                <c:pt idx="12">
                  <c:v>0.25</c:v>
                </c:pt>
              </c:numCache>
            </c:numRef>
          </c:val>
          <c:smooth val="0"/>
        </c:ser>
        <c:ser>
          <c:idx val="12"/>
          <c:order val="12"/>
          <c:tx>
            <c:v>2025-01</c:v>
          </c:tx>
          <c:spPr>
            <a:ln xmlns:a="http://schemas.openxmlformats.org/drawingml/2006/main" w="11906">
              <a:solidFill>
                <a:srgbClr val="6F527A"/>
              </a:solidFill>
            </a:ln>
          </c:spPr>
          <c:marker>
            <c:symbol val="none"/>
          </c:marker>
          <c:cat>
            <c:numRef>
              <c:f>'Chart Data'!$Y$2:$Y$13</c:f>
              <c:numCache>
                <c:formatCode>0</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Data'!$Z$2:$Z$13</c:f>
              <c:numCache>
                <c:formatCode>0%</c:formatCode>
                <c:ptCount val="12"/>
                <c:pt idx="0">
                  <c:v>1</c:v>
                </c:pt>
                <c:pt idx="1">
                  <c:v>0.875</c:v>
                </c:pt>
                <c:pt idx="2">
                  <c:v>0.675</c:v>
                </c:pt>
                <c:pt idx="3">
                  <c:v>0.55</c:v>
                </c:pt>
                <c:pt idx="4">
                  <c:v>0.5</c:v>
                </c:pt>
                <c:pt idx="5">
                  <c:v>0.425</c:v>
                </c:pt>
                <c:pt idx="6">
                  <c:v>0.4</c:v>
                </c:pt>
                <c:pt idx="7">
                  <c:v>0.4</c:v>
                </c:pt>
                <c:pt idx="8">
                  <c:v>0.35</c:v>
                </c:pt>
                <c:pt idx="9">
                  <c:v>0.325</c:v>
                </c:pt>
                <c:pt idx="10">
                  <c:v>0.3</c:v>
                </c:pt>
                <c:pt idx="11">
                  <c:v>0.25</c:v>
                </c:pt>
              </c:numCache>
            </c:numRef>
          </c:val>
          <c:smooth val="0"/>
        </c:ser>
        <c:ser>
          <c:idx val="13"/>
          <c:order val="13"/>
          <c:tx>
            <c:v>2025-02</c:v>
          </c:tx>
          <c:spPr>
            <a:ln xmlns:a="http://schemas.openxmlformats.org/drawingml/2006/main" w="11906">
              <a:solidFill>
                <a:srgbClr val="69547F"/>
              </a:solidFill>
            </a:ln>
          </c:spPr>
          <c:marker>
            <c:symbol val="none"/>
          </c:marker>
          <c:cat>
            <c:numRef>
              <c:f>'Chart Data'!$AA$2:$AA$12</c:f>
              <c:numCache>
                <c:formatCode>0</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Data'!$AB$2:$AB$12</c:f>
              <c:numCache>
                <c:formatCode>0%</c:formatCode>
                <c:ptCount val="11"/>
                <c:pt idx="0">
                  <c:v>1</c:v>
                </c:pt>
                <c:pt idx="1">
                  <c:v>0.755555555556</c:v>
                </c:pt>
                <c:pt idx="2">
                  <c:v>0.622222222222</c:v>
                </c:pt>
                <c:pt idx="3">
                  <c:v>0.577777777778</c:v>
                </c:pt>
                <c:pt idx="4">
                  <c:v>0.555555555556</c:v>
                </c:pt>
                <c:pt idx="5">
                  <c:v>0.466666666667</c:v>
                </c:pt>
                <c:pt idx="6">
                  <c:v>0.444444444444</c:v>
                </c:pt>
                <c:pt idx="7">
                  <c:v>0.377777777778</c:v>
                </c:pt>
                <c:pt idx="8">
                  <c:v>0.377777777778</c:v>
                </c:pt>
                <c:pt idx="9">
                  <c:v>0.377777777778</c:v>
                </c:pt>
                <c:pt idx="10">
                  <c:v>0.377777777778</c:v>
                </c:pt>
              </c:numCache>
            </c:numRef>
          </c:val>
          <c:smooth val="0"/>
        </c:ser>
        <c:ser>
          <c:idx val="14"/>
          <c:order val="14"/>
          <c:tx>
            <c:v>2025-03</c:v>
          </c:tx>
          <c:spPr>
            <a:ln xmlns:a="http://schemas.openxmlformats.org/drawingml/2006/main" w="11906">
              <a:solidFill>
                <a:srgbClr val="635583"/>
              </a:solidFill>
            </a:ln>
          </c:spPr>
          <c:marker>
            <c:symbol val="none"/>
          </c:marker>
          <c:cat>
            <c:numRef>
              <c:f>'Chart Data'!$AC$2:$AC$11</c:f>
              <c:numCache>
                <c:formatCode>0</c:formatCode>
                <c:ptCount val="10"/>
                <c:pt idx="0">
                  <c:v>0</c:v>
                </c:pt>
                <c:pt idx="1">
                  <c:v>1</c:v>
                </c:pt>
                <c:pt idx="2">
                  <c:v>2</c:v>
                </c:pt>
                <c:pt idx="3">
                  <c:v>3</c:v>
                </c:pt>
                <c:pt idx="4">
                  <c:v>4</c:v>
                </c:pt>
                <c:pt idx="5">
                  <c:v>5</c:v>
                </c:pt>
                <c:pt idx="6">
                  <c:v>6</c:v>
                </c:pt>
                <c:pt idx="7">
                  <c:v>7</c:v>
                </c:pt>
                <c:pt idx="8">
                  <c:v>8</c:v>
                </c:pt>
                <c:pt idx="9">
                  <c:v>9</c:v>
                </c:pt>
              </c:numCache>
            </c:numRef>
          </c:cat>
          <c:val>
            <c:numRef>
              <c:f>'Chart Data'!$AD$2:$AD$11</c:f>
              <c:numCache>
                <c:formatCode>0%</c:formatCode>
                <c:ptCount val="10"/>
                <c:pt idx="0">
                  <c:v>1</c:v>
                </c:pt>
                <c:pt idx="1">
                  <c:v>0.760869565217</c:v>
                </c:pt>
                <c:pt idx="2">
                  <c:v>0.673913043478</c:v>
                </c:pt>
                <c:pt idx="3">
                  <c:v>0.565217391304</c:v>
                </c:pt>
                <c:pt idx="4">
                  <c:v>0.5</c:v>
                </c:pt>
                <c:pt idx="5">
                  <c:v>0.478260869565</c:v>
                </c:pt>
                <c:pt idx="6">
                  <c:v>0.413043478261</c:v>
                </c:pt>
                <c:pt idx="7">
                  <c:v>0.413043478261</c:v>
                </c:pt>
                <c:pt idx="8">
                  <c:v>0.347826086957</c:v>
                </c:pt>
                <c:pt idx="9">
                  <c:v>0.347826086957</c:v>
                </c:pt>
              </c:numCache>
            </c:numRef>
          </c:val>
          <c:smooth val="0"/>
        </c:ser>
        <c:ser>
          <c:idx val="15"/>
          <c:order val="15"/>
          <c:tx>
            <c:v>2025-04</c:v>
          </c:tx>
          <c:spPr>
            <a:ln xmlns:a="http://schemas.openxmlformats.org/drawingml/2006/main" w="11906">
              <a:solidFill>
                <a:srgbClr val="5D5788"/>
              </a:solidFill>
            </a:ln>
          </c:spPr>
          <c:marker>
            <c:symbol val="none"/>
          </c:marker>
          <c:cat>
            <c:numRef>
              <c:f>'Chart Data'!$AE$2:$AE$10</c:f>
              <c:numCache>
                <c:formatCode>0</c:formatCode>
                <c:ptCount val="9"/>
                <c:pt idx="0">
                  <c:v>0</c:v>
                </c:pt>
                <c:pt idx="1">
                  <c:v>1</c:v>
                </c:pt>
                <c:pt idx="2">
                  <c:v>2</c:v>
                </c:pt>
                <c:pt idx="3">
                  <c:v>3</c:v>
                </c:pt>
                <c:pt idx="4">
                  <c:v>4</c:v>
                </c:pt>
                <c:pt idx="5">
                  <c:v>5</c:v>
                </c:pt>
                <c:pt idx="6">
                  <c:v>6</c:v>
                </c:pt>
                <c:pt idx="7">
                  <c:v>7</c:v>
                </c:pt>
                <c:pt idx="8">
                  <c:v>8</c:v>
                </c:pt>
              </c:numCache>
            </c:numRef>
          </c:cat>
          <c:val>
            <c:numRef>
              <c:f>'Chart Data'!$AF$2:$AF$10</c:f>
              <c:numCache>
                <c:formatCode>0%</c:formatCode>
                <c:ptCount val="9"/>
                <c:pt idx="0">
                  <c:v>1</c:v>
                </c:pt>
                <c:pt idx="1">
                  <c:v>0.933333333333</c:v>
                </c:pt>
                <c:pt idx="2">
                  <c:v>0.8</c:v>
                </c:pt>
                <c:pt idx="3">
                  <c:v>0.777777777778</c:v>
                </c:pt>
                <c:pt idx="4">
                  <c:v>0.711111111111</c:v>
                </c:pt>
                <c:pt idx="5">
                  <c:v>0.711111111111</c:v>
                </c:pt>
                <c:pt idx="6">
                  <c:v>0.666666666667</c:v>
                </c:pt>
                <c:pt idx="7">
                  <c:v>0.644444444444</c:v>
                </c:pt>
                <c:pt idx="8">
                  <c:v>0.622222222222</c:v>
                </c:pt>
              </c:numCache>
            </c:numRef>
          </c:val>
          <c:smooth val="0"/>
        </c:ser>
        <c:ser>
          <c:idx val="16"/>
          <c:order val="16"/>
          <c:tx>
            <c:v>2025-05</c:v>
          </c:tx>
          <c:spPr>
            <a:ln xmlns:a="http://schemas.openxmlformats.org/drawingml/2006/main" w="11906">
              <a:solidFill>
                <a:srgbClr val="57588D"/>
              </a:solidFill>
            </a:ln>
          </c:spPr>
          <c:marker>
            <c:symbol val="none"/>
          </c:marker>
          <c:cat>
            <c:numRef>
              <c:f>'Chart Data'!$AG$2:$AG$9</c:f>
              <c:numCache>
                <c:formatCode>0</c:formatCode>
                <c:ptCount val="8"/>
                <c:pt idx="0">
                  <c:v>0</c:v>
                </c:pt>
                <c:pt idx="1">
                  <c:v>1</c:v>
                </c:pt>
                <c:pt idx="2">
                  <c:v>2</c:v>
                </c:pt>
                <c:pt idx="3">
                  <c:v>3</c:v>
                </c:pt>
                <c:pt idx="4">
                  <c:v>4</c:v>
                </c:pt>
                <c:pt idx="5">
                  <c:v>5</c:v>
                </c:pt>
                <c:pt idx="6">
                  <c:v>6</c:v>
                </c:pt>
                <c:pt idx="7">
                  <c:v>7</c:v>
                </c:pt>
              </c:numCache>
            </c:numRef>
          </c:cat>
          <c:val>
            <c:numRef>
              <c:f>'Chart Data'!$AH$2:$AH$9</c:f>
              <c:numCache>
                <c:formatCode>0%</c:formatCode>
                <c:ptCount val="8"/>
                <c:pt idx="0">
                  <c:v>1</c:v>
                </c:pt>
                <c:pt idx="1">
                  <c:v>0.979591836735</c:v>
                </c:pt>
                <c:pt idx="2">
                  <c:v>0.857142857143</c:v>
                </c:pt>
                <c:pt idx="3">
                  <c:v>0.775510204082</c:v>
                </c:pt>
                <c:pt idx="4">
                  <c:v>0.673469387755</c:v>
                </c:pt>
                <c:pt idx="5">
                  <c:v>0.632653061224</c:v>
                </c:pt>
                <c:pt idx="6">
                  <c:v>0.591836734694</c:v>
                </c:pt>
                <c:pt idx="7">
                  <c:v>0.591836734694</c:v>
                </c:pt>
              </c:numCache>
            </c:numRef>
          </c:val>
          <c:smooth val="0"/>
        </c:ser>
        <c:ser>
          <c:idx val="17"/>
          <c:order val="17"/>
          <c:tx>
            <c:v>2025-06</c:v>
          </c:tx>
          <c:spPr>
            <a:ln xmlns:a="http://schemas.openxmlformats.org/drawingml/2006/main" w="11906">
              <a:solidFill>
                <a:srgbClr val="525A92"/>
              </a:solidFill>
            </a:ln>
          </c:spPr>
          <c:marker>
            <c:symbol val="none"/>
          </c:marker>
          <c:cat>
            <c:numRef>
              <c:f>'Chart Data'!$AI$2:$AI$8</c:f>
              <c:numCache>
                <c:formatCode>0</c:formatCode>
                <c:ptCount val="7"/>
                <c:pt idx="0">
                  <c:v>0</c:v>
                </c:pt>
                <c:pt idx="1">
                  <c:v>1</c:v>
                </c:pt>
                <c:pt idx="2">
                  <c:v>2</c:v>
                </c:pt>
                <c:pt idx="3">
                  <c:v>3</c:v>
                </c:pt>
                <c:pt idx="4">
                  <c:v>4</c:v>
                </c:pt>
                <c:pt idx="5">
                  <c:v>5</c:v>
                </c:pt>
                <c:pt idx="6">
                  <c:v>6</c:v>
                </c:pt>
              </c:numCache>
            </c:numRef>
          </c:cat>
          <c:val>
            <c:numRef>
              <c:f>'Chart Data'!$AJ$2:$AJ$8</c:f>
              <c:numCache>
                <c:formatCode>0%</c:formatCode>
                <c:ptCount val="7"/>
                <c:pt idx="0">
                  <c:v>1</c:v>
                </c:pt>
                <c:pt idx="1">
                  <c:v>0.782608695652</c:v>
                </c:pt>
                <c:pt idx="2">
                  <c:v>0.630434782609</c:v>
                </c:pt>
                <c:pt idx="3">
                  <c:v>0.54347826087</c:v>
                </c:pt>
                <c:pt idx="4">
                  <c:v>0.478260869565</c:v>
                </c:pt>
                <c:pt idx="5">
                  <c:v>0.45652173913</c:v>
                </c:pt>
                <c:pt idx="6">
                  <c:v>0.434782608696</c:v>
                </c:pt>
              </c:numCache>
            </c:numRef>
          </c:val>
          <c:smooth val="0"/>
        </c:ser>
        <c:ser>
          <c:idx val="18"/>
          <c:order val="18"/>
          <c:tx>
            <c:v>2025-07</c:v>
          </c:tx>
          <c:spPr>
            <a:ln xmlns:a="http://schemas.openxmlformats.org/drawingml/2006/main" w="11906">
              <a:solidFill>
                <a:srgbClr val="4C5B96"/>
              </a:solidFill>
            </a:ln>
          </c:spPr>
          <c:marker>
            <c:symbol val="none"/>
          </c:marker>
          <c:cat>
            <c:numRef>
              <c:f>'Chart Data'!$AK$2:$AK$7</c:f>
              <c:numCache>
                <c:formatCode>0</c:formatCode>
                <c:ptCount val="6"/>
                <c:pt idx="0">
                  <c:v>0</c:v>
                </c:pt>
                <c:pt idx="1">
                  <c:v>1</c:v>
                </c:pt>
                <c:pt idx="2">
                  <c:v>2</c:v>
                </c:pt>
                <c:pt idx="3">
                  <c:v>3</c:v>
                </c:pt>
                <c:pt idx="4">
                  <c:v>4</c:v>
                </c:pt>
                <c:pt idx="5">
                  <c:v>5</c:v>
                </c:pt>
              </c:numCache>
            </c:numRef>
          </c:cat>
          <c:val>
            <c:numRef>
              <c:f>'Chart Data'!$AL$2:$AL$7</c:f>
              <c:numCache>
                <c:formatCode>0%</c:formatCode>
                <c:ptCount val="6"/>
                <c:pt idx="0">
                  <c:v>1</c:v>
                </c:pt>
                <c:pt idx="1">
                  <c:v>0.893617021277</c:v>
                </c:pt>
                <c:pt idx="2">
                  <c:v>0.787234042553</c:v>
                </c:pt>
                <c:pt idx="3">
                  <c:v>0.702127659574</c:v>
                </c:pt>
                <c:pt idx="4">
                  <c:v>0.702127659574</c:v>
                </c:pt>
                <c:pt idx="5">
                  <c:v>0.595744680851</c:v>
                </c:pt>
              </c:numCache>
            </c:numRef>
          </c:val>
          <c:smooth val="0"/>
        </c:ser>
        <c:ser>
          <c:idx val="19"/>
          <c:order val="19"/>
          <c:tx>
            <c:v>2025-08</c:v>
          </c:tx>
          <c:spPr>
            <a:ln xmlns:a="http://schemas.openxmlformats.org/drawingml/2006/main" w="11906">
              <a:solidFill>
                <a:srgbClr val="465D9B"/>
              </a:solidFill>
            </a:ln>
          </c:spPr>
          <c:marker>
            <c:symbol val="none"/>
          </c:marker>
          <c:cat>
            <c:numRef>
              <c:f>'Chart Data'!$AM$2:$AM$6</c:f>
              <c:numCache>
                <c:formatCode>0</c:formatCode>
                <c:ptCount val="5"/>
                <c:pt idx="0">
                  <c:v>0</c:v>
                </c:pt>
                <c:pt idx="1">
                  <c:v>1</c:v>
                </c:pt>
                <c:pt idx="2">
                  <c:v>2</c:v>
                </c:pt>
                <c:pt idx="3">
                  <c:v>3</c:v>
                </c:pt>
                <c:pt idx="4">
                  <c:v>4</c:v>
                </c:pt>
              </c:numCache>
            </c:numRef>
          </c:cat>
          <c:val>
            <c:numRef>
              <c:f>'Chart Data'!$AN$2:$AN$6</c:f>
              <c:numCache>
                <c:formatCode>0%</c:formatCode>
                <c:ptCount val="5"/>
                <c:pt idx="0">
                  <c:v>1</c:v>
                </c:pt>
                <c:pt idx="1">
                  <c:v>0.914893617021</c:v>
                </c:pt>
                <c:pt idx="2">
                  <c:v>0.851063829787</c:v>
                </c:pt>
                <c:pt idx="3">
                  <c:v>0.851063829787</c:v>
                </c:pt>
                <c:pt idx="4">
                  <c:v>0.808510638298</c:v>
                </c:pt>
              </c:numCache>
            </c:numRef>
          </c:val>
          <c:smooth val="0"/>
        </c:ser>
        <c:ser>
          <c:idx val="20"/>
          <c:order val="20"/>
          <c:tx>
            <c:v>2025-09</c:v>
          </c:tx>
          <c:spPr>
            <a:ln xmlns:a="http://schemas.openxmlformats.org/drawingml/2006/main" w="11906">
              <a:solidFill>
                <a:srgbClr val="405EA0"/>
              </a:solidFill>
            </a:ln>
          </c:spPr>
          <c:marker>
            <c:symbol val="none"/>
          </c:marker>
          <c:cat>
            <c:numRef>
              <c:f>'Chart Data'!$AO$2:$AO$5</c:f>
              <c:numCache>
                <c:formatCode>0</c:formatCode>
                <c:ptCount val="4"/>
                <c:pt idx="0">
                  <c:v>0</c:v>
                </c:pt>
                <c:pt idx="1">
                  <c:v>1</c:v>
                </c:pt>
                <c:pt idx="2">
                  <c:v>2</c:v>
                </c:pt>
                <c:pt idx="3">
                  <c:v>3</c:v>
                </c:pt>
              </c:numCache>
            </c:numRef>
          </c:cat>
          <c:val>
            <c:numRef>
              <c:f>'Chart Data'!$AP$2:$AP$5</c:f>
              <c:numCache>
                <c:formatCode>0%</c:formatCode>
                <c:ptCount val="4"/>
                <c:pt idx="0">
                  <c:v>1</c:v>
                </c:pt>
                <c:pt idx="1">
                  <c:v>0.88</c:v>
                </c:pt>
                <c:pt idx="2">
                  <c:v>0.78</c:v>
                </c:pt>
                <c:pt idx="3">
                  <c:v>0.68</c:v>
                </c:pt>
              </c:numCache>
            </c:numRef>
          </c:val>
          <c:smooth val="0"/>
        </c:ser>
        <c:ser>
          <c:idx val="21"/>
          <c:order val="21"/>
          <c:tx>
            <c:v>2025-10</c:v>
          </c:tx>
          <c:spPr>
            <a:ln xmlns:a="http://schemas.openxmlformats.org/drawingml/2006/main" w="11906">
              <a:solidFill>
                <a:srgbClr val="3B60A5"/>
              </a:solidFill>
            </a:ln>
          </c:spPr>
          <c:marker>
            <c:symbol val="none"/>
          </c:marker>
          <c:cat>
            <c:numRef>
              <c:f>'Chart Data'!$AQ$2:$AQ$4</c:f>
              <c:numCache>
                <c:formatCode>0</c:formatCode>
                <c:ptCount val="3"/>
                <c:pt idx="0">
                  <c:v>0</c:v>
                </c:pt>
                <c:pt idx="1">
                  <c:v>1</c:v>
                </c:pt>
                <c:pt idx="2">
                  <c:v>2</c:v>
                </c:pt>
              </c:numCache>
            </c:numRef>
          </c:cat>
          <c:val>
            <c:numRef>
              <c:f>'Chart Data'!$AR$2:$AR$4</c:f>
              <c:numCache>
                <c:formatCode>0%</c:formatCode>
                <c:ptCount val="3"/>
                <c:pt idx="0">
                  <c:v>1</c:v>
                </c:pt>
                <c:pt idx="1">
                  <c:v>0.891304347826</c:v>
                </c:pt>
                <c:pt idx="2">
                  <c:v>0.804347826087</c:v>
                </c:pt>
              </c:numCache>
            </c:numRef>
          </c:val>
          <c:smooth val="0"/>
        </c:ser>
        <c:ser>
          <c:idx val="22"/>
          <c:order val="22"/>
          <c:tx>
            <c:v>2025-11</c:v>
          </c:tx>
          <c:spPr>
            <a:ln xmlns:a="http://schemas.openxmlformats.org/drawingml/2006/main" w="11906">
              <a:solidFill>
                <a:srgbClr val="3561A9"/>
              </a:solidFill>
            </a:ln>
          </c:spPr>
          <c:marker>
            <c:symbol val="none"/>
          </c:marker>
          <c:cat>
            <c:numRef>
              <c:f>'Chart Data'!$AS$2:$AS$3</c:f>
              <c:numCache>
                <c:formatCode>0</c:formatCode>
                <c:ptCount val="2"/>
                <c:pt idx="0">
                  <c:v>0</c:v>
                </c:pt>
                <c:pt idx="1">
                  <c:v>1</c:v>
                </c:pt>
              </c:numCache>
            </c:numRef>
          </c:cat>
          <c:val>
            <c:numRef>
              <c:f>'Chart Data'!$AT$2:$AT$3</c:f>
              <c:numCache>
                <c:formatCode>0%</c:formatCode>
                <c:ptCount val="2"/>
                <c:pt idx="0">
                  <c:v>1</c:v>
                </c:pt>
                <c:pt idx="1">
                  <c:v>0.96</c:v>
                </c:pt>
              </c:numCache>
            </c:numRef>
          </c:val>
          <c:smooth val="0"/>
        </c:ser>
        <c:ser>
          <c:idx val="23"/>
          <c:order val="23"/>
          <c:tx>
            <c:v>2025-12</c:v>
          </c:tx>
          <c:spPr>
            <a:ln xmlns:a="http://schemas.openxmlformats.org/drawingml/2006/main" w="11906">
              <a:solidFill>
                <a:srgbClr val="2F63AE"/>
              </a:solidFill>
            </a:ln>
          </c:spPr>
          <c:marker>
            <c:symbol val="none"/>
          </c:marker>
          <c:cat>
            <c:numRef>
              <c:f>'Chart Data'!$AU$2:$AU$2</c:f>
              <c:numCache>
                <c:formatCode>0</c:formatCode>
                <c:ptCount val="1"/>
                <c:pt idx="0">
                  <c:v>0</c:v>
                </c:pt>
              </c:numCache>
            </c:numRef>
          </c:cat>
          <c:val>
            <c:numRef>
              <c:f>'Chart Data'!$AV$2:$AV$2</c:f>
              <c:numCache>
                <c:formatCode>0%</c:formatCode>
                <c:ptCount val="1"/>
                <c:pt idx="0">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Customer age</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Retained</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5"/>
      </c:valAx>
    </c:plotArea>
    <c:plotVisOnly val="1"/>
    <c:dispBlanksAs val="gap"/>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72D3C"/>
                </a:solidFill>
                <a:latin typeface="Arial"/>
                <a:ea typeface="Arial"/>
                <a:cs typeface="Arial"/>
              </a:rPr>
              <a:t>partner / build skill</a:t>
            </a:r>
          </a:p>
        </c:rich>
      </c:tx>
      <c:overlay val="0"/>
      <c:txPr>
        <a:bodyPr xmlns:a="http://schemas.openxmlformats.org/drawingml/2006/main" anchorCtr="1"/>
        <a:lstStyle xmlns:a="http://schemas.openxmlformats.org/drawingml/2006/main"/>
        <a:p xmlns:a="http://schemas.openxmlformats.org/drawingml/2006/main">
          <a:pPr>
            <a:defRPr sz="1425" b="1">
              <a:solidFill>
                <a:srgbClr val="172D3C"/>
              </a:solidFill>
              <a:latin typeface="Arial"/>
              <a:ea typeface="Arial"/>
              <a:cs typeface="Arial"/>
            </a:defRPr>
          </a:pPr>
        </a:p>
      </c:txPr>
    </c:title>
    <c:plotArea>
      <c:lineChart>
        <c:grouping val="standard"/>
        <c:varyColors val="0"/>
        <c:ser>
          <c:idx val="0"/>
          <c:order val="0"/>
          <c:tx>
            <c:v>2024-01</c:v>
          </c:tx>
          <c:spPr>
            <a:ln xmlns:a="http://schemas.openxmlformats.org/drawingml/2006/main" w="11906">
              <a:solidFill>
                <a:srgbClr val="B44041"/>
              </a:solidFill>
            </a:ln>
          </c:spPr>
          <c:marker>
            <c:symbol val="none"/>
          </c:marker>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1</c:v>
                </c:pt>
                <c:pt idx="1">
                  <c:v>0.918918918919</c:v>
                </c:pt>
                <c:pt idx="2">
                  <c:v>0.810810810811</c:v>
                </c:pt>
                <c:pt idx="3">
                  <c:v>0.702702702703</c:v>
                </c:pt>
                <c:pt idx="4">
                  <c:v>0.675675675676</c:v>
                </c:pt>
                <c:pt idx="5">
                  <c:v>0.621621621622</c:v>
                </c:pt>
                <c:pt idx="6">
                  <c:v>0.567567567568</c:v>
                </c:pt>
                <c:pt idx="7">
                  <c:v>0.540540540541</c:v>
                </c:pt>
                <c:pt idx="8">
                  <c:v>0.513513513514</c:v>
                </c:pt>
                <c:pt idx="9">
                  <c:v>0.513513513514</c:v>
                </c:pt>
                <c:pt idx="10">
                  <c:v>0.513513513514</c:v>
                </c:pt>
                <c:pt idx="11">
                  <c:v>0.486486486486</c:v>
                </c:pt>
                <c:pt idx="12">
                  <c:v>0.486486486486</c:v>
                </c:pt>
                <c:pt idx="13">
                  <c:v>0.432432432432</c:v>
                </c:pt>
                <c:pt idx="14">
                  <c:v>0.405405405405</c:v>
                </c:pt>
                <c:pt idx="15">
                  <c:v>0.378378378378</c:v>
                </c:pt>
                <c:pt idx="16">
                  <c:v>0.378378378378</c:v>
                </c:pt>
                <c:pt idx="17">
                  <c:v>0.378378378378</c:v>
                </c:pt>
                <c:pt idx="18">
                  <c:v>0.324324324324</c:v>
                </c:pt>
                <c:pt idx="19">
                  <c:v>0.324324324324</c:v>
                </c:pt>
                <c:pt idx="20">
                  <c:v>0.297297297297</c:v>
                </c:pt>
                <c:pt idx="21">
                  <c:v>0.297297297297</c:v>
                </c:pt>
                <c:pt idx="22">
                  <c:v>0.297297297297</c:v>
                </c:pt>
                <c:pt idx="23">
                  <c:v>0.27027027027</c:v>
                </c:pt>
              </c:numCache>
            </c:numRef>
          </c:val>
          <c:smooth val="0"/>
        </c:ser>
        <c:ser>
          <c:idx val="1"/>
          <c:order val="1"/>
          <c:tx>
            <c:v>2024-02</c:v>
          </c:tx>
          <c:spPr>
            <a:ln xmlns:a="http://schemas.openxmlformats.org/drawingml/2006/main" w="11906">
              <a:solidFill>
                <a:srgbClr val="AE4246"/>
              </a:solidFill>
            </a:ln>
          </c:spPr>
          <c:marker>
            <c:symbol val="none"/>
          </c:marker>
          <c:cat>
            <c:numRef>
              <c:f>'Chart Data'!$C$2:$C$24</c:f>
              <c:numCache>
                <c:formatCode>0</c:formatCode>
                <c:ptCount val="2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numCache>
            </c:numRef>
          </c:cat>
          <c:val>
            <c:numRef>
              <c:f>'Chart Data'!$D$2:$D$24</c:f>
              <c:numCache>
                <c:formatCode>0%</c:formatCode>
                <c:ptCount val="23"/>
                <c:pt idx="0">
                  <c:v>1</c:v>
                </c:pt>
                <c:pt idx="1">
                  <c:v>0.875</c:v>
                </c:pt>
                <c:pt idx="2">
                  <c:v>0.825</c:v>
                </c:pt>
                <c:pt idx="3">
                  <c:v>0.75</c:v>
                </c:pt>
                <c:pt idx="4">
                  <c:v>0.675</c:v>
                </c:pt>
                <c:pt idx="5">
                  <c:v>0.65</c:v>
                </c:pt>
                <c:pt idx="6">
                  <c:v>0.65</c:v>
                </c:pt>
                <c:pt idx="7">
                  <c:v>0.625</c:v>
                </c:pt>
                <c:pt idx="8">
                  <c:v>0.625</c:v>
                </c:pt>
                <c:pt idx="9">
                  <c:v>0.6</c:v>
                </c:pt>
                <c:pt idx="10">
                  <c:v>0.575</c:v>
                </c:pt>
                <c:pt idx="11">
                  <c:v>0.575</c:v>
                </c:pt>
                <c:pt idx="12">
                  <c:v>0.55</c:v>
                </c:pt>
                <c:pt idx="13">
                  <c:v>0.55</c:v>
                </c:pt>
                <c:pt idx="14">
                  <c:v>0.525</c:v>
                </c:pt>
                <c:pt idx="15">
                  <c:v>0.525</c:v>
                </c:pt>
                <c:pt idx="16">
                  <c:v>0.525</c:v>
                </c:pt>
                <c:pt idx="17">
                  <c:v>0.5</c:v>
                </c:pt>
                <c:pt idx="18">
                  <c:v>0.5</c:v>
                </c:pt>
                <c:pt idx="19">
                  <c:v>0.475</c:v>
                </c:pt>
                <c:pt idx="20">
                  <c:v>0.475</c:v>
                </c:pt>
                <c:pt idx="21">
                  <c:v>0.475</c:v>
                </c:pt>
                <c:pt idx="22">
                  <c:v>0.475</c:v>
                </c:pt>
              </c:numCache>
            </c:numRef>
          </c:val>
          <c:smooth val="0"/>
        </c:ser>
        <c:ser>
          <c:idx val="2"/>
          <c:order val="2"/>
          <c:tx>
            <c:v>2024-03</c:v>
          </c:tx>
          <c:spPr>
            <a:ln xmlns:a="http://schemas.openxmlformats.org/drawingml/2006/main" w="11906">
              <a:solidFill>
                <a:srgbClr val="A8434A"/>
              </a:solidFill>
            </a:ln>
          </c:spPr>
          <c:marker>
            <c:symbol val="none"/>
          </c:marker>
          <c:cat>
            <c:numRef>
              <c:f>'Chart Data'!$E$2:$E$23</c:f>
              <c:numCache>
                <c:formatCode>0</c:formatCod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numCache>
            </c:numRef>
          </c:cat>
          <c:val>
            <c:numRef>
              <c:f>'Chart Data'!$F$2:$F$23</c:f>
              <c:numCache>
                <c:formatCode>0%</c:formatCode>
                <c:ptCount val="22"/>
                <c:pt idx="0">
                  <c:v>1</c:v>
                </c:pt>
                <c:pt idx="1">
                  <c:v>0.953488372093</c:v>
                </c:pt>
                <c:pt idx="2">
                  <c:v>0.883720930233</c:v>
                </c:pt>
                <c:pt idx="3">
                  <c:v>0.813953488372</c:v>
                </c:pt>
                <c:pt idx="4">
                  <c:v>0.744186046512</c:v>
                </c:pt>
                <c:pt idx="5">
                  <c:v>0.697674418605</c:v>
                </c:pt>
                <c:pt idx="6">
                  <c:v>0.651162790698</c:v>
                </c:pt>
                <c:pt idx="7">
                  <c:v>0.651162790698</c:v>
                </c:pt>
                <c:pt idx="8">
                  <c:v>0.627906976744</c:v>
                </c:pt>
                <c:pt idx="9">
                  <c:v>0.604651162791</c:v>
                </c:pt>
                <c:pt idx="10">
                  <c:v>0.604651162791</c:v>
                </c:pt>
                <c:pt idx="11">
                  <c:v>0.558139534884</c:v>
                </c:pt>
                <c:pt idx="12">
                  <c:v>0.46511627907</c:v>
                </c:pt>
                <c:pt idx="13">
                  <c:v>0.395348837209</c:v>
                </c:pt>
                <c:pt idx="14">
                  <c:v>0.395348837209</c:v>
                </c:pt>
                <c:pt idx="15">
                  <c:v>0.395348837209</c:v>
                </c:pt>
                <c:pt idx="16">
                  <c:v>0.395348837209</c:v>
                </c:pt>
                <c:pt idx="17">
                  <c:v>0.395348837209</c:v>
                </c:pt>
                <c:pt idx="18">
                  <c:v>0.395348837209</c:v>
                </c:pt>
                <c:pt idx="19">
                  <c:v>0.395348837209</c:v>
                </c:pt>
                <c:pt idx="20">
                  <c:v>0.395348837209</c:v>
                </c:pt>
                <c:pt idx="21">
                  <c:v>0.395348837209</c:v>
                </c:pt>
              </c:numCache>
            </c:numRef>
          </c:val>
          <c:smooth val="0"/>
        </c:ser>
        <c:ser>
          <c:idx val="3"/>
          <c:order val="3"/>
          <c:tx>
            <c:v>2024-04</c:v>
          </c:tx>
          <c:spPr>
            <a:ln xmlns:a="http://schemas.openxmlformats.org/drawingml/2006/main" w="11906">
              <a:solidFill>
                <a:srgbClr val="A3454F"/>
              </a:solidFill>
            </a:ln>
          </c:spPr>
          <c:marker>
            <c:symbol val="none"/>
          </c:marker>
          <c:cat>
            <c:numRef>
              <c:f>'Chart Data'!$G$2:$G$22</c:f>
              <c:numCache>
                <c:formatCode>0</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Data'!$H$2:$H$22</c:f>
              <c:numCache>
                <c:formatCode>0%</c:formatCode>
                <c:ptCount val="21"/>
                <c:pt idx="0">
                  <c:v>1</c:v>
                </c:pt>
                <c:pt idx="1">
                  <c:v>0.977272727273</c:v>
                </c:pt>
                <c:pt idx="2">
                  <c:v>0.863636363636</c:v>
                </c:pt>
                <c:pt idx="3">
                  <c:v>0.863636363636</c:v>
                </c:pt>
                <c:pt idx="4">
                  <c:v>0.772727272727</c:v>
                </c:pt>
                <c:pt idx="5">
                  <c:v>0.75</c:v>
                </c:pt>
                <c:pt idx="6">
                  <c:v>0.727272727273</c:v>
                </c:pt>
                <c:pt idx="7">
                  <c:v>0.659090909091</c:v>
                </c:pt>
                <c:pt idx="8">
                  <c:v>0.568181818182</c:v>
                </c:pt>
                <c:pt idx="9">
                  <c:v>0.545454545455</c:v>
                </c:pt>
                <c:pt idx="10">
                  <c:v>0.522727272727</c:v>
                </c:pt>
                <c:pt idx="11">
                  <c:v>0.5</c:v>
                </c:pt>
                <c:pt idx="12">
                  <c:v>0.5</c:v>
                </c:pt>
                <c:pt idx="13">
                  <c:v>0.5</c:v>
                </c:pt>
                <c:pt idx="14">
                  <c:v>0.477272727273</c:v>
                </c:pt>
                <c:pt idx="15">
                  <c:v>0.477272727273</c:v>
                </c:pt>
                <c:pt idx="16">
                  <c:v>0.454545454545</c:v>
                </c:pt>
                <c:pt idx="17">
                  <c:v>0.454545454545</c:v>
                </c:pt>
                <c:pt idx="18">
                  <c:v>0.454545454545</c:v>
                </c:pt>
                <c:pt idx="19">
                  <c:v>0.454545454545</c:v>
                </c:pt>
                <c:pt idx="20">
                  <c:v>0.431818181818</c:v>
                </c:pt>
              </c:numCache>
            </c:numRef>
          </c:val>
          <c:smooth val="0"/>
        </c:ser>
        <c:ser>
          <c:idx val="4"/>
          <c:order val="4"/>
          <c:tx>
            <c:v>2024-05</c:v>
          </c:tx>
          <c:spPr>
            <a:ln xmlns:a="http://schemas.openxmlformats.org/drawingml/2006/main" w="11906">
              <a:solidFill>
                <a:srgbClr val="9D4654"/>
              </a:solidFill>
            </a:ln>
          </c:spPr>
          <c:marker>
            <c:symbol val="none"/>
          </c:marker>
          <c:cat>
            <c:numRef>
              <c:f>'Chart Data'!$I$2:$I$21</c:f>
              <c:numCache>
                <c:formatCode>0</c:formatCode>
                <c:ptCount val="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numCache>
            </c:numRef>
          </c:cat>
          <c:val>
            <c:numRef>
              <c:f>'Chart Data'!$J$2:$J$21</c:f>
              <c:numCache>
                <c:formatCode>0%</c:formatCode>
                <c:ptCount val="20"/>
                <c:pt idx="0">
                  <c:v>1</c:v>
                </c:pt>
                <c:pt idx="1">
                  <c:v>0.93023255814</c:v>
                </c:pt>
                <c:pt idx="2">
                  <c:v>0.813953488372</c:v>
                </c:pt>
                <c:pt idx="3">
                  <c:v>0.813953488372</c:v>
                </c:pt>
                <c:pt idx="4">
                  <c:v>0.767441860465</c:v>
                </c:pt>
                <c:pt idx="5">
                  <c:v>0.744186046512</c:v>
                </c:pt>
                <c:pt idx="6">
                  <c:v>0.720930232558</c:v>
                </c:pt>
                <c:pt idx="7">
                  <c:v>0.674418604651</c:v>
                </c:pt>
                <c:pt idx="8">
                  <c:v>0.651162790698</c:v>
                </c:pt>
                <c:pt idx="9">
                  <c:v>0.627906976744</c:v>
                </c:pt>
                <c:pt idx="10">
                  <c:v>0.604651162791</c:v>
                </c:pt>
                <c:pt idx="11">
                  <c:v>0.558139534884</c:v>
                </c:pt>
                <c:pt idx="12">
                  <c:v>0.53488372093</c:v>
                </c:pt>
                <c:pt idx="13">
                  <c:v>0.53488372093</c:v>
                </c:pt>
                <c:pt idx="14">
                  <c:v>0.488372093023</c:v>
                </c:pt>
                <c:pt idx="15">
                  <c:v>0.488372093023</c:v>
                </c:pt>
                <c:pt idx="16">
                  <c:v>0.488372093023</c:v>
                </c:pt>
                <c:pt idx="17">
                  <c:v>0.488372093023</c:v>
                </c:pt>
                <c:pt idx="18">
                  <c:v>0.488372093023</c:v>
                </c:pt>
                <c:pt idx="19">
                  <c:v>0.46511627907</c:v>
                </c:pt>
              </c:numCache>
            </c:numRef>
          </c:val>
          <c:smooth val="0"/>
        </c:ser>
        <c:ser>
          <c:idx val="5"/>
          <c:order val="5"/>
          <c:tx>
            <c:v>2024-06</c:v>
          </c:tx>
          <c:spPr>
            <a:ln xmlns:a="http://schemas.openxmlformats.org/drawingml/2006/main" w="11906">
              <a:solidFill>
                <a:srgbClr val="974859"/>
              </a:solidFill>
            </a:ln>
          </c:spPr>
          <c:marker>
            <c:symbol val="none"/>
          </c:marker>
          <c:cat>
            <c:numRef>
              <c:f>'Chart Data'!$K$2:$K$20</c:f>
              <c:numCache>
                <c:formatCode>0</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Cache>
            </c:numRef>
          </c:cat>
          <c:val>
            <c:numRef>
              <c:f>'Chart Data'!$L$2:$L$20</c:f>
              <c:numCache>
                <c:formatCode>0%</c:formatCode>
                <c:ptCount val="19"/>
                <c:pt idx="0">
                  <c:v>1</c:v>
                </c:pt>
                <c:pt idx="1">
                  <c:v>0.914893617021</c:v>
                </c:pt>
                <c:pt idx="2">
                  <c:v>0.851063829787</c:v>
                </c:pt>
                <c:pt idx="3">
                  <c:v>0.808510638298</c:v>
                </c:pt>
                <c:pt idx="4">
                  <c:v>0.723404255319</c:v>
                </c:pt>
                <c:pt idx="5">
                  <c:v>0.702127659574</c:v>
                </c:pt>
                <c:pt idx="6">
                  <c:v>0.702127659574</c:v>
                </c:pt>
                <c:pt idx="7">
                  <c:v>0.68085106383</c:v>
                </c:pt>
                <c:pt idx="8">
                  <c:v>0.659574468085</c:v>
                </c:pt>
                <c:pt idx="9">
                  <c:v>0.617021276596</c:v>
                </c:pt>
                <c:pt idx="10">
                  <c:v>0.617021276596</c:v>
                </c:pt>
                <c:pt idx="11">
                  <c:v>0.595744680851</c:v>
                </c:pt>
                <c:pt idx="12">
                  <c:v>0.595744680851</c:v>
                </c:pt>
                <c:pt idx="13">
                  <c:v>0.595744680851</c:v>
                </c:pt>
                <c:pt idx="14">
                  <c:v>0.595744680851</c:v>
                </c:pt>
                <c:pt idx="15">
                  <c:v>0.574468085106</c:v>
                </c:pt>
                <c:pt idx="16">
                  <c:v>0.574468085106</c:v>
                </c:pt>
                <c:pt idx="17">
                  <c:v>0.574468085106</c:v>
                </c:pt>
                <c:pt idx="18">
                  <c:v>0.574468085106</c:v>
                </c:pt>
              </c:numCache>
            </c:numRef>
          </c:val>
          <c:smooth val="0"/>
        </c:ser>
        <c:ser>
          <c:idx val="6"/>
          <c:order val="6"/>
          <c:tx>
            <c:v>2024-07</c:v>
          </c:tx>
          <c:spPr>
            <a:ln xmlns:a="http://schemas.openxmlformats.org/drawingml/2006/main" w="11906">
              <a:solidFill>
                <a:srgbClr val="91495D"/>
              </a:solidFill>
            </a:ln>
          </c:spPr>
          <c:marker>
            <c:symbol val="none"/>
          </c:marker>
          <c:cat>
            <c:numRef>
              <c:f>'Chart Data'!$M$2:$M$19</c:f>
              <c:numCache>
                <c:formatCode>0</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cat>
          <c:val>
            <c:numRef>
              <c:f>'Chart Data'!$N$2:$N$19</c:f>
              <c:numCache>
                <c:formatCode>0%</c:formatCode>
                <c:ptCount val="18"/>
                <c:pt idx="0">
                  <c:v>1</c:v>
                </c:pt>
                <c:pt idx="1">
                  <c:v>0.901960784314</c:v>
                </c:pt>
                <c:pt idx="2">
                  <c:v>0.803921568627</c:v>
                </c:pt>
                <c:pt idx="3">
                  <c:v>0.78431372549</c:v>
                </c:pt>
                <c:pt idx="4">
                  <c:v>0.705882352941</c:v>
                </c:pt>
                <c:pt idx="5">
                  <c:v>0.686274509804</c:v>
                </c:pt>
                <c:pt idx="6">
                  <c:v>0.686274509804</c:v>
                </c:pt>
                <c:pt idx="7">
                  <c:v>0.666666666667</c:v>
                </c:pt>
                <c:pt idx="8">
                  <c:v>0.647058823529</c:v>
                </c:pt>
                <c:pt idx="9">
                  <c:v>0.588235294118</c:v>
                </c:pt>
                <c:pt idx="10">
                  <c:v>0.588235294118</c:v>
                </c:pt>
                <c:pt idx="11">
                  <c:v>0.588235294118</c:v>
                </c:pt>
                <c:pt idx="12">
                  <c:v>0.56862745098</c:v>
                </c:pt>
                <c:pt idx="13">
                  <c:v>0.549019607843</c:v>
                </c:pt>
                <c:pt idx="14">
                  <c:v>0.509803921569</c:v>
                </c:pt>
                <c:pt idx="15">
                  <c:v>0.509803921569</c:v>
                </c:pt>
                <c:pt idx="16">
                  <c:v>0.490196078431</c:v>
                </c:pt>
                <c:pt idx="17">
                  <c:v>0.490196078431</c:v>
                </c:pt>
              </c:numCache>
            </c:numRef>
          </c:val>
          <c:smooth val="0"/>
        </c:ser>
        <c:ser>
          <c:idx val="7"/>
          <c:order val="7"/>
          <c:tx>
            <c:v>2024-08</c:v>
          </c:tx>
          <c:spPr>
            <a:ln xmlns:a="http://schemas.openxmlformats.org/drawingml/2006/main" w="11906">
              <a:solidFill>
                <a:srgbClr val="8C4B62"/>
              </a:solidFill>
            </a:ln>
          </c:spPr>
          <c:marker>
            <c:symbol val="none"/>
          </c:marker>
          <c:cat>
            <c:numRef>
              <c:f>'Chart Data'!$O$2:$O$18</c:f>
              <c:numCache>
                <c:formatCode>0</c:formatCode>
                <c:ptCount val="1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numCache>
            </c:numRef>
          </c:cat>
          <c:val>
            <c:numRef>
              <c:f>'Chart Data'!$P$2:$P$18</c:f>
              <c:numCache>
                <c:formatCode>0%</c:formatCode>
                <c:ptCount val="17"/>
                <c:pt idx="0">
                  <c:v>1</c:v>
                </c:pt>
                <c:pt idx="1">
                  <c:v>0.884615384615</c:v>
                </c:pt>
                <c:pt idx="2">
                  <c:v>0.788461538462</c:v>
                </c:pt>
                <c:pt idx="3">
                  <c:v>0.730769230769</c:v>
                </c:pt>
                <c:pt idx="4">
                  <c:v>0.653846153846</c:v>
                </c:pt>
                <c:pt idx="5">
                  <c:v>0.653846153846</c:v>
                </c:pt>
                <c:pt idx="6">
                  <c:v>0.634615384615</c:v>
                </c:pt>
                <c:pt idx="7">
                  <c:v>0.615384615385</c:v>
                </c:pt>
                <c:pt idx="8">
                  <c:v>0.557692307692</c:v>
                </c:pt>
                <c:pt idx="9">
                  <c:v>0.538461538462</c:v>
                </c:pt>
                <c:pt idx="10">
                  <c:v>0.519230769231</c:v>
                </c:pt>
                <c:pt idx="11">
                  <c:v>0.461538461538</c:v>
                </c:pt>
                <c:pt idx="12">
                  <c:v>0.403846153846</c:v>
                </c:pt>
                <c:pt idx="13">
                  <c:v>0.384615384615</c:v>
                </c:pt>
                <c:pt idx="14">
                  <c:v>0.384615384615</c:v>
                </c:pt>
                <c:pt idx="15">
                  <c:v>0.365384615385</c:v>
                </c:pt>
                <c:pt idx="16">
                  <c:v>0.365384615385</c:v>
                </c:pt>
              </c:numCache>
            </c:numRef>
          </c:val>
          <c:smooth val="0"/>
        </c:ser>
        <c:ser>
          <c:idx val="8"/>
          <c:order val="8"/>
          <c:tx>
            <c:v>2024-09</c:v>
          </c:tx>
          <c:spPr>
            <a:ln xmlns:a="http://schemas.openxmlformats.org/drawingml/2006/main" w="11906">
              <a:solidFill>
                <a:srgbClr val="864C67"/>
              </a:solidFill>
            </a:ln>
          </c:spPr>
          <c:marker>
            <c:symbol val="none"/>
          </c:marker>
          <c:cat>
            <c:numRef>
              <c:f>'Chart Data'!$Q$2:$Q$17</c:f>
              <c:numCache>
                <c:formatCode>0</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Data'!$R$2:$R$17</c:f>
              <c:numCache>
                <c:formatCode>0%</c:formatCode>
                <c:ptCount val="16"/>
                <c:pt idx="0">
                  <c:v>1</c:v>
                </c:pt>
                <c:pt idx="1">
                  <c:v>0.87037037037</c:v>
                </c:pt>
                <c:pt idx="2">
                  <c:v>0.87037037037</c:v>
                </c:pt>
                <c:pt idx="3">
                  <c:v>0.851851851852</c:v>
                </c:pt>
                <c:pt idx="4">
                  <c:v>0.759259259259</c:v>
                </c:pt>
                <c:pt idx="5">
                  <c:v>0.740740740741</c:v>
                </c:pt>
                <c:pt idx="6">
                  <c:v>0.703703703704</c:v>
                </c:pt>
                <c:pt idx="7">
                  <c:v>0.703703703704</c:v>
                </c:pt>
                <c:pt idx="8">
                  <c:v>0.666666666667</c:v>
                </c:pt>
                <c:pt idx="9">
                  <c:v>0.666666666667</c:v>
                </c:pt>
                <c:pt idx="10">
                  <c:v>0.666666666667</c:v>
                </c:pt>
                <c:pt idx="11">
                  <c:v>0.666666666667</c:v>
                </c:pt>
                <c:pt idx="12">
                  <c:v>0.62962962963</c:v>
                </c:pt>
                <c:pt idx="13">
                  <c:v>0.62962962963</c:v>
                </c:pt>
                <c:pt idx="14">
                  <c:v>0.611111111111</c:v>
                </c:pt>
                <c:pt idx="15">
                  <c:v>0.574074074074</c:v>
                </c:pt>
              </c:numCache>
            </c:numRef>
          </c:val>
          <c:smooth val="0"/>
        </c:ser>
        <c:ser>
          <c:idx val="9"/>
          <c:order val="9"/>
          <c:tx>
            <c:v>2024-10</c:v>
          </c:tx>
          <c:spPr>
            <a:ln xmlns:a="http://schemas.openxmlformats.org/drawingml/2006/main" w="11906">
              <a:solidFill>
                <a:srgbClr val="804E6C"/>
              </a:solidFill>
            </a:ln>
          </c:spPr>
          <c:marker>
            <c:symbol val="none"/>
          </c:marker>
          <c:cat>
            <c:numRef>
              <c:f>'Chart Data'!$S$2:$S$16</c:f>
              <c:numCache>
                <c:formatCode>0</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cat>
          <c:val>
            <c:numRef>
              <c:f>'Chart Data'!$T$2:$T$16</c:f>
              <c:numCache>
                <c:formatCode>0%</c:formatCode>
                <c:ptCount val="15"/>
                <c:pt idx="0">
                  <c:v>1</c:v>
                </c:pt>
                <c:pt idx="1">
                  <c:v>0.875</c:v>
                </c:pt>
                <c:pt idx="2">
                  <c:v>0.821428571429</c:v>
                </c:pt>
                <c:pt idx="3">
                  <c:v>0.75</c:v>
                </c:pt>
                <c:pt idx="4">
                  <c:v>0.678571428571</c:v>
                </c:pt>
                <c:pt idx="5">
                  <c:v>0.642857142857</c:v>
                </c:pt>
                <c:pt idx="6">
                  <c:v>0.642857142857</c:v>
                </c:pt>
                <c:pt idx="7">
                  <c:v>0.607142857143</c:v>
                </c:pt>
                <c:pt idx="8">
                  <c:v>0.607142857143</c:v>
                </c:pt>
                <c:pt idx="9">
                  <c:v>0.571428571429</c:v>
                </c:pt>
                <c:pt idx="10">
                  <c:v>0.571428571429</c:v>
                </c:pt>
                <c:pt idx="11">
                  <c:v>0.571428571429</c:v>
                </c:pt>
                <c:pt idx="12">
                  <c:v>0.553571428571</c:v>
                </c:pt>
                <c:pt idx="13">
                  <c:v>0.553571428571</c:v>
                </c:pt>
                <c:pt idx="14">
                  <c:v>0.553571428571</c:v>
                </c:pt>
              </c:numCache>
            </c:numRef>
          </c:val>
          <c:smooth val="0"/>
        </c:ser>
        <c:ser>
          <c:idx val="10"/>
          <c:order val="10"/>
          <c:tx>
            <c:v>2024-11</c:v>
          </c:tx>
          <c:spPr>
            <a:ln xmlns:a="http://schemas.openxmlformats.org/drawingml/2006/main" w="11906">
              <a:solidFill>
                <a:srgbClr val="7A4F70"/>
              </a:solidFill>
            </a:ln>
          </c:spPr>
          <c:marker>
            <c:symbol val="none"/>
          </c:marker>
          <c:cat>
            <c:numRef>
              <c:f>'Chart Data'!$U$2:$U$15</c:f>
              <c:numCache>
                <c:formatCode>0</c:formatCode>
                <c:ptCount val="14"/>
                <c:pt idx="0">
                  <c:v>0</c:v>
                </c:pt>
                <c:pt idx="1">
                  <c:v>1</c:v>
                </c:pt>
                <c:pt idx="2">
                  <c:v>2</c:v>
                </c:pt>
                <c:pt idx="3">
                  <c:v>3</c:v>
                </c:pt>
                <c:pt idx="4">
                  <c:v>4</c:v>
                </c:pt>
                <c:pt idx="5">
                  <c:v>5</c:v>
                </c:pt>
                <c:pt idx="6">
                  <c:v>6</c:v>
                </c:pt>
                <c:pt idx="7">
                  <c:v>7</c:v>
                </c:pt>
                <c:pt idx="8">
                  <c:v>8</c:v>
                </c:pt>
                <c:pt idx="9">
                  <c:v>9</c:v>
                </c:pt>
                <c:pt idx="10">
                  <c:v>10</c:v>
                </c:pt>
                <c:pt idx="11">
                  <c:v>11</c:v>
                </c:pt>
                <c:pt idx="12">
                  <c:v>12</c:v>
                </c:pt>
                <c:pt idx="13">
                  <c:v>13</c:v>
                </c:pt>
              </c:numCache>
            </c:numRef>
          </c:cat>
          <c:val>
            <c:numRef>
              <c:f>'Chart Data'!$V$2:$V$15</c:f>
              <c:numCache>
                <c:formatCode>0%</c:formatCode>
                <c:ptCount val="14"/>
                <c:pt idx="0">
                  <c:v>1</c:v>
                </c:pt>
                <c:pt idx="1">
                  <c:v>0.896551724138</c:v>
                </c:pt>
                <c:pt idx="2">
                  <c:v>0.879310344828</c:v>
                </c:pt>
                <c:pt idx="3">
                  <c:v>0.879310344828</c:v>
                </c:pt>
                <c:pt idx="4">
                  <c:v>0.827586206897</c:v>
                </c:pt>
                <c:pt idx="5">
                  <c:v>0.741379310345</c:v>
                </c:pt>
                <c:pt idx="6">
                  <c:v>0.706896551724</c:v>
                </c:pt>
                <c:pt idx="7">
                  <c:v>0.689655172414</c:v>
                </c:pt>
                <c:pt idx="8">
                  <c:v>0.689655172414</c:v>
                </c:pt>
                <c:pt idx="9">
                  <c:v>0.672413793103</c:v>
                </c:pt>
                <c:pt idx="10">
                  <c:v>0.655172413793</c:v>
                </c:pt>
                <c:pt idx="11">
                  <c:v>0.620689655172</c:v>
                </c:pt>
                <c:pt idx="12">
                  <c:v>0.620689655172</c:v>
                </c:pt>
                <c:pt idx="13">
                  <c:v>0.603448275862</c:v>
                </c:pt>
              </c:numCache>
            </c:numRef>
          </c:val>
          <c:smooth val="0"/>
        </c:ser>
        <c:ser>
          <c:idx val="11"/>
          <c:order val="11"/>
          <c:tx>
            <c:v>2024-12</c:v>
          </c:tx>
          <c:spPr>
            <a:ln xmlns:a="http://schemas.openxmlformats.org/drawingml/2006/main" w="11906">
              <a:solidFill>
                <a:srgbClr val="745175"/>
              </a:solidFill>
            </a:ln>
          </c:spPr>
          <c:marker>
            <c:symbol val="none"/>
          </c:marker>
          <c:cat>
            <c:numRef>
              <c:f>'Chart Data'!$W$2:$W$14</c:f>
              <c:numCache>
                <c:formatCode>0</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'Chart Data'!$X$2:$X$14</c:f>
              <c:numCache>
                <c:formatCode>0%</c:formatCode>
                <c:ptCount val="13"/>
                <c:pt idx="0">
                  <c:v>1</c:v>
                </c:pt>
                <c:pt idx="1">
                  <c:v>0.936507936508</c:v>
                </c:pt>
                <c:pt idx="2">
                  <c:v>0.873015873016</c:v>
                </c:pt>
                <c:pt idx="3">
                  <c:v>0.761904761905</c:v>
                </c:pt>
                <c:pt idx="4">
                  <c:v>0.698412698413</c:v>
                </c:pt>
                <c:pt idx="5">
                  <c:v>0.666666666667</c:v>
                </c:pt>
                <c:pt idx="6">
                  <c:v>0.619047619048</c:v>
                </c:pt>
                <c:pt idx="7">
                  <c:v>0.587301587302</c:v>
                </c:pt>
                <c:pt idx="8">
                  <c:v>0.539682539683</c:v>
                </c:pt>
                <c:pt idx="9">
                  <c:v>0.507936507937</c:v>
                </c:pt>
                <c:pt idx="10">
                  <c:v>0.507936507937</c:v>
                </c:pt>
                <c:pt idx="11">
                  <c:v>0.47619047619</c:v>
                </c:pt>
                <c:pt idx="12">
                  <c:v>0.47619047619</c:v>
                </c:pt>
              </c:numCache>
            </c:numRef>
          </c:val>
          <c:smooth val="0"/>
        </c:ser>
        <c:ser>
          <c:idx val="12"/>
          <c:order val="12"/>
          <c:tx>
            <c:v>2025-01</c:v>
          </c:tx>
          <c:spPr>
            <a:ln xmlns:a="http://schemas.openxmlformats.org/drawingml/2006/main" w="11906">
              <a:solidFill>
                <a:srgbClr val="6F527A"/>
              </a:solidFill>
            </a:ln>
          </c:spPr>
          <c:marker>
            <c:symbol val="none"/>
          </c:marker>
          <c:cat>
            <c:numRef>
              <c:f>'Chart Data'!$Y$2:$Y$13</c:f>
              <c:numCache>
                <c:formatCode>0</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'Chart Data'!$Z$2:$Z$13</c:f>
              <c:numCache>
                <c:formatCode>0%</c:formatCode>
                <c:ptCount val="12"/>
                <c:pt idx="0">
                  <c:v>1</c:v>
                </c:pt>
                <c:pt idx="1">
                  <c:v>0.888888888889</c:v>
                </c:pt>
                <c:pt idx="2">
                  <c:v>0.777777777778</c:v>
                </c:pt>
                <c:pt idx="3">
                  <c:v>0.714285714286</c:v>
                </c:pt>
                <c:pt idx="4">
                  <c:v>0.666666666667</c:v>
                </c:pt>
                <c:pt idx="5">
                  <c:v>0.666666666667</c:v>
                </c:pt>
                <c:pt idx="6">
                  <c:v>0.619047619048</c:v>
                </c:pt>
                <c:pt idx="7">
                  <c:v>0.603174603175</c:v>
                </c:pt>
                <c:pt idx="8">
                  <c:v>0.603174603175</c:v>
                </c:pt>
                <c:pt idx="9">
                  <c:v>0.603174603175</c:v>
                </c:pt>
                <c:pt idx="10">
                  <c:v>0.555555555556</c:v>
                </c:pt>
                <c:pt idx="11">
                  <c:v>0.555555555556</c:v>
                </c:pt>
              </c:numCache>
            </c:numRef>
          </c:val>
          <c:smooth val="0"/>
        </c:ser>
        <c:ser>
          <c:idx val="13"/>
          <c:order val="13"/>
          <c:tx>
            <c:v>2025-02</c:v>
          </c:tx>
          <c:spPr>
            <a:ln xmlns:a="http://schemas.openxmlformats.org/drawingml/2006/main" w="11906">
              <a:solidFill>
                <a:srgbClr val="69547F"/>
              </a:solidFill>
            </a:ln>
          </c:spPr>
          <c:marker>
            <c:symbol val="none"/>
          </c:marker>
          <c:cat>
            <c:numRef>
              <c:f>'Chart Data'!$AA$2:$AA$12</c:f>
              <c:numCache>
                <c:formatCode>0</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Data'!$AB$2:$AB$12</c:f>
              <c:numCache>
                <c:formatCode>0%</c:formatCode>
                <c:ptCount val="11"/>
                <c:pt idx="0">
                  <c:v>1</c:v>
                </c:pt>
                <c:pt idx="1">
                  <c:v>0.91935483871</c:v>
                </c:pt>
                <c:pt idx="2">
                  <c:v>0.774193548387</c:v>
                </c:pt>
                <c:pt idx="3">
                  <c:v>0.758064516129</c:v>
                </c:pt>
                <c:pt idx="4">
                  <c:v>0.741935483871</c:v>
                </c:pt>
                <c:pt idx="5">
                  <c:v>0.693548387097</c:v>
                </c:pt>
                <c:pt idx="6">
                  <c:v>0.677419354839</c:v>
                </c:pt>
                <c:pt idx="7">
                  <c:v>0.677419354839</c:v>
                </c:pt>
                <c:pt idx="8">
                  <c:v>0.677419354839</c:v>
                </c:pt>
                <c:pt idx="9">
                  <c:v>0.612903225806</c:v>
                </c:pt>
                <c:pt idx="10">
                  <c:v>0.612903225806</c:v>
                </c:pt>
              </c:numCache>
            </c:numRef>
          </c:val>
          <c:smooth val="0"/>
        </c:ser>
        <c:ser>
          <c:idx val="14"/>
          <c:order val="14"/>
          <c:tx>
            <c:v>2025-03</c:v>
          </c:tx>
          <c:spPr>
            <a:ln xmlns:a="http://schemas.openxmlformats.org/drawingml/2006/main" w="11906">
              <a:solidFill>
                <a:srgbClr val="635583"/>
              </a:solidFill>
            </a:ln>
          </c:spPr>
          <c:marker>
            <c:symbol val="none"/>
          </c:marker>
          <c:cat>
            <c:numRef>
              <c:f>'Chart Data'!$AC$2:$AC$11</c:f>
              <c:numCache>
                <c:formatCode>0</c:formatCode>
                <c:ptCount val="10"/>
                <c:pt idx="0">
                  <c:v>0</c:v>
                </c:pt>
                <c:pt idx="1">
                  <c:v>1</c:v>
                </c:pt>
                <c:pt idx="2">
                  <c:v>2</c:v>
                </c:pt>
                <c:pt idx="3">
                  <c:v>3</c:v>
                </c:pt>
                <c:pt idx="4">
                  <c:v>4</c:v>
                </c:pt>
                <c:pt idx="5">
                  <c:v>5</c:v>
                </c:pt>
                <c:pt idx="6">
                  <c:v>6</c:v>
                </c:pt>
                <c:pt idx="7">
                  <c:v>7</c:v>
                </c:pt>
                <c:pt idx="8">
                  <c:v>8</c:v>
                </c:pt>
                <c:pt idx="9">
                  <c:v>9</c:v>
                </c:pt>
              </c:numCache>
            </c:numRef>
          </c:cat>
          <c:val>
            <c:numRef>
              <c:f>'Chart Data'!$AD$2:$AD$11</c:f>
              <c:numCache>
                <c:formatCode>0%</c:formatCode>
                <c:ptCount val="10"/>
                <c:pt idx="0">
                  <c:v>1</c:v>
                </c:pt>
                <c:pt idx="1">
                  <c:v>0.883333333333</c:v>
                </c:pt>
                <c:pt idx="2">
                  <c:v>0.85</c:v>
                </c:pt>
                <c:pt idx="3">
                  <c:v>0.833333333333</c:v>
                </c:pt>
                <c:pt idx="4">
                  <c:v>0.8</c:v>
                </c:pt>
                <c:pt idx="5">
                  <c:v>0.8</c:v>
                </c:pt>
                <c:pt idx="6">
                  <c:v>0.766666666667</c:v>
                </c:pt>
                <c:pt idx="7">
                  <c:v>0.733333333333</c:v>
                </c:pt>
                <c:pt idx="8">
                  <c:v>0.666666666667</c:v>
                </c:pt>
                <c:pt idx="9">
                  <c:v>0.616666666667</c:v>
                </c:pt>
              </c:numCache>
            </c:numRef>
          </c:val>
          <c:smooth val="0"/>
        </c:ser>
        <c:ser>
          <c:idx val="15"/>
          <c:order val="15"/>
          <c:tx>
            <c:v>2025-04</c:v>
          </c:tx>
          <c:spPr>
            <a:ln xmlns:a="http://schemas.openxmlformats.org/drawingml/2006/main" w="11906">
              <a:solidFill>
                <a:srgbClr val="5D5788"/>
              </a:solidFill>
            </a:ln>
          </c:spPr>
          <c:marker>
            <c:symbol val="none"/>
          </c:marker>
          <c:cat>
            <c:numRef>
              <c:f>'Chart Data'!$AE$2:$AE$10</c:f>
              <c:numCache>
                <c:formatCode>0</c:formatCode>
                <c:ptCount val="9"/>
                <c:pt idx="0">
                  <c:v>0</c:v>
                </c:pt>
                <c:pt idx="1">
                  <c:v>1</c:v>
                </c:pt>
                <c:pt idx="2">
                  <c:v>2</c:v>
                </c:pt>
                <c:pt idx="3">
                  <c:v>3</c:v>
                </c:pt>
                <c:pt idx="4">
                  <c:v>4</c:v>
                </c:pt>
                <c:pt idx="5">
                  <c:v>5</c:v>
                </c:pt>
                <c:pt idx="6">
                  <c:v>6</c:v>
                </c:pt>
                <c:pt idx="7">
                  <c:v>7</c:v>
                </c:pt>
                <c:pt idx="8">
                  <c:v>8</c:v>
                </c:pt>
              </c:numCache>
            </c:numRef>
          </c:cat>
          <c:val>
            <c:numRef>
              <c:f>'Chart Data'!$AF$2:$AF$10</c:f>
              <c:numCache>
                <c:formatCode>0%</c:formatCode>
                <c:ptCount val="9"/>
                <c:pt idx="0">
                  <c:v>1</c:v>
                </c:pt>
                <c:pt idx="1">
                  <c:v>0.942028985507</c:v>
                </c:pt>
                <c:pt idx="2">
                  <c:v>0.884057971014</c:v>
                </c:pt>
                <c:pt idx="3">
                  <c:v>0.811594202899</c:v>
                </c:pt>
                <c:pt idx="4">
                  <c:v>0.782608695652</c:v>
                </c:pt>
                <c:pt idx="5">
                  <c:v>0.768115942029</c:v>
                </c:pt>
                <c:pt idx="6">
                  <c:v>0.768115942029</c:v>
                </c:pt>
                <c:pt idx="7">
                  <c:v>0.739130434783</c:v>
                </c:pt>
                <c:pt idx="8">
                  <c:v>0.652173913043</c:v>
                </c:pt>
              </c:numCache>
            </c:numRef>
          </c:val>
          <c:smooth val="0"/>
        </c:ser>
        <c:ser>
          <c:idx val="16"/>
          <c:order val="16"/>
          <c:tx>
            <c:v>2025-05</c:v>
          </c:tx>
          <c:spPr>
            <a:ln xmlns:a="http://schemas.openxmlformats.org/drawingml/2006/main" w="11906">
              <a:solidFill>
                <a:srgbClr val="57588D"/>
              </a:solidFill>
            </a:ln>
          </c:spPr>
          <c:marker>
            <c:symbol val="none"/>
          </c:marker>
          <c:cat>
            <c:numRef>
              <c:f>'Chart Data'!$AG$2:$AG$9</c:f>
              <c:numCache>
                <c:formatCode>0</c:formatCode>
                <c:ptCount val="8"/>
                <c:pt idx="0">
                  <c:v>0</c:v>
                </c:pt>
                <c:pt idx="1">
                  <c:v>1</c:v>
                </c:pt>
                <c:pt idx="2">
                  <c:v>2</c:v>
                </c:pt>
                <c:pt idx="3">
                  <c:v>3</c:v>
                </c:pt>
                <c:pt idx="4">
                  <c:v>4</c:v>
                </c:pt>
                <c:pt idx="5">
                  <c:v>5</c:v>
                </c:pt>
                <c:pt idx="6">
                  <c:v>6</c:v>
                </c:pt>
                <c:pt idx="7">
                  <c:v>7</c:v>
                </c:pt>
              </c:numCache>
            </c:numRef>
          </c:cat>
          <c:val>
            <c:numRef>
              <c:f>'Chart Data'!$AH$2:$AH$9</c:f>
              <c:numCache>
                <c:formatCode>0%</c:formatCode>
                <c:ptCount val="8"/>
                <c:pt idx="0">
                  <c:v>1</c:v>
                </c:pt>
                <c:pt idx="1">
                  <c:v>0.958904109589</c:v>
                </c:pt>
                <c:pt idx="2">
                  <c:v>0.890410958904</c:v>
                </c:pt>
                <c:pt idx="3">
                  <c:v>0.876712328767</c:v>
                </c:pt>
                <c:pt idx="4">
                  <c:v>0.835616438356</c:v>
                </c:pt>
                <c:pt idx="5">
                  <c:v>0.808219178082</c:v>
                </c:pt>
                <c:pt idx="6">
                  <c:v>0.767123287671</c:v>
                </c:pt>
                <c:pt idx="7">
                  <c:v>0.739726027397</c:v>
                </c:pt>
              </c:numCache>
            </c:numRef>
          </c:val>
          <c:smooth val="0"/>
        </c:ser>
        <c:ser>
          <c:idx val="17"/>
          <c:order val="17"/>
          <c:tx>
            <c:v>2025-06</c:v>
          </c:tx>
          <c:spPr>
            <a:ln xmlns:a="http://schemas.openxmlformats.org/drawingml/2006/main" w="11906">
              <a:solidFill>
                <a:srgbClr val="525A92"/>
              </a:solidFill>
            </a:ln>
          </c:spPr>
          <c:marker>
            <c:symbol val="none"/>
          </c:marker>
          <c:cat>
            <c:numRef>
              <c:f>'Chart Data'!$AI$2:$AI$8</c:f>
              <c:numCache>
                <c:formatCode>0</c:formatCode>
                <c:ptCount val="7"/>
                <c:pt idx="0">
                  <c:v>0</c:v>
                </c:pt>
                <c:pt idx="1">
                  <c:v>1</c:v>
                </c:pt>
                <c:pt idx="2">
                  <c:v>2</c:v>
                </c:pt>
                <c:pt idx="3">
                  <c:v>3</c:v>
                </c:pt>
                <c:pt idx="4">
                  <c:v>4</c:v>
                </c:pt>
                <c:pt idx="5">
                  <c:v>5</c:v>
                </c:pt>
                <c:pt idx="6">
                  <c:v>6</c:v>
                </c:pt>
              </c:numCache>
            </c:numRef>
          </c:cat>
          <c:val>
            <c:numRef>
              <c:f>'Chart Data'!$AJ$2:$AJ$8</c:f>
              <c:numCache>
                <c:formatCode>0%</c:formatCode>
                <c:ptCount val="7"/>
                <c:pt idx="0">
                  <c:v>1</c:v>
                </c:pt>
                <c:pt idx="1">
                  <c:v>0.918918918919</c:v>
                </c:pt>
                <c:pt idx="2">
                  <c:v>0.864864864865</c:v>
                </c:pt>
                <c:pt idx="3">
                  <c:v>0.77027027027</c:v>
                </c:pt>
                <c:pt idx="4">
                  <c:v>0.743243243243</c:v>
                </c:pt>
                <c:pt idx="5">
                  <c:v>0.72972972973</c:v>
                </c:pt>
                <c:pt idx="6">
                  <c:v>0.702702702703</c:v>
                </c:pt>
              </c:numCache>
            </c:numRef>
          </c:val>
          <c:smooth val="0"/>
        </c:ser>
        <c:ser>
          <c:idx val="18"/>
          <c:order val="18"/>
          <c:tx>
            <c:v>2025-07</c:v>
          </c:tx>
          <c:spPr>
            <a:ln xmlns:a="http://schemas.openxmlformats.org/drawingml/2006/main" w="11906">
              <a:solidFill>
                <a:srgbClr val="4C5B96"/>
              </a:solidFill>
            </a:ln>
          </c:spPr>
          <c:marker>
            <c:symbol val="none"/>
          </c:marker>
          <c:cat>
            <c:numRef>
              <c:f>'Chart Data'!$AK$2:$AK$7</c:f>
              <c:numCache>
                <c:formatCode>0</c:formatCode>
                <c:ptCount val="6"/>
                <c:pt idx="0">
                  <c:v>0</c:v>
                </c:pt>
                <c:pt idx="1">
                  <c:v>1</c:v>
                </c:pt>
                <c:pt idx="2">
                  <c:v>2</c:v>
                </c:pt>
                <c:pt idx="3">
                  <c:v>3</c:v>
                </c:pt>
                <c:pt idx="4">
                  <c:v>4</c:v>
                </c:pt>
                <c:pt idx="5">
                  <c:v>5</c:v>
                </c:pt>
              </c:numCache>
            </c:numRef>
          </c:cat>
          <c:val>
            <c:numRef>
              <c:f>'Chart Data'!$AL$2:$AL$7</c:f>
              <c:numCache>
                <c:formatCode>0%</c:formatCode>
                <c:ptCount val="6"/>
                <c:pt idx="0">
                  <c:v>1</c:v>
                </c:pt>
                <c:pt idx="1">
                  <c:v>0.957746478873</c:v>
                </c:pt>
                <c:pt idx="2">
                  <c:v>0.887323943662</c:v>
                </c:pt>
                <c:pt idx="3">
                  <c:v>0.87323943662</c:v>
                </c:pt>
                <c:pt idx="4">
                  <c:v>0.845070422535</c:v>
                </c:pt>
                <c:pt idx="5">
                  <c:v>0.816901408451</c:v>
                </c:pt>
              </c:numCache>
            </c:numRef>
          </c:val>
          <c:smooth val="0"/>
        </c:ser>
        <c:ser>
          <c:idx val="19"/>
          <c:order val="19"/>
          <c:tx>
            <c:v>2025-08</c:v>
          </c:tx>
          <c:spPr>
            <a:ln xmlns:a="http://schemas.openxmlformats.org/drawingml/2006/main" w="11906">
              <a:solidFill>
                <a:srgbClr val="465D9B"/>
              </a:solidFill>
            </a:ln>
          </c:spPr>
          <c:marker>
            <c:symbol val="none"/>
          </c:marker>
          <c:cat>
            <c:numRef>
              <c:f>'Chart Data'!$AM$2:$AM$6</c:f>
              <c:numCache>
                <c:formatCode>0</c:formatCode>
                <c:ptCount val="5"/>
                <c:pt idx="0">
                  <c:v>0</c:v>
                </c:pt>
                <c:pt idx="1">
                  <c:v>1</c:v>
                </c:pt>
                <c:pt idx="2">
                  <c:v>2</c:v>
                </c:pt>
                <c:pt idx="3">
                  <c:v>3</c:v>
                </c:pt>
                <c:pt idx="4">
                  <c:v>4</c:v>
                </c:pt>
              </c:numCache>
            </c:numRef>
          </c:cat>
          <c:val>
            <c:numRef>
              <c:f>'Chart Data'!$AN$2:$AN$6</c:f>
              <c:numCache>
                <c:formatCode>0%</c:formatCode>
                <c:ptCount val="5"/>
                <c:pt idx="0">
                  <c:v>1</c:v>
                </c:pt>
                <c:pt idx="1">
                  <c:v>0.975609756098</c:v>
                </c:pt>
                <c:pt idx="2">
                  <c:v>0.963414634146</c:v>
                </c:pt>
                <c:pt idx="3">
                  <c:v>0.926829268293</c:v>
                </c:pt>
                <c:pt idx="4">
                  <c:v>0.890243902439</c:v>
                </c:pt>
              </c:numCache>
            </c:numRef>
          </c:val>
          <c:smooth val="0"/>
        </c:ser>
        <c:ser>
          <c:idx val="20"/>
          <c:order val="20"/>
          <c:tx>
            <c:v>2025-09</c:v>
          </c:tx>
          <c:spPr>
            <a:ln xmlns:a="http://schemas.openxmlformats.org/drawingml/2006/main" w="11906">
              <a:solidFill>
                <a:srgbClr val="405EA0"/>
              </a:solidFill>
            </a:ln>
          </c:spPr>
          <c:marker>
            <c:symbol val="none"/>
          </c:marker>
          <c:cat>
            <c:numRef>
              <c:f>'Chart Data'!$AO$2:$AO$5</c:f>
              <c:numCache>
                <c:formatCode>0</c:formatCode>
                <c:ptCount val="4"/>
                <c:pt idx="0">
                  <c:v>0</c:v>
                </c:pt>
                <c:pt idx="1">
                  <c:v>1</c:v>
                </c:pt>
                <c:pt idx="2">
                  <c:v>2</c:v>
                </c:pt>
                <c:pt idx="3">
                  <c:v>3</c:v>
                </c:pt>
              </c:numCache>
            </c:numRef>
          </c:cat>
          <c:val>
            <c:numRef>
              <c:f>'Chart Data'!$AP$2:$AP$5</c:f>
              <c:numCache>
                <c:formatCode>0%</c:formatCode>
                <c:ptCount val="4"/>
                <c:pt idx="0">
                  <c:v>1</c:v>
                </c:pt>
                <c:pt idx="1">
                  <c:v>0.942028985507</c:v>
                </c:pt>
                <c:pt idx="2">
                  <c:v>0.876811594203</c:v>
                </c:pt>
                <c:pt idx="3">
                  <c:v>0.81884057971</c:v>
                </c:pt>
              </c:numCache>
            </c:numRef>
          </c:val>
          <c:smooth val="0"/>
        </c:ser>
        <c:ser>
          <c:idx val="21"/>
          <c:order val="21"/>
          <c:tx>
            <c:v>2025-10</c:v>
          </c:tx>
          <c:spPr>
            <a:ln xmlns:a="http://schemas.openxmlformats.org/drawingml/2006/main" w="11906">
              <a:solidFill>
                <a:srgbClr val="3B60A5"/>
              </a:solidFill>
            </a:ln>
          </c:spPr>
          <c:marker>
            <c:symbol val="none"/>
          </c:marker>
          <c:cat>
            <c:numRef>
              <c:f>'Chart Data'!$AQ$2:$AQ$4</c:f>
              <c:numCache>
                <c:formatCode>0</c:formatCode>
                <c:ptCount val="3"/>
                <c:pt idx="0">
                  <c:v>0</c:v>
                </c:pt>
                <c:pt idx="1">
                  <c:v>1</c:v>
                </c:pt>
                <c:pt idx="2">
                  <c:v>2</c:v>
                </c:pt>
              </c:numCache>
            </c:numRef>
          </c:cat>
          <c:val>
            <c:numRef>
              <c:f>'Chart Data'!$AR$2:$AR$4</c:f>
              <c:numCache>
                <c:formatCode>0%</c:formatCode>
                <c:ptCount val="3"/>
                <c:pt idx="0">
                  <c:v>1</c:v>
                </c:pt>
                <c:pt idx="1">
                  <c:v>0.964705882353</c:v>
                </c:pt>
                <c:pt idx="2">
                  <c:v>0.894117647059</c:v>
                </c:pt>
              </c:numCache>
            </c:numRef>
          </c:val>
          <c:smooth val="0"/>
        </c:ser>
        <c:ser>
          <c:idx val="22"/>
          <c:order val="22"/>
          <c:tx>
            <c:v>2025-11</c:v>
          </c:tx>
          <c:spPr>
            <a:ln xmlns:a="http://schemas.openxmlformats.org/drawingml/2006/main" w="11906">
              <a:solidFill>
                <a:srgbClr val="3561A9"/>
              </a:solidFill>
            </a:ln>
          </c:spPr>
          <c:marker>
            <c:symbol val="none"/>
          </c:marker>
          <c:cat>
            <c:numRef>
              <c:f>'Chart Data'!$AS$2:$AS$3</c:f>
              <c:numCache>
                <c:formatCode>0</c:formatCode>
                <c:ptCount val="2"/>
                <c:pt idx="0">
                  <c:v>0</c:v>
                </c:pt>
                <c:pt idx="1">
                  <c:v>1</c:v>
                </c:pt>
              </c:numCache>
            </c:numRef>
          </c:cat>
          <c:val>
            <c:numRef>
              <c:f>'Chart Data'!$AT$2:$AT$3</c:f>
              <c:numCache>
                <c:formatCode>0%</c:formatCode>
                <c:ptCount val="2"/>
                <c:pt idx="0">
                  <c:v>1</c:v>
                </c:pt>
                <c:pt idx="1">
                  <c:v>0.910112359551</c:v>
                </c:pt>
              </c:numCache>
            </c:numRef>
          </c:val>
          <c:smooth val="0"/>
        </c:ser>
        <c:ser>
          <c:idx val="23"/>
          <c:order val="23"/>
          <c:tx>
            <c:v>2025-12</c:v>
          </c:tx>
          <c:spPr>
            <a:ln xmlns:a="http://schemas.openxmlformats.org/drawingml/2006/main" w="11906">
              <a:solidFill>
                <a:srgbClr val="2F63AE"/>
              </a:solidFill>
            </a:ln>
          </c:spPr>
          <c:marker>
            <c:symbol val="none"/>
          </c:marker>
          <c:cat>
            <c:numRef>
              <c:f>'Chart Data'!$AU$2:$AU$2</c:f>
              <c:numCache>
                <c:formatCode>0</c:formatCode>
                <c:ptCount val="1"/>
                <c:pt idx="0">
                  <c:v>0</c:v>
                </c:pt>
              </c:numCache>
            </c:numRef>
          </c:cat>
          <c:val>
            <c:numRef>
              <c:f>'Chart Data'!$AV$2:$AV$2</c:f>
              <c:numCache>
                <c:formatCode>0%</c:formatCode>
                <c:ptCount val="1"/>
                <c:pt idx="0">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Customer age</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Retained</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5"/>
      </c:valAx>
    </c:plotArea>
    <c:plotVisOnly val="1"/>
    <c:dispBlanksAs val="gap"/>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areaChart>
        <c:grouping val="stacked"/>
        <c:varyColors val="0"/>
        <c:ser>
          <c:idx val="0"/>
          <c:order val="0"/>
          <c:tx>
            <c:v>2024-01</c:v>
          </c:tx>
          <c:spPr>
            <a:solidFill xmlns:a="http://schemas.openxmlformats.org/drawingml/2006/main">
              <a:srgbClr val="B44041"/>
            </a:solidFill>
            <a:ln xmlns:a="http://schemas.openxmlformats.org/drawingml/2006/main" w="3810">
              <a:solidFill>
                <a:srgbClr val="FFFFFF"/>
              </a:solidFill>
            </a:ln>
          </c:spPr>
          <c:cat>
            <c:strRef>
              <c:f>'Chart Data'!$A$2:$A$25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Data'!$B$2:$B$25</c:f>
              <c:numCache>
                <c:formatCode>#,##0</c:formatCode>
                <c:ptCount val="24"/>
                <c:pt idx="0">
                  <c:v>179</c:v>
                </c:pt>
                <c:pt idx="1">
                  <c:v>143</c:v>
                </c:pt>
                <c:pt idx="2">
                  <c:v>126</c:v>
                </c:pt>
                <c:pt idx="3">
                  <c:v>113</c:v>
                </c:pt>
                <c:pt idx="4">
                  <c:v>99</c:v>
                </c:pt>
                <c:pt idx="5">
                  <c:v>92</c:v>
                </c:pt>
                <c:pt idx="6">
                  <c:v>84</c:v>
                </c:pt>
                <c:pt idx="7">
                  <c:v>80</c:v>
                </c:pt>
                <c:pt idx="8">
                  <c:v>75</c:v>
                </c:pt>
                <c:pt idx="9">
                  <c:v>71</c:v>
                </c:pt>
                <c:pt idx="10">
                  <c:v>69</c:v>
                </c:pt>
                <c:pt idx="11">
                  <c:v>62</c:v>
                </c:pt>
                <c:pt idx="12">
                  <c:v>61</c:v>
                </c:pt>
                <c:pt idx="13">
                  <c:v>56</c:v>
                </c:pt>
                <c:pt idx="14">
                  <c:v>51</c:v>
                </c:pt>
                <c:pt idx="15">
                  <c:v>49</c:v>
                </c:pt>
                <c:pt idx="16">
                  <c:v>47</c:v>
                </c:pt>
                <c:pt idx="17">
                  <c:v>46</c:v>
                </c:pt>
                <c:pt idx="18">
                  <c:v>43</c:v>
                </c:pt>
                <c:pt idx="19">
                  <c:v>43</c:v>
                </c:pt>
                <c:pt idx="20">
                  <c:v>42</c:v>
                </c:pt>
                <c:pt idx="21">
                  <c:v>42</c:v>
                </c:pt>
                <c:pt idx="22">
                  <c:v>40</c:v>
                </c:pt>
                <c:pt idx="23">
                  <c:v>36</c:v>
                </c:pt>
              </c:numCache>
            </c:numRef>
          </c:val>
        </c:ser>
        <c:ser>
          <c:idx val="1"/>
          <c:order val="1"/>
          <c:tx>
            <c:v>2024-02</c:v>
          </c:tx>
          <c:spPr>
            <a:solidFill xmlns:a="http://schemas.openxmlformats.org/drawingml/2006/main">
              <a:srgbClr val="AE4246"/>
            </a:solidFill>
            <a:ln xmlns:a="http://schemas.openxmlformats.org/drawingml/2006/main" w="3810">
              <a:solidFill>
                <a:srgbClr val="FFFFFF"/>
              </a:solidFill>
            </a:ln>
          </c:spPr>
          <c:cat>
            <c:strRef>
              <c:f>'Chart Data'!$C$2:$C$25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Data'!$D$2:$D$25</c:f>
              <c:numCache>
                <c:formatCode>#,##0</c:formatCode>
                <c:ptCount val="24"/>
                <c:pt idx="0">
                  <c:v>0</c:v>
                </c:pt>
                <c:pt idx="1">
                  <c:v>193</c:v>
                </c:pt>
                <c:pt idx="2">
                  <c:v>151</c:v>
                </c:pt>
                <c:pt idx="3">
                  <c:v>135</c:v>
                </c:pt>
                <c:pt idx="4">
                  <c:v>108</c:v>
                </c:pt>
                <c:pt idx="5">
                  <c:v>95</c:v>
                </c:pt>
                <c:pt idx="6">
                  <c:v>88</c:v>
                </c:pt>
                <c:pt idx="7">
                  <c:v>81</c:v>
                </c:pt>
                <c:pt idx="8">
                  <c:v>74</c:v>
                </c:pt>
                <c:pt idx="9">
                  <c:v>72</c:v>
                </c:pt>
                <c:pt idx="10">
                  <c:v>69</c:v>
                </c:pt>
                <c:pt idx="11">
                  <c:v>64</c:v>
                </c:pt>
                <c:pt idx="12">
                  <c:v>61</c:v>
                </c:pt>
                <c:pt idx="13">
                  <c:v>57</c:v>
                </c:pt>
                <c:pt idx="14">
                  <c:v>56</c:v>
                </c:pt>
                <c:pt idx="15">
                  <c:v>54</c:v>
                </c:pt>
                <c:pt idx="16">
                  <c:v>53</c:v>
                </c:pt>
                <c:pt idx="17">
                  <c:v>52</c:v>
                </c:pt>
                <c:pt idx="18">
                  <c:v>50</c:v>
                </c:pt>
                <c:pt idx="19">
                  <c:v>50</c:v>
                </c:pt>
                <c:pt idx="20">
                  <c:v>48</c:v>
                </c:pt>
                <c:pt idx="21">
                  <c:v>48</c:v>
                </c:pt>
                <c:pt idx="22">
                  <c:v>48</c:v>
                </c:pt>
                <c:pt idx="23">
                  <c:v>48</c:v>
                </c:pt>
              </c:numCache>
            </c:numRef>
          </c:val>
        </c:ser>
        <c:ser>
          <c:idx val="2"/>
          <c:order val="2"/>
          <c:tx>
            <c:v>2024-03</c:v>
          </c:tx>
          <c:spPr>
            <a:solidFill xmlns:a="http://schemas.openxmlformats.org/drawingml/2006/main">
              <a:srgbClr val="A8434A"/>
            </a:solidFill>
            <a:ln xmlns:a="http://schemas.openxmlformats.org/drawingml/2006/main" w="3810">
              <a:solidFill>
                <a:srgbClr val="FFFFFF"/>
              </a:solidFill>
            </a:ln>
          </c:spPr>
          <c:cat>
            <c:strRef>
              <c:f>'Chart Data'!$E$2:$E$25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Data'!$F$2:$F$25</c:f>
              <c:numCache>
                <c:formatCode>#,##0</c:formatCode>
                <c:ptCount val="24"/>
                <c:pt idx="0">
                  <c:v>0</c:v>
                </c:pt>
                <c:pt idx="1">
                  <c:v>0</c:v>
                </c:pt>
                <c:pt idx="2">
                  <c:v>195</c:v>
                </c:pt>
                <c:pt idx="3">
                  <c:v>153</c:v>
                </c:pt>
                <c:pt idx="4">
                  <c:v>129</c:v>
                </c:pt>
                <c:pt idx="5">
                  <c:v>115</c:v>
                </c:pt>
                <c:pt idx="6">
                  <c:v>99</c:v>
                </c:pt>
                <c:pt idx="7">
                  <c:v>86</c:v>
                </c:pt>
                <c:pt idx="8">
                  <c:v>81</c:v>
                </c:pt>
                <c:pt idx="9">
                  <c:v>78</c:v>
                </c:pt>
                <c:pt idx="10">
                  <c:v>74</c:v>
                </c:pt>
                <c:pt idx="11">
                  <c:v>70</c:v>
                </c:pt>
                <c:pt idx="12">
                  <c:v>67</c:v>
                </c:pt>
                <c:pt idx="13">
                  <c:v>62</c:v>
                </c:pt>
                <c:pt idx="14">
                  <c:v>57</c:v>
                </c:pt>
                <c:pt idx="15">
                  <c:v>52</c:v>
                </c:pt>
                <c:pt idx="16">
                  <c:v>49</c:v>
                </c:pt>
                <c:pt idx="17">
                  <c:v>49</c:v>
                </c:pt>
                <c:pt idx="18">
                  <c:v>48</c:v>
                </c:pt>
                <c:pt idx="19">
                  <c:v>47</c:v>
                </c:pt>
                <c:pt idx="20">
                  <c:v>47</c:v>
                </c:pt>
                <c:pt idx="21">
                  <c:v>47</c:v>
                </c:pt>
                <c:pt idx="22">
                  <c:v>46</c:v>
                </c:pt>
                <c:pt idx="23">
                  <c:v>46</c:v>
                </c:pt>
              </c:numCache>
            </c:numRef>
          </c:val>
        </c:ser>
        <c:ser>
          <c:idx val="3"/>
          <c:order val="3"/>
          <c:tx>
            <c:v>2024-04</c:v>
          </c:tx>
          <c:spPr>
            <a:solidFill xmlns:a="http://schemas.openxmlformats.org/drawingml/2006/main">
              <a:srgbClr val="A3454F"/>
            </a:solidFill>
            <a:ln xmlns:a="http://schemas.openxmlformats.org/drawingml/2006/main" w="3810">
              <a:solidFill>
                <a:srgbClr val="FFFFFF"/>
              </a:solidFill>
            </a:ln>
          </c:spPr>
          <c:cat>
            <c:strRef>
              <c:f>'Chart Data'!$G$2:$G$25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Data'!$H$2:$H$25</c:f>
              <c:numCache>
                <c:formatCode>#,##0</c:formatCode>
                <c:ptCount val="24"/>
                <c:pt idx="0">
                  <c:v>0</c:v>
                </c:pt>
                <c:pt idx="1">
                  <c:v>0</c:v>
                </c:pt>
                <c:pt idx="2">
                  <c:v>0</c:v>
                </c:pt>
                <c:pt idx="3">
                  <c:v>191</c:v>
                </c:pt>
                <c:pt idx="4">
                  <c:v>161</c:v>
                </c:pt>
                <c:pt idx="5">
                  <c:v>138</c:v>
                </c:pt>
                <c:pt idx="6">
                  <c:v>128</c:v>
                </c:pt>
                <c:pt idx="7">
                  <c:v>118</c:v>
                </c:pt>
                <c:pt idx="8">
                  <c:v>112</c:v>
                </c:pt>
                <c:pt idx="9">
                  <c:v>106</c:v>
                </c:pt>
                <c:pt idx="10">
                  <c:v>99</c:v>
                </c:pt>
                <c:pt idx="11">
                  <c:v>93</c:v>
                </c:pt>
                <c:pt idx="12">
                  <c:v>88</c:v>
                </c:pt>
                <c:pt idx="13">
                  <c:v>81</c:v>
                </c:pt>
                <c:pt idx="14">
                  <c:v>76</c:v>
                </c:pt>
                <c:pt idx="15">
                  <c:v>73</c:v>
                </c:pt>
                <c:pt idx="16">
                  <c:v>70</c:v>
                </c:pt>
                <c:pt idx="17">
                  <c:v>67</c:v>
                </c:pt>
                <c:pt idx="18">
                  <c:v>65</c:v>
                </c:pt>
                <c:pt idx="19">
                  <c:v>62</c:v>
                </c:pt>
                <c:pt idx="20">
                  <c:v>60</c:v>
                </c:pt>
                <c:pt idx="21">
                  <c:v>57</c:v>
                </c:pt>
                <c:pt idx="22">
                  <c:v>57</c:v>
                </c:pt>
                <c:pt idx="23">
                  <c:v>56</c:v>
                </c:pt>
              </c:numCache>
            </c:numRef>
          </c:val>
        </c:ser>
        <c:ser>
          <c:idx val="4"/>
          <c:order val="4"/>
          <c:tx>
            <c:v>2024-05</c:v>
          </c:tx>
          <c:spPr>
            <a:solidFill xmlns:a="http://schemas.openxmlformats.org/drawingml/2006/main">
              <a:srgbClr val="9D4654"/>
            </a:solidFill>
            <a:ln xmlns:a="http://schemas.openxmlformats.org/drawingml/2006/main" w="3810">
              <a:solidFill>
                <a:srgbClr val="FFFFFF"/>
              </a:solidFill>
            </a:ln>
          </c:spPr>
          <c:cat>
            <c:strRef>
              <c:f>'Chart Data'!$I$2:$I$25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Data'!$J$2:$J$25</c:f>
              <c:numCache>
                <c:formatCode>#,##0</c:formatCode>
                <c:ptCount val="24"/>
                <c:pt idx="0">
                  <c:v>0</c:v>
                </c:pt>
                <c:pt idx="1">
                  <c:v>0</c:v>
                </c:pt>
                <c:pt idx="2">
                  <c:v>0</c:v>
                </c:pt>
                <c:pt idx="3">
                  <c:v>0</c:v>
                </c:pt>
                <c:pt idx="4">
                  <c:v>192</c:v>
                </c:pt>
                <c:pt idx="5">
                  <c:v>149</c:v>
                </c:pt>
                <c:pt idx="6">
                  <c:v>128</c:v>
                </c:pt>
                <c:pt idx="7">
                  <c:v>124</c:v>
                </c:pt>
                <c:pt idx="8">
                  <c:v>119</c:v>
                </c:pt>
                <c:pt idx="9">
                  <c:v>115</c:v>
                </c:pt>
                <c:pt idx="10">
                  <c:v>109</c:v>
                </c:pt>
                <c:pt idx="11">
                  <c:v>104</c:v>
                </c:pt>
                <c:pt idx="12">
                  <c:v>96</c:v>
                </c:pt>
                <c:pt idx="13">
                  <c:v>91</c:v>
                </c:pt>
                <c:pt idx="14">
                  <c:v>87</c:v>
                </c:pt>
                <c:pt idx="15">
                  <c:v>81</c:v>
                </c:pt>
                <c:pt idx="16">
                  <c:v>77</c:v>
                </c:pt>
                <c:pt idx="17">
                  <c:v>75</c:v>
                </c:pt>
                <c:pt idx="18">
                  <c:v>73</c:v>
                </c:pt>
                <c:pt idx="19">
                  <c:v>72</c:v>
                </c:pt>
                <c:pt idx="20">
                  <c:v>67</c:v>
                </c:pt>
                <c:pt idx="21">
                  <c:v>65</c:v>
                </c:pt>
                <c:pt idx="22">
                  <c:v>65</c:v>
                </c:pt>
                <c:pt idx="23">
                  <c:v>62</c:v>
                </c:pt>
              </c:numCache>
            </c:numRef>
          </c:val>
        </c:ser>
        <c:ser>
          <c:idx val="5"/>
          <c:order val="5"/>
          <c:tx>
            <c:v>2024-06</c:v>
          </c:tx>
          <c:spPr>
            <a:solidFill xmlns:a="http://schemas.openxmlformats.org/drawingml/2006/main">
              <a:srgbClr val="974859"/>
            </a:solidFill>
            <a:ln xmlns:a="http://schemas.openxmlformats.org/drawingml/2006/main" w="3810">
              <a:solidFill>
                <a:srgbClr val="FFFFFF"/>
              </a:solidFill>
            </a:ln>
          </c:spPr>
          <c:cat>
            <c:strRef>
              <c:f>'Chart Data'!$K$2:$K$25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Data'!$L$2:$L$25</c:f>
              <c:numCache>
                <c:formatCode>#,##0</c:formatCode>
                <c:ptCount val="24"/>
                <c:pt idx="0">
                  <c:v>0</c:v>
                </c:pt>
                <c:pt idx="1">
                  <c:v>0</c:v>
                </c:pt>
                <c:pt idx="2">
                  <c:v>0</c:v>
                </c:pt>
                <c:pt idx="3">
                  <c:v>0</c:v>
                </c:pt>
                <c:pt idx="4">
                  <c:v>0</c:v>
                </c:pt>
                <c:pt idx="5">
                  <c:v>204</c:v>
                </c:pt>
                <c:pt idx="6">
                  <c:v>168</c:v>
                </c:pt>
                <c:pt idx="7">
                  <c:v>149</c:v>
                </c:pt>
                <c:pt idx="8">
                  <c:v>133</c:v>
                </c:pt>
                <c:pt idx="9">
                  <c:v>116</c:v>
                </c:pt>
                <c:pt idx="10">
                  <c:v>109</c:v>
                </c:pt>
                <c:pt idx="11">
                  <c:v>100</c:v>
                </c:pt>
                <c:pt idx="12">
                  <c:v>94</c:v>
                </c:pt>
                <c:pt idx="13">
                  <c:v>89</c:v>
                </c:pt>
                <c:pt idx="14">
                  <c:v>83</c:v>
                </c:pt>
                <c:pt idx="15">
                  <c:v>80</c:v>
                </c:pt>
                <c:pt idx="16">
                  <c:v>75</c:v>
                </c:pt>
                <c:pt idx="17">
                  <c:v>75</c:v>
                </c:pt>
                <c:pt idx="18">
                  <c:v>75</c:v>
                </c:pt>
                <c:pt idx="19">
                  <c:v>69</c:v>
                </c:pt>
                <c:pt idx="20">
                  <c:v>65</c:v>
                </c:pt>
                <c:pt idx="21">
                  <c:v>64</c:v>
                </c:pt>
                <c:pt idx="22">
                  <c:v>62</c:v>
                </c:pt>
                <c:pt idx="23">
                  <c:v>62</c:v>
                </c:pt>
              </c:numCache>
            </c:numRef>
          </c:val>
        </c:ser>
        <c:ser>
          <c:idx val="6"/>
          <c:order val="6"/>
          <c:tx>
            <c:v>2024-07</c:v>
          </c:tx>
          <c:spPr>
            <a:solidFill xmlns:a="http://schemas.openxmlformats.org/drawingml/2006/main">
              <a:srgbClr val="91495D"/>
            </a:solidFill>
            <a:ln xmlns:a="http://schemas.openxmlformats.org/drawingml/2006/main" w="3810">
              <a:solidFill>
                <a:srgbClr val="FFFFFF"/>
              </a:solidFill>
            </a:ln>
          </c:spPr>
          <c:cat>
            <c:strRef>
              <c:f>'Chart Data'!$M$2:$M$25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Data'!$N$2:$N$25</c:f>
              <c:numCache>
                <c:formatCode>#,##0</c:formatCode>
                <c:ptCount val="24"/>
                <c:pt idx="0">
                  <c:v>0</c:v>
                </c:pt>
                <c:pt idx="1">
                  <c:v>0</c:v>
                </c:pt>
                <c:pt idx="2">
                  <c:v>0</c:v>
                </c:pt>
                <c:pt idx="3">
                  <c:v>0</c:v>
                </c:pt>
                <c:pt idx="4">
                  <c:v>0</c:v>
                </c:pt>
                <c:pt idx="5">
                  <c:v>0</c:v>
                </c:pt>
                <c:pt idx="6">
                  <c:v>205</c:v>
                </c:pt>
                <c:pt idx="7">
                  <c:v>175</c:v>
                </c:pt>
                <c:pt idx="8">
                  <c:v>158</c:v>
                </c:pt>
                <c:pt idx="9">
                  <c:v>148</c:v>
                </c:pt>
                <c:pt idx="10">
                  <c:v>130</c:v>
                </c:pt>
                <c:pt idx="11">
                  <c:v>124</c:v>
                </c:pt>
                <c:pt idx="12">
                  <c:v>115</c:v>
                </c:pt>
                <c:pt idx="13">
                  <c:v>108</c:v>
                </c:pt>
                <c:pt idx="14">
                  <c:v>107</c:v>
                </c:pt>
                <c:pt idx="15">
                  <c:v>100</c:v>
                </c:pt>
                <c:pt idx="16">
                  <c:v>93</c:v>
                </c:pt>
                <c:pt idx="17">
                  <c:v>87</c:v>
                </c:pt>
                <c:pt idx="18">
                  <c:v>85</c:v>
                </c:pt>
                <c:pt idx="19">
                  <c:v>83</c:v>
                </c:pt>
                <c:pt idx="20">
                  <c:v>79</c:v>
                </c:pt>
                <c:pt idx="21">
                  <c:v>78</c:v>
                </c:pt>
                <c:pt idx="22">
                  <c:v>77</c:v>
                </c:pt>
                <c:pt idx="23">
                  <c:v>74</c:v>
                </c:pt>
              </c:numCache>
            </c:numRef>
          </c:val>
        </c:ser>
        <c:ser>
          <c:idx val="7"/>
          <c:order val="7"/>
          <c:tx>
            <c:v>2024-08</c:v>
          </c:tx>
          <c:spPr>
            <a:solidFill xmlns:a="http://schemas.openxmlformats.org/drawingml/2006/main">
              <a:srgbClr val="8C4B62"/>
            </a:solidFill>
            <a:ln xmlns:a="http://schemas.openxmlformats.org/drawingml/2006/main" w="3810">
              <a:solidFill>
                <a:srgbClr val="FFFFFF"/>
              </a:solidFill>
            </a:ln>
          </c:spPr>
          <c:cat>
            <c:strRef>
              <c:f>'Chart Data'!$O$2:$O$25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Data'!$P$2:$P$25</c:f>
              <c:numCache>
                <c:formatCode>#,##0</c:formatCode>
                <c:ptCount val="24"/>
                <c:pt idx="0">
                  <c:v>0</c:v>
                </c:pt>
                <c:pt idx="1">
                  <c:v>0</c:v>
                </c:pt>
                <c:pt idx="2">
                  <c:v>0</c:v>
                </c:pt>
                <c:pt idx="3">
                  <c:v>0</c:v>
                </c:pt>
                <c:pt idx="4">
                  <c:v>0</c:v>
                </c:pt>
                <c:pt idx="5">
                  <c:v>0</c:v>
                </c:pt>
                <c:pt idx="6">
                  <c:v>0</c:v>
                </c:pt>
                <c:pt idx="7">
                  <c:v>217</c:v>
                </c:pt>
                <c:pt idx="8">
                  <c:v>173</c:v>
                </c:pt>
                <c:pt idx="9">
                  <c:v>156</c:v>
                </c:pt>
                <c:pt idx="10">
                  <c:v>142</c:v>
                </c:pt>
                <c:pt idx="11">
                  <c:v>130</c:v>
                </c:pt>
                <c:pt idx="12">
                  <c:v>122</c:v>
                </c:pt>
                <c:pt idx="13">
                  <c:v>113</c:v>
                </c:pt>
                <c:pt idx="14">
                  <c:v>111</c:v>
                </c:pt>
                <c:pt idx="15">
                  <c:v>104</c:v>
                </c:pt>
                <c:pt idx="16">
                  <c:v>100</c:v>
                </c:pt>
                <c:pt idx="17">
                  <c:v>98</c:v>
                </c:pt>
                <c:pt idx="18">
                  <c:v>92</c:v>
                </c:pt>
                <c:pt idx="19">
                  <c:v>86</c:v>
                </c:pt>
                <c:pt idx="20">
                  <c:v>83</c:v>
                </c:pt>
                <c:pt idx="21">
                  <c:v>81</c:v>
                </c:pt>
                <c:pt idx="22">
                  <c:v>77</c:v>
                </c:pt>
                <c:pt idx="23">
                  <c:v>76</c:v>
                </c:pt>
              </c:numCache>
            </c:numRef>
          </c:val>
        </c:ser>
        <c:ser>
          <c:idx val="8"/>
          <c:order val="8"/>
          <c:tx>
            <c:v>2024-09</c:v>
          </c:tx>
          <c:spPr>
            <a:solidFill xmlns:a="http://schemas.openxmlformats.org/drawingml/2006/main">
              <a:srgbClr val="864C67"/>
            </a:solidFill>
            <a:ln xmlns:a="http://schemas.openxmlformats.org/drawingml/2006/main" w="3810">
              <a:solidFill>
                <a:srgbClr val="FFFFFF"/>
              </a:solidFill>
            </a:ln>
          </c:spPr>
          <c:cat>
            <c:strRef>
              <c:f>'Chart Data'!$Q$2:$Q$25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Data'!$R$2:$R$25</c:f>
              <c:numCache>
                <c:formatCode>#,##0</c:formatCode>
                <c:ptCount val="24"/>
                <c:pt idx="0">
                  <c:v>0</c:v>
                </c:pt>
                <c:pt idx="1">
                  <c:v>0</c:v>
                </c:pt>
                <c:pt idx="2">
                  <c:v>0</c:v>
                </c:pt>
                <c:pt idx="3">
                  <c:v>0</c:v>
                </c:pt>
                <c:pt idx="4">
                  <c:v>0</c:v>
                </c:pt>
                <c:pt idx="5">
                  <c:v>0</c:v>
                </c:pt>
                <c:pt idx="6">
                  <c:v>0</c:v>
                </c:pt>
                <c:pt idx="7">
                  <c:v>0</c:v>
                </c:pt>
                <c:pt idx="8">
                  <c:v>224</c:v>
                </c:pt>
                <c:pt idx="9">
                  <c:v>195</c:v>
                </c:pt>
                <c:pt idx="10">
                  <c:v>174</c:v>
                </c:pt>
                <c:pt idx="11">
                  <c:v>161</c:v>
                </c:pt>
                <c:pt idx="12">
                  <c:v>147</c:v>
                </c:pt>
                <c:pt idx="13">
                  <c:v>141</c:v>
                </c:pt>
                <c:pt idx="14">
                  <c:v>132</c:v>
                </c:pt>
                <c:pt idx="15">
                  <c:v>121</c:v>
                </c:pt>
                <c:pt idx="16">
                  <c:v>113</c:v>
                </c:pt>
                <c:pt idx="17">
                  <c:v>112</c:v>
                </c:pt>
                <c:pt idx="18">
                  <c:v>109</c:v>
                </c:pt>
                <c:pt idx="19">
                  <c:v>107</c:v>
                </c:pt>
                <c:pt idx="20">
                  <c:v>97</c:v>
                </c:pt>
                <c:pt idx="21">
                  <c:v>94</c:v>
                </c:pt>
                <c:pt idx="22">
                  <c:v>93</c:v>
                </c:pt>
                <c:pt idx="23">
                  <c:v>90</c:v>
                </c:pt>
              </c:numCache>
            </c:numRef>
          </c:val>
        </c:ser>
        <c:ser>
          <c:idx val="9"/>
          <c:order val="9"/>
          <c:tx>
            <c:v>2024-10</c:v>
          </c:tx>
          <c:spPr>
            <a:solidFill xmlns:a="http://schemas.openxmlformats.org/drawingml/2006/main">
              <a:srgbClr val="804E6C"/>
            </a:solidFill>
            <a:ln xmlns:a="http://schemas.openxmlformats.org/drawingml/2006/main" w="3810">
              <a:solidFill>
                <a:srgbClr val="FFFFFF"/>
              </a:solidFill>
            </a:ln>
          </c:spPr>
          <c:cat>
            <c:strRef>
              <c:f>'Chart Data'!$S$2:$S$25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Data'!$T$2:$T$25</c:f>
              <c:numCache>
                <c:formatCode>#,##0</c:formatCode>
                <c:ptCount val="24"/>
                <c:pt idx="0">
                  <c:v>0</c:v>
                </c:pt>
                <c:pt idx="1">
                  <c:v>0</c:v>
                </c:pt>
                <c:pt idx="2">
                  <c:v>0</c:v>
                </c:pt>
                <c:pt idx="3">
                  <c:v>0</c:v>
                </c:pt>
                <c:pt idx="4">
                  <c:v>0</c:v>
                </c:pt>
                <c:pt idx="5">
                  <c:v>0</c:v>
                </c:pt>
                <c:pt idx="6">
                  <c:v>0</c:v>
                </c:pt>
                <c:pt idx="7">
                  <c:v>0</c:v>
                </c:pt>
                <c:pt idx="8">
                  <c:v>0</c:v>
                </c:pt>
                <c:pt idx="9">
                  <c:v>230</c:v>
                </c:pt>
                <c:pt idx="10">
                  <c:v>188</c:v>
                </c:pt>
                <c:pt idx="11">
                  <c:v>164</c:v>
                </c:pt>
                <c:pt idx="12">
                  <c:v>146</c:v>
                </c:pt>
                <c:pt idx="13">
                  <c:v>132</c:v>
                </c:pt>
                <c:pt idx="14">
                  <c:v>121</c:v>
                </c:pt>
                <c:pt idx="15">
                  <c:v>116</c:v>
                </c:pt>
                <c:pt idx="16">
                  <c:v>108</c:v>
                </c:pt>
                <c:pt idx="17">
                  <c:v>105</c:v>
                </c:pt>
                <c:pt idx="18">
                  <c:v>102</c:v>
                </c:pt>
                <c:pt idx="19">
                  <c:v>97</c:v>
                </c:pt>
                <c:pt idx="20">
                  <c:v>93</c:v>
                </c:pt>
                <c:pt idx="21">
                  <c:v>89</c:v>
                </c:pt>
                <c:pt idx="22">
                  <c:v>88</c:v>
                </c:pt>
                <c:pt idx="23">
                  <c:v>86</c:v>
                </c:pt>
              </c:numCache>
            </c:numRef>
          </c:val>
        </c:ser>
        <c:ser>
          <c:idx val="10"/>
          <c:order val="10"/>
          <c:tx>
            <c:v>2024-11</c:v>
          </c:tx>
          <c:spPr>
            <a:solidFill xmlns:a="http://schemas.openxmlformats.org/drawingml/2006/main">
              <a:srgbClr val="7A4F70"/>
            </a:solidFill>
            <a:ln xmlns:a="http://schemas.openxmlformats.org/drawingml/2006/main" w="3810">
              <a:solidFill>
                <a:srgbClr val="FFFFFF"/>
              </a:solidFill>
            </a:ln>
          </c:spPr>
          <c:cat>
            <c:strRef>
              <c:f>'Chart Data'!$U$2:$U$25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Data'!$V$2:$V$25</c:f>
              <c:numCache>
                <c:formatCode>#,##0</c:formatCode>
                <c:ptCount val="24"/>
                <c:pt idx="0">
                  <c:v>0</c:v>
                </c:pt>
                <c:pt idx="1">
                  <c:v>0</c:v>
                </c:pt>
                <c:pt idx="2">
                  <c:v>0</c:v>
                </c:pt>
                <c:pt idx="3">
                  <c:v>0</c:v>
                </c:pt>
                <c:pt idx="4">
                  <c:v>0</c:v>
                </c:pt>
                <c:pt idx="5">
                  <c:v>0</c:v>
                </c:pt>
                <c:pt idx="6">
                  <c:v>0</c:v>
                </c:pt>
                <c:pt idx="7">
                  <c:v>0</c:v>
                </c:pt>
                <c:pt idx="8">
                  <c:v>0</c:v>
                </c:pt>
                <c:pt idx="9">
                  <c:v>0</c:v>
                </c:pt>
                <c:pt idx="10">
                  <c:v>229</c:v>
                </c:pt>
                <c:pt idx="11">
                  <c:v>199</c:v>
                </c:pt>
                <c:pt idx="12">
                  <c:v>184</c:v>
                </c:pt>
                <c:pt idx="13">
                  <c:v>171</c:v>
                </c:pt>
                <c:pt idx="14">
                  <c:v>154</c:v>
                </c:pt>
                <c:pt idx="15">
                  <c:v>137</c:v>
                </c:pt>
                <c:pt idx="16">
                  <c:v>128</c:v>
                </c:pt>
                <c:pt idx="17">
                  <c:v>119</c:v>
                </c:pt>
                <c:pt idx="18">
                  <c:v>115</c:v>
                </c:pt>
                <c:pt idx="19">
                  <c:v>111</c:v>
                </c:pt>
                <c:pt idx="20">
                  <c:v>105</c:v>
                </c:pt>
                <c:pt idx="21">
                  <c:v>103</c:v>
                </c:pt>
                <c:pt idx="22">
                  <c:v>100</c:v>
                </c:pt>
                <c:pt idx="23">
                  <c:v>97</c:v>
                </c:pt>
              </c:numCache>
            </c:numRef>
          </c:val>
        </c:ser>
        <c:ser>
          <c:idx val="11"/>
          <c:order val="11"/>
          <c:tx>
            <c:v>2024-12</c:v>
          </c:tx>
          <c:spPr>
            <a:solidFill xmlns:a="http://schemas.openxmlformats.org/drawingml/2006/main">
              <a:srgbClr val="745175"/>
            </a:solidFill>
            <a:ln xmlns:a="http://schemas.openxmlformats.org/drawingml/2006/main" w="3810">
              <a:solidFill>
                <a:srgbClr val="FFFFFF"/>
              </a:solidFill>
            </a:ln>
          </c:spPr>
          <c:cat>
            <c:strRef>
              <c:f>'Chart Data'!$W$2:$W$25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Data'!$X$2:$X$25</c:f>
              <c:numCache>
                <c:formatCode>#,##0</c:formatCode>
                <c:ptCount val="24"/>
                <c:pt idx="0">
                  <c:v>0</c:v>
                </c:pt>
                <c:pt idx="1">
                  <c:v>0</c:v>
                </c:pt>
                <c:pt idx="2">
                  <c:v>0</c:v>
                </c:pt>
                <c:pt idx="3">
                  <c:v>0</c:v>
                </c:pt>
                <c:pt idx="4">
                  <c:v>0</c:v>
                </c:pt>
                <c:pt idx="5">
                  <c:v>0</c:v>
                </c:pt>
                <c:pt idx="6">
                  <c:v>0</c:v>
                </c:pt>
                <c:pt idx="7">
                  <c:v>0</c:v>
                </c:pt>
                <c:pt idx="8">
                  <c:v>0</c:v>
                </c:pt>
                <c:pt idx="9">
                  <c:v>0</c:v>
                </c:pt>
                <c:pt idx="10">
                  <c:v>0</c:v>
                </c:pt>
                <c:pt idx="11">
                  <c:v>240</c:v>
                </c:pt>
                <c:pt idx="12">
                  <c:v>194</c:v>
                </c:pt>
                <c:pt idx="13">
                  <c:v>175</c:v>
                </c:pt>
                <c:pt idx="14">
                  <c:v>150</c:v>
                </c:pt>
                <c:pt idx="15">
                  <c:v>136</c:v>
                </c:pt>
                <c:pt idx="16">
                  <c:v>129</c:v>
                </c:pt>
                <c:pt idx="17">
                  <c:v>120</c:v>
                </c:pt>
                <c:pt idx="18">
                  <c:v>114</c:v>
                </c:pt>
                <c:pt idx="19">
                  <c:v>106</c:v>
                </c:pt>
                <c:pt idx="20">
                  <c:v>101</c:v>
                </c:pt>
                <c:pt idx="21">
                  <c:v>99</c:v>
                </c:pt>
                <c:pt idx="22">
                  <c:v>93</c:v>
                </c:pt>
                <c:pt idx="23">
                  <c:v>92</c:v>
                </c:pt>
              </c:numCache>
            </c:numRef>
          </c:val>
        </c:ser>
        <c:ser>
          <c:idx val="12"/>
          <c:order val="12"/>
          <c:tx>
            <c:v>2025-01</c:v>
          </c:tx>
          <c:spPr>
            <a:solidFill xmlns:a="http://schemas.openxmlformats.org/drawingml/2006/main">
              <a:srgbClr val="6F527A"/>
            </a:solidFill>
            <a:ln xmlns:a="http://schemas.openxmlformats.org/drawingml/2006/main" w="3810">
              <a:solidFill>
                <a:srgbClr val="FFFFFF"/>
              </a:solidFill>
            </a:ln>
          </c:spPr>
          <c:cat>
            <c:strRef>
              <c:f>'Chart Data'!$Y$2:$Y$25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Data'!$Z$2:$Z$25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237</c:v>
                </c:pt>
                <c:pt idx="13">
                  <c:v>207</c:v>
                </c:pt>
                <c:pt idx="14">
                  <c:v>173</c:v>
                </c:pt>
                <c:pt idx="15">
                  <c:v>152</c:v>
                </c:pt>
                <c:pt idx="16">
                  <c:v>140</c:v>
                </c:pt>
                <c:pt idx="17">
                  <c:v>129</c:v>
                </c:pt>
                <c:pt idx="18">
                  <c:v>117</c:v>
                </c:pt>
                <c:pt idx="19">
                  <c:v>112</c:v>
                </c:pt>
                <c:pt idx="20">
                  <c:v>107</c:v>
                </c:pt>
                <c:pt idx="21">
                  <c:v>104</c:v>
                </c:pt>
                <c:pt idx="22">
                  <c:v>97</c:v>
                </c:pt>
                <c:pt idx="23">
                  <c:v>91</c:v>
                </c:pt>
              </c:numCache>
            </c:numRef>
          </c:val>
        </c:ser>
        <c:ser>
          <c:idx val="13"/>
          <c:order val="13"/>
          <c:tx>
            <c:v>2025-02</c:v>
          </c:tx>
          <c:spPr>
            <a:solidFill xmlns:a="http://schemas.openxmlformats.org/drawingml/2006/main">
              <a:srgbClr val="69547F"/>
            </a:solidFill>
            <a:ln xmlns:a="http://schemas.openxmlformats.org/drawingml/2006/main" w="3810">
              <a:solidFill>
                <a:srgbClr val="FFFFFF"/>
              </a:solidFill>
            </a:ln>
          </c:spPr>
          <c:cat>
            <c:strRef>
              <c:f>'Chart Data'!$AA$2:$AA$25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Data'!$AB$2:$AB$25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239</c:v>
                </c:pt>
                <c:pt idx="14">
                  <c:v>197</c:v>
                </c:pt>
                <c:pt idx="15">
                  <c:v>168</c:v>
                </c:pt>
                <c:pt idx="16">
                  <c:v>154</c:v>
                </c:pt>
                <c:pt idx="17">
                  <c:v>144</c:v>
                </c:pt>
                <c:pt idx="18">
                  <c:v>134</c:v>
                </c:pt>
                <c:pt idx="19">
                  <c:v>128</c:v>
                </c:pt>
                <c:pt idx="20">
                  <c:v>120</c:v>
                </c:pt>
                <c:pt idx="21">
                  <c:v>118</c:v>
                </c:pt>
                <c:pt idx="22">
                  <c:v>113</c:v>
                </c:pt>
                <c:pt idx="23">
                  <c:v>112</c:v>
                </c:pt>
              </c:numCache>
            </c:numRef>
          </c:val>
        </c:ser>
        <c:ser>
          <c:idx val="14"/>
          <c:order val="14"/>
          <c:tx>
            <c:v>2025-03</c:v>
          </c:tx>
          <c:spPr>
            <a:solidFill xmlns:a="http://schemas.openxmlformats.org/drawingml/2006/main">
              <a:srgbClr val="635583"/>
            </a:solidFill>
            <a:ln xmlns:a="http://schemas.openxmlformats.org/drawingml/2006/main" w="3810">
              <a:solidFill>
                <a:srgbClr val="FFFFFF"/>
              </a:solidFill>
            </a:ln>
          </c:spPr>
          <c:cat>
            <c:strRef>
              <c:f>'Chart Data'!$AC$2:$AC$25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Data'!$AD$2:$AD$25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247</c:v>
                </c:pt>
                <c:pt idx="15">
                  <c:v>209</c:v>
                </c:pt>
                <c:pt idx="16">
                  <c:v>184</c:v>
                </c:pt>
                <c:pt idx="17">
                  <c:v>170</c:v>
                </c:pt>
                <c:pt idx="18">
                  <c:v>157</c:v>
                </c:pt>
                <c:pt idx="19">
                  <c:v>151</c:v>
                </c:pt>
                <c:pt idx="20">
                  <c:v>140</c:v>
                </c:pt>
                <c:pt idx="21">
                  <c:v>135</c:v>
                </c:pt>
                <c:pt idx="22">
                  <c:v>125</c:v>
                </c:pt>
                <c:pt idx="23">
                  <c:v>120</c:v>
                </c:pt>
              </c:numCache>
            </c:numRef>
          </c:val>
        </c:ser>
        <c:ser>
          <c:idx val="15"/>
          <c:order val="15"/>
          <c:tx>
            <c:v>2025-04</c:v>
          </c:tx>
          <c:spPr>
            <a:solidFill xmlns:a="http://schemas.openxmlformats.org/drawingml/2006/main">
              <a:srgbClr val="5D5788"/>
            </a:solidFill>
            <a:ln xmlns:a="http://schemas.openxmlformats.org/drawingml/2006/main" w="3810">
              <a:solidFill>
                <a:srgbClr val="FFFFFF"/>
              </a:solidFill>
            </a:ln>
          </c:spPr>
          <c:cat>
            <c:strRef>
              <c:f>'Chart Data'!$AE$2:$AE$25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Data'!$AF$2:$AF$25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250</c:v>
                </c:pt>
                <c:pt idx="16">
                  <c:v>224</c:v>
                </c:pt>
                <c:pt idx="17">
                  <c:v>196</c:v>
                </c:pt>
                <c:pt idx="18">
                  <c:v>182</c:v>
                </c:pt>
                <c:pt idx="19">
                  <c:v>172</c:v>
                </c:pt>
                <c:pt idx="20">
                  <c:v>167</c:v>
                </c:pt>
                <c:pt idx="21">
                  <c:v>157</c:v>
                </c:pt>
                <c:pt idx="22">
                  <c:v>151</c:v>
                </c:pt>
                <c:pt idx="23">
                  <c:v>142</c:v>
                </c:pt>
              </c:numCache>
            </c:numRef>
          </c:val>
        </c:ser>
        <c:ser>
          <c:idx val="16"/>
          <c:order val="16"/>
          <c:tx>
            <c:v>2025-05</c:v>
          </c:tx>
          <c:spPr>
            <a:solidFill xmlns:a="http://schemas.openxmlformats.org/drawingml/2006/main">
              <a:srgbClr val="57588D"/>
            </a:solidFill>
            <a:ln xmlns:a="http://schemas.openxmlformats.org/drawingml/2006/main" w="3810">
              <a:solidFill>
                <a:srgbClr val="FFFFFF"/>
              </a:solidFill>
            </a:ln>
          </c:spPr>
          <c:cat>
            <c:strRef>
              <c:f>'Chart Data'!$AG$2:$AG$25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Data'!$AH$2:$AH$25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362</c:v>
                </c:pt>
                <c:pt idx="17">
                  <c:v>318</c:v>
                </c:pt>
                <c:pt idx="18">
                  <c:v>284</c:v>
                </c:pt>
                <c:pt idx="19">
                  <c:v>262</c:v>
                </c:pt>
                <c:pt idx="20">
                  <c:v>246</c:v>
                </c:pt>
                <c:pt idx="21">
                  <c:v>232</c:v>
                </c:pt>
                <c:pt idx="22">
                  <c:v>218</c:v>
                </c:pt>
                <c:pt idx="23">
                  <c:v>207</c:v>
                </c:pt>
              </c:numCache>
            </c:numRef>
          </c:val>
        </c:ser>
        <c:ser>
          <c:idx val="17"/>
          <c:order val="17"/>
          <c:tx>
            <c:v>2025-06</c:v>
          </c:tx>
          <c:spPr>
            <a:solidFill xmlns:a="http://schemas.openxmlformats.org/drawingml/2006/main">
              <a:srgbClr val="525A92"/>
            </a:solidFill>
            <a:ln xmlns:a="http://schemas.openxmlformats.org/drawingml/2006/main" w="3810">
              <a:solidFill>
                <a:srgbClr val="FFFFFF"/>
              </a:solidFill>
            </a:ln>
          </c:spPr>
          <c:cat>
            <c:strRef>
              <c:f>'Chart Data'!$AI$2:$AI$25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Data'!$AJ$2:$AJ$25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276</c:v>
                </c:pt>
                <c:pt idx="18">
                  <c:v>239</c:v>
                </c:pt>
                <c:pt idx="19">
                  <c:v>218</c:v>
                </c:pt>
                <c:pt idx="20">
                  <c:v>192</c:v>
                </c:pt>
                <c:pt idx="21">
                  <c:v>180</c:v>
                </c:pt>
                <c:pt idx="22">
                  <c:v>168</c:v>
                </c:pt>
                <c:pt idx="23">
                  <c:v>160</c:v>
                </c:pt>
              </c:numCache>
            </c:numRef>
          </c:val>
        </c:ser>
        <c:ser>
          <c:idx val="18"/>
          <c:order val="18"/>
          <c:tx>
            <c:v>2025-07</c:v>
          </c:tx>
          <c:spPr>
            <a:solidFill xmlns:a="http://schemas.openxmlformats.org/drawingml/2006/main">
              <a:srgbClr val="4C5B96"/>
            </a:solidFill>
            <a:ln xmlns:a="http://schemas.openxmlformats.org/drawingml/2006/main" w="3810">
              <a:solidFill>
                <a:srgbClr val="FFFFFF"/>
              </a:solidFill>
            </a:ln>
          </c:spPr>
          <c:cat>
            <c:strRef>
              <c:f>'Chart Data'!$AK$2:$AK$25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Data'!$AL$2:$AL$25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266</c:v>
                </c:pt>
                <c:pt idx="19">
                  <c:v>246</c:v>
                </c:pt>
                <c:pt idx="20">
                  <c:v>219</c:v>
                </c:pt>
                <c:pt idx="21">
                  <c:v>202</c:v>
                </c:pt>
                <c:pt idx="22">
                  <c:v>189</c:v>
                </c:pt>
                <c:pt idx="23">
                  <c:v>176</c:v>
                </c:pt>
              </c:numCache>
            </c:numRef>
          </c:val>
        </c:ser>
        <c:ser>
          <c:idx val="19"/>
          <c:order val="19"/>
          <c:tx>
            <c:v>2025-08</c:v>
          </c:tx>
          <c:spPr>
            <a:solidFill xmlns:a="http://schemas.openxmlformats.org/drawingml/2006/main">
              <a:srgbClr val="465D9B"/>
            </a:solidFill>
            <a:ln xmlns:a="http://schemas.openxmlformats.org/drawingml/2006/main" w="3810">
              <a:solidFill>
                <a:srgbClr val="FFFFFF"/>
              </a:solidFill>
            </a:ln>
          </c:spPr>
          <c:cat>
            <c:strRef>
              <c:f>'Chart Data'!$AM$2:$AM$25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Data'!$AN$2:$AN$25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283</c:v>
                </c:pt>
                <c:pt idx="20">
                  <c:v>255</c:v>
                </c:pt>
                <c:pt idx="21">
                  <c:v>245</c:v>
                </c:pt>
                <c:pt idx="22">
                  <c:v>234</c:v>
                </c:pt>
                <c:pt idx="23">
                  <c:v>222</c:v>
                </c:pt>
              </c:numCache>
            </c:numRef>
          </c:val>
        </c:ser>
        <c:ser>
          <c:idx val="20"/>
          <c:order val="20"/>
          <c:tx>
            <c:v>2025-09</c:v>
          </c:tx>
          <c:spPr>
            <a:solidFill xmlns:a="http://schemas.openxmlformats.org/drawingml/2006/main">
              <a:srgbClr val="405EA0"/>
            </a:solidFill>
            <a:ln xmlns:a="http://schemas.openxmlformats.org/drawingml/2006/main" w="3810">
              <a:solidFill>
                <a:srgbClr val="FFFFFF"/>
              </a:solidFill>
            </a:ln>
          </c:spPr>
          <c:cat>
            <c:strRef>
              <c:f>'Chart Data'!$AO$2:$AO$25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Data'!$AP$2:$AP$25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361</c:v>
                </c:pt>
                <c:pt idx="21">
                  <c:v>321</c:v>
                </c:pt>
                <c:pt idx="22">
                  <c:v>297</c:v>
                </c:pt>
                <c:pt idx="23">
                  <c:v>274</c:v>
                </c:pt>
              </c:numCache>
            </c:numRef>
          </c:val>
        </c:ser>
        <c:ser>
          <c:idx val="21"/>
          <c:order val="21"/>
          <c:tx>
            <c:v>2025-10</c:v>
          </c:tx>
          <c:spPr>
            <a:solidFill xmlns:a="http://schemas.openxmlformats.org/drawingml/2006/main">
              <a:srgbClr val="3B60A5"/>
            </a:solidFill>
            <a:ln xmlns:a="http://schemas.openxmlformats.org/drawingml/2006/main" w="3810">
              <a:solidFill>
                <a:srgbClr val="FFFFFF"/>
              </a:solidFill>
            </a:ln>
          </c:spPr>
          <c:cat>
            <c:strRef>
              <c:f>'Chart Data'!$AQ$2:$AQ$25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Data'!$AR$2:$AR$25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276</c:v>
                </c:pt>
                <c:pt idx="22">
                  <c:v>247</c:v>
                </c:pt>
                <c:pt idx="23">
                  <c:v>232</c:v>
                </c:pt>
              </c:numCache>
            </c:numRef>
          </c:val>
        </c:ser>
        <c:ser>
          <c:idx val="22"/>
          <c:order val="22"/>
          <c:tx>
            <c:v>2025-11</c:v>
          </c:tx>
          <c:spPr>
            <a:solidFill xmlns:a="http://schemas.openxmlformats.org/drawingml/2006/main">
              <a:srgbClr val="3561A9"/>
            </a:solidFill>
            <a:ln xmlns:a="http://schemas.openxmlformats.org/drawingml/2006/main" w="3810">
              <a:solidFill>
                <a:srgbClr val="FFFFFF"/>
              </a:solidFill>
            </a:ln>
          </c:spPr>
          <c:cat>
            <c:strRef>
              <c:f>'Chart Data'!$AS$2:$AS$25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Data'!$AT$2:$AT$25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302</c:v>
                </c:pt>
                <c:pt idx="23">
                  <c:v>270</c:v>
                </c:pt>
              </c:numCache>
            </c:numRef>
          </c:val>
        </c:ser>
        <c:ser>
          <c:idx val="23"/>
          <c:order val="23"/>
          <c:tx>
            <c:v>2025-12</c:v>
          </c:tx>
          <c:spPr>
            <a:solidFill xmlns:a="http://schemas.openxmlformats.org/drawingml/2006/main">
              <a:srgbClr val="2F63AE"/>
            </a:solidFill>
            <a:ln xmlns:a="http://schemas.openxmlformats.org/drawingml/2006/main" w="3810">
              <a:solidFill>
                <a:srgbClr val="FFFFFF"/>
              </a:solidFill>
            </a:ln>
          </c:spPr>
          <c:cat>
            <c:strRef>
              <c:f>'Chart Data'!$AU$2:$AU$25</c:f>
              <c:strCache>
                <c:ptCount val="24"/>
                <c:pt idx="0">
                  <c:v>24-01</c:v>
                </c:pt>
                <c:pt idx="1">
                  <c:v>24-02</c:v>
                </c:pt>
                <c:pt idx="2">
                  <c:v>24-03</c:v>
                </c:pt>
                <c:pt idx="3">
                  <c:v>24-04</c:v>
                </c:pt>
                <c:pt idx="4">
                  <c:v>24-05</c:v>
                </c:pt>
                <c:pt idx="5">
                  <c:v>24-06</c:v>
                </c:pt>
                <c:pt idx="6">
                  <c:v>24-07</c:v>
                </c:pt>
                <c:pt idx="7">
                  <c:v>24-08</c:v>
                </c:pt>
                <c:pt idx="8">
                  <c:v>24-09</c:v>
                </c:pt>
                <c:pt idx="9">
                  <c:v>24-10</c:v>
                </c:pt>
                <c:pt idx="10">
                  <c:v>24-11</c:v>
                </c:pt>
                <c:pt idx="11">
                  <c:v>24-12</c:v>
                </c:pt>
                <c:pt idx="12">
                  <c:v>25-01</c:v>
                </c:pt>
                <c:pt idx="13">
                  <c:v>25-02</c:v>
                </c:pt>
                <c:pt idx="14">
                  <c:v>25-03</c:v>
                </c:pt>
                <c:pt idx="15">
                  <c:v>25-04</c:v>
                </c:pt>
                <c:pt idx="16">
                  <c:v>25-05</c:v>
                </c:pt>
                <c:pt idx="17">
                  <c:v>25-06</c:v>
                </c:pt>
                <c:pt idx="18">
                  <c:v>25-07</c:v>
                </c:pt>
                <c:pt idx="19">
                  <c:v>25-08</c:v>
                </c:pt>
                <c:pt idx="20">
                  <c:v>25-09</c:v>
                </c:pt>
                <c:pt idx="21">
                  <c:v>25-10</c:v>
                </c:pt>
                <c:pt idx="22">
                  <c:v>25-11</c:v>
                </c:pt>
                <c:pt idx="23">
                  <c:v>25-12</c:v>
                </c:pt>
              </c:strCache>
            </c:strRef>
          </c:cat>
          <c:val>
            <c:numRef>
              <c:f>'Chart Data'!$AV$2:$AV$25</c:f>
              <c:numCache>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293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areaChart>
      <c:catAx>
        <c:axId val="48650112"/>
        <c:scaling>
          <c:orientation val="minMax"/>
        </c:scaling>
        <c:delete val="0"/>
        <c:axPos val="b"/>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Calendar month</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General"/>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1125">
                <a:solidFill>
                  <a:srgbClr val="687780"/>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7EDF0"/>
              </a:solidFill>
            </a:ln>
          </c:spPr>
        </c:majorGridlines>
        <c:title>
          <c:tx>
            <c:rich>
              <a:bodyPr xmlns:a="http://schemas.openxmlformats.org/drawingml/2006/main"/>
              <a:lstStyle xmlns:a="http://schemas.openxmlformats.org/drawingml/2006/main"/>
              <a:p xmlns:a="http://schemas.openxmlformats.org/drawingml/2006/main">
                <a:r>
                  <a:rPr sz="1200">
                    <a:solidFill>
                      <a:srgbClr val="172D3C"/>
                    </a:solidFill>
                    <a:latin typeface="Arial"/>
                    <a:ea typeface="Arial"/>
                    <a:cs typeface="Arial"/>
                  </a:rPr>
                  <a:t>Retained subscribers</a:t>
                </a:r>
              </a:p>
            </c:rich>
          </c:tx>
          <c:overlay val="0"/>
          <c:txPr>
            <a:bodyPr xmlns:a="http://schemas.openxmlformats.org/drawingml/2006/main" anchorCtr="1"/>
            <a:lstStyle xmlns:a="http://schemas.openxmlformats.org/drawingml/2006/main"/>
            <a:p xmlns:a="http://schemas.openxmlformats.org/drawingml/2006/main">
              <a:pPr>
                <a:defRPr sz="1200">
                  <a:solidFill>
                    <a:srgbClr val="172D3C"/>
                  </a:solidFill>
                  <a:latin typeface="Arial"/>
                  <a:ea typeface="Arial"/>
                  <a:cs typeface="Arial"/>
                </a:defRPr>
              </a:pPr>
            </a:p>
          </c:txPr>
        </c:title>
        <c:numFmt formatCode="#,##0"/>
        <c:majorTickMark val="none"/>
        <c:minorTickMark val="none"/>
        <c:spPr>
          <a:ln xmlns:a="http://schemas.openxmlformats.org/drawingml/2006/main" w="9525">
            <a:solidFill>
              <a:srgbClr val="D3DFE4"/>
            </a:solidFill>
          </a:ln>
        </c:spPr>
        <c:txPr>
          <a:bodyPr xmlns:a="http://schemas.openxmlformats.org/drawingml/2006/main" anchorCtr="1"/>
          <a:lstStyle xmlns:a="http://schemas.openxmlformats.org/drawingml/2006/main"/>
          <a:p xmlns:a="http://schemas.openxmlformats.org/drawingml/2006/main">
            <a:pPr>
              <a:defRPr sz="1125">
                <a:solidFill>
                  <a:srgbClr val="687780"/>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25BB338-CBE5-4937-8E52-CA65E96C2DF5}"/>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BA9DF5-1467-4B8B-81DF-D848D2AA9A72}"/>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Studio North: customer economics lab</a:t>
            </a:r>
          </a:p>
        </p:txBody>
      </p:sp>
      <p:sp>
        <p:nvSpPr>
          <p:cNvPr id="3" name="">
            <a:extLst xmlns:a="http://schemas.openxmlformats.org/drawingml/2006/main">
              <a:ext uri="{FF2B5EF4-FFF2-40B4-BE49-F238E27FC236}">
                <a16:creationId xmlns:a16="http://schemas.microsoft.com/office/drawing/2014/main" id="{A5C1984F-0284-45FE-97B7-772B7B40D946}"/>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087F8C"/>
                </a:solidFill>
                <a:latin typeface="Arial"/>
                <a:ea typeface="Arial"/>
                <a:cs typeface="Arial"/>
              </a:defRPr>
            </a:defPPr>
            <a:lvl1pPr>
              <a:defRPr sz="900" b="1">
                <a:solidFill>
                  <a:srgbClr val="087F8C"/>
                </a:solidFill>
                <a:latin typeface="Arial"/>
                <a:ea typeface="Arial"/>
                <a:cs typeface="Arial"/>
              </a:defRPr>
            </a:lvl1pPr>
            <a:lvl2pPr>
              <a:defRPr sz="900" b="1">
                <a:solidFill>
                  <a:srgbClr val="087F8C"/>
                </a:solidFill>
                <a:latin typeface="Arial"/>
                <a:ea typeface="Arial"/>
                <a:cs typeface="Arial"/>
              </a:defRPr>
            </a:lvl2pPr>
            <a:lvl3pPr>
              <a:defRPr sz="900" b="1">
                <a:solidFill>
                  <a:srgbClr val="087F8C"/>
                </a:solidFill>
                <a:latin typeface="Arial"/>
                <a:ea typeface="Arial"/>
                <a:cs typeface="Arial"/>
              </a:defRPr>
            </a:lvl3pPr>
            <a:lvl4pPr>
              <a:defRPr sz="900" b="1">
                <a:solidFill>
                  <a:srgbClr val="087F8C"/>
                </a:solidFill>
                <a:latin typeface="Arial"/>
                <a:ea typeface="Arial"/>
                <a:cs typeface="Arial"/>
              </a:defRPr>
            </a:lvl4pPr>
            <a:lvl5pPr>
              <a:defRPr sz="900" b="1">
                <a:solidFill>
                  <a:srgbClr val="087F8C"/>
                </a:solidFill>
                <a:latin typeface="Arial"/>
                <a:ea typeface="Arial"/>
                <a:cs typeface="Arial"/>
              </a:defRPr>
            </a:lvl5pPr>
            <a:lvl6pPr>
              <a:defRPr sz="900" b="1">
                <a:solidFill>
                  <a:srgbClr val="087F8C"/>
                </a:solidFill>
                <a:latin typeface="Arial"/>
                <a:ea typeface="Arial"/>
                <a:cs typeface="Arial"/>
              </a:defRPr>
            </a:lvl6pPr>
            <a:lvl7pPr>
              <a:defRPr sz="900" b="1">
                <a:solidFill>
                  <a:srgbClr val="087F8C"/>
                </a:solidFill>
                <a:latin typeface="Arial"/>
                <a:ea typeface="Arial"/>
                <a:cs typeface="Arial"/>
              </a:defRPr>
            </a:lvl7pPr>
            <a:lvl8pPr>
              <a:defRPr sz="900" b="1">
                <a:solidFill>
                  <a:srgbClr val="087F8C"/>
                </a:solidFill>
                <a:latin typeface="Arial"/>
                <a:ea typeface="Arial"/>
                <a:cs typeface="Arial"/>
              </a:defRPr>
            </a:lvl8pPr>
            <a:lvl9pPr>
              <a:defRPr sz="900" b="1">
                <a:solidFill>
                  <a:srgbClr val="087F8C"/>
                </a:solidFill>
                <a:latin typeface="Arial"/>
                <a:ea typeface="Arial"/>
                <a:cs typeface="Arial"/>
              </a:defRPr>
            </a:lvl9pPr>
          </a:lstStyle>
          <a:p xmlns:a="http://schemas.openxmlformats.org/drawingml/2006/main">
            <a:pPr>
              <a:defRPr sz="900" b="1">
                <a:solidFill>
                  <a:srgbClr val="087F8C"/>
                </a:solidFill>
                <a:latin typeface="Arial"/>
                <a:ea typeface="Arial"/>
                <a:cs typeface="Arial"/>
              </a:defRPr>
            </a:pPr>
            <a:r>
              <a:rPr sz="900" b="1">
                <a:solidFill>
                  <a:srgbClr val="087F8C"/>
                </a:solidFill>
                <a:latin typeface="Arial"/>
                <a:ea typeface="Arial"/>
                <a:cs typeface="Arial"/>
              </a:rPr>
              <a:t>AI + SQL · 80 MINUTES</a:t>
            </a:r>
          </a:p>
        </p:txBody>
      </p:sp>
      <p:sp>
        <p:nvSpPr>
          <p:cNvPr id="4" name="">
            <a:extLst xmlns:a="http://schemas.openxmlformats.org/drawingml/2006/main">
              <a:ext uri="{FF2B5EF4-FFF2-40B4-BE49-F238E27FC236}">
                <a16:creationId xmlns:a16="http://schemas.microsoft.com/office/drawing/2014/main" id="{30FB14E5-2BE9-49AD-A2A3-CAB78F915BC6}"/>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3D166F3C-2609-40C9-B71B-805DB199078B}"/>
              </a:ext>
            </a:extLst>
          </p:cNvPr>
          <p:cNvSpPr>
            <a:spLocks xmlns:a="http://schemas.openxmlformats.org/drawingml/2006/main" noGrp="1"/>
          </p:cNvSpPr>
          <p:nvPr/>
        </p:nvSpPr>
        <p:spPr>
          <a:xfrm xmlns:a="http://schemas.openxmlformats.org/drawingml/2006/main">
            <a:off x="609600" y="1571625"/>
            <a:ext cx="619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3450" b="1">
                <a:solidFill>
                  <a:srgbClr val="172D3C"/>
                </a:solidFill>
                <a:latin typeface="Arial"/>
                <a:ea typeface="Arial"/>
                <a:cs typeface="Arial"/>
              </a:defRPr>
            </a:defPPr>
            <a:lvl1pPr>
              <a:defRPr sz="3450" b="1">
                <a:solidFill>
                  <a:srgbClr val="172D3C"/>
                </a:solidFill>
                <a:latin typeface="Arial"/>
                <a:ea typeface="Arial"/>
                <a:cs typeface="Arial"/>
              </a:defRPr>
            </a:lvl1pPr>
            <a:lvl2pPr>
              <a:defRPr sz="3450" b="1">
                <a:solidFill>
                  <a:srgbClr val="172D3C"/>
                </a:solidFill>
                <a:latin typeface="Arial"/>
                <a:ea typeface="Arial"/>
                <a:cs typeface="Arial"/>
              </a:defRPr>
            </a:lvl2pPr>
            <a:lvl3pPr>
              <a:defRPr sz="3450" b="1">
                <a:solidFill>
                  <a:srgbClr val="172D3C"/>
                </a:solidFill>
                <a:latin typeface="Arial"/>
                <a:ea typeface="Arial"/>
                <a:cs typeface="Arial"/>
              </a:defRPr>
            </a:lvl3pPr>
            <a:lvl4pPr>
              <a:defRPr sz="3450" b="1">
                <a:solidFill>
                  <a:srgbClr val="172D3C"/>
                </a:solidFill>
                <a:latin typeface="Arial"/>
                <a:ea typeface="Arial"/>
                <a:cs typeface="Arial"/>
              </a:defRPr>
            </a:lvl4pPr>
            <a:lvl5pPr>
              <a:defRPr sz="3450" b="1">
                <a:solidFill>
                  <a:srgbClr val="172D3C"/>
                </a:solidFill>
                <a:latin typeface="Arial"/>
                <a:ea typeface="Arial"/>
                <a:cs typeface="Arial"/>
              </a:defRPr>
            </a:lvl5pPr>
            <a:lvl6pPr>
              <a:defRPr sz="3450" b="1">
                <a:solidFill>
                  <a:srgbClr val="172D3C"/>
                </a:solidFill>
                <a:latin typeface="Arial"/>
                <a:ea typeface="Arial"/>
                <a:cs typeface="Arial"/>
              </a:defRPr>
            </a:lvl6pPr>
            <a:lvl7pPr>
              <a:defRPr sz="3450" b="1">
                <a:solidFill>
                  <a:srgbClr val="172D3C"/>
                </a:solidFill>
                <a:latin typeface="Arial"/>
                <a:ea typeface="Arial"/>
                <a:cs typeface="Arial"/>
              </a:defRPr>
            </a:lvl7pPr>
            <a:lvl8pPr>
              <a:defRPr sz="3450" b="1">
                <a:solidFill>
                  <a:srgbClr val="172D3C"/>
                </a:solidFill>
                <a:latin typeface="Arial"/>
                <a:ea typeface="Arial"/>
                <a:cs typeface="Arial"/>
              </a:defRPr>
            </a:lvl8pPr>
            <a:lvl9pPr>
              <a:defRPr sz="3450" b="1">
                <a:solidFill>
                  <a:srgbClr val="172D3C"/>
                </a:solidFill>
                <a:latin typeface="Arial"/>
                <a:ea typeface="Arial"/>
                <a:cs typeface="Arial"/>
              </a:defRPr>
            </a:lvl9pPr>
          </a:lstStyle>
          <a:p xmlns:a="http://schemas.openxmlformats.org/drawingml/2006/main">
            <a:pPr>
              <a:defRPr sz="3450" b="1">
                <a:solidFill>
                  <a:srgbClr val="172D3C"/>
                </a:solidFill>
                <a:latin typeface="Arial"/>
                <a:ea typeface="Arial"/>
                <a:cs typeface="Arial"/>
              </a:defRPr>
            </a:pPr>
            <a:r>
              <a:rPr sz="3450" b="1">
                <a:solidFill>
                  <a:srgbClr val="172D3C"/>
                </a:solidFill>
                <a:latin typeface="Arial"/>
                <a:ea typeface="Arial"/>
                <a:cs typeface="Arial"/>
              </a:rPr>
              <a:t>Are we moving in the right</a:t>
            </a:r>
          </a:p>
          <a:p xmlns:a="http://schemas.openxmlformats.org/drawingml/2006/main">
            <a:pPr>
              <a:defRPr sz="3450" b="1">
                <a:solidFill>
                  <a:srgbClr val="172D3C"/>
                </a:solidFill>
                <a:latin typeface="Arial"/>
                <a:ea typeface="Arial"/>
                <a:cs typeface="Arial"/>
              </a:defRPr>
            </a:pPr>
            <a:r>
              <a:rPr sz="3450" b="1">
                <a:solidFill>
                  <a:srgbClr val="172D3C"/>
                </a:solidFill>
                <a:latin typeface="Arial"/>
                <a:ea typeface="Arial"/>
                <a:cs typeface="Arial"/>
              </a:rPr>
              <a:t>direction as a company?</a:t>
            </a:r>
          </a:p>
        </p:txBody>
      </p:sp>
      <p:sp>
        <p:nvSpPr>
          <p:cNvPr id="6" name="">
            <a:extLst xmlns:a="http://schemas.openxmlformats.org/drawingml/2006/main">
              <a:ext uri="{FF2B5EF4-FFF2-40B4-BE49-F238E27FC236}">
                <a16:creationId xmlns:a16="http://schemas.microsoft.com/office/drawing/2014/main" id="{6FC931F5-98D0-4332-A795-0DEF023CFFE6}"/>
              </a:ext>
            </a:extLst>
          </p:cNvPr>
          <p:cNvSpPr>
            <a:spLocks xmlns:a="http://schemas.openxmlformats.org/drawingml/2006/main" noGrp="1"/>
          </p:cNvSpPr>
          <p:nvPr/>
        </p:nvSpPr>
        <p:spPr>
          <a:xfrm xmlns:a="http://schemas.openxmlformats.org/drawingml/2006/main">
            <a:off x="638175" y="3257550"/>
            <a:ext cx="6191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xmlns:a="http://schemas.openxmlformats.org/drawingml/2006/main">
            <a:pPr>
              <a:defRPr sz="1725" b="1">
                <a:solidFill>
                  <a:srgbClr val="087F8C"/>
                </a:solidFill>
                <a:latin typeface="Arial"/>
                <a:ea typeface="Arial"/>
                <a:cs typeface="Arial"/>
              </a:defRPr>
            </a:pPr>
            <a:r>
              <a:rPr sz="1725" b="1">
                <a:solidFill>
                  <a:srgbClr val="087F8C"/>
                </a:solidFill>
                <a:latin typeface="Arial"/>
                <a:ea typeface="Arial"/>
                <a:cs typeface="Arial"/>
              </a:rPr>
              <a:t>Compare acquisition efficiency, contribution value and cash recovery across cohorts.</a:t>
            </a:r>
          </a:p>
        </p:txBody>
      </p:sp>
      <p:sp>
        <p:nvSpPr>
          <p:cNvPr id="7" name="">
            <a:extLst xmlns:a="http://schemas.openxmlformats.org/drawingml/2006/main">
              <a:ext uri="{FF2B5EF4-FFF2-40B4-BE49-F238E27FC236}">
                <a16:creationId xmlns:a16="http://schemas.microsoft.com/office/drawing/2014/main" id="{79984CB8-0771-4C37-8DE0-AC6E1CF9ED4B}"/>
              </a:ext>
            </a:extLst>
          </p:cNvPr>
          <p:cNvSpPr>
            <a:spLocks xmlns:a="http://schemas.openxmlformats.org/drawingml/2006/main" noGrp="1"/>
          </p:cNvSpPr>
          <p:nvPr/>
        </p:nvSpPr>
        <p:spPr>
          <a:xfrm xmlns:a="http://schemas.openxmlformats.org/drawingml/2006/main">
            <a:off x="638175" y="4057650"/>
            <a:ext cx="619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172D3C"/>
                </a:solidFill>
                <a:latin typeface="Arial"/>
                <a:ea typeface="Arial"/>
                <a:cs typeface="Arial"/>
              </a:defRPr>
            </a:defPPr>
            <a:lvl1pPr>
              <a:defRPr sz="1575" b="0">
                <a:solidFill>
                  <a:srgbClr val="172D3C"/>
                </a:solidFill>
                <a:latin typeface="Arial"/>
                <a:ea typeface="Arial"/>
                <a:cs typeface="Arial"/>
              </a:defRPr>
            </a:lvl1pPr>
            <a:lvl2pPr>
              <a:defRPr sz="1575" b="0">
                <a:solidFill>
                  <a:srgbClr val="172D3C"/>
                </a:solidFill>
                <a:latin typeface="Arial"/>
                <a:ea typeface="Arial"/>
                <a:cs typeface="Arial"/>
              </a:defRPr>
            </a:lvl2pPr>
            <a:lvl3pPr>
              <a:defRPr sz="1575" b="0">
                <a:solidFill>
                  <a:srgbClr val="172D3C"/>
                </a:solidFill>
                <a:latin typeface="Arial"/>
                <a:ea typeface="Arial"/>
                <a:cs typeface="Arial"/>
              </a:defRPr>
            </a:lvl3pPr>
            <a:lvl4pPr>
              <a:defRPr sz="1575" b="0">
                <a:solidFill>
                  <a:srgbClr val="172D3C"/>
                </a:solidFill>
                <a:latin typeface="Arial"/>
                <a:ea typeface="Arial"/>
                <a:cs typeface="Arial"/>
              </a:defRPr>
            </a:lvl4pPr>
            <a:lvl5pPr>
              <a:defRPr sz="1575" b="0">
                <a:solidFill>
                  <a:srgbClr val="172D3C"/>
                </a:solidFill>
                <a:latin typeface="Arial"/>
                <a:ea typeface="Arial"/>
                <a:cs typeface="Arial"/>
              </a:defRPr>
            </a:lvl5pPr>
            <a:lvl6pPr>
              <a:defRPr sz="1575" b="0">
                <a:solidFill>
                  <a:srgbClr val="172D3C"/>
                </a:solidFill>
                <a:latin typeface="Arial"/>
                <a:ea typeface="Arial"/>
                <a:cs typeface="Arial"/>
              </a:defRPr>
            </a:lvl6pPr>
            <a:lvl7pPr>
              <a:defRPr sz="1575" b="0">
                <a:solidFill>
                  <a:srgbClr val="172D3C"/>
                </a:solidFill>
                <a:latin typeface="Arial"/>
                <a:ea typeface="Arial"/>
                <a:cs typeface="Arial"/>
              </a:defRPr>
            </a:lvl7pPr>
            <a:lvl8pPr>
              <a:defRPr sz="1575" b="0">
                <a:solidFill>
                  <a:srgbClr val="172D3C"/>
                </a:solidFill>
                <a:latin typeface="Arial"/>
                <a:ea typeface="Arial"/>
                <a:cs typeface="Arial"/>
              </a:defRPr>
            </a:lvl8pPr>
            <a:lvl9pPr>
              <a:defRPr sz="1575" b="0">
                <a:solidFill>
                  <a:srgbClr val="172D3C"/>
                </a:solidFill>
                <a:latin typeface="Arial"/>
                <a:ea typeface="Arial"/>
                <a:cs typeface="Arial"/>
              </a:defRPr>
            </a:lvl9pPr>
          </a:lstStyle>
          <a:p xmlns:a="http://schemas.openxmlformats.org/drawingml/2006/main">
            <a:pPr>
              <a:defRPr sz="1575" b="0">
                <a:solidFill>
                  <a:srgbClr val="172D3C"/>
                </a:solidFill>
                <a:latin typeface="Arial"/>
                <a:ea typeface="Arial"/>
                <a:cs typeface="Arial"/>
              </a:defRPr>
            </a:pPr>
            <a:r>
              <a:rPr sz="1575" b="0">
                <a:solidFill>
                  <a:srgbClr val="172D3C"/>
                </a:solidFill>
                <a:latin typeface="Arial"/>
                <a:ea typeface="Arial"/>
                <a:cs typeface="Arial"/>
              </a:rPr>
              <a:t>A monthly creative-work membership for independent professionals: templates save time, guided learning builds skills, and workshops add value.</a:t>
            </a:r>
          </a:p>
        </p:txBody>
      </p:sp>
      <p:sp>
        <p:nvSpPr>
          <p:cNvPr id="8" name="">
            <a:extLst xmlns:a="http://schemas.openxmlformats.org/drawingml/2006/main">
              <a:ext uri="{FF2B5EF4-FFF2-40B4-BE49-F238E27FC236}">
                <a16:creationId xmlns:a16="http://schemas.microsoft.com/office/drawing/2014/main" id="{CAA0F01B-69EC-41A6-97EE-F783602CA2E1}"/>
              </a:ext>
            </a:extLst>
          </p:cNvPr>
          <p:cNvSpPr>
            <a:spLocks xmlns:a="http://schemas.openxmlformats.org/drawingml/2006/main" noGrp="1"/>
          </p:cNvSpPr>
          <p:nvPr/>
        </p:nvSpPr>
        <p:spPr>
          <a:xfrm xmlns:a="http://schemas.openxmlformats.org/drawingml/2006/main">
            <a:off x="638175" y="5095875"/>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275" b="0">
                <a:solidFill>
                  <a:srgbClr val="687780"/>
                </a:solidFill>
                <a:latin typeface="Arial"/>
                <a:ea typeface="Arial"/>
                <a:cs typeface="Arial"/>
              </a:defRPr>
            </a:defPPr>
            <a:lvl1pPr>
              <a:defRPr sz="1275" b="0">
                <a:solidFill>
                  <a:srgbClr val="687780"/>
                </a:solidFill>
                <a:latin typeface="Arial"/>
                <a:ea typeface="Arial"/>
                <a:cs typeface="Arial"/>
              </a:defRPr>
            </a:lvl1pPr>
            <a:lvl2pPr>
              <a:defRPr sz="1275" b="0">
                <a:solidFill>
                  <a:srgbClr val="687780"/>
                </a:solidFill>
                <a:latin typeface="Arial"/>
                <a:ea typeface="Arial"/>
                <a:cs typeface="Arial"/>
              </a:defRPr>
            </a:lvl2pPr>
            <a:lvl3pPr>
              <a:defRPr sz="1275" b="0">
                <a:solidFill>
                  <a:srgbClr val="687780"/>
                </a:solidFill>
                <a:latin typeface="Arial"/>
                <a:ea typeface="Arial"/>
                <a:cs typeface="Arial"/>
              </a:defRPr>
            </a:lvl3pPr>
            <a:lvl4pPr>
              <a:defRPr sz="1275" b="0">
                <a:solidFill>
                  <a:srgbClr val="687780"/>
                </a:solidFill>
                <a:latin typeface="Arial"/>
                <a:ea typeface="Arial"/>
                <a:cs typeface="Arial"/>
              </a:defRPr>
            </a:lvl4pPr>
            <a:lvl5pPr>
              <a:defRPr sz="1275" b="0">
                <a:solidFill>
                  <a:srgbClr val="687780"/>
                </a:solidFill>
                <a:latin typeface="Arial"/>
                <a:ea typeface="Arial"/>
                <a:cs typeface="Arial"/>
              </a:defRPr>
            </a:lvl5pPr>
            <a:lvl6pPr>
              <a:defRPr sz="1275" b="0">
                <a:solidFill>
                  <a:srgbClr val="687780"/>
                </a:solidFill>
                <a:latin typeface="Arial"/>
                <a:ea typeface="Arial"/>
                <a:cs typeface="Arial"/>
              </a:defRPr>
            </a:lvl6pPr>
            <a:lvl7pPr>
              <a:defRPr sz="1275" b="0">
                <a:solidFill>
                  <a:srgbClr val="687780"/>
                </a:solidFill>
                <a:latin typeface="Arial"/>
                <a:ea typeface="Arial"/>
                <a:cs typeface="Arial"/>
              </a:defRPr>
            </a:lvl7pPr>
            <a:lvl8pPr>
              <a:defRPr sz="1275" b="0">
                <a:solidFill>
                  <a:srgbClr val="687780"/>
                </a:solidFill>
                <a:latin typeface="Arial"/>
                <a:ea typeface="Arial"/>
                <a:cs typeface="Arial"/>
              </a:defRPr>
            </a:lvl8pPr>
            <a:lvl9pPr>
              <a:defRPr sz="1275" b="0">
                <a:solidFill>
                  <a:srgbClr val="687780"/>
                </a:solidFill>
                <a:latin typeface="Arial"/>
                <a:ea typeface="Arial"/>
                <a:cs typeface="Arial"/>
              </a:defRPr>
            </a:lvl9pPr>
          </a:lstStyle>
          <a:p xmlns:a="http://schemas.openxmlformats.org/drawingml/2006/main">
            <a:pPr>
              <a:defRPr sz="1275" b="0">
                <a:solidFill>
                  <a:srgbClr val="687780"/>
                </a:solidFill>
                <a:latin typeface="Arial"/>
                <a:ea typeface="Arial"/>
                <a:cs typeface="Arial"/>
              </a:defRPr>
            </a:pPr>
            <a:r>
              <a:rPr sz="1275" b="0">
                <a:solidFill>
                  <a:srgbClr val="687780"/>
                </a:solidFill>
                <a:latin typeface="Arial"/>
                <a:ea typeface="Arial"/>
                <a:cs typeface="Arial"/>
              </a:rPr>
              <a:t>24 joining cohorts: January 2024–December 2025.</a:t>
            </a:r>
          </a:p>
          <a:p xmlns:a="http://schemas.openxmlformats.org/drawingml/2006/main">
            <a:pPr>
              <a:defRPr sz="1275" b="0">
                <a:solidFill>
                  <a:srgbClr val="687780"/>
                </a:solidFill>
                <a:latin typeface="Arial"/>
                <a:ea typeface="Arial"/>
                <a:cs typeface="Arial"/>
              </a:defRPr>
            </a:pPr>
            <a:r>
              <a:rPr sz="1275" b="0">
                <a:solidFill>
                  <a:srgbClr val="687780"/>
                </a:solidFill>
                <a:latin typeface="Arial"/>
                <a:ea typeface="Arial"/>
                <a:cs typeface="Arial"/>
              </a:rPr>
              <a:t>Monthly renewals; cutoff January 1, 2026 (exclusive).</a:t>
            </a:r>
          </a:p>
        </p:txBody>
      </p:sp>
      <p:sp>
        <p:nvSpPr>
          <p:cNvPr id="9" name="">
            <a:extLst xmlns:a="http://schemas.openxmlformats.org/drawingml/2006/main">
              <a:ext uri="{FF2B5EF4-FFF2-40B4-BE49-F238E27FC236}">
                <a16:creationId xmlns:a16="http://schemas.microsoft.com/office/drawing/2014/main" id="{0BE4723F-1A48-432C-918F-881F42D13A4B}"/>
              </a:ext>
            </a:extLst>
          </p:cNvPr>
          <p:cNvSpPr>
            <a:spLocks xmlns:a="http://schemas.openxmlformats.org/drawingml/2006/main" noGrp="1"/>
          </p:cNvSpPr>
          <p:nvPr/>
        </p:nvSpPr>
        <p:spPr>
          <a:xfrm xmlns:a="http://schemas.openxmlformats.org/drawingml/2006/main">
            <a:off x="7334250" y="1562100"/>
            <a:ext cx="1952625" cy="733425"/>
          </a:xfrm>
          <a:prstGeom xmlns:a="http://schemas.openxmlformats.org/drawingml/2006/main" prst="rect">
            <a:avLst/>
          </a:prstGeom>
          <a:solidFill xmlns:a="http://schemas.openxmlformats.org/drawingml/2006/main">
            <a:srgbClr val="ECF3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A90898-EF31-41A7-B114-720D9DC0340F}"/>
              </a:ext>
            </a:extLst>
          </p:cNvPr>
          <p:cNvSpPr>
            <a:spLocks xmlns:a="http://schemas.openxmlformats.org/drawingml/2006/main" noGrp="1"/>
          </p:cNvSpPr>
          <p:nvPr/>
        </p:nvSpPr>
        <p:spPr>
          <a:xfrm xmlns:a="http://schemas.openxmlformats.org/drawingml/2006/main">
            <a:off x="7467600" y="1657350"/>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CRM</a:t>
            </a:r>
          </a:p>
        </p:txBody>
      </p:sp>
      <p:sp>
        <p:nvSpPr>
          <p:cNvPr id="11" name="">
            <a:extLst xmlns:a="http://schemas.openxmlformats.org/drawingml/2006/main">
              <a:ext uri="{FF2B5EF4-FFF2-40B4-BE49-F238E27FC236}">
                <a16:creationId xmlns:a16="http://schemas.microsoft.com/office/drawing/2014/main" id="{4BCA433B-10C2-462E-9E34-4EE6153B4F7C}"/>
              </a:ext>
            </a:extLst>
          </p:cNvPr>
          <p:cNvSpPr>
            <a:spLocks xmlns:a="http://schemas.openxmlformats.org/drawingml/2006/main" noGrp="1"/>
          </p:cNvSpPr>
          <p:nvPr/>
        </p:nvSpPr>
        <p:spPr>
          <a:xfrm xmlns:a="http://schemas.openxmlformats.org/drawingml/2006/main">
            <a:off x="9429750" y="1562100"/>
            <a:ext cx="1952625" cy="733425"/>
          </a:xfrm>
          <a:prstGeom xmlns:a="http://schemas.openxmlformats.org/drawingml/2006/main" prst="rect">
            <a:avLst/>
          </a:prstGeom>
          <a:solidFill xmlns:a="http://schemas.openxmlformats.org/drawingml/2006/main">
            <a:srgbClr val="EAF4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87F56D-BE37-45E9-B127-C79DAF370556}"/>
              </a:ext>
            </a:extLst>
          </p:cNvPr>
          <p:cNvSpPr>
            <a:spLocks xmlns:a="http://schemas.openxmlformats.org/drawingml/2006/main" noGrp="1"/>
          </p:cNvSpPr>
          <p:nvPr/>
        </p:nvSpPr>
        <p:spPr>
          <a:xfrm xmlns:a="http://schemas.openxmlformats.org/drawingml/2006/main">
            <a:off x="9563100" y="1657350"/>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Renewals</a:t>
            </a:r>
          </a:p>
        </p:txBody>
      </p:sp>
      <p:sp>
        <p:nvSpPr>
          <p:cNvPr id="13" name="">
            <a:extLst xmlns:a="http://schemas.openxmlformats.org/drawingml/2006/main">
              <a:ext uri="{FF2B5EF4-FFF2-40B4-BE49-F238E27FC236}">
                <a16:creationId xmlns:a16="http://schemas.microsoft.com/office/drawing/2014/main" id="{4AD2B69D-0CCE-4C94-9065-E10AA31F3FA2}"/>
              </a:ext>
            </a:extLst>
          </p:cNvPr>
          <p:cNvSpPr>
            <a:spLocks xmlns:a="http://schemas.openxmlformats.org/drawingml/2006/main" noGrp="1"/>
          </p:cNvSpPr>
          <p:nvPr/>
        </p:nvSpPr>
        <p:spPr>
          <a:xfrm xmlns:a="http://schemas.openxmlformats.org/drawingml/2006/main">
            <a:off x="7334250" y="2466975"/>
            <a:ext cx="1952625" cy="733425"/>
          </a:xfrm>
          <a:prstGeom xmlns:a="http://schemas.openxmlformats.org/drawingml/2006/main" prst="rect">
            <a:avLst/>
          </a:prstGeom>
          <a:solidFill xmlns:a="http://schemas.openxmlformats.org/drawingml/2006/main">
            <a:srgbClr val="ECF3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69D1F7-6295-45EA-9BC6-223592B8187A}"/>
              </a:ext>
            </a:extLst>
          </p:cNvPr>
          <p:cNvSpPr>
            <a:spLocks xmlns:a="http://schemas.openxmlformats.org/drawingml/2006/main" noGrp="1"/>
          </p:cNvSpPr>
          <p:nvPr/>
        </p:nvSpPr>
        <p:spPr>
          <a:xfrm xmlns:a="http://schemas.openxmlformats.org/drawingml/2006/main">
            <a:off x="7467600" y="2562225"/>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Transactions</a:t>
            </a:r>
          </a:p>
        </p:txBody>
      </p:sp>
      <p:sp>
        <p:nvSpPr>
          <p:cNvPr id="15" name="">
            <a:extLst xmlns:a="http://schemas.openxmlformats.org/drawingml/2006/main">
              <a:ext uri="{FF2B5EF4-FFF2-40B4-BE49-F238E27FC236}">
                <a16:creationId xmlns:a16="http://schemas.microsoft.com/office/drawing/2014/main" id="{546C9920-D056-44D6-BDBF-0DDCD72E7B21}"/>
              </a:ext>
            </a:extLst>
          </p:cNvPr>
          <p:cNvSpPr>
            <a:spLocks xmlns:a="http://schemas.openxmlformats.org/drawingml/2006/main" noGrp="1"/>
          </p:cNvSpPr>
          <p:nvPr/>
        </p:nvSpPr>
        <p:spPr>
          <a:xfrm xmlns:a="http://schemas.openxmlformats.org/drawingml/2006/main">
            <a:off x="9429750" y="2466975"/>
            <a:ext cx="1952625" cy="733425"/>
          </a:xfrm>
          <a:prstGeom xmlns:a="http://schemas.openxmlformats.org/drawingml/2006/main" prst="rect">
            <a:avLst/>
          </a:prstGeom>
          <a:solidFill xmlns:a="http://schemas.openxmlformats.org/drawingml/2006/main">
            <a:srgbClr val="EAF4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9EB8C47-E0AA-47D8-9709-999149B3DC14}"/>
              </a:ext>
            </a:extLst>
          </p:cNvPr>
          <p:cNvSpPr>
            <a:spLocks xmlns:a="http://schemas.openxmlformats.org/drawingml/2006/main" noGrp="1"/>
          </p:cNvSpPr>
          <p:nvPr/>
        </p:nvSpPr>
        <p:spPr>
          <a:xfrm xmlns:a="http://schemas.openxmlformats.org/drawingml/2006/main">
            <a:off x="9563100" y="2562225"/>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Product events</a:t>
            </a:r>
          </a:p>
        </p:txBody>
      </p:sp>
      <p:sp>
        <p:nvSpPr>
          <p:cNvPr id="17" name="">
            <a:extLst xmlns:a="http://schemas.openxmlformats.org/drawingml/2006/main">
              <a:ext uri="{FF2B5EF4-FFF2-40B4-BE49-F238E27FC236}">
                <a16:creationId xmlns:a16="http://schemas.microsoft.com/office/drawing/2014/main" id="{E63AEF35-6F23-41BD-82E8-81D8C2056357}"/>
              </a:ext>
            </a:extLst>
          </p:cNvPr>
          <p:cNvSpPr>
            <a:spLocks xmlns:a="http://schemas.openxmlformats.org/drawingml/2006/main" noGrp="1"/>
          </p:cNvSpPr>
          <p:nvPr/>
        </p:nvSpPr>
        <p:spPr>
          <a:xfrm xmlns:a="http://schemas.openxmlformats.org/drawingml/2006/main">
            <a:off x="7334250" y="3371850"/>
            <a:ext cx="1952625" cy="733425"/>
          </a:xfrm>
          <a:prstGeom xmlns:a="http://schemas.openxmlformats.org/drawingml/2006/main" prst="rect">
            <a:avLst/>
          </a:prstGeom>
          <a:solidFill xmlns:a="http://schemas.openxmlformats.org/drawingml/2006/main">
            <a:srgbClr val="ECF3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3F7AAC9-31A1-4D69-88E8-E340A781F146}"/>
              </a:ext>
            </a:extLst>
          </p:cNvPr>
          <p:cNvSpPr>
            <a:spLocks xmlns:a="http://schemas.openxmlformats.org/drawingml/2006/main" noGrp="1"/>
          </p:cNvSpPr>
          <p:nvPr/>
        </p:nvSpPr>
        <p:spPr>
          <a:xfrm xmlns:a="http://schemas.openxmlformats.org/drawingml/2006/main">
            <a:off x="7467600" y="3467100"/>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Feedback</a:t>
            </a:r>
          </a:p>
        </p:txBody>
      </p:sp>
      <p:sp>
        <p:nvSpPr>
          <p:cNvPr id="19" name="">
            <a:extLst xmlns:a="http://schemas.openxmlformats.org/drawingml/2006/main">
              <a:ext uri="{FF2B5EF4-FFF2-40B4-BE49-F238E27FC236}">
                <a16:creationId xmlns:a16="http://schemas.microsoft.com/office/drawing/2014/main" id="{4787D878-7AC1-470F-A511-B3ECE6AEBD0F}"/>
              </a:ext>
            </a:extLst>
          </p:cNvPr>
          <p:cNvSpPr>
            <a:spLocks xmlns:a="http://schemas.openxmlformats.org/drawingml/2006/main" noGrp="1"/>
          </p:cNvSpPr>
          <p:nvPr/>
        </p:nvSpPr>
        <p:spPr>
          <a:xfrm xmlns:a="http://schemas.openxmlformats.org/drawingml/2006/main">
            <a:off x="9429750" y="3371850"/>
            <a:ext cx="1952625" cy="733425"/>
          </a:xfrm>
          <a:prstGeom xmlns:a="http://schemas.openxmlformats.org/drawingml/2006/main" prst="rect">
            <a:avLst/>
          </a:prstGeom>
          <a:solidFill xmlns:a="http://schemas.openxmlformats.org/drawingml/2006/main">
            <a:srgbClr val="EAF4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1D25E3C-0439-46C2-A23F-5505DECBDF52}"/>
              </a:ext>
            </a:extLst>
          </p:cNvPr>
          <p:cNvSpPr>
            <a:spLocks xmlns:a="http://schemas.openxmlformats.org/drawingml/2006/main" noGrp="1"/>
          </p:cNvSpPr>
          <p:nvPr/>
        </p:nvSpPr>
        <p:spPr>
          <a:xfrm xmlns:a="http://schemas.openxmlformats.org/drawingml/2006/main">
            <a:off x="9563100" y="3467100"/>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Campaign spend</a:t>
            </a:r>
          </a:p>
        </p:txBody>
      </p:sp>
      <p:sp>
        <p:nvSpPr>
          <p:cNvPr id="21" name="">
            <a:extLst xmlns:a="http://schemas.openxmlformats.org/drawingml/2006/main">
              <a:ext uri="{FF2B5EF4-FFF2-40B4-BE49-F238E27FC236}">
                <a16:creationId xmlns:a16="http://schemas.microsoft.com/office/drawing/2014/main" id="{D936EEA7-8A94-44B4-805C-59F8C4B9446F}"/>
              </a:ext>
            </a:extLst>
          </p:cNvPr>
          <p:cNvSpPr>
            <a:spLocks xmlns:a="http://schemas.openxmlformats.org/drawingml/2006/main" noGrp="1"/>
          </p:cNvSpPr>
          <p:nvPr/>
        </p:nvSpPr>
        <p:spPr>
          <a:xfrm xmlns:a="http://schemas.openxmlformats.org/drawingml/2006/main">
            <a:off x="7334250" y="4276725"/>
            <a:ext cx="1952625" cy="733425"/>
          </a:xfrm>
          <a:prstGeom xmlns:a="http://schemas.openxmlformats.org/drawingml/2006/main" prst="rect">
            <a:avLst/>
          </a:prstGeom>
          <a:solidFill xmlns:a="http://schemas.openxmlformats.org/drawingml/2006/main">
            <a:srgbClr val="ECF3F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E704E3C-7146-4991-B384-5FF3466F81F9}"/>
              </a:ext>
            </a:extLst>
          </p:cNvPr>
          <p:cNvSpPr>
            <a:spLocks xmlns:a="http://schemas.openxmlformats.org/drawingml/2006/main" noGrp="1"/>
          </p:cNvSpPr>
          <p:nvPr/>
        </p:nvSpPr>
        <p:spPr>
          <a:xfrm xmlns:a="http://schemas.openxmlformats.org/drawingml/2006/main">
            <a:off x="7467600" y="4371975"/>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Source credit</a:t>
            </a:r>
          </a:p>
        </p:txBody>
      </p:sp>
      <p:sp>
        <p:nvSpPr>
          <p:cNvPr id="23" name="">
            <a:extLst xmlns:a="http://schemas.openxmlformats.org/drawingml/2006/main">
              <a:ext uri="{FF2B5EF4-FFF2-40B4-BE49-F238E27FC236}">
                <a16:creationId xmlns:a16="http://schemas.microsoft.com/office/drawing/2014/main" id="{7DC78C0E-5B30-4E75-A21C-290C4D9CC3EA}"/>
              </a:ext>
            </a:extLst>
          </p:cNvPr>
          <p:cNvSpPr>
            <a:spLocks xmlns:a="http://schemas.openxmlformats.org/drawingml/2006/main" noGrp="1"/>
          </p:cNvSpPr>
          <p:nvPr/>
        </p:nvSpPr>
        <p:spPr>
          <a:xfrm xmlns:a="http://schemas.openxmlformats.org/drawingml/2006/main">
            <a:off x="9429750" y="4276725"/>
            <a:ext cx="1952625" cy="733425"/>
          </a:xfrm>
          <a:prstGeom xmlns:a="http://schemas.openxmlformats.org/drawingml/2006/main" prst="rect">
            <a:avLst/>
          </a:prstGeom>
          <a:solidFill xmlns:a="http://schemas.openxmlformats.org/drawingml/2006/main">
            <a:srgbClr val="EAF4F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F2AB261-C976-49AB-A391-3E56E29C6F6D}"/>
              </a:ext>
            </a:extLst>
          </p:cNvPr>
          <p:cNvSpPr>
            <a:spLocks xmlns:a="http://schemas.openxmlformats.org/drawingml/2006/main" noGrp="1"/>
          </p:cNvSpPr>
          <p:nvPr/>
        </p:nvSpPr>
        <p:spPr>
          <a:xfrm xmlns:a="http://schemas.openxmlformats.org/drawingml/2006/main">
            <a:off x="9563100" y="4371975"/>
            <a:ext cx="1685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Assignments</a:t>
            </a:r>
          </a:p>
        </p:txBody>
      </p:sp>
    </p:spTree>
    <p:extLst>
      <p:ext uri="{BB962C8B-B14F-4D97-AF65-F5344CB8AC3E}">
        <p14:creationId xmlns:p14="http://schemas.microsoft.com/office/powerpoint/2010/main" val="2349911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13611D9-FB16-47CF-AD2F-A4358973A5CE}"/>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BBC4A2-3851-4D1F-892D-D677B84D3F30}"/>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How to read the slide colors</a:t>
            </a:r>
          </a:p>
        </p:txBody>
      </p:sp>
      <p:sp>
        <p:nvSpPr>
          <p:cNvPr id="3" name="">
            <a:extLst xmlns:a="http://schemas.openxmlformats.org/drawingml/2006/main">
              <a:ext uri="{FF2B5EF4-FFF2-40B4-BE49-F238E27FC236}">
                <a16:creationId xmlns:a16="http://schemas.microsoft.com/office/drawing/2014/main" id="{37120EC6-064D-40DD-A670-B413189FDC29}"/>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3191B5"/>
                </a:solidFill>
                <a:latin typeface="Arial"/>
                <a:ea typeface="Arial"/>
                <a:cs typeface="Arial"/>
              </a:defRPr>
            </a:defPPr>
            <a:lvl1pPr>
              <a:defRPr sz="900" b="1">
                <a:solidFill>
                  <a:srgbClr val="3191B5"/>
                </a:solidFill>
                <a:latin typeface="Arial"/>
                <a:ea typeface="Arial"/>
                <a:cs typeface="Arial"/>
              </a:defRPr>
            </a:lvl1pPr>
            <a:lvl2pPr>
              <a:defRPr sz="900" b="1">
                <a:solidFill>
                  <a:srgbClr val="3191B5"/>
                </a:solidFill>
                <a:latin typeface="Arial"/>
                <a:ea typeface="Arial"/>
                <a:cs typeface="Arial"/>
              </a:defRPr>
            </a:lvl2pPr>
            <a:lvl3pPr>
              <a:defRPr sz="900" b="1">
                <a:solidFill>
                  <a:srgbClr val="3191B5"/>
                </a:solidFill>
                <a:latin typeface="Arial"/>
                <a:ea typeface="Arial"/>
                <a:cs typeface="Arial"/>
              </a:defRPr>
            </a:lvl3pPr>
            <a:lvl4pPr>
              <a:defRPr sz="900" b="1">
                <a:solidFill>
                  <a:srgbClr val="3191B5"/>
                </a:solidFill>
                <a:latin typeface="Arial"/>
                <a:ea typeface="Arial"/>
                <a:cs typeface="Arial"/>
              </a:defRPr>
            </a:lvl4pPr>
            <a:lvl5pPr>
              <a:defRPr sz="900" b="1">
                <a:solidFill>
                  <a:srgbClr val="3191B5"/>
                </a:solidFill>
                <a:latin typeface="Arial"/>
                <a:ea typeface="Arial"/>
                <a:cs typeface="Arial"/>
              </a:defRPr>
            </a:lvl5pPr>
            <a:lvl6pPr>
              <a:defRPr sz="900" b="1">
                <a:solidFill>
                  <a:srgbClr val="3191B5"/>
                </a:solidFill>
                <a:latin typeface="Arial"/>
                <a:ea typeface="Arial"/>
                <a:cs typeface="Arial"/>
              </a:defRPr>
            </a:lvl6pPr>
            <a:lvl7pPr>
              <a:defRPr sz="900" b="1">
                <a:solidFill>
                  <a:srgbClr val="3191B5"/>
                </a:solidFill>
                <a:latin typeface="Arial"/>
                <a:ea typeface="Arial"/>
                <a:cs typeface="Arial"/>
              </a:defRPr>
            </a:lvl7pPr>
            <a:lvl8pPr>
              <a:defRPr sz="900" b="1">
                <a:solidFill>
                  <a:srgbClr val="3191B5"/>
                </a:solidFill>
                <a:latin typeface="Arial"/>
                <a:ea typeface="Arial"/>
                <a:cs typeface="Arial"/>
              </a:defRPr>
            </a:lvl8pPr>
            <a:lvl9pPr>
              <a:defRPr sz="900" b="1">
                <a:solidFill>
                  <a:srgbClr val="3191B5"/>
                </a:solidFill>
                <a:latin typeface="Arial"/>
                <a:ea typeface="Arial"/>
                <a:cs typeface="Arial"/>
              </a:defRPr>
            </a:lvl9pPr>
          </a:lstStyle>
          <a:p xmlns:a="http://schemas.openxmlformats.org/drawingml/2006/main">
            <a:pPr>
              <a:defRPr sz="900" b="1">
                <a:solidFill>
                  <a:srgbClr val="3191B5"/>
                </a:solidFill>
                <a:latin typeface="Arial"/>
                <a:ea typeface="Arial"/>
                <a:cs typeface="Arial"/>
              </a:defRPr>
            </a:pPr>
            <a:r>
              <a:rPr sz="900" b="1">
                <a:solidFill>
                  <a:srgbClr val="3191B5"/>
                </a:solidFill>
                <a:latin typeface="Arial"/>
                <a:ea typeface="Arial"/>
                <a:cs typeface="Arial"/>
              </a:rPr>
              <a:t>CONCEPT</a:t>
            </a:r>
          </a:p>
        </p:txBody>
      </p:sp>
      <p:sp>
        <p:nvSpPr>
          <p:cNvPr id="4" name="">
            <a:extLst xmlns:a="http://schemas.openxmlformats.org/drawingml/2006/main">
              <a:ext uri="{FF2B5EF4-FFF2-40B4-BE49-F238E27FC236}">
                <a16:creationId xmlns:a16="http://schemas.microsoft.com/office/drawing/2014/main" id="{0BDD6E12-B6B8-422A-84A5-D2DD2476AC87}"/>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4F48640A-5F84-4A1D-AE00-9DE770F6A418}"/>
              </a:ext>
            </a:extLst>
          </p:cNvPr>
          <p:cNvSpPr>
            <a:spLocks xmlns:a="http://schemas.openxmlformats.org/drawingml/2006/main" noGrp="1"/>
          </p:cNvSpPr>
          <p:nvPr/>
        </p:nvSpPr>
        <p:spPr>
          <a:xfrm xmlns:a="http://schemas.openxmlformats.org/drawingml/2006/main">
            <a:off x="609600" y="1638300"/>
            <a:ext cx="123825" cy="619125"/>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6D66AA-292D-4EE7-8105-346777BEC0AB}"/>
              </a:ext>
            </a:extLst>
          </p:cNvPr>
          <p:cNvSpPr>
            <a:spLocks xmlns:a="http://schemas.openxmlformats.org/drawingml/2006/main" noGrp="1"/>
          </p:cNvSpPr>
          <p:nvPr/>
        </p:nvSpPr>
        <p:spPr>
          <a:xfrm xmlns:a="http://schemas.openxmlformats.org/drawingml/2006/main">
            <a:off x="942975" y="164782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75" b="1">
                <a:solidFill>
                  <a:srgbClr val="3191B5"/>
                </a:solidFill>
                <a:latin typeface="Arial"/>
                <a:ea typeface="Arial"/>
                <a:cs typeface="Arial"/>
              </a:defRPr>
            </a:defPPr>
            <a:lvl1pPr>
              <a:defRPr sz="1875" b="1">
                <a:solidFill>
                  <a:srgbClr val="3191B5"/>
                </a:solidFill>
                <a:latin typeface="Arial"/>
                <a:ea typeface="Arial"/>
                <a:cs typeface="Arial"/>
              </a:defRPr>
            </a:lvl1pPr>
            <a:lvl2pPr>
              <a:defRPr sz="1875" b="1">
                <a:solidFill>
                  <a:srgbClr val="3191B5"/>
                </a:solidFill>
                <a:latin typeface="Arial"/>
                <a:ea typeface="Arial"/>
                <a:cs typeface="Arial"/>
              </a:defRPr>
            </a:lvl2pPr>
            <a:lvl3pPr>
              <a:defRPr sz="1875" b="1">
                <a:solidFill>
                  <a:srgbClr val="3191B5"/>
                </a:solidFill>
                <a:latin typeface="Arial"/>
                <a:ea typeface="Arial"/>
                <a:cs typeface="Arial"/>
              </a:defRPr>
            </a:lvl3pPr>
            <a:lvl4pPr>
              <a:defRPr sz="1875" b="1">
                <a:solidFill>
                  <a:srgbClr val="3191B5"/>
                </a:solidFill>
                <a:latin typeface="Arial"/>
                <a:ea typeface="Arial"/>
                <a:cs typeface="Arial"/>
              </a:defRPr>
            </a:lvl4pPr>
            <a:lvl5pPr>
              <a:defRPr sz="1875" b="1">
                <a:solidFill>
                  <a:srgbClr val="3191B5"/>
                </a:solidFill>
                <a:latin typeface="Arial"/>
                <a:ea typeface="Arial"/>
                <a:cs typeface="Arial"/>
              </a:defRPr>
            </a:lvl5pPr>
            <a:lvl6pPr>
              <a:defRPr sz="1875" b="1">
                <a:solidFill>
                  <a:srgbClr val="3191B5"/>
                </a:solidFill>
                <a:latin typeface="Arial"/>
                <a:ea typeface="Arial"/>
                <a:cs typeface="Arial"/>
              </a:defRPr>
            </a:lvl6pPr>
            <a:lvl7pPr>
              <a:defRPr sz="1875" b="1">
                <a:solidFill>
                  <a:srgbClr val="3191B5"/>
                </a:solidFill>
                <a:latin typeface="Arial"/>
                <a:ea typeface="Arial"/>
                <a:cs typeface="Arial"/>
              </a:defRPr>
            </a:lvl7pPr>
            <a:lvl8pPr>
              <a:defRPr sz="1875" b="1">
                <a:solidFill>
                  <a:srgbClr val="3191B5"/>
                </a:solidFill>
                <a:latin typeface="Arial"/>
                <a:ea typeface="Arial"/>
                <a:cs typeface="Arial"/>
              </a:defRPr>
            </a:lvl8pPr>
            <a:lvl9pPr>
              <a:defRPr sz="1875" b="1">
                <a:solidFill>
                  <a:srgbClr val="3191B5"/>
                </a:solidFill>
                <a:latin typeface="Arial"/>
                <a:ea typeface="Arial"/>
                <a:cs typeface="Arial"/>
              </a:defRPr>
            </a:lvl9pPr>
          </a:lstStyle>
          <a:p xmlns:a="http://schemas.openxmlformats.org/drawingml/2006/main">
            <a:pPr>
              <a:defRPr sz="1875" b="1">
                <a:solidFill>
                  <a:srgbClr val="3191B5"/>
                </a:solidFill>
                <a:latin typeface="Arial"/>
                <a:ea typeface="Arial"/>
                <a:cs typeface="Arial"/>
              </a:defRPr>
            </a:pPr>
            <a:r>
              <a:rPr sz="1875" b="1">
                <a:solidFill>
                  <a:srgbClr val="3191B5"/>
                </a:solidFill>
                <a:latin typeface="Arial"/>
                <a:ea typeface="Arial"/>
                <a:cs typeface="Arial"/>
              </a:rPr>
              <a:t>Concept</a:t>
            </a:r>
          </a:p>
        </p:txBody>
      </p:sp>
      <p:sp>
        <p:nvSpPr>
          <p:cNvPr id="7" name="">
            <a:extLst xmlns:a="http://schemas.openxmlformats.org/drawingml/2006/main">
              <a:ext uri="{FF2B5EF4-FFF2-40B4-BE49-F238E27FC236}">
                <a16:creationId xmlns:a16="http://schemas.microsoft.com/office/drawing/2014/main" id="{83988E93-1DC0-4BB9-A0C0-8BA003347A34}"/>
              </a:ext>
            </a:extLst>
          </p:cNvPr>
          <p:cNvSpPr>
            <a:spLocks xmlns:a="http://schemas.openxmlformats.org/drawingml/2006/main" noGrp="1"/>
          </p:cNvSpPr>
          <p:nvPr/>
        </p:nvSpPr>
        <p:spPr>
          <a:xfrm xmlns:a="http://schemas.openxmlformats.org/drawingml/2006/main">
            <a:off x="4257675" y="1647825"/>
            <a:ext cx="700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172D3C"/>
                </a:solidFill>
                <a:latin typeface="Arial"/>
                <a:ea typeface="Arial"/>
                <a:cs typeface="Arial"/>
              </a:defRPr>
            </a:defPPr>
            <a:lvl1pPr>
              <a:defRPr sz="1575" b="0">
                <a:solidFill>
                  <a:srgbClr val="172D3C"/>
                </a:solidFill>
                <a:latin typeface="Arial"/>
                <a:ea typeface="Arial"/>
                <a:cs typeface="Arial"/>
              </a:defRPr>
            </a:lvl1pPr>
            <a:lvl2pPr>
              <a:defRPr sz="1575" b="0">
                <a:solidFill>
                  <a:srgbClr val="172D3C"/>
                </a:solidFill>
                <a:latin typeface="Arial"/>
                <a:ea typeface="Arial"/>
                <a:cs typeface="Arial"/>
              </a:defRPr>
            </a:lvl2pPr>
            <a:lvl3pPr>
              <a:defRPr sz="1575" b="0">
                <a:solidFill>
                  <a:srgbClr val="172D3C"/>
                </a:solidFill>
                <a:latin typeface="Arial"/>
                <a:ea typeface="Arial"/>
                <a:cs typeface="Arial"/>
              </a:defRPr>
            </a:lvl3pPr>
            <a:lvl4pPr>
              <a:defRPr sz="1575" b="0">
                <a:solidFill>
                  <a:srgbClr val="172D3C"/>
                </a:solidFill>
                <a:latin typeface="Arial"/>
                <a:ea typeface="Arial"/>
                <a:cs typeface="Arial"/>
              </a:defRPr>
            </a:lvl4pPr>
            <a:lvl5pPr>
              <a:defRPr sz="1575" b="0">
                <a:solidFill>
                  <a:srgbClr val="172D3C"/>
                </a:solidFill>
                <a:latin typeface="Arial"/>
                <a:ea typeface="Arial"/>
                <a:cs typeface="Arial"/>
              </a:defRPr>
            </a:lvl5pPr>
            <a:lvl6pPr>
              <a:defRPr sz="1575" b="0">
                <a:solidFill>
                  <a:srgbClr val="172D3C"/>
                </a:solidFill>
                <a:latin typeface="Arial"/>
                <a:ea typeface="Arial"/>
                <a:cs typeface="Arial"/>
              </a:defRPr>
            </a:lvl6pPr>
            <a:lvl7pPr>
              <a:defRPr sz="1575" b="0">
                <a:solidFill>
                  <a:srgbClr val="172D3C"/>
                </a:solidFill>
                <a:latin typeface="Arial"/>
                <a:ea typeface="Arial"/>
                <a:cs typeface="Arial"/>
              </a:defRPr>
            </a:lvl7pPr>
            <a:lvl8pPr>
              <a:defRPr sz="1575" b="0">
                <a:solidFill>
                  <a:srgbClr val="172D3C"/>
                </a:solidFill>
                <a:latin typeface="Arial"/>
                <a:ea typeface="Arial"/>
                <a:cs typeface="Arial"/>
              </a:defRPr>
            </a:lvl8pPr>
            <a:lvl9pPr>
              <a:defRPr sz="1575" b="0">
                <a:solidFill>
                  <a:srgbClr val="172D3C"/>
                </a:solidFill>
                <a:latin typeface="Arial"/>
                <a:ea typeface="Arial"/>
                <a:cs typeface="Arial"/>
              </a:defRPr>
            </a:lvl9pPr>
          </a:lstStyle>
          <a:p xmlns:a="http://schemas.openxmlformats.org/drawingml/2006/main">
            <a:pPr>
              <a:defRPr sz="1575" b="0">
                <a:solidFill>
                  <a:srgbClr val="172D3C"/>
                </a:solidFill>
                <a:latin typeface="Arial"/>
                <a:ea typeface="Arial"/>
                <a:cs typeface="Arial"/>
              </a:defRPr>
            </a:pPr>
            <a:r>
              <a:rPr sz="1575" b="0">
                <a:solidFill>
                  <a:srgbClr val="172D3C"/>
                </a:solidFill>
                <a:latin typeface="Arial"/>
                <a:ea typeface="Arial"/>
                <a:cs typeface="Arial"/>
              </a:rPr>
              <a:t>Definitions and distinctions to use when interpreting the data.</a:t>
            </a:r>
          </a:p>
        </p:txBody>
      </p:sp>
      <p:sp>
        <p:nvSpPr>
          <p:cNvPr id="8" name="">
            <a:extLst xmlns:a="http://schemas.openxmlformats.org/drawingml/2006/main">
              <a:ext uri="{FF2B5EF4-FFF2-40B4-BE49-F238E27FC236}">
                <a16:creationId xmlns:a16="http://schemas.microsoft.com/office/drawing/2014/main" id="{F5F45209-5799-472C-8F8A-157FF83B5808}"/>
              </a:ext>
            </a:extLst>
          </p:cNvPr>
          <p:cNvSpPr>
            <a:spLocks xmlns:a="http://schemas.openxmlformats.org/drawingml/2006/main" noGrp="1"/>
          </p:cNvSpPr>
          <p:nvPr/>
        </p:nvSpPr>
        <p:spPr>
          <a:xfrm xmlns:a="http://schemas.openxmlformats.org/drawingml/2006/main">
            <a:off x="609600" y="2476500"/>
            <a:ext cx="123825" cy="6191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024DD73-424D-4491-B1C6-3451DAF3A64F}"/>
              </a:ext>
            </a:extLst>
          </p:cNvPr>
          <p:cNvSpPr>
            <a:spLocks xmlns:a="http://schemas.openxmlformats.org/drawingml/2006/main" noGrp="1"/>
          </p:cNvSpPr>
          <p:nvPr/>
        </p:nvSpPr>
        <p:spPr>
          <a:xfrm xmlns:a="http://schemas.openxmlformats.org/drawingml/2006/main">
            <a:off x="942975" y="248602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Case application</a:t>
            </a:r>
          </a:p>
        </p:txBody>
      </p:sp>
      <p:sp>
        <p:nvSpPr>
          <p:cNvPr id="10" name="">
            <a:extLst xmlns:a="http://schemas.openxmlformats.org/drawingml/2006/main">
              <a:ext uri="{FF2B5EF4-FFF2-40B4-BE49-F238E27FC236}">
                <a16:creationId xmlns:a16="http://schemas.microsoft.com/office/drawing/2014/main" id="{E4134650-F379-4DCD-A68B-8694644E65BB}"/>
              </a:ext>
            </a:extLst>
          </p:cNvPr>
          <p:cNvSpPr>
            <a:spLocks xmlns:a="http://schemas.openxmlformats.org/drawingml/2006/main" noGrp="1"/>
          </p:cNvSpPr>
          <p:nvPr/>
        </p:nvSpPr>
        <p:spPr>
          <a:xfrm xmlns:a="http://schemas.openxmlformats.org/drawingml/2006/main">
            <a:off x="4257675" y="2486025"/>
            <a:ext cx="700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172D3C"/>
                </a:solidFill>
                <a:latin typeface="Arial"/>
                <a:ea typeface="Arial"/>
                <a:cs typeface="Arial"/>
              </a:defRPr>
            </a:defPPr>
            <a:lvl1pPr>
              <a:defRPr sz="1575" b="0">
                <a:solidFill>
                  <a:srgbClr val="172D3C"/>
                </a:solidFill>
                <a:latin typeface="Arial"/>
                <a:ea typeface="Arial"/>
                <a:cs typeface="Arial"/>
              </a:defRPr>
            </a:lvl1pPr>
            <a:lvl2pPr>
              <a:defRPr sz="1575" b="0">
                <a:solidFill>
                  <a:srgbClr val="172D3C"/>
                </a:solidFill>
                <a:latin typeface="Arial"/>
                <a:ea typeface="Arial"/>
                <a:cs typeface="Arial"/>
              </a:defRPr>
            </a:lvl2pPr>
            <a:lvl3pPr>
              <a:defRPr sz="1575" b="0">
                <a:solidFill>
                  <a:srgbClr val="172D3C"/>
                </a:solidFill>
                <a:latin typeface="Arial"/>
                <a:ea typeface="Arial"/>
                <a:cs typeface="Arial"/>
              </a:defRPr>
            </a:lvl3pPr>
            <a:lvl4pPr>
              <a:defRPr sz="1575" b="0">
                <a:solidFill>
                  <a:srgbClr val="172D3C"/>
                </a:solidFill>
                <a:latin typeface="Arial"/>
                <a:ea typeface="Arial"/>
                <a:cs typeface="Arial"/>
              </a:defRPr>
            </a:lvl4pPr>
            <a:lvl5pPr>
              <a:defRPr sz="1575" b="0">
                <a:solidFill>
                  <a:srgbClr val="172D3C"/>
                </a:solidFill>
                <a:latin typeface="Arial"/>
                <a:ea typeface="Arial"/>
                <a:cs typeface="Arial"/>
              </a:defRPr>
            </a:lvl5pPr>
            <a:lvl6pPr>
              <a:defRPr sz="1575" b="0">
                <a:solidFill>
                  <a:srgbClr val="172D3C"/>
                </a:solidFill>
                <a:latin typeface="Arial"/>
                <a:ea typeface="Arial"/>
                <a:cs typeface="Arial"/>
              </a:defRPr>
            </a:lvl6pPr>
            <a:lvl7pPr>
              <a:defRPr sz="1575" b="0">
                <a:solidFill>
                  <a:srgbClr val="172D3C"/>
                </a:solidFill>
                <a:latin typeface="Arial"/>
                <a:ea typeface="Arial"/>
                <a:cs typeface="Arial"/>
              </a:defRPr>
            </a:lvl7pPr>
            <a:lvl8pPr>
              <a:defRPr sz="1575" b="0">
                <a:solidFill>
                  <a:srgbClr val="172D3C"/>
                </a:solidFill>
                <a:latin typeface="Arial"/>
                <a:ea typeface="Arial"/>
                <a:cs typeface="Arial"/>
              </a:defRPr>
            </a:lvl8pPr>
            <a:lvl9pPr>
              <a:defRPr sz="1575" b="0">
                <a:solidFill>
                  <a:srgbClr val="172D3C"/>
                </a:solidFill>
                <a:latin typeface="Arial"/>
                <a:ea typeface="Arial"/>
                <a:cs typeface="Arial"/>
              </a:defRPr>
            </a:lvl9pPr>
          </a:lstStyle>
          <a:p xmlns:a="http://schemas.openxmlformats.org/drawingml/2006/main">
            <a:pPr>
              <a:defRPr sz="1575" b="0">
                <a:solidFill>
                  <a:srgbClr val="172D3C"/>
                </a:solidFill>
                <a:latin typeface="Arial"/>
                <a:ea typeface="Arial"/>
                <a:cs typeface="Arial"/>
              </a:defRPr>
            </a:pPr>
            <a:r>
              <a:rPr sz="1575" b="0">
                <a:solidFill>
                  <a:srgbClr val="172D3C"/>
                </a:solidFill>
                <a:latin typeface="Arial"/>
                <a:ea typeface="Arial"/>
                <a:cs typeface="Arial"/>
              </a:rPr>
              <a:t>Studio North and its connected customer records.</a:t>
            </a:r>
          </a:p>
        </p:txBody>
      </p:sp>
      <p:sp>
        <p:nvSpPr>
          <p:cNvPr id="11" name="">
            <a:extLst xmlns:a="http://schemas.openxmlformats.org/drawingml/2006/main">
              <a:ext uri="{FF2B5EF4-FFF2-40B4-BE49-F238E27FC236}">
                <a16:creationId xmlns:a16="http://schemas.microsoft.com/office/drawing/2014/main" id="{C4E319FE-F6E1-4CE1-8E12-A1921C8C4150}"/>
              </a:ext>
            </a:extLst>
          </p:cNvPr>
          <p:cNvSpPr>
            <a:spLocks xmlns:a="http://schemas.openxmlformats.org/drawingml/2006/main" noGrp="1"/>
          </p:cNvSpPr>
          <p:nvPr/>
        </p:nvSpPr>
        <p:spPr>
          <a:xfrm xmlns:a="http://schemas.openxmlformats.org/drawingml/2006/main">
            <a:off x="609600" y="3314700"/>
            <a:ext cx="123825" cy="619125"/>
          </a:xfrm>
          <a:prstGeom xmlns:a="http://schemas.openxmlformats.org/drawingml/2006/main" prst="rect">
            <a:avLst/>
          </a:prstGeom>
          <a:solidFill xmlns:a="http://schemas.openxmlformats.org/drawingml/2006/main">
            <a:srgbClr val="68778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368733-91FC-4268-9ECB-BD4EEF59DEF0}"/>
              </a:ext>
            </a:extLst>
          </p:cNvPr>
          <p:cNvSpPr>
            <a:spLocks xmlns:a="http://schemas.openxmlformats.org/drawingml/2006/main" noGrp="1"/>
          </p:cNvSpPr>
          <p:nvPr/>
        </p:nvSpPr>
        <p:spPr>
          <a:xfrm xmlns:a="http://schemas.openxmlformats.org/drawingml/2006/main">
            <a:off x="942975" y="332422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75" b="1">
                <a:solidFill>
                  <a:srgbClr val="687780"/>
                </a:solidFill>
                <a:latin typeface="Arial"/>
                <a:ea typeface="Arial"/>
                <a:cs typeface="Arial"/>
              </a:defRPr>
            </a:defPPr>
            <a:lvl1pPr>
              <a:defRPr sz="1875" b="1">
                <a:solidFill>
                  <a:srgbClr val="687780"/>
                </a:solidFill>
                <a:latin typeface="Arial"/>
                <a:ea typeface="Arial"/>
                <a:cs typeface="Arial"/>
              </a:defRPr>
            </a:lvl1pPr>
            <a:lvl2pPr>
              <a:defRPr sz="1875" b="1">
                <a:solidFill>
                  <a:srgbClr val="687780"/>
                </a:solidFill>
                <a:latin typeface="Arial"/>
                <a:ea typeface="Arial"/>
                <a:cs typeface="Arial"/>
              </a:defRPr>
            </a:lvl2pPr>
            <a:lvl3pPr>
              <a:defRPr sz="1875" b="1">
                <a:solidFill>
                  <a:srgbClr val="687780"/>
                </a:solidFill>
                <a:latin typeface="Arial"/>
                <a:ea typeface="Arial"/>
                <a:cs typeface="Arial"/>
              </a:defRPr>
            </a:lvl3pPr>
            <a:lvl4pPr>
              <a:defRPr sz="1875" b="1">
                <a:solidFill>
                  <a:srgbClr val="687780"/>
                </a:solidFill>
                <a:latin typeface="Arial"/>
                <a:ea typeface="Arial"/>
                <a:cs typeface="Arial"/>
              </a:defRPr>
            </a:lvl4pPr>
            <a:lvl5pPr>
              <a:defRPr sz="1875" b="1">
                <a:solidFill>
                  <a:srgbClr val="687780"/>
                </a:solidFill>
                <a:latin typeface="Arial"/>
                <a:ea typeface="Arial"/>
                <a:cs typeface="Arial"/>
              </a:defRPr>
            </a:lvl5pPr>
            <a:lvl6pPr>
              <a:defRPr sz="1875" b="1">
                <a:solidFill>
                  <a:srgbClr val="687780"/>
                </a:solidFill>
                <a:latin typeface="Arial"/>
                <a:ea typeface="Arial"/>
                <a:cs typeface="Arial"/>
              </a:defRPr>
            </a:lvl6pPr>
            <a:lvl7pPr>
              <a:defRPr sz="1875" b="1">
                <a:solidFill>
                  <a:srgbClr val="687780"/>
                </a:solidFill>
                <a:latin typeface="Arial"/>
                <a:ea typeface="Arial"/>
                <a:cs typeface="Arial"/>
              </a:defRPr>
            </a:lvl7pPr>
            <a:lvl8pPr>
              <a:defRPr sz="1875" b="1">
                <a:solidFill>
                  <a:srgbClr val="687780"/>
                </a:solidFill>
                <a:latin typeface="Arial"/>
                <a:ea typeface="Arial"/>
                <a:cs typeface="Arial"/>
              </a:defRPr>
            </a:lvl8pPr>
            <a:lvl9pPr>
              <a:defRPr sz="1875" b="1">
                <a:solidFill>
                  <a:srgbClr val="687780"/>
                </a:solidFill>
                <a:latin typeface="Arial"/>
                <a:ea typeface="Arial"/>
                <a:cs typeface="Arial"/>
              </a:defRPr>
            </a:lvl9pPr>
          </a:lstStyle>
          <a:p xmlns:a="http://schemas.openxmlformats.org/drawingml/2006/main">
            <a:pPr>
              <a:defRPr sz="1875" b="1">
                <a:solidFill>
                  <a:srgbClr val="687780"/>
                </a:solidFill>
                <a:latin typeface="Arial"/>
                <a:ea typeface="Arial"/>
                <a:cs typeface="Arial"/>
              </a:defRPr>
            </a:pPr>
            <a:r>
              <a:rPr sz="1875" b="1">
                <a:solidFill>
                  <a:srgbClr val="687780"/>
                </a:solidFill>
                <a:latin typeface="Arial"/>
                <a:ea typeface="Arial"/>
                <a:cs typeface="Arial"/>
              </a:rPr>
              <a:t>Evidence interpretation</a:t>
            </a:r>
          </a:p>
        </p:txBody>
      </p:sp>
      <p:sp>
        <p:nvSpPr>
          <p:cNvPr id="13" name="">
            <a:extLst xmlns:a="http://schemas.openxmlformats.org/drawingml/2006/main">
              <a:ext uri="{FF2B5EF4-FFF2-40B4-BE49-F238E27FC236}">
                <a16:creationId xmlns:a16="http://schemas.microsoft.com/office/drawing/2014/main" id="{158B30C8-ACEA-413E-9335-59F786DAF3F0}"/>
              </a:ext>
            </a:extLst>
          </p:cNvPr>
          <p:cNvSpPr>
            <a:spLocks xmlns:a="http://schemas.openxmlformats.org/drawingml/2006/main" noGrp="1"/>
          </p:cNvSpPr>
          <p:nvPr/>
        </p:nvSpPr>
        <p:spPr>
          <a:xfrm xmlns:a="http://schemas.openxmlformats.org/drawingml/2006/main">
            <a:off x="4257675" y="3324225"/>
            <a:ext cx="700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172D3C"/>
                </a:solidFill>
                <a:latin typeface="Arial"/>
                <a:ea typeface="Arial"/>
                <a:cs typeface="Arial"/>
              </a:defRPr>
            </a:defPPr>
            <a:lvl1pPr>
              <a:defRPr sz="1575" b="0">
                <a:solidFill>
                  <a:srgbClr val="172D3C"/>
                </a:solidFill>
                <a:latin typeface="Arial"/>
                <a:ea typeface="Arial"/>
                <a:cs typeface="Arial"/>
              </a:defRPr>
            </a:lvl1pPr>
            <a:lvl2pPr>
              <a:defRPr sz="1575" b="0">
                <a:solidFill>
                  <a:srgbClr val="172D3C"/>
                </a:solidFill>
                <a:latin typeface="Arial"/>
                <a:ea typeface="Arial"/>
                <a:cs typeface="Arial"/>
              </a:defRPr>
            </a:lvl2pPr>
            <a:lvl3pPr>
              <a:defRPr sz="1575" b="0">
                <a:solidFill>
                  <a:srgbClr val="172D3C"/>
                </a:solidFill>
                <a:latin typeface="Arial"/>
                <a:ea typeface="Arial"/>
                <a:cs typeface="Arial"/>
              </a:defRPr>
            </a:lvl3pPr>
            <a:lvl4pPr>
              <a:defRPr sz="1575" b="0">
                <a:solidFill>
                  <a:srgbClr val="172D3C"/>
                </a:solidFill>
                <a:latin typeface="Arial"/>
                <a:ea typeface="Arial"/>
                <a:cs typeface="Arial"/>
              </a:defRPr>
            </a:lvl4pPr>
            <a:lvl5pPr>
              <a:defRPr sz="1575" b="0">
                <a:solidFill>
                  <a:srgbClr val="172D3C"/>
                </a:solidFill>
                <a:latin typeface="Arial"/>
                <a:ea typeface="Arial"/>
                <a:cs typeface="Arial"/>
              </a:defRPr>
            </a:lvl5pPr>
            <a:lvl6pPr>
              <a:defRPr sz="1575" b="0">
                <a:solidFill>
                  <a:srgbClr val="172D3C"/>
                </a:solidFill>
                <a:latin typeface="Arial"/>
                <a:ea typeface="Arial"/>
                <a:cs typeface="Arial"/>
              </a:defRPr>
            </a:lvl6pPr>
            <a:lvl7pPr>
              <a:defRPr sz="1575" b="0">
                <a:solidFill>
                  <a:srgbClr val="172D3C"/>
                </a:solidFill>
                <a:latin typeface="Arial"/>
                <a:ea typeface="Arial"/>
                <a:cs typeface="Arial"/>
              </a:defRPr>
            </a:lvl7pPr>
            <a:lvl8pPr>
              <a:defRPr sz="1575" b="0">
                <a:solidFill>
                  <a:srgbClr val="172D3C"/>
                </a:solidFill>
                <a:latin typeface="Arial"/>
                <a:ea typeface="Arial"/>
                <a:cs typeface="Arial"/>
              </a:defRPr>
            </a:lvl8pPr>
            <a:lvl9pPr>
              <a:defRPr sz="1575" b="0">
                <a:solidFill>
                  <a:srgbClr val="172D3C"/>
                </a:solidFill>
                <a:latin typeface="Arial"/>
                <a:ea typeface="Arial"/>
                <a:cs typeface="Arial"/>
              </a:defRPr>
            </a:lvl9pPr>
          </a:lstStyle>
          <a:p xmlns:a="http://schemas.openxmlformats.org/drawingml/2006/main">
            <a:pPr>
              <a:defRPr sz="1575" b="0">
                <a:solidFill>
                  <a:srgbClr val="172D3C"/>
                </a:solidFill>
                <a:latin typeface="Arial"/>
                <a:ea typeface="Arial"/>
                <a:cs typeface="Arial"/>
              </a:defRPr>
            </a:pPr>
            <a:r>
              <a:rPr sz="1575" b="0">
                <a:solidFill>
                  <a:srgbClr val="172D3C"/>
                </a:solidFill>
                <a:latin typeface="Arial"/>
                <a:ea typeface="Arial"/>
                <a:cs typeface="Arial"/>
              </a:rPr>
              <a:t>Observed results, predictions, and what each can establish.</a:t>
            </a:r>
          </a:p>
        </p:txBody>
      </p:sp>
      <p:sp>
        <p:nvSpPr>
          <p:cNvPr id="14" name="">
            <a:extLst xmlns:a="http://schemas.openxmlformats.org/drawingml/2006/main">
              <a:ext uri="{FF2B5EF4-FFF2-40B4-BE49-F238E27FC236}">
                <a16:creationId xmlns:a16="http://schemas.microsoft.com/office/drawing/2014/main" id="{247A80A7-E83D-4DBD-B4FB-152060A7CAFE}"/>
              </a:ext>
            </a:extLst>
          </p:cNvPr>
          <p:cNvSpPr>
            <a:spLocks xmlns:a="http://schemas.openxmlformats.org/drawingml/2006/main" noGrp="1"/>
          </p:cNvSpPr>
          <p:nvPr/>
        </p:nvSpPr>
        <p:spPr>
          <a:xfrm xmlns:a="http://schemas.openxmlformats.org/drawingml/2006/main">
            <a:off x="609600" y="4152900"/>
            <a:ext cx="123825" cy="619125"/>
          </a:xfrm>
          <a:prstGeom xmlns:a="http://schemas.openxmlformats.org/drawingml/2006/main" prst="rect">
            <a:avLst/>
          </a:prstGeom>
          <a:solidFill xmlns:a="http://schemas.openxmlformats.org/drawingml/2006/main">
            <a:srgbClr val="BB642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1B14F67-CF64-40B4-A7EF-0EDBD8186D74}"/>
              </a:ext>
            </a:extLst>
          </p:cNvPr>
          <p:cNvSpPr>
            <a:spLocks xmlns:a="http://schemas.openxmlformats.org/drawingml/2006/main" noGrp="1"/>
          </p:cNvSpPr>
          <p:nvPr/>
        </p:nvSpPr>
        <p:spPr>
          <a:xfrm xmlns:a="http://schemas.openxmlformats.org/drawingml/2006/main">
            <a:off x="942975" y="416242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75" b="1">
                <a:solidFill>
                  <a:srgbClr val="BB6427"/>
                </a:solidFill>
                <a:latin typeface="Arial"/>
                <a:ea typeface="Arial"/>
                <a:cs typeface="Arial"/>
              </a:defRPr>
            </a:defPPr>
            <a:lvl1pPr>
              <a:defRPr sz="1875" b="1">
                <a:solidFill>
                  <a:srgbClr val="BB6427"/>
                </a:solidFill>
                <a:latin typeface="Arial"/>
                <a:ea typeface="Arial"/>
                <a:cs typeface="Arial"/>
              </a:defRPr>
            </a:lvl1pPr>
            <a:lvl2pPr>
              <a:defRPr sz="1875" b="1">
                <a:solidFill>
                  <a:srgbClr val="BB6427"/>
                </a:solidFill>
                <a:latin typeface="Arial"/>
                <a:ea typeface="Arial"/>
                <a:cs typeface="Arial"/>
              </a:defRPr>
            </a:lvl2pPr>
            <a:lvl3pPr>
              <a:defRPr sz="1875" b="1">
                <a:solidFill>
                  <a:srgbClr val="BB6427"/>
                </a:solidFill>
                <a:latin typeface="Arial"/>
                <a:ea typeface="Arial"/>
                <a:cs typeface="Arial"/>
              </a:defRPr>
            </a:lvl3pPr>
            <a:lvl4pPr>
              <a:defRPr sz="1875" b="1">
                <a:solidFill>
                  <a:srgbClr val="BB6427"/>
                </a:solidFill>
                <a:latin typeface="Arial"/>
                <a:ea typeface="Arial"/>
                <a:cs typeface="Arial"/>
              </a:defRPr>
            </a:lvl4pPr>
            <a:lvl5pPr>
              <a:defRPr sz="1875" b="1">
                <a:solidFill>
                  <a:srgbClr val="BB6427"/>
                </a:solidFill>
                <a:latin typeface="Arial"/>
                <a:ea typeface="Arial"/>
                <a:cs typeface="Arial"/>
              </a:defRPr>
            </a:lvl5pPr>
            <a:lvl6pPr>
              <a:defRPr sz="1875" b="1">
                <a:solidFill>
                  <a:srgbClr val="BB6427"/>
                </a:solidFill>
                <a:latin typeface="Arial"/>
                <a:ea typeface="Arial"/>
                <a:cs typeface="Arial"/>
              </a:defRPr>
            </a:lvl6pPr>
            <a:lvl7pPr>
              <a:defRPr sz="1875" b="1">
                <a:solidFill>
                  <a:srgbClr val="BB6427"/>
                </a:solidFill>
                <a:latin typeface="Arial"/>
                <a:ea typeface="Arial"/>
                <a:cs typeface="Arial"/>
              </a:defRPr>
            </a:lvl7pPr>
            <a:lvl8pPr>
              <a:defRPr sz="1875" b="1">
                <a:solidFill>
                  <a:srgbClr val="BB6427"/>
                </a:solidFill>
                <a:latin typeface="Arial"/>
                <a:ea typeface="Arial"/>
                <a:cs typeface="Arial"/>
              </a:defRPr>
            </a:lvl8pPr>
            <a:lvl9pPr>
              <a:defRPr sz="1875" b="1">
                <a:solidFill>
                  <a:srgbClr val="BB6427"/>
                </a:solidFill>
                <a:latin typeface="Arial"/>
                <a:ea typeface="Arial"/>
                <a:cs typeface="Arial"/>
              </a:defRPr>
            </a:lvl9pPr>
          </a:lstStyle>
          <a:p xmlns:a="http://schemas.openxmlformats.org/drawingml/2006/main">
            <a:pPr>
              <a:defRPr sz="1875" b="1">
                <a:solidFill>
                  <a:srgbClr val="BB6427"/>
                </a:solidFill>
                <a:latin typeface="Arial"/>
                <a:ea typeface="Arial"/>
                <a:cs typeface="Arial"/>
              </a:defRPr>
            </a:pPr>
            <a:r>
              <a:rPr sz="1875" b="1">
                <a:solidFill>
                  <a:srgbClr val="BB6427"/>
                </a:solidFill>
                <a:latin typeface="Arial"/>
                <a:ea typeface="Arial"/>
                <a:cs typeface="Arial"/>
              </a:rPr>
              <a:t>Group decision</a:t>
            </a:r>
          </a:p>
        </p:txBody>
      </p:sp>
      <p:sp>
        <p:nvSpPr>
          <p:cNvPr id="16" name="">
            <a:extLst xmlns:a="http://schemas.openxmlformats.org/drawingml/2006/main">
              <a:ext uri="{FF2B5EF4-FFF2-40B4-BE49-F238E27FC236}">
                <a16:creationId xmlns:a16="http://schemas.microsoft.com/office/drawing/2014/main" id="{AA3CBA2A-99BC-4868-B810-FCEDB517B0E0}"/>
              </a:ext>
            </a:extLst>
          </p:cNvPr>
          <p:cNvSpPr>
            <a:spLocks xmlns:a="http://schemas.openxmlformats.org/drawingml/2006/main" noGrp="1"/>
          </p:cNvSpPr>
          <p:nvPr/>
        </p:nvSpPr>
        <p:spPr>
          <a:xfrm xmlns:a="http://schemas.openxmlformats.org/drawingml/2006/main">
            <a:off x="4257675" y="4162425"/>
            <a:ext cx="700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0">
                <a:solidFill>
                  <a:srgbClr val="172D3C"/>
                </a:solidFill>
                <a:latin typeface="Arial"/>
                <a:ea typeface="Arial"/>
                <a:cs typeface="Arial"/>
              </a:defRPr>
            </a:defPPr>
            <a:lvl1pPr>
              <a:defRPr sz="1575" b="0">
                <a:solidFill>
                  <a:srgbClr val="172D3C"/>
                </a:solidFill>
                <a:latin typeface="Arial"/>
                <a:ea typeface="Arial"/>
                <a:cs typeface="Arial"/>
              </a:defRPr>
            </a:lvl1pPr>
            <a:lvl2pPr>
              <a:defRPr sz="1575" b="0">
                <a:solidFill>
                  <a:srgbClr val="172D3C"/>
                </a:solidFill>
                <a:latin typeface="Arial"/>
                <a:ea typeface="Arial"/>
                <a:cs typeface="Arial"/>
              </a:defRPr>
            </a:lvl2pPr>
            <a:lvl3pPr>
              <a:defRPr sz="1575" b="0">
                <a:solidFill>
                  <a:srgbClr val="172D3C"/>
                </a:solidFill>
                <a:latin typeface="Arial"/>
                <a:ea typeface="Arial"/>
                <a:cs typeface="Arial"/>
              </a:defRPr>
            </a:lvl3pPr>
            <a:lvl4pPr>
              <a:defRPr sz="1575" b="0">
                <a:solidFill>
                  <a:srgbClr val="172D3C"/>
                </a:solidFill>
                <a:latin typeface="Arial"/>
                <a:ea typeface="Arial"/>
                <a:cs typeface="Arial"/>
              </a:defRPr>
            </a:lvl4pPr>
            <a:lvl5pPr>
              <a:defRPr sz="1575" b="0">
                <a:solidFill>
                  <a:srgbClr val="172D3C"/>
                </a:solidFill>
                <a:latin typeface="Arial"/>
                <a:ea typeface="Arial"/>
                <a:cs typeface="Arial"/>
              </a:defRPr>
            </a:lvl5pPr>
            <a:lvl6pPr>
              <a:defRPr sz="1575" b="0">
                <a:solidFill>
                  <a:srgbClr val="172D3C"/>
                </a:solidFill>
                <a:latin typeface="Arial"/>
                <a:ea typeface="Arial"/>
                <a:cs typeface="Arial"/>
              </a:defRPr>
            </a:lvl6pPr>
            <a:lvl7pPr>
              <a:defRPr sz="1575" b="0">
                <a:solidFill>
                  <a:srgbClr val="172D3C"/>
                </a:solidFill>
                <a:latin typeface="Arial"/>
                <a:ea typeface="Arial"/>
                <a:cs typeface="Arial"/>
              </a:defRPr>
            </a:lvl7pPr>
            <a:lvl8pPr>
              <a:defRPr sz="1575" b="0">
                <a:solidFill>
                  <a:srgbClr val="172D3C"/>
                </a:solidFill>
                <a:latin typeface="Arial"/>
                <a:ea typeface="Arial"/>
                <a:cs typeface="Arial"/>
              </a:defRPr>
            </a:lvl8pPr>
            <a:lvl9pPr>
              <a:defRPr sz="1575" b="0">
                <a:solidFill>
                  <a:srgbClr val="172D3C"/>
                </a:solidFill>
                <a:latin typeface="Arial"/>
                <a:ea typeface="Arial"/>
                <a:cs typeface="Arial"/>
              </a:defRPr>
            </a:lvl9pPr>
          </a:lstStyle>
          <a:p xmlns:a="http://schemas.openxmlformats.org/drawingml/2006/main">
            <a:pPr>
              <a:defRPr sz="1575" b="0">
                <a:solidFill>
                  <a:srgbClr val="172D3C"/>
                </a:solidFill>
                <a:latin typeface="Arial"/>
                <a:ea typeface="Arial"/>
                <a:cs typeface="Arial"/>
              </a:defRPr>
            </a:pPr>
            <a:r>
              <a:rPr sz="1575" b="0">
                <a:solidFill>
                  <a:srgbClr val="172D3C"/>
                </a:solidFill>
                <a:latin typeface="Arial"/>
                <a:ea typeface="Arial"/>
                <a:cs typeface="Arial"/>
              </a:rPr>
              <a:t>One focused judgment, discussed with your group.</a:t>
            </a:r>
          </a:p>
        </p:txBody>
      </p:sp>
    </p:spTree>
    <p:extLst>
      <p:ext uri="{BB962C8B-B14F-4D97-AF65-F5344CB8AC3E}">
        <p14:creationId xmlns:p14="http://schemas.microsoft.com/office/powerpoint/2010/main" val="2024736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DA4DA4-ED10-4DCE-8679-BFBCA4BEBFF0}"/>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3A7B04-0DA8-4003-96CE-AC20B3BA0DE7}"/>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Three ideas guide the entire lab</a:t>
            </a:r>
          </a:p>
        </p:txBody>
      </p:sp>
      <p:sp>
        <p:nvSpPr>
          <p:cNvPr id="3" name="">
            <a:extLst xmlns:a="http://schemas.openxmlformats.org/drawingml/2006/main">
              <a:ext uri="{FF2B5EF4-FFF2-40B4-BE49-F238E27FC236}">
                <a16:creationId xmlns:a16="http://schemas.microsoft.com/office/drawing/2014/main" id="{5DC3D0B8-8806-4A0E-9C58-BE9D8F293ED4}"/>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3191B5"/>
                </a:solidFill>
                <a:latin typeface="Arial"/>
                <a:ea typeface="Arial"/>
                <a:cs typeface="Arial"/>
              </a:defRPr>
            </a:defPPr>
            <a:lvl1pPr>
              <a:defRPr sz="900" b="1">
                <a:solidFill>
                  <a:srgbClr val="3191B5"/>
                </a:solidFill>
                <a:latin typeface="Arial"/>
                <a:ea typeface="Arial"/>
                <a:cs typeface="Arial"/>
              </a:defRPr>
            </a:lvl1pPr>
            <a:lvl2pPr>
              <a:defRPr sz="900" b="1">
                <a:solidFill>
                  <a:srgbClr val="3191B5"/>
                </a:solidFill>
                <a:latin typeface="Arial"/>
                <a:ea typeface="Arial"/>
                <a:cs typeface="Arial"/>
              </a:defRPr>
            </a:lvl2pPr>
            <a:lvl3pPr>
              <a:defRPr sz="900" b="1">
                <a:solidFill>
                  <a:srgbClr val="3191B5"/>
                </a:solidFill>
                <a:latin typeface="Arial"/>
                <a:ea typeface="Arial"/>
                <a:cs typeface="Arial"/>
              </a:defRPr>
            </a:lvl3pPr>
            <a:lvl4pPr>
              <a:defRPr sz="900" b="1">
                <a:solidFill>
                  <a:srgbClr val="3191B5"/>
                </a:solidFill>
                <a:latin typeface="Arial"/>
                <a:ea typeface="Arial"/>
                <a:cs typeface="Arial"/>
              </a:defRPr>
            </a:lvl4pPr>
            <a:lvl5pPr>
              <a:defRPr sz="900" b="1">
                <a:solidFill>
                  <a:srgbClr val="3191B5"/>
                </a:solidFill>
                <a:latin typeface="Arial"/>
                <a:ea typeface="Arial"/>
                <a:cs typeface="Arial"/>
              </a:defRPr>
            </a:lvl5pPr>
            <a:lvl6pPr>
              <a:defRPr sz="900" b="1">
                <a:solidFill>
                  <a:srgbClr val="3191B5"/>
                </a:solidFill>
                <a:latin typeface="Arial"/>
                <a:ea typeface="Arial"/>
                <a:cs typeface="Arial"/>
              </a:defRPr>
            </a:lvl6pPr>
            <a:lvl7pPr>
              <a:defRPr sz="900" b="1">
                <a:solidFill>
                  <a:srgbClr val="3191B5"/>
                </a:solidFill>
                <a:latin typeface="Arial"/>
                <a:ea typeface="Arial"/>
                <a:cs typeface="Arial"/>
              </a:defRPr>
            </a:lvl7pPr>
            <a:lvl8pPr>
              <a:defRPr sz="900" b="1">
                <a:solidFill>
                  <a:srgbClr val="3191B5"/>
                </a:solidFill>
                <a:latin typeface="Arial"/>
                <a:ea typeface="Arial"/>
                <a:cs typeface="Arial"/>
              </a:defRPr>
            </a:lvl8pPr>
            <a:lvl9pPr>
              <a:defRPr sz="900" b="1">
                <a:solidFill>
                  <a:srgbClr val="3191B5"/>
                </a:solidFill>
                <a:latin typeface="Arial"/>
                <a:ea typeface="Arial"/>
                <a:cs typeface="Arial"/>
              </a:defRPr>
            </a:lvl9pPr>
          </a:lstStyle>
          <a:p xmlns:a="http://schemas.openxmlformats.org/drawingml/2006/main">
            <a:pPr>
              <a:defRPr sz="900" b="1">
                <a:solidFill>
                  <a:srgbClr val="3191B5"/>
                </a:solidFill>
                <a:latin typeface="Arial"/>
                <a:ea typeface="Arial"/>
                <a:cs typeface="Arial"/>
              </a:defRPr>
            </a:pPr>
            <a:r>
              <a:rPr sz="900" b="1">
                <a:solidFill>
                  <a:srgbClr val="3191B5"/>
                </a:solidFill>
                <a:latin typeface="Arial"/>
                <a:ea typeface="Arial"/>
                <a:cs typeface="Arial"/>
              </a:rPr>
              <a:t>CONCEPT</a:t>
            </a:r>
          </a:p>
        </p:txBody>
      </p:sp>
      <p:sp>
        <p:nvSpPr>
          <p:cNvPr id="4" name="">
            <a:extLst xmlns:a="http://schemas.openxmlformats.org/drawingml/2006/main">
              <a:ext uri="{FF2B5EF4-FFF2-40B4-BE49-F238E27FC236}">
                <a16:creationId xmlns:a16="http://schemas.microsoft.com/office/drawing/2014/main" id="{E9AB6B65-EEFB-4525-8586-4DD7B04C74CA}"/>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EC4AFB04-A02B-438F-B506-ACB29B3F1F24}"/>
              </a:ext>
            </a:extLst>
          </p:cNvPr>
          <p:cNvSpPr>
            <a:spLocks xmlns:a="http://schemas.openxmlformats.org/drawingml/2006/main" noGrp="1"/>
          </p:cNvSpPr>
          <p:nvPr/>
        </p:nvSpPr>
        <p:spPr>
          <a:xfrm xmlns:a="http://schemas.openxmlformats.org/drawingml/2006/main">
            <a:off x="609600" y="1666875"/>
            <a:ext cx="3419475" cy="2857500"/>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6A93596-2DFC-4EF6-B464-01BCCD074D97}"/>
              </a:ext>
            </a:extLst>
          </p:cNvPr>
          <p:cNvSpPr>
            <a:spLocks xmlns:a="http://schemas.openxmlformats.org/drawingml/2006/main" noGrp="1"/>
          </p:cNvSpPr>
          <p:nvPr/>
        </p:nvSpPr>
        <p:spPr>
          <a:xfrm xmlns:a="http://schemas.openxmlformats.org/drawingml/2006/main">
            <a:off x="609600" y="1666875"/>
            <a:ext cx="47625" cy="285750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592972-7E5F-474C-A318-8646E3250381}"/>
              </a:ext>
            </a:extLst>
          </p:cNvPr>
          <p:cNvSpPr>
            <a:spLocks xmlns:a="http://schemas.openxmlformats.org/drawingml/2006/main" noGrp="1"/>
          </p:cNvSpPr>
          <p:nvPr/>
        </p:nvSpPr>
        <p:spPr>
          <a:xfrm xmlns:a="http://schemas.openxmlformats.org/drawingml/2006/main">
            <a:off x="800100" y="1809750"/>
            <a:ext cx="3038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1. Connected customer evidence</a:t>
            </a:r>
          </a:p>
        </p:txBody>
      </p:sp>
      <p:sp>
        <p:nvSpPr>
          <p:cNvPr id="8" name="">
            <a:extLst xmlns:a="http://schemas.openxmlformats.org/drawingml/2006/main">
              <a:ext uri="{FF2B5EF4-FFF2-40B4-BE49-F238E27FC236}">
                <a16:creationId xmlns:a16="http://schemas.microsoft.com/office/drawing/2014/main" id="{67827475-3CC1-4953-8365-FC14093626C7}"/>
              </a:ext>
            </a:extLst>
          </p:cNvPr>
          <p:cNvSpPr>
            <a:spLocks xmlns:a="http://schemas.openxmlformats.org/drawingml/2006/main" noGrp="1"/>
          </p:cNvSpPr>
          <p:nvPr/>
        </p:nvSpPr>
        <p:spPr>
          <a:xfrm xmlns:a="http://schemas.openxmlformats.org/drawingml/2006/main">
            <a:off x="800100" y="2238375"/>
            <a:ext cx="30384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The Universal Customer View classifies each dataset’s fields as Identifiers, Engagement, Relationship or Perception. It reveals what is recorded and what is missing.</a:t>
            </a:r>
          </a:p>
        </p:txBody>
      </p:sp>
      <p:sp>
        <p:nvSpPr>
          <p:cNvPr id="9" name="">
            <a:extLst xmlns:a="http://schemas.openxmlformats.org/drawingml/2006/main">
              <a:ext uri="{FF2B5EF4-FFF2-40B4-BE49-F238E27FC236}">
                <a16:creationId xmlns:a16="http://schemas.microsoft.com/office/drawing/2014/main" id="{CFA943C2-9048-45BF-B63F-CDF7DA1A18DB}"/>
              </a:ext>
            </a:extLst>
          </p:cNvPr>
          <p:cNvSpPr>
            <a:spLocks xmlns:a="http://schemas.openxmlformats.org/drawingml/2006/main" noGrp="1"/>
          </p:cNvSpPr>
          <p:nvPr/>
        </p:nvSpPr>
        <p:spPr>
          <a:xfrm xmlns:a="http://schemas.openxmlformats.org/drawingml/2006/main">
            <a:off x="4381500" y="1666875"/>
            <a:ext cx="3419475" cy="2857500"/>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CF51ED-9611-4F86-9706-088AF555D549}"/>
              </a:ext>
            </a:extLst>
          </p:cNvPr>
          <p:cNvSpPr>
            <a:spLocks xmlns:a="http://schemas.openxmlformats.org/drawingml/2006/main" noGrp="1"/>
          </p:cNvSpPr>
          <p:nvPr/>
        </p:nvSpPr>
        <p:spPr>
          <a:xfrm xmlns:a="http://schemas.openxmlformats.org/drawingml/2006/main">
            <a:off x="4381500" y="1666875"/>
            <a:ext cx="47625" cy="285750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66E467-326A-4E30-84E1-EA72F520E299}"/>
              </a:ext>
            </a:extLst>
          </p:cNvPr>
          <p:cNvSpPr>
            <a:spLocks xmlns:a="http://schemas.openxmlformats.org/drawingml/2006/main" noGrp="1"/>
          </p:cNvSpPr>
          <p:nvPr/>
        </p:nvSpPr>
        <p:spPr>
          <a:xfrm xmlns:a="http://schemas.openxmlformats.org/drawingml/2006/main">
            <a:off x="4572000" y="1809750"/>
            <a:ext cx="3038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2. Customer economics over time</a:t>
            </a:r>
          </a:p>
        </p:txBody>
      </p:sp>
      <p:sp>
        <p:nvSpPr>
          <p:cNvPr id="12" name="">
            <a:extLst xmlns:a="http://schemas.openxmlformats.org/drawingml/2006/main">
              <a:ext uri="{FF2B5EF4-FFF2-40B4-BE49-F238E27FC236}">
                <a16:creationId xmlns:a16="http://schemas.microsoft.com/office/drawing/2014/main" id="{2A2B6AAD-E246-4F1E-B0D6-E60758C4BEA4}"/>
              </a:ext>
            </a:extLst>
          </p:cNvPr>
          <p:cNvSpPr>
            <a:spLocks xmlns:a="http://schemas.openxmlformats.org/drawingml/2006/main" noGrp="1"/>
          </p:cNvSpPr>
          <p:nvPr/>
        </p:nvSpPr>
        <p:spPr>
          <a:xfrm xmlns:a="http://schemas.openxmlformats.org/drawingml/2006/main">
            <a:off x="4572000" y="2238375"/>
            <a:ext cx="30384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Joining cohorts distinguish customer age from calendar time. Retention, contribution and acquisition cost determine whether relationships create value.</a:t>
            </a:r>
          </a:p>
        </p:txBody>
      </p:sp>
      <p:sp>
        <p:nvSpPr>
          <p:cNvPr id="13" name="">
            <a:extLst xmlns:a="http://schemas.openxmlformats.org/drawingml/2006/main">
              <a:ext uri="{FF2B5EF4-FFF2-40B4-BE49-F238E27FC236}">
                <a16:creationId xmlns:a16="http://schemas.microsoft.com/office/drawing/2014/main" id="{AD671AD2-8289-4BED-8045-B3C75D356496}"/>
              </a:ext>
            </a:extLst>
          </p:cNvPr>
          <p:cNvSpPr>
            <a:spLocks xmlns:a="http://schemas.openxmlformats.org/drawingml/2006/main" noGrp="1"/>
          </p:cNvSpPr>
          <p:nvPr/>
        </p:nvSpPr>
        <p:spPr>
          <a:xfrm xmlns:a="http://schemas.openxmlformats.org/drawingml/2006/main">
            <a:off x="8153400" y="1666875"/>
            <a:ext cx="3429000" cy="2857500"/>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37F988-CA1C-4383-82DD-0C25BA1F98B1}"/>
              </a:ext>
            </a:extLst>
          </p:cNvPr>
          <p:cNvSpPr>
            <a:spLocks xmlns:a="http://schemas.openxmlformats.org/drawingml/2006/main" noGrp="1"/>
          </p:cNvSpPr>
          <p:nvPr/>
        </p:nvSpPr>
        <p:spPr>
          <a:xfrm xmlns:a="http://schemas.openxmlformats.org/drawingml/2006/main">
            <a:off x="8153400" y="1666875"/>
            <a:ext cx="47625" cy="285750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D50DAE2-7CF3-4A6C-BABF-E6252DFCA48E}"/>
              </a:ext>
            </a:extLst>
          </p:cNvPr>
          <p:cNvSpPr>
            <a:spLocks xmlns:a="http://schemas.openxmlformats.org/drawingml/2006/main" noGrp="1"/>
          </p:cNvSpPr>
          <p:nvPr/>
        </p:nvSpPr>
        <p:spPr>
          <a:xfrm xmlns:a="http://schemas.openxmlformats.org/drawingml/2006/main">
            <a:off x="8343900" y="18097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3. Incremental marketing value</a:t>
            </a:r>
          </a:p>
        </p:txBody>
      </p:sp>
      <p:sp>
        <p:nvSpPr>
          <p:cNvPr id="16" name="">
            <a:extLst xmlns:a="http://schemas.openxmlformats.org/drawingml/2006/main">
              <a:ext uri="{FF2B5EF4-FFF2-40B4-BE49-F238E27FC236}">
                <a16:creationId xmlns:a16="http://schemas.microsoft.com/office/drawing/2014/main" id="{EA32A369-6714-4905-B39D-6E72878269F7}"/>
              </a:ext>
            </a:extLst>
          </p:cNvPr>
          <p:cNvSpPr>
            <a:spLocks xmlns:a="http://schemas.openxmlformats.org/drawingml/2006/main" noGrp="1"/>
          </p:cNvSpPr>
          <p:nvPr/>
        </p:nvSpPr>
        <p:spPr>
          <a:xfrm xmlns:a="http://schemas.openxmlformats.org/drawingml/2006/main">
            <a:off x="8343900" y="2238375"/>
            <a:ext cx="30480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A randomized campaign comparison asks what changed because of the campaign. A high customer LTV alone cannot answer that question.</a:t>
            </a:r>
          </a:p>
        </p:txBody>
      </p:sp>
      <p:sp>
        <p:nvSpPr>
          <p:cNvPr id="17" name="">
            <a:extLst xmlns:a="http://schemas.openxmlformats.org/drawingml/2006/main">
              <a:ext uri="{FF2B5EF4-FFF2-40B4-BE49-F238E27FC236}">
                <a16:creationId xmlns:a16="http://schemas.microsoft.com/office/drawing/2014/main" id="{0C8A1CE9-46A8-49F0-B56A-147E8A0A02D9}"/>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A5402A9-E476-456B-A9AF-A4BE374B8BBF}"/>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AI proposes the work. Saved SQL, data checks, held-out outcomes and your judgment make the work reviewable.</a:t>
            </a:r>
          </a:p>
        </p:txBody>
      </p:sp>
    </p:spTree>
    <p:extLst>
      <p:ext uri="{BB962C8B-B14F-4D97-AF65-F5344CB8AC3E}">
        <p14:creationId xmlns:p14="http://schemas.microsoft.com/office/powerpoint/2010/main" val="7610855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6DECC4-1EA8-42BB-B603-7F4864C51B0B}"/>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B94E10-527F-4B83-89AF-85A942C9D7B8}"/>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Every dataset gets its own Universal Customer View</a:t>
            </a:r>
          </a:p>
        </p:txBody>
      </p:sp>
      <p:sp>
        <p:nvSpPr>
          <p:cNvPr id="3" name="">
            <a:extLst xmlns:a="http://schemas.openxmlformats.org/drawingml/2006/main">
              <a:ext uri="{FF2B5EF4-FFF2-40B4-BE49-F238E27FC236}">
                <a16:creationId xmlns:a16="http://schemas.microsoft.com/office/drawing/2014/main" id="{66F1AE71-141E-47A9-BB4A-4ABAD8B10F00}"/>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087F8C"/>
                </a:solidFill>
                <a:latin typeface="Arial"/>
                <a:ea typeface="Arial"/>
                <a:cs typeface="Arial"/>
              </a:defRPr>
            </a:defPPr>
            <a:lvl1pPr>
              <a:defRPr sz="900" b="1">
                <a:solidFill>
                  <a:srgbClr val="087F8C"/>
                </a:solidFill>
                <a:latin typeface="Arial"/>
                <a:ea typeface="Arial"/>
                <a:cs typeface="Arial"/>
              </a:defRPr>
            </a:lvl1pPr>
            <a:lvl2pPr>
              <a:defRPr sz="900" b="1">
                <a:solidFill>
                  <a:srgbClr val="087F8C"/>
                </a:solidFill>
                <a:latin typeface="Arial"/>
                <a:ea typeface="Arial"/>
                <a:cs typeface="Arial"/>
              </a:defRPr>
            </a:lvl2pPr>
            <a:lvl3pPr>
              <a:defRPr sz="900" b="1">
                <a:solidFill>
                  <a:srgbClr val="087F8C"/>
                </a:solidFill>
                <a:latin typeface="Arial"/>
                <a:ea typeface="Arial"/>
                <a:cs typeface="Arial"/>
              </a:defRPr>
            </a:lvl3pPr>
            <a:lvl4pPr>
              <a:defRPr sz="900" b="1">
                <a:solidFill>
                  <a:srgbClr val="087F8C"/>
                </a:solidFill>
                <a:latin typeface="Arial"/>
                <a:ea typeface="Arial"/>
                <a:cs typeface="Arial"/>
              </a:defRPr>
            </a:lvl4pPr>
            <a:lvl5pPr>
              <a:defRPr sz="900" b="1">
                <a:solidFill>
                  <a:srgbClr val="087F8C"/>
                </a:solidFill>
                <a:latin typeface="Arial"/>
                <a:ea typeface="Arial"/>
                <a:cs typeface="Arial"/>
              </a:defRPr>
            </a:lvl5pPr>
            <a:lvl6pPr>
              <a:defRPr sz="900" b="1">
                <a:solidFill>
                  <a:srgbClr val="087F8C"/>
                </a:solidFill>
                <a:latin typeface="Arial"/>
                <a:ea typeface="Arial"/>
                <a:cs typeface="Arial"/>
              </a:defRPr>
            </a:lvl6pPr>
            <a:lvl7pPr>
              <a:defRPr sz="900" b="1">
                <a:solidFill>
                  <a:srgbClr val="087F8C"/>
                </a:solidFill>
                <a:latin typeface="Arial"/>
                <a:ea typeface="Arial"/>
                <a:cs typeface="Arial"/>
              </a:defRPr>
            </a:lvl7pPr>
            <a:lvl8pPr>
              <a:defRPr sz="900" b="1">
                <a:solidFill>
                  <a:srgbClr val="087F8C"/>
                </a:solidFill>
                <a:latin typeface="Arial"/>
                <a:ea typeface="Arial"/>
                <a:cs typeface="Arial"/>
              </a:defRPr>
            </a:lvl8pPr>
            <a:lvl9pPr>
              <a:defRPr sz="900" b="1">
                <a:solidFill>
                  <a:srgbClr val="087F8C"/>
                </a:solidFill>
                <a:latin typeface="Arial"/>
                <a:ea typeface="Arial"/>
                <a:cs typeface="Arial"/>
              </a:defRPr>
            </a:lvl9pPr>
          </a:lstStyle>
          <a:p xmlns:a="http://schemas.openxmlformats.org/drawingml/2006/main">
            <a:pPr>
              <a:defRPr sz="900" b="1">
                <a:solidFill>
                  <a:srgbClr val="087F8C"/>
                </a:solidFill>
                <a:latin typeface="Arial"/>
                <a:ea typeface="Arial"/>
                <a:cs typeface="Arial"/>
              </a:defRPr>
            </a:pPr>
            <a:r>
              <a:rPr sz="900" b="1">
                <a:solidFill>
                  <a:srgbClr val="087F8C"/>
                </a:solidFill>
                <a:latin typeface="Arial"/>
                <a:ea typeface="Arial"/>
                <a:cs typeface="Arial"/>
              </a:rPr>
              <a:t>CASE APPLICATION</a:t>
            </a:r>
          </a:p>
        </p:txBody>
      </p:sp>
      <p:sp>
        <p:nvSpPr>
          <p:cNvPr id="4" name="">
            <a:extLst xmlns:a="http://schemas.openxmlformats.org/drawingml/2006/main">
              <a:ext uri="{FF2B5EF4-FFF2-40B4-BE49-F238E27FC236}">
                <a16:creationId xmlns:a16="http://schemas.microsoft.com/office/drawing/2014/main" id="{BA365744-BDD2-4203-AFE6-A7C67FCF37D5}"/>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FDB88B50-FC18-44CC-9627-7D1DAE3342BF}"/>
              </a:ext>
            </a:extLst>
          </p:cNvPr>
          <p:cNvSpPr>
            <a:spLocks xmlns:a="http://schemas.openxmlformats.org/drawingml/2006/main" noGrp="1"/>
          </p:cNvSpPr>
          <p:nvPr/>
        </p:nvSpPr>
        <p:spPr>
          <a:xfrm xmlns:a="http://schemas.openxmlformats.org/drawingml/2006/main">
            <a:off x="609600" y="14668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0">
                <a:solidFill>
                  <a:srgbClr val="172D3C"/>
                </a:solidFill>
                <a:latin typeface="Arial"/>
                <a:ea typeface="Arial"/>
                <a:cs typeface="Arial"/>
              </a:defRPr>
            </a:defPPr>
            <a:lvl1pPr>
              <a:defRPr sz="1800" b="0">
                <a:solidFill>
                  <a:srgbClr val="172D3C"/>
                </a:solidFill>
                <a:latin typeface="Arial"/>
                <a:ea typeface="Arial"/>
                <a:cs typeface="Arial"/>
              </a:defRPr>
            </a:lvl1pPr>
            <a:lvl2pPr>
              <a:defRPr sz="1800" b="0">
                <a:solidFill>
                  <a:srgbClr val="172D3C"/>
                </a:solidFill>
                <a:latin typeface="Arial"/>
                <a:ea typeface="Arial"/>
                <a:cs typeface="Arial"/>
              </a:defRPr>
            </a:lvl2pPr>
            <a:lvl3pPr>
              <a:defRPr sz="1800" b="0">
                <a:solidFill>
                  <a:srgbClr val="172D3C"/>
                </a:solidFill>
                <a:latin typeface="Arial"/>
                <a:ea typeface="Arial"/>
                <a:cs typeface="Arial"/>
              </a:defRPr>
            </a:lvl3pPr>
            <a:lvl4pPr>
              <a:defRPr sz="1800" b="0">
                <a:solidFill>
                  <a:srgbClr val="172D3C"/>
                </a:solidFill>
                <a:latin typeface="Arial"/>
                <a:ea typeface="Arial"/>
                <a:cs typeface="Arial"/>
              </a:defRPr>
            </a:lvl4pPr>
            <a:lvl5pPr>
              <a:defRPr sz="1800" b="0">
                <a:solidFill>
                  <a:srgbClr val="172D3C"/>
                </a:solidFill>
                <a:latin typeface="Arial"/>
                <a:ea typeface="Arial"/>
                <a:cs typeface="Arial"/>
              </a:defRPr>
            </a:lvl5pPr>
            <a:lvl6pPr>
              <a:defRPr sz="1800" b="0">
                <a:solidFill>
                  <a:srgbClr val="172D3C"/>
                </a:solidFill>
                <a:latin typeface="Arial"/>
                <a:ea typeface="Arial"/>
                <a:cs typeface="Arial"/>
              </a:defRPr>
            </a:lvl6pPr>
            <a:lvl7pPr>
              <a:defRPr sz="1800" b="0">
                <a:solidFill>
                  <a:srgbClr val="172D3C"/>
                </a:solidFill>
                <a:latin typeface="Arial"/>
                <a:ea typeface="Arial"/>
                <a:cs typeface="Arial"/>
              </a:defRPr>
            </a:lvl7pPr>
            <a:lvl8pPr>
              <a:defRPr sz="1800" b="0">
                <a:solidFill>
                  <a:srgbClr val="172D3C"/>
                </a:solidFill>
                <a:latin typeface="Arial"/>
                <a:ea typeface="Arial"/>
                <a:cs typeface="Arial"/>
              </a:defRPr>
            </a:lvl8pPr>
            <a:lvl9pPr>
              <a:defRPr sz="1800" b="0">
                <a:solidFill>
                  <a:srgbClr val="172D3C"/>
                </a:solidFill>
                <a:latin typeface="Arial"/>
                <a:ea typeface="Arial"/>
                <a:cs typeface="Arial"/>
              </a:defRPr>
            </a:lvl9pPr>
          </a:lstStyle>
          <a:p xmlns:a="http://schemas.openxmlformats.org/drawingml/2006/main">
            <a:pPr>
              <a:defRPr sz="1800" b="0">
                <a:solidFill>
                  <a:srgbClr val="172D3C"/>
                </a:solidFill>
                <a:latin typeface="Arial"/>
                <a:ea typeface="Arial"/>
                <a:cs typeface="Arial"/>
              </a:defRPr>
            </a:pPr>
            <a:r>
              <a:rPr sz="1800" b="0">
                <a:solidFill>
                  <a:srgbClr val="172D3C"/>
                </a:solidFill>
                <a:latin typeface="Arial"/>
                <a:ea typeface="Arial"/>
                <a:cs typeface="Arial"/>
              </a:rPr>
              <a:t>Example: people.csv contains one record per person, including prospects who never buy.</a:t>
            </a:r>
          </a:p>
        </p:txBody>
      </p:sp>
      <p:sp>
        <p:nvSpPr>
          <p:cNvPr id="6" name="">
            <a:extLst xmlns:a="http://schemas.openxmlformats.org/drawingml/2006/main">
              <a:ext uri="{FF2B5EF4-FFF2-40B4-BE49-F238E27FC236}">
                <a16:creationId xmlns:a16="http://schemas.microsoft.com/office/drawing/2014/main" id="{EAEBC0A5-9DA5-4FA1-999E-DDB6921D43CB}"/>
              </a:ext>
            </a:extLst>
          </p:cNvPr>
          <p:cNvSpPr>
            <a:spLocks xmlns:a="http://schemas.openxmlformats.org/drawingml/2006/main" noGrp="1"/>
          </p:cNvSpPr>
          <p:nvPr/>
        </p:nvSpPr>
        <p:spPr>
          <a:xfrm xmlns:a="http://schemas.openxmlformats.org/drawingml/2006/main">
            <a:off x="609600" y="2066925"/>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Table 1. Field classification for people.csv</a:t>
            </a:r>
          </a:p>
        </p:txBody>
      </p:sp>
      <p:graphicFrame>
        <p:nvGraphicFramePr>
          <p:cNvPr id="7" name="">
            <a:extLst xmlns:a="http://schemas.openxmlformats.org/drawingml/2006/main">
              <a:ext uri="{FF2B5EF4-FFF2-40B4-BE49-F238E27FC236}">
                <a16:creationId xmlns:a16="http://schemas.microsoft.com/office/drawing/2014/main" id="{758DF023-7ED6-41A2-8696-055C81676A8C}"/>
              </a:ext>
            </a:extLst>
          </p:cNvPr>
          <p:cNvGraphicFramePr/>
          <p:nvPr/>
        </p:nvGraphicFramePr>
        <p:xfrm>
          <a:off xmlns:a="http://schemas.openxmlformats.org/drawingml/2006/main" x="609600" y="2324100"/>
          <a:ext xmlns:a="http://schemas.openxmlformats.org/drawingml/2006/main" cx="10972800" cy="2228850"/>
        </p:xfrm>
        <a:graphic xmlns:a="http://schemas.openxmlformats.org/drawingml/2006/main">
          <a:graphicData uri="http://schemas.openxmlformats.org/drawingml/2006/table">
            <a:tbl>
              <a:tblPr/>
              <a:tblGrid>
                <a:gridCol w="2743200"/>
                <a:gridCol w="2743200"/>
                <a:gridCol w="2743200"/>
                <a:gridCol w="2743200"/>
              </a:tblGrid>
              <a:tr h="476250">
                <a:tc>
                  <a:txBody>
                    <a:bodyPr/>
                    <a:lstStyle/>
                    <a:p>
                      <a:r>
                        <a:rPr sz="1350" b="1">
                          <a:solidFill>
                            <a:srgbClr val="FFFFFF"/>
                          </a:solidFill>
                          <a:latin typeface="Arial"/>
                          <a:ea typeface="Arial"/>
                          <a:cs typeface="Arial"/>
                        </a:rPr>
                        <a:t>Identifiers</a:t>
                      </a:r>
                    </a:p>
                  </a:txBody>
                  <a:tcPr marL="91440" marR="91440" marT="45720" marB="45720">
                    <a:solidFill>
                      <a:srgbClr val="172D3C"/>
                    </a:solidFill>
                  </a:tcPr>
                </a:tc>
                <a:tc>
                  <a:txBody>
                    <a:bodyPr/>
                    <a:lstStyle/>
                    <a:p>
                      <a:r>
                        <a:rPr sz="1350" b="1">
                          <a:solidFill>
                            <a:srgbClr val="FFFFFF"/>
                          </a:solidFill>
                          <a:latin typeface="Arial"/>
                          <a:ea typeface="Arial"/>
                          <a:cs typeface="Arial"/>
                        </a:rPr>
                        <a:t>Engagement</a:t>
                      </a:r>
                    </a:p>
                  </a:txBody>
                  <a:tcPr marL="91440" marR="91440" marT="45720" marB="45720">
                    <a:solidFill>
                      <a:srgbClr val="172D3C"/>
                    </a:solidFill>
                  </a:tcPr>
                </a:tc>
                <a:tc>
                  <a:txBody>
                    <a:bodyPr/>
                    <a:lstStyle/>
                    <a:p>
                      <a:r>
                        <a:rPr sz="1350" b="1">
                          <a:solidFill>
                            <a:srgbClr val="FFFFFF"/>
                          </a:solidFill>
                          <a:latin typeface="Arial"/>
                          <a:ea typeface="Arial"/>
                          <a:cs typeface="Arial"/>
                        </a:rPr>
                        <a:t>Relationship</a:t>
                      </a:r>
                    </a:p>
                  </a:txBody>
                  <a:tcPr marL="91440" marR="91440" marT="45720" marB="45720">
                    <a:solidFill>
                      <a:srgbClr val="172D3C"/>
                    </a:solidFill>
                  </a:tcPr>
                </a:tc>
                <a:tc>
                  <a:txBody>
                    <a:bodyPr/>
                    <a:lstStyle/>
                    <a:p>
                      <a:r>
                        <a:rPr sz="1350" b="1">
                          <a:solidFill>
                            <a:srgbClr val="FFFFFF"/>
                          </a:solidFill>
                          <a:latin typeface="Arial"/>
                          <a:ea typeface="Arial"/>
                          <a:cs typeface="Arial"/>
                        </a:rPr>
                        <a:t>Perception</a:t>
                      </a:r>
                    </a:p>
                  </a:txBody>
                  <a:tcPr marL="91440" marR="91440" marT="45720" marB="45720">
                    <a:solidFill>
                      <a:srgbClr val="172D3C"/>
                    </a:solidFill>
                  </a:tcPr>
                </a:tc>
              </a:tr>
              <a:tr h="1752600">
                <a:tc>
                  <a:txBody>
                    <a:bodyPr/>
                    <a:lstStyle/>
                    <a:p>
                      <a:r>
                        <a:rPr sz="1425" b="0">
                          <a:solidFill>
                            <a:srgbClr val="172D3C"/>
                          </a:solidFill>
                          <a:latin typeface="Arial"/>
                          <a:ea typeface="Arial"/>
                          <a:cs typeface="Arial"/>
                        </a:rPr>
                        <a:t>person_id</a:t>
                      </a:r>
                    </a:p>
                    <a:p>
                      <a:r>
                        <a:rPr sz="1425" b="0">
                          <a:solidFill>
                            <a:srgbClr val="172D3C"/>
                          </a:solidFill>
                          <a:latin typeface="Arial"/>
                          <a:ea typeface="Arial"/>
                          <a:cs typeface="Arial"/>
                        </a:rPr>
                        <a:t>age_band</a:t>
                      </a:r>
                    </a:p>
                    <a:p>
                      <a:r>
                        <a:rPr sz="1425" b="0">
                          <a:solidFill>
                            <a:srgbClr val="172D3C"/>
                          </a:solidFill>
                          <a:latin typeface="Arial"/>
                          <a:ea typeface="Arial"/>
                          <a:cs typeface="Arial"/>
                        </a:rPr>
                        <a:t>household_type</a:t>
                      </a:r>
                    </a:p>
                    <a:p>
                      <a:r>
                        <a:rPr sz="1425" b="0">
                          <a:solidFill>
                            <a:srgbClr val="172D3C"/>
                          </a:solidFill>
                          <a:latin typeface="Arial"/>
                          <a:ea typeface="Arial"/>
                          <a:cs typeface="Arial"/>
                        </a:rPr>
                        <a:t>region</a:t>
                      </a:r>
                    </a:p>
                  </a:txBody>
                  <a:tcPr marL="91440" marR="91440" marT="45720" marB="45720">
                    <a:solidFill>
                      <a:srgbClr val="F0F5F6"/>
                    </a:solidFill>
                  </a:tcPr>
                </a:tc>
                <a:tc>
                  <a:txBody>
                    <a:bodyPr/>
                    <a:lstStyle/>
                    <a:p>
                      <a:r>
                        <a:rPr sz="1425" b="0">
                          <a:solidFill>
                            <a:srgbClr val="172D3C"/>
                          </a:solidFill>
                          <a:latin typeface="Arial"/>
                          <a:ea typeface="Arial"/>
                          <a:cs typeface="Arial"/>
                        </a:rPr>
                        <a:t>—</a:t>
                      </a:r>
                    </a:p>
                  </a:txBody>
                  <a:tcPr marL="91440" marR="91440" marT="45720" marB="45720">
                    <a:solidFill>
                      <a:srgbClr val="F0F5F6"/>
                    </a:solidFill>
                  </a:tcPr>
                </a:tc>
                <a:tc>
                  <a:txBody>
                    <a:bodyPr/>
                    <a:lstStyle/>
                    <a:p>
                      <a:r>
                        <a:rPr sz="1425" b="0">
                          <a:solidFill>
                            <a:srgbClr val="172D3C"/>
                          </a:solidFill>
                          <a:latin typeface="Arial"/>
                          <a:ea typeface="Arial"/>
                          <a:cs typeface="Arial"/>
                        </a:rPr>
                        <a:t>record_created_at</a:t>
                      </a:r>
                    </a:p>
                    <a:p>
                      <a:r>
                        <a:rPr sz="1425" b="0">
                          <a:solidFill>
                            <a:srgbClr val="172D3C"/>
                          </a:solidFill>
                          <a:latin typeface="Arial"/>
                          <a:ea typeface="Arial"/>
                          <a:cs typeface="Arial"/>
                        </a:rPr>
                        <a:t>attributes_recorded_at</a:t>
                      </a:r>
                    </a:p>
                  </a:txBody>
                  <a:tcPr marL="91440" marR="91440" marT="45720" marB="45720">
                    <a:solidFill>
                      <a:srgbClr val="F0F5F6"/>
                    </a:solidFill>
                  </a:tcPr>
                </a:tc>
                <a:tc>
                  <a:txBody>
                    <a:bodyPr/>
                    <a:lstStyle/>
                    <a:p>
                      <a:r>
                        <a:rPr sz="1425" b="0">
                          <a:solidFill>
                            <a:srgbClr val="172D3C"/>
                          </a:solidFill>
                          <a:latin typeface="Arial"/>
                          <a:ea typeface="Arial"/>
                          <a:cs typeface="Arial"/>
                        </a:rPr>
                        <a:t>primary_need</a:t>
                      </a:r>
                    </a:p>
                  </a:txBody>
                  <a:tcPr marL="91440" marR="91440" marT="45720" marB="45720">
                    <a:solidFill>
                      <a:srgbClr val="F0F5F6"/>
                    </a:solidFill>
                  </a:tcPr>
                </a:tc>
              </a:tr>
            </a:tbl>
          </a:graphicData>
        </a:graphic>
      </p:graphicFrame>
      <p:sp>
        <p:nvSpPr>
          <p:cNvPr id="8" name="">
            <a:extLst xmlns:a="http://schemas.openxmlformats.org/drawingml/2006/main">
              <a:ext uri="{FF2B5EF4-FFF2-40B4-BE49-F238E27FC236}">
                <a16:creationId xmlns:a16="http://schemas.microsoft.com/office/drawing/2014/main" id="{2B2477D5-230D-4484-BDF0-7ED5E251B9B0}"/>
              </a:ext>
            </a:extLst>
          </p:cNvPr>
          <p:cNvSpPr>
            <a:spLocks xmlns:a="http://schemas.openxmlformats.org/drawingml/2006/main" noGrp="1"/>
          </p:cNvSpPr>
          <p:nvPr/>
        </p:nvSpPr>
        <p:spPr>
          <a:xfrm xmlns:a="http://schemas.openxmlformats.org/drawingml/2006/main">
            <a:off x="609600" y="47244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650" b="0">
                <a:solidFill>
                  <a:srgbClr val="172D3C"/>
                </a:solidFill>
                <a:latin typeface="Arial"/>
                <a:ea typeface="Arial"/>
                <a:cs typeface="Arial"/>
              </a:defRPr>
            </a:defPPr>
            <a:lvl1pPr>
              <a:defRPr sz="1650" b="0">
                <a:solidFill>
                  <a:srgbClr val="172D3C"/>
                </a:solidFill>
                <a:latin typeface="Arial"/>
                <a:ea typeface="Arial"/>
                <a:cs typeface="Arial"/>
              </a:defRPr>
            </a:lvl1pPr>
            <a:lvl2pPr>
              <a:defRPr sz="1650" b="0">
                <a:solidFill>
                  <a:srgbClr val="172D3C"/>
                </a:solidFill>
                <a:latin typeface="Arial"/>
                <a:ea typeface="Arial"/>
                <a:cs typeface="Arial"/>
              </a:defRPr>
            </a:lvl2pPr>
            <a:lvl3pPr>
              <a:defRPr sz="1650" b="0">
                <a:solidFill>
                  <a:srgbClr val="172D3C"/>
                </a:solidFill>
                <a:latin typeface="Arial"/>
                <a:ea typeface="Arial"/>
                <a:cs typeface="Arial"/>
              </a:defRPr>
            </a:lvl3pPr>
            <a:lvl4pPr>
              <a:defRPr sz="1650" b="0">
                <a:solidFill>
                  <a:srgbClr val="172D3C"/>
                </a:solidFill>
                <a:latin typeface="Arial"/>
                <a:ea typeface="Arial"/>
                <a:cs typeface="Arial"/>
              </a:defRPr>
            </a:lvl4pPr>
            <a:lvl5pPr>
              <a:defRPr sz="1650" b="0">
                <a:solidFill>
                  <a:srgbClr val="172D3C"/>
                </a:solidFill>
                <a:latin typeface="Arial"/>
                <a:ea typeface="Arial"/>
                <a:cs typeface="Arial"/>
              </a:defRPr>
            </a:lvl5pPr>
            <a:lvl6pPr>
              <a:defRPr sz="1650" b="0">
                <a:solidFill>
                  <a:srgbClr val="172D3C"/>
                </a:solidFill>
                <a:latin typeface="Arial"/>
                <a:ea typeface="Arial"/>
                <a:cs typeface="Arial"/>
              </a:defRPr>
            </a:lvl6pPr>
            <a:lvl7pPr>
              <a:defRPr sz="1650" b="0">
                <a:solidFill>
                  <a:srgbClr val="172D3C"/>
                </a:solidFill>
                <a:latin typeface="Arial"/>
                <a:ea typeface="Arial"/>
                <a:cs typeface="Arial"/>
              </a:defRPr>
            </a:lvl7pPr>
            <a:lvl8pPr>
              <a:defRPr sz="1650" b="0">
                <a:solidFill>
                  <a:srgbClr val="172D3C"/>
                </a:solidFill>
                <a:latin typeface="Arial"/>
                <a:ea typeface="Arial"/>
                <a:cs typeface="Arial"/>
              </a:defRPr>
            </a:lvl8pPr>
            <a:lvl9pPr>
              <a:defRPr sz="1650" b="0">
                <a:solidFill>
                  <a:srgbClr val="172D3C"/>
                </a:solidFill>
                <a:latin typeface="Arial"/>
                <a:ea typeface="Arial"/>
                <a:cs typeface="Arial"/>
              </a:defRPr>
            </a:lvl9pPr>
          </a:lstStyle>
          <a:p xmlns:a="http://schemas.openxmlformats.org/drawingml/2006/main">
            <a:pPr>
              <a:defRPr sz="1650" b="0">
                <a:solidFill>
                  <a:srgbClr val="172D3C"/>
                </a:solidFill>
                <a:latin typeface="Arial"/>
                <a:ea typeface="Arial"/>
                <a:cs typeface="Arial"/>
              </a:defRPr>
            </a:pPr>
            <a:r>
              <a:rPr sz="1650" b="0">
                <a:solidFill>
                  <a:srgbClr val="172D3C"/>
                </a:solidFill>
                <a:latin typeface="Arial"/>
                <a:ea typeface="Arial"/>
                <a:cs typeface="Arial"/>
              </a:rPr>
              <a:t>The stated need is a reported intention. Profile timestamps document when the relationship information became available.</a:t>
            </a:r>
          </a:p>
        </p:txBody>
      </p:sp>
      <p:sp>
        <p:nvSpPr>
          <p:cNvPr id="9" name="">
            <a:extLst xmlns:a="http://schemas.openxmlformats.org/drawingml/2006/main">
              <a:ext uri="{FF2B5EF4-FFF2-40B4-BE49-F238E27FC236}">
                <a16:creationId xmlns:a16="http://schemas.microsoft.com/office/drawing/2014/main" id="{465D0FE7-3A12-42D2-A2B7-070D25C2B311}"/>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EAF4F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984CED-A556-4CB0-A430-E28AD7B4C2E8}"/>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Repeat this field-level table for all eight exports, then open the Archify map of keys, grains and connections.</a:t>
            </a:r>
          </a:p>
        </p:txBody>
      </p:sp>
    </p:spTree>
    <p:extLst>
      <p:ext uri="{BB962C8B-B14F-4D97-AF65-F5344CB8AC3E}">
        <p14:creationId xmlns:p14="http://schemas.microsoft.com/office/powerpoint/2010/main" val="17292046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123916-F131-4E36-8B50-0B5276EDD855}"/>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BB64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F69F4A-41DB-4072-82EB-D513777C5F39}"/>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Group decision 1: who needs which onboarding route?</a:t>
            </a:r>
          </a:p>
        </p:txBody>
      </p:sp>
      <p:sp>
        <p:nvSpPr>
          <p:cNvPr id="3" name="">
            <a:extLst xmlns:a="http://schemas.openxmlformats.org/drawingml/2006/main">
              <a:ext uri="{FF2B5EF4-FFF2-40B4-BE49-F238E27FC236}">
                <a16:creationId xmlns:a16="http://schemas.microsoft.com/office/drawing/2014/main" id="{3CF8D1D4-99B5-4DEC-9EE7-379CA10952C4}"/>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BB6427"/>
                </a:solidFill>
                <a:latin typeface="Arial"/>
                <a:ea typeface="Arial"/>
                <a:cs typeface="Arial"/>
              </a:defRPr>
            </a:defPPr>
            <a:lvl1pPr>
              <a:defRPr sz="900" b="1">
                <a:solidFill>
                  <a:srgbClr val="BB6427"/>
                </a:solidFill>
                <a:latin typeface="Arial"/>
                <a:ea typeface="Arial"/>
                <a:cs typeface="Arial"/>
              </a:defRPr>
            </a:lvl1pPr>
            <a:lvl2pPr>
              <a:defRPr sz="900" b="1">
                <a:solidFill>
                  <a:srgbClr val="BB6427"/>
                </a:solidFill>
                <a:latin typeface="Arial"/>
                <a:ea typeface="Arial"/>
                <a:cs typeface="Arial"/>
              </a:defRPr>
            </a:lvl2pPr>
            <a:lvl3pPr>
              <a:defRPr sz="900" b="1">
                <a:solidFill>
                  <a:srgbClr val="BB6427"/>
                </a:solidFill>
                <a:latin typeface="Arial"/>
                <a:ea typeface="Arial"/>
                <a:cs typeface="Arial"/>
              </a:defRPr>
            </a:lvl3pPr>
            <a:lvl4pPr>
              <a:defRPr sz="900" b="1">
                <a:solidFill>
                  <a:srgbClr val="BB6427"/>
                </a:solidFill>
                <a:latin typeface="Arial"/>
                <a:ea typeface="Arial"/>
                <a:cs typeface="Arial"/>
              </a:defRPr>
            </a:lvl4pPr>
            <a:lvl5pPr>
              <a:defRPr sz="900" b="1">
                <a:solidFill>
                  <a:srgbClr val="BB6427"/>
                </a:solidFill>
                <a:latin typeface="Arial"/>
                <a:ea typeface="Arial"/>
                <a:cs typeface="Arial"/>
              </a:defRPr>
            </a:lvl5pPr>
            <a:lvl6pPr>
              <a:defRPr sz="900" b="1">
                <a:solidFill>
                  <a:srgbClr val="BB6427"/>
                </a:solidFill>
                <a:latin typeface="Arial"/>
                <a:ea typeface="Arial"/>
                <a:cs typeface="Arial"/>
              </a:defRPr>
            </a:lvl6pPr>
            <a:lvl7pPr>
              <a:defRPr sz="900" b="1">
                <a:solidFill>
                  <a:srgbClr val="BB6427"/>
                </a:solidFill>
                <a:latin typeface="Arial"/>
                <a:ea typeface="Arial"/>
                <a:cs typeface="Arial"/>
              </a:defRPr>
            </a:lvl7pPr>
            <a:lvl8pPr>
              <a:defRPr sz="900" b="1">
                <a:solidFill>
                  <a:srgbClr val="BB6427"/>
                </a:solidFill>
                <a:latin typeface="Arial"/>
                <a:ea typeface="Arial"/>
                <a:cs typeface="Arial"/>
              </a:defRPr>
            </a:lvl8pPr>
            <a:lvl9pPr>
              <a:defRPr sz="900" b="1">
                <a:solidFill>
                  <a:srgbClr val="BB6427"/>
                </a:solidFill>
                <a:latin typeface="Arial"/>
                <a:ea typeface="Arial"/>
                <a:cs typeface="Arial"/>
              </a:defRPr>
            </a:lvl9pPr>
          </a:lstStyle>
          <a:p xmlns:a="http://schemas.openxmlformats.org/drawingml/2006/main">
            <a:pPr>
              <a:defRPr sz="900" b="1">
                <a:solidFill>
                  <a:srgbClr val="BB6427"/>
                </a:solidFill>
                <a:latin typeface="Arial"/>
                <a:ea typeface="Arial"/>
                <a:cs typeface="Arial"/>
              </a:defRPr>
            </a:pPr>
            <a:r>
              <a:rPr sz="900" b="1">
                <a:solidFill>
                  <a:srgbClr val="BB6427"/>
                </a:solidFill>
                <a:latin typeface="Arial"/>
                <a:ea typeface="Arial"/>
                <a:cs typeface="Arial"/>
              </a:rPr>
              <a:t>GROUP DECISION</a:t>
            </a:r>
          </a:p>
        </p:txBody>
      </p:sp>
      <p:sp>
        <p:nvSpPr>
          <p:cNvPr id="4" name="">
            <a:extLst xmlns:a="http://schemas.openxmlformats.org/drawingml/2006/main">
              <a:ext uri="{FF2B5EF4-FFF2-40B4-BE49-F238E27FC236}">
                <a16:creationId xmlns:a16="http://schemas.microsoft.com/office/drawing/2014/main" id="{40FD355C-13E8-43E5-8D41-35A38584D486}"/>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213893FF-BE9C-46F4-AD2E-AC8A26F8F481}"/>
              </a:ext>
            </a:extLst>
          </p:cNvPr>
          <p:cNvSpPr>
            <a:spLocks xmlns:a="http://schemas.openxmlformats.org/drawingml/2006/main" noGrp="1"/>
          </p:cNvSpPr>
          <p:nvPr/>
        </p:nvSpPr>
        <p:spPr>
          <a:xfrm xmlns:a="http://schemas.openxmlformats.org/drawingml/2006/main">
            <a:off x="609600" y="14954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950" b="0">
                <a:solidFill>
                  <a:srgbClr val="172D3C"/>
                </a:solidFill>
                <a:latin typeface="Arial"/>
                <a:ea typeface="Arial"/>
                <a:cs typeface="Arial"/>
              </a:defRPr>
            </a:defPPr>
            <a:lvl1pPr>
              <a:defRPr sz="1950" b="0">
                <a:solidFill>
                  <a:srgbClr val="172D3C"/>
                </a:solidFill>
                <a:latin typeface="Arial"/>
                <a:ea typeface="Arial"/>
                <a:cs typeface="Arial"/>
              </a:defRPr>
            </a:lvl1pPr>
            <a:lvl2pPr>
              <a:defRPr sz="1950" b="0">
                <a:solidFill>
                  <a:srgbClr val="172D3C"/>
                </a:solidFill>
                <a:latin typeface="Arial"/>
                <a:ea typeface="Arial"/>
                <a:cs typeface="Arial"/>
              </a:defRPr>
            </a:lvl2pPr>
            <a:lvl3pPr>
              <a:defRPr sz="1950" b="0">
                <a:solidFill>
                  <a:srgbClr val="172D3C"/>
                </a:solidFill>
                <a:latin typeface="Arial"/>
                <a:ea typeface="Arial"/>
                <a:cs typeface="Arial"/>
              </a:defRPr>
            </a:lvl3pPr>
            <a:lvl4pPr>
              <a:defRPr sz="1950" b="0">
                <a:solidFill>
                  <a:srgbClr val="172D3C"/>
                </a:solidFill>
                <a:latin typeface="Arial"/>
                <a:ea typeface="Arial"/>
                <a:cs typeface="Arial"/>
              </a:defRPr>
            </a:lvl4pPr>
            <a:lvl5pPr>
              <a:defRPr sz="1950" b="0">
                <a:solidFill>
                  <a:srgbClr val="172D3C"/>
                </a:solidFill>
                <a:latin typeface="Arial"/>
                <a:ea typeface="Arial"/>
                <a:cs typeface="Arial"/>
              </a:defRPr>
            </a:lvl5pPr>
            <a:lvl6pPr>
              <a:defRPr sz="1950" b="0">
                <a:solidFill>
                  <a:srgbClr val="172D3C"/>
                </a:solidFill>
                <a:latin typeface="Arial"/>
                <a:ea typeface="Arial"/>
                <a:cs typeface="Arial"/>
              </a:defRPr>
            </a:lvl6pPr>
            <a:lvl7pPr>
              <a:defRPr sz="1950" b="0">
                <a:solidFill>
                  <a:srgbClr val="172D3C"/>
                </a:solidFill>
                <a:latin typeface="Arial"/>
                <a:ea typeface="Arial"/>
                <a:cs typeface="Arial"/>
              </a:defRPr>
            </a:lvl7pPr>
            <a:lvl8pPr>
              <a:defRPr sz="1950" b="0">
                <a:solidFill>
                  <a:srgbClr val="172D3C"/>
                </a:solidFill>
                <a:latin typeface="Arial"/>
                <a:ea typeface="Arial"/>
                <a:cs typeface="Arial"/>
              </a:defRPr>
            </a:lvl8pPr>
            <a:lvl9pPr>
              <a:defRPr sz="1950" b="0">
                <a:solidFill>
                  <a:srgbClr val="172D3C"/>
                </a:solidFill>
                <a:latin typeface="Arial"/>
                <a:ea typeface="Arial"/>
                <a:cs typeface="Arial"/>
              </a:defRPr>
            </a:lvl9pPr>
          </a:lstStyle>
          <a:p xmlns:a="http://schemas.openxmlformats.org/drawingml/2006/main">
            <a:pPr>
              <a:defRPr sz="1950" b="0">
                <a:solidFill>
                  <a:srgbClr val="172D3C"/>
                </a:solidFill>
                <a:latin typeface="Arial"/>
                <a:ea typeface="Arial"/>
                <a:cs typeface="Arial"/>
              </a:defRPr>
            </a:pPr>
            <a:r>
              <a:rPr sz="1950" b="0">
                <a:solidFill>
                  <a:srgbClr val="172D3C"/>
                </a:solidFill>
                <a:latin typeface="Arial"/>
                <a:ea typeface="Arial"/>
                <a:cs typeface="Arial"/>
              </a:rPr>
              <a:t>Studio North can offer a ready-to-use template or a guided lesson. Which recorded grouping should inform these onboarding routes?</a:t>
            </a:r>
          </a:p>
        </p:txBody>
      </p:sp>
      <p:sp>
        <p:nvSpPr>
          <p:cNvPr id="6" name="">
            <a:extLst xmlns:a="http://schemas.openxmlformats.org/drawingml/2006/main">
              <a:ext uri="{FF2B5EF4-FFF2-40B4-BE49-F238E27FC236}">
                <a16:creationId xmlns:a16="http://schemas.microsoft.com/office/drawing/2014/main" id="{1D242E34-CC15-4DF3-B5FF-8F493E6B7827}"/>
              </a:ext>
            </a:extLst>
          </p:cNvPr>
          <p:cNvSpPr>
            <a:spLocks xmlns:a="http://schemas.openxmlformats.org/drawingml/2006/main" noGrp="1"/>
          </p:cNvSpPr>
          <p:nvPr/>
        </p:nvSpPr>
        <p:spPr>
          <a:xfrm xmlns:a="http://schemas.openxmlformats.org/drawingml/2006/main">
            <a:off x="609600" y="2257425"/>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Table 2. Two candidate grouping rules</a:t>
            </a:r>
          </a:p>
        </p:txBody>
      </p:sp>
      <p:graphicFrame>
        <p:nvGraphicFramePr>
          <p:cNvPr id="7" name="">
            <a:extLst xmlns:a="http://schemas.openxmlformats.org/drawingml/2006/main">
              <a:ext uri="{FF2B5EF4-FFF2-40B4-BE49-F238E27FC236}">
                <a16:creationId xmlns:a16="http://schemas.microsoft.com/office/drawing/2014/main" id="{CB087D58-8701-4CF5-B4BD-A8C8B676E1B6}"/>
              </a:ext>
            </a:extLst>
          </p:cNvPr>
          <p:cNvGraphicFramePr/>
          <p:nvPr/>
        </p:nvGraphicFramePr>
        <p:xfrm>
          <a:off xmlns:a="http://schemas.openxmlformats.org/drawingml/2006/main" x="609600" y="2505075"/>
          <a:ext xmlns:a="http://schemas.openxmlformats.org/drawingml/2006/main" cx="10972800" cy="1638300"/>
        </p:xfrm>
        <a:graphic xmlns:a="http://schemas.openxmlformats.org/drawingml/2006/main">
          <a:graphicData uri="http://schemas.openxmlformats.org/drawingml/2006/table">
            <a:tbl>
              <a:tblPr/>
              <a:tblGrid>
                <a:gridCol w="2857500"/>
                <a:gridCol w="3667125"/>
                <a:gridCol w="4448175"/>
              </a:tblGrid>
              <a:tr h="546100">
                <a:tc>
                  <a:txBody>
                    <a:bodyPr/>
                    <a:lstStyle/>
                    <a:p>
                      <a:r>
                        <a:rPr sz="1350" b="1">
                          <a:solidFill>
                            <a:srgbClr val="FFFFFF"/>
                          </a:solidFill>
                          <a:latin typeface="Arial"/>
                          <a:ea typeface="Arial"/>
                          <a:cs typeface="Arial"/>
                        </a:rPr>
                        <a:t>Grouping</a:t>
                      </a:r>
                    </a:p>
                  </a:txBody>
                  <a:tcPr marL="91440" marR="91440" marT="45720" marB="45720">
                    <a:solidFill>
                      <a:srgbClr val="172D3C"/>
                    </a:solidFill>
                  </a:tcPr>
                </a:tc>
                <a:tc>
                  <a:txBody>
                    <a:bodyPr/>
                    <a:lstStyle/>
                    <a:p>
                      <a:r>
                        <a:rPr sz="1350" b="1">
                          <a:solidFill>
                            <a:srgbClr val="FFFFFF"/>
                          </a:solidFill>
                          <a:latin typeface="Arial"/>
                          <a:ea typeface="Arial"/>
                          <a:cs typeface="Arial"/>
                        </a:rPr>
                        <a:t>Two recorded groups</a:t>
                      </a:r>
                    </a:p>
                  </a:txBody>
                  <a:tcPr marL="91440" marR="91440" marT="45720" marB="45720">
                    <a:solidFill>
                      <a:srgbClr val="172D3C"/>
                    </a:solidFill>
                  </a:tcPr>
                </a:tc>
                <a:tc>
                  <a:txBody>
                    <a:bodyPr/>
                    <a:lstStyle/>
                    <a:p>
                      <a:r>
                        <a:rPr sz="1350" b="1">
                          <a:solidFill>
                            <a:srgbClr val="FFFFFF"/>
                          </a:solidFill>
                          <a:latin typeface="Arial"/>
                          <a:ea typeface="Arial"/>
                          <a:cs typeface="Arial"/>
                        </a:rPr>
                        <a:t>What the field describes</a:t>
                      </a:r>
                    </a:p>
                  </a:txBody>
                  <a:tcPr marL="91440" marR="91440" marT="45720" marB="45720">
                    <a:solidFill>
                      <a:srgbClr val="172D3C"/>
                    </a:solidFill>
                  </a:tcPr>
                </a:tc>
              </a:tr>
              <a:tr h="546100">
                <a:tc>
                  <a:txBody>
                    <a:bodyPr/>
                    <a:lstStyle/>
                    <a:p>
                      <a:r>
                        <a:rPr sz="1425" b="0">
                          <a:solidFill>
                            <a:srgbClr val="172D3C"/>
                          </a:solidFill>
                          <a:latin typeface="Arial"/>
                          <a:ea typeface="Arial"/>
                          <a:cs typeface="Arial"/>
                        </a:rPr>
                        <a:t>Age band</a:t>
                      </a:r>
                    </a:p>
                  </a:txBody>
                  <a:tcPr marL="91440" marR="91440" marT="45720" marB="45720">
                    <a:solidFill>
                      <a:srgbClr val="F0F5F6"/>
                    </a:solidFill>
                  </a:tcPr>
                </a:tc>
                <a:tc>
                  <a:txBody>
                    <a:bodyPr/>
                    <a:lstStyle/>
                    <a:p>
                      <a:r>
                        <a:rPr sz="1425" b="0">
                          <a:solidFill>
                            <a:srgbClr val="172D3C"/>
                          </a:solidFill>
                          <a:latin typeface="Arial"/>
                          <a:ea typeface="Arial"/>
                          <a:cs typeface="Arial"/>
                        </a:rPr>
                        <a:t>18–34 / 35+</a:t>
                      </a:r>
                    </a:p>
                  </a:txBody>
                  <a:tcPr marL="91440" marR="91440" marT="45720" marB="45720">
                    <a:solidFill>
                      <a:srgbClr val="F0F5F6"/>
                    </a:solidFill>
                  </a:tcPr>
                </a:tc>
                <a:tc>
                  <a:txBody>
                    <a:bodyPr/>
                    <a:lstStyle/>
                    <a:p>
                      <a:r>
                        <a:rPr sz="1425" b="0">
                          <a:solidFill>
                            <a:srgbClr val="172D3C"/>
                          </a:solidFill>
                          <a:latin typeface="Arial"/>
                          <a:ea typeface="Arial"/>
                          <a:cs typeface="Arial"/>
                        </a:rPr>
                        <a:t>A demographic characteristic.</a:t>
                      </a:r>
                    </a:p>
                  </a:txBody>
                  <a:tcPr marL="91440" marR="91440" marT="45720" marB="45720">
                    <a:solidFill>
                      <a:srgbClr val="F0F5F6"/>
                    </a:solidFill>
                  </a:tcPr>
                </a:tc>
              </a:tr>
              <a:tr h="546100">
                <a:tc>
                  <a:txBody>
                    <a:bodyPr/>
                    <a:lstStyle/>
                    <a:p>
                      <a:r>
                        <a:rPr sz="1425" b="0">
                          <a:solidFill>
                            <a:srgbClr val="172D3C"/>
                          </a:solidFill>
                          <a:latin typeface="Arial"/>
                          <a:ea typeface="Arial"/>
                          <a:cs typeface="Arial"/>
                        </a:rPr>
                        <a:t>Stated need</a:t>
                      </a:r>
                    </a:p>
                  </a:txBody>
                  <a:tcPr marL="91440" marR="91440" marT="45720" marB="45720">
                    <a:solidFill>
                      <a:srgbClr val="FFFFFF"/>
                    </a:solidFill>
                  </a:tcPr>
                </a:tc>
                <a:tc>
                  <a:txBody>
                    <a:bodyPr/>
                    <a:lstStyle/>
                    <a:p>
                      <a:r>
                        <a:rPr sz="1425" b="0">
                          <a:solidFill>
                            <a:srgbClr val="172D3C"/>
                          </a:solidFill>
                          <a:latin typeface="Arial"/>
                          <a:ea typeface="Arial"/>
                          <a:cs typeface="Arial"/>
                        </a:rPr>
                        <a:t>Save time / Build skill</a:t>
                      </a:r>
                    </a:p>
                  </a:txBody>
                  <a:tcPr marL="91440" marR="91440" marT="45720" marB="45720">
                    <a:solidFill>
                      <a:srgbClr val="FFFFFF"/>
                    </a:solidFill>
                  </a:tcPr>
                </a:tc>
                <a:tc>
                  <a:txBody>
                    <a:bodyPr/>
                    <a:lstStyle/>
                    <a:p>
                      <a:r>
                        <a:rPr sz="1425" b="0">
                          <a:solidFill>
                            <a:srgbClr val="172D3C"/>
                          </a:solidFill>
                          <a:latin typeface="Arial"/>
                          <a:ea typeface="Arial"/>
                          <a:cs typeface="Arial"/>
                        </a:rPr>
                        <a:t>The goal stated before acquisition.</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A384F85-3A38-470C-8F11-7D26CD050920}"/>
              </a:ext>
            </a:extLst>
          </p:cNvPr>
          <p:cNvSpPr>
            <a:spLocks xmlns:a="http://schemas.openxmlformats.org/drawingml/2006/main" noGrp="1"/>
          </p:cNvSpPr>
          <p:nvPr/>
        </p:nvSpPr>
        <p:spPr>
          <a:xfrm xmlns:a="http://schemas.openxmlformats.org/drawingml/2006/main">
            <a:off x="609600" y="4457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025" b="1">
                <a:solidFill>
                  <a:srgbClr val="BB6427"/>
                </a:solidFill>
                <a:latin typeface="Arial"/>
                <a:ea typeface="Arial"/>
                <a:cs typeface="Arial"/>
              </a:defRPr>
            </a:defPPr>
            <a:lvl1pPr>
              <a:defRPr sz="2025" b="1">
                <a:solidFill>
                  <a:srgbClr val="BB6427"/>
                </a:solidFill>
                <a:latin typeface="Arial"/>
                <a:ea typeface="Arial"/>
                <a:cs typeface="Arial"/>
              </a:defRPr>
            </a:lvl1pPr>
            <a:lvl2pPr>
              <a:defRPr sz="2025" b="1">
                <a:solidFill>
                  <a:srgbClr val="BB6427"/>
                </a:solidFill>
                <a:latin typeface="Arial"/>
                <a:ea typeface="Arial"/>
                <a:cs typeface="Arial"/>
              </a:defRPr>
            </a:lvl2pPr>
            <a:lvl3pPr>
              <a:defRPr sz="2025" b="1">
                <a:solidFill>
                  <a:srgbClr val="BB6427"/>
                </a:solidFill>
                <a:latin typeface="Arial"/>
                <a:ea typeface="Arial"/>
                <a:cs typeface="Arial"/>
              </a:defRPr>
            </a:lvl3pPr>
            <a:lvl4pPr>
              <a:defRPr sz="2025" b="1">
                <a:solidFill>
                  <a:srgbClr val="BB6427"/>
                </a:solidFill>
                <a:latin typeface="Arial"/>
                <a:ea typeface="Arial"/>
                <a:cs typeface="Arial"/>
              </a:defRPr>
            </a:lvl4pPr>
            <a:lvl5pPr>
              <a:defRPr sz="2025" b="1">
                <a:solidFill>
                  <a:srgbClr val="BB6427"/>
                </a:solidFill>
                <a:latin typeface="Arial"/>
                <a:ea typeface="Arial"/>
                <a:cs typeface="Arial"/>
              </a:defRPr>
            </a:lvl5pPr>
            <a:lvl6pPr>
              <a:defRPr sz="2025" b="1">
                <a:solidFill>
                  <a:srgbClr val="BB6427"/>
                </a:solidFill>
                <a:latin typeface="Arial"/>
                <a:ea typeface="Arial"/>
                <a:cs typeface="Arial"/>
              </a:defRPr>
            </a:lvl6pPr>
            <a:lvl7pPr>
              <a:defRPr sz="2025" b="1">
                <a:solidFill>
                  <a:srgbClr val="BB6427"/>
                </a:solidFill>
                <a:latin typeface="Arial"/>
                <a:ea typeface="Arial"/>
                <a:cs typeface="Arial"/>
              </a:defRPr>
            </a:lvl7pPr>
            <a:lvl8pPr>
              <a:defRPr sz="2025" b="1">
                <a:solidFill>
                  <a:srgbClr val="BB6427"/>
                </a:solidFill>
                <a:latin typeface="Arial"/>
                <a:ea typeface="Arial"/>
                <a:cs typeface="Arial"/>
              </a:defRPr>
            </a:lvl8pPr>
            <a:lvl9pPr>
              <a:defRPr sz="2025" b="1">
                <a:solidFill>
                  <a:srgbClr val="BB6427"/>
                </a:solidFill>
                <a:latin typeface="Arial"/>
                <a:ea typeface="Arial"/>
                <a:cs typeface="Arial"/>
              </a:defRPr>
            </a:lvl9pPr>
          </a:lstStyle>
          <a:p xmlns:a="http://schemas.openxmlformats.org/drawingml/2006/main">
            <a:pPr>
              <a:defRPr sz="2025" b="1">
                <a:solidFill>
                  <a:srgbClr val="BB6427"/>
                </a:solidFill>
                <a:latin typeface="Arial"/>
                <a:ea typeface="Arial"/>
                <a:cs typeface="Arial"/>
              </a:defRPr>
            </a:pPr>
            <a:r>
              <a:rPr sz="2025" b="1">
                <a:solidFill>
                  <a:srgbClr val="BB6427"/>
                </a:solidFill>
                <a:latin typeface="Arial"/>
                <a:ea typeface="Arial"/>
                <a:cs typeface="Arial"/>
              </a:rPr>
              <a:t>Choose one grouping and explain why it is relevant to this onboarding objective.</a:t>
            </a:r>
          </a:p>
        </p:txBody>
      </p:sp>
      <p:sp>
        <p:nvSpPr>
          <p:cNvPr id="9" name="">
            <a:extLst xmlns:a="http://schemas.openxmlformats.org/drawingml/2006/main">
              <a:ext uri="{FF2B5EF4-FFF2-40B4-BE49-F238E27FC236}">
                <a16:creationId xmlns:a16="http://schemas.microsoft.com/office/drawing/2014/main" id="{7834E35A-A809-4327-852C-4DD5F9F4F70E}"/>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FCF1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D382C9-1ED6-437F-8C8C-BF706634F052}"/>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Use the opening business map to identify the first-value decision. Then compare retention and contribution within groups.</a:t>
            </a:r>
          </a:p>
        </p:txBody>
      </p:sp>
    </p:spTree>
    <p:extLst>
      <p:ext uri="{BB962C8B-B14F-4D97-AF65-F5344CB8AC3E}">
        <p14:creationId xmlns:p14="http://schemas.microsoft.com/office/powerpoint/2010/main" val="432303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24E8783-357E-46BF-9B29-F1A3F425D59F}"/>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493E85-537C-4C07-B963-0AB8036154E5}"/>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Turn the connected view into a reproducible query</a:t>
            </a:r>
          </a:p>
        </p:txBody>
      </p:sp>
      <p:sp>
        <p:nvSpPr>
          <p:cNvPr id="3" name="">
            <a:extLst xmlns:a="http://schemas.openxmlformats.org/drawingml/2006/main">
              <a:ext uri="{FF2B5EF4-FFF2-40B4-BE49-F238E27FC236}">
                <a16:creationId xmlns:a16="http://schemas.microsoft.com/office/drawing/2014/main" id="{B6C49A22-CEAE-4548-88FC-F10ADE3B1158}"/>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3191B5"/>
                </a:solidFill>
                <a:latin typeface="Arial"/>
                <a:ea typeface="Arial"/>
                <a:cs typeface="Arial"/>
              </a:defRPr>
            </a:defPPr>
            <a:lvl1pPr>
              <a:defRPr sz="900" b="1">
                <a:solidFill>
                  <a:srgbClr val="3191B5"/>
                </a:solidFill>
                <a:latin typeface="Arial"/>
                <a:ea typeface="Arial"/>
                <a:cs typeface="Arial"/>
              </a:defRPr>
            </a:lvl1pPr>
            <a:lvl2pPr>
              <a:defRPr sz="900" b="1">
                <a:solidFill>
                  <a:srgbClr val="3191B5"/>
                </a:solidFill>
                <a:latin typeface="Arial"/>
                <a:ea typeface="Arial"/>
                <a:cs typeface="Arial"/>
              </a:defRPr>
            </a:lvl2pPr>
            <a:lvl3pPr>
              <a:defRPr sz="900" b="1">
                <a:solidFill>
                  <a:srgbClr val="3191B5"/>
                </a:solidFill>
                <a:latin typeface="Arial"/>
                <a:ea typeface="Arial"/>
                <a:cs typeface="Arial"/>
              </a:defRPr>
            </a:lvl3pPr>
            <a:lvl4pPr>
              <a:defRPr sz="900" b="1">
                <a:solidFill>
                  <a:srgbClr val="3191B5"/>
                </a:solidFill>
                <a:latin typeface="Arial"/>
                <a:ea typeface="Arial"/>
                <a:cs typeface="Arial"/>
              </a:defRPr>
            </a:lvl4pPr>
            <a:lvl5pPr>
              <a:defRPr sz="900" b="1">
                <a:solidFill>
                  <a:srgbClr val="3191B5"/>
                </a:solidFill>
                <a:latin typeface="Arial"/>
                <a:ea typeface="Arial"/>
                <a:cs typeface="Arial"/>
              </a:defRPr>
            </a:lvl5pPr>
            <a:lvl6pPr>
              <a:defRPr sz="900" b="1">
                <a:solidFill>
                  <a:srgbClr val="3191B5"/>
                </a:solidFill>
                <a:latin typeface="Arial"/>
                <a:ea typeface="Arial"/>
                <a:cs typeface="Arial"/>
              </a:defRPr>
            </a:lvl6pPr>
            <a:lvl7pPr>
              <a:defRPr sz="900" b="1">
                <a:solidFill>
                  <a:srgbClr val="3191B5"/>
                </a:solidFill>
                <a:latin typeface="Arial"/>
                <a:ea typeface="Arial"/>
                <a:cs typeface="Arial"/>
              </a:defRPr>
            </a:lvl7pPr>
            <a:lvl8pPr>
              <a:defRPr sz="900" b="1">
                <a:solidFill>
                  <a:srgbClr val="3191B5"/>
                </a:solidFill>
                <a:latin typeface="Arial"/>
                <a:ea typeface="Arial"/>
                <a:cs typeface="Arial"/>
              </a:defRPr>
            </a:lvl8pPr>
            <a:lvl9pPr>
              <a:defRPr sz="900" b="1">
                <a:solidFill>
                  <a:srgbClr val="3191B5"/>
                </a:solidFill>
                <a:latin typeface="Arial"/>
                <a:ea typeface="Arial"/>
                <a:cs typeface="Arial"/>
              </a:defRPr>
            </a:lvl9pPr>
          </a:lstStyle>
          <a:p xmlns:a="http://schemas.openxmlformats.org/drawingml/2006/main">
            <a:pPr>
              <a:defRPr sz="900" b="1">
                <a:solidFill>
                  <a:srgbClr val="3191B5"/>
                </a:solidFill>
                <a:latin typeface="Arial"/>
                <a:ea typeface="Arial"/>
                <a:cs typeface="Arial"/>
              </a:defRPr>
            </a:pPr>
            <a:r>
              <a:rPr sz="900" b="1">
                <a:solidFill>
                  <a:srgbClr val="3191B5"/>
                </a:solidFill>
                <a:latin typeface="Arial"/>
                <a:ea typeface="Arial"/>
                <a:cs typeface="Arial"/>
              </a:rPr>
              <a:t>CONCEPT</a:t>
            </a:r>
          </a:p>
        </p:txBody>
      </p:sp>
      <p:sp>
        <p:nvSpPr>
          <p:cNvPr id="4" name="">
            <a:extLst xmlns:a="http://schemas.openxmlformats.org/drawingml/2006/main">
              <a:ext uri="{FF2B5EF4-FFF2-40B4-BE49-F238E27FC236}">
                <a16:creationId xmlns:a16="http://schemas.microsoft.com/office/drawing/2014/main" id="{341FDECC-C0C0-45BD-8215-7EFBCD7B7F00}"/>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3409CAC8-EC7A-4536-A78D-10318576B64B}"/>
              </a:ext>
            </a:extLst>
          </p:cNvPr>
          <p:cNvSpPr>
            <a:spLocks xmlns:a="http://schemas.openxmlformats.org/drawingml/2006/main" noGrp="1"/>
          </p:cNvSpPr>
          <p:nvPr/>
        </p:nvSpPr>
        <p:spPr>
          <a:xfrm xmlns:a="http://schemas.openxmlformats.org/drawingml/2006/main">
            <a:off x="609600" y="1657350"/>
            <a:ext cx="2609850" cy="2009775"/>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B58B75-841F-4226-8EF5-5BBA25AAA2B1}"/>
              </a:ext>
            </a:extLst>
          </p:cNvPr>
          <p:cNvSpPr>
            <a:spLocks xmlns:a="http://schemas.openxmlformats.org/drawingml/2006/main" noGrp="1"/>
          </p:cNvSpPr>
          <p:nvPr/>
        </p:nvSpPr>
        <p:spPr>
          <a:xfrm xmlns:a="http://schemas.openxmlformats.org/drawingml/2006/main">
            <a:off x="609600" y="1657350"/>
            <a:ext cx="47625" cy="2009775"/>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B5A609-2509-484E-91EE-D669F5C7811B}"/>
              </a:ext>
            </a:extLst>
          </p:cNvPr>
          <p:cNvSpPr>
            <a:spLocks xmlns:a="http://schemas.openxmlformats.org/drawingml/2006/main" noGrp="1"/>
          </p:cNvSpPr>
          <p:nvPr/>
        </p:nvSpPr>
        <p:spPr>
          <a:xfrm xmlns:a="http://schemas.openxmlformats.org/drawingml/2006/main">
            <a:off x="800100" y="1800225"/>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Inspect raw views</a:t>
            </a:r>
          </a:p>
        </p:txBody>
      </p:sp>
      <p:sp>
        <p:nvSpPr>
          <p:cNvPr id="8" name="">
            <a:extLst xmlns:a="http://schemas.openxmlformats.org/drawingml/2006/main">
              <a:ext uri="{FF2B5EF4-FFF2-40B4-BE49-F238E27FC236}">
                <a16:creationId xmlns:a16="http://schemas.microsoft.com/office/drawing/2014/main" id="{89A2653B-4C48-4014-95EF-9A39EA52D8DA}"/>
              </a:ext>
            </a:extLst>
          </p:cNvPr>
          <p:cNvSpPr>
            <a:spLocks xmlns:a="http://schemas.openxmlformats.org/drawingml/2006/main" noGrp="1"/>
          </p:cNvSpPr>
          <p:nvPr/>
        </p:nvSpPr>
        <p:spPr>
          <a:xfrm xmlns:a="http://schemas.openxmlformats.org/drawingml/2006/main">
            <a:off x="800100" y="2228850"/>
            <a:ext cx="22288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Keep source columns</a:t>
            </a:r>
          </a:p>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and row meanings.</a:t>
            </a:r>
          </a:p>
        </p:txBody>
      </p:sp>
      <p:sp>
        <p:nvSpPr>
          <p:cNvPr id="9" name="">
            <a:extLst xmlns:a="http://schemas.openxmlformats.org/drawingml/2006/main">
              <a:ext uri="{FF2B5EF4-FFF2-40B4-BE49-F238E27FC236}">
                <a16:creationId xmlns:a16="http://schemas.microsoft.com/office/drawing/2014/main" id="{16469880-3C4B-422F-8136-41E30FC12507}"/>
              </a:ext>
            </a:extLst>
          </p:cNvPr>
          <p:cNvSpPr>
            <a:spLocks xmlns:a="http://schemas.openxmlformats.org/drawingml/2006/main" noGrp="1"/>
          </p:cNvSpPr>
          <p:nvPr/>
        </p:nvSpPr>
        <p:spPr>
          <a:xfrm xmlns:a="http://schemas.openxmlformats.org/drawingml/2006/main">
            <a:off x="3257550" y="2514600"/>
            <a:ext cx="152400" cy="228600"/>
          </a:xfrm>
          <a:prstGeom xmlns:a="http://schemas.openxmlformats.org/drawingml/2006/main" prst="rightArrow">
            <a:avLst/>
          </a:prstGeom>
          <a:solidFill xmlns:a="http://schemas.openxmlformats.org/drawingml/2006/main">
            <a:srgbClr val="68778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B33B40-1B6F-4C11-9723-B68148C1115F}"/>
              </a:ext>
            </a:extLst>
          </p:cNvPr>
          <p:cNvSpPr>
            <a:spLocks xmlns:a="http://schemas.openxmlformats.org/drawingml/2006/main" noGrp="1"/>
          </p:cNvSpPr>
          <p:nvPr/>
        </p:nvSpPr>
        <p:spPr>
          <a:xfrm xmlns:a="http://schemas.openxmlformats.org/drawingml/2006/main">
            <a:off x="3400425" y="1657350"/>
            <a:ext cx="2609850" cy="2009775"/>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0A34303-41BB-403B-888C-D97A96474981}"/>
              </a:ext>
            </a:extLst>
          </p:cNvPr>
          <p:cNvSpPr>
            <a:spLocks xmlns:a="http://schemas.openxmlformats.org/drawingml/2006/main" noGrp="1"/>
          </p:cNvSpPr>
          <p:nvPr/>
        </p:nvSpPr>
        <p:spPr>
          <a:xfrm xmlns:a="http://schemas.openxmlformats.org/drawingml/2006/main">
            <a:off x="3400425" y="1657350"/>
            <a:ext cx="47625" cy="2009775"/>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B1D74D-9866-4BF7-9862-4F52A9993A3E}"/>
              </a:ext>
            </a:extLst>
          </p:cNvPr>
          <p:cNvSpPr>
            <a:spLocks xmlns:a="http://schemas.openxmlformats.org/drawingml/2006/main" noGrp="1"/>
          </p:cNvSpPr>
          <p:nvPr/>
        </p:nvSpPr>
        <p:spPr>
          <a:xfrm xmlns:a="http://schemas.openxmlformats.org/drawingml/2006/main">
            <a:off x="3590925" y="1800225"/>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Define the customer clock</a:t>
            </a:r>
          </a:p>
        </p:txBody>
      </p:sp>
      <p:sp>
        <p:nvSpPr>
          <p:cNvPr id="13" name="">
            <a:extLst xmlns:a="http://schemas.openxmlformats.org/drawingml/2006/main">
              <a:ext uri="{FF2B5EF4-FFF2-40B4-BE49-F238E27FC236}">
                <a16:creationId xmlns:a16="http://schemas.microsoft.com/office/drawing/2014/main" id="{A33AF67E-1E6F-4E7A-B905-0959FB87F2A2}"/>
              </a:ext>
            </a:extLst>
          </p:cNvPr>
          <p:cNvSpPr>
            <a:spLocks xmlns:a="http://schemas.openxmlformats.org/drawingml/2006/main" noGrp="1"/>
          </p:cNvSpPr>
          <p:nvPr/>
        </p:nvSpPr>
        <p:spPr>
          <a:xfrm xmlns:a="http://schemas.openxmlformats.org/drawingml/2006/main">
            <a:off x="3590925" y="2228850"/>
            <a:ext cx="22288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First paid month sets</a:t>
            </a:r>
          </a:p>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cohort age index 0.</a:t>
            </a:r>
          </a:p>
        </p:txBody>
      </p:sp>
      <p:sp>
        <p:nvSpPr>
          <p:cNvPr id="14" name="">
            <a:extLst xmlns:a="http://schemas.openxmlformats.org/drawingml/2006/main">
              <a:ext uri="{FF2B5EF4-FFF2-40B4-BE49-F238E27FC236}">
                <a16:creationId xmlns:a16="http://schemas.microsoft.com/office/drawing/2014/main" id="{9EAAD9AF-F47E-4543-A891-AB760C9CAA36}"/>
              </a:ext>
            </a:extLst>
          </p:cNvPr>
          <p:cNvSpPr>
            <a:spLocks xmlns:a="http://schemas.openxmlformats.org/drawingml/2006/main" noGrp="1"/>
          </p:cNvSpPr>
          <p:nvPr/>
        </p:nvSpPr>
        <p:spPr>
          <a:xfrm xmlns:a="http://schemas.openxmlformats.org/drawingml/2006/main">
            <a:off x="6048375" y="2514600"/>
            <a:ext cx="152400" cy="228600"/>
          </a:xfrm>
          <a:prstGeom xmlns:a="http://schemas.openxmlformats.org/drawingml/2006/main" prst="rightArrow">
            <a:avLst/>
          </a:prstGeom>
          <a:solidFill xmlns:a="http://schemas.openxmlformats.org/drawingml/2006/main">
            <a:srgbClr val="68778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A7BAD60-6A2E-419F-A9C9-291B3D3E566A}"/>
              </a:ext>
            </a:extLst>
          </p:cNvPr>
          <p:cNvSpPr>
            <a:spLocks xmlns:a="http://schemas.openxmlformats.org/drawingml/2006/main" noGrp="1"/>
          </p:cNvSpPr>
          <p:nvPr/>
        </p:nvSpPr>
        <p:spPr>
          <a:xfrm xmlns:a="http://schemas.openxmlformats.org/drawingml/2006/main">
            <a:off x="6191250" y="1657350"/>
            <a:ext cx="2609850" cy="2009775"/>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BC93D90-D456-4B18-A455-E8340BDAA064}"/>
              </a:ext>
            </a:extLst>
          </p:cNvPr>
          <p:cNvSpPr>
            <a:spLocks xmlns:a="http://schemas.openxmlformats.org/drawingml/2006/main" noGrp="1"/>
          </p:cNvSpPr>
          <p:nvPr/>
        </p:nvSpPr>
        <p:spPr>
          <a:xfrm xmlns:a="http://schemas.openxmlformats.org/drawingml/2006/main">
            <a:off x="6191250" y="1657350"/>
            <a:ext cx="47625" cy="2009775"/>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D32445B-6496-483F-A343-A635230B61C4}"/>
              </a:ext>
            </a:extLst>
          </p:cNvPr>
          <p:cNvSpPr>
            <a:spLocks xmlns:a="http://schemas.openxmlformats.org/drawingml/2006/main" noGrp="1"/>
          </p:cNvSpPr>
          <p:nvPr/>
        </p:nvSpPr>
        <p:spPr>
          <a:xfrm xmlns:a="http://schemas.openxmlformats.org/drawingml/2006/main">
            <a:off x="6381750" y="1800225"/>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Build SQL outputs</a:t>
            </a:r>
          </a:p>
        </p:txBody>
      </p:sp>
      <p:sp>
        <p:nvSpPr>
          <p:cNvPr id="18" name="">
            <a:extLst xmlns:a="http://schemas.openxmlformats.org/drawingml/2006/main">
              <a:ext uri="{FF2B5EF4-FFF2-40B4-BE49-F238E27FC236}">
                <a16:creationId xmlns:a16="http://schemas.microsoft.com/office/drawing/2014/main" id="{E58D1097-2BCD-4333-9E0E-BCD47B7AB2BB}"/>
              </a:ext>
            </a:extLst>
          </p:cNvPr>
          <p:cNvSpPr>
            <a:spLocks xmlns:a="http://schemas.openxmlformats.org/drawingml/2006/main" noGrp="1"/>
          </p:cNvSpPr>
          <p:nvPr/>
        </p:nvSpPr>
        <p:spPr>
          <a:xfrm xmlns:a="http://schemas.openxmlformats.org/drawingml/2006/main">
            <a:off x="6381750" y="2228850"/>
            <a:ext cx="22288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Save the exact SQL</a:t>
            </a:r>
          </a:p>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and ordered results.</a:t>
            </a:r>
          </a:p>
        </p:txBody>
      </p:sp>
      <p:sp>
        <p:nvSpPr>
          <p:cNvPr id="19" name="">
            <a:extLst xmlns:a="http://schemas.openxmlformats.org/drawingml/2006/main">
              <a:ext uri="{FF2B5EF4-FFF2-40B4-BE49-F238E27FC236}">
                <a16:creationId xmlns:a16="http://schemas.microsoft.com/office/drawing/2014/main" id="{47725E60-ACBC-4FC1-BC8A-87211F70C5C4}"/>
              </a:ext>
            </a:extLst>
          </p:cNvPr>
          <p:cNvSpPr>
            <a:spLocks xmlns:a="http://schemas.openxmlformats.org/drawingml/2006/main" noGrp="1"/>
          </p:cNvSpPr>
          <p:nvPr/>
        </p:nvSpPr>
        <p:spPr>
          <a:xfrm xmlns:a="http://schemas.openxmlformats.org/drawingml/2006/main">
            <a:off x="8839200" y="2514600"/>
            <a:ext cx="152400" cy="228600"/>
          </a:xfrm>
          <a:prstGeom xmlns:a="http://schemas.openxmlformats.org/drawingml/2006/main" prst="rightArrow">
            <a:avLst/>
          </a:prstGeom>
          <a:solidFill xmlns:a="http://schemas.openxmlformats.org/drawingml/2006/main">
            <a:srgbClr val="68778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7E3FB09-C971-4FA2-A645-E8EA9EDF49AF}"/>
              </a:ext>
            </a:extLst>
          </p:cNvPr>
          <p:cNvSpPr>
            <a:spLocks xmlns:a="http://schemas.openxmlformats.org/drawingml/2006/main" noGrp="1"/>
          </p:cNvSpPr>
          <p:nvPr/>
        </p:nvSpPr>
        <p:spPr>
          <a:xfrm xmlns:a="http://schemas.openxmlformats.org/drawingml/2006/main">
            <a:off x="8982075" y="1657350"/>
            <a:ext cx="2609850" cy="2009775"/>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29DC600-9211-4C94-81F5-B21122AA202C}"/>
              </a:ext>
            </a:extLst>
          </p:cNvPr>
          <p:cNvSpPr>
            <a:spLocks xmlns:a="http://schemas.openxmlformats.org/drawingml/2006/main" noGrp="1"/>
          </p:cNvSpPr>
          <p:nvPr/>
        </p:nvSpPr>
        <p:spPr>
          <a:xfrm xmlns:a="http://schemas.openxmlformats.org/drawingml/2006/main">
            <a:off x="8982075" y="1657350"/>
            <a:ext cx="47625" cy="2009775"/>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97BCF75-73DC-4ED8-9695-7FEB7EF4347D}"/>
              </a:ext>
            </a:extLst>
          </p:cNvPr>
          <p:cNvSpPr>
            <a:spLocks xmlns:a="http://schemas.openxmlformats.org/drawingml/2006/main" noGrp="1"/>
          </p:cNvSpPr>
          <p:nvPr/>
        </p:nvSpPr>
        <p:spPr>
          <a:xfrm xmlns:a="http://schemas.openxmlformats.org/drawingml/2006/main">
            <a:off x="9172575" y="1800225"/>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Reconcile the totals</a:t>
            </a:r>
          </a:p>
        </p:txBody>
      </p:sp>
      <p:sp>
        <p:nvSpPr>
          <p:cNvPr id="23" name="">
            <a:extLst xmlns:a="http://schemas.openxmlformats.org/drawingml/2006/main">
              <a:ext uri="{FF2B5EF4-FFF2-40B4-BE49-F238E27FC236}">
                <a16:creationId xmlns:a16="http://schemas.microsoft.com/office/drawing/2014/main" id="{98CE7E88-4807-4177-AA18-960397D5FAED}"/>
              </a:ext>
            </a:extLst>
          </p:cNvPr>
          <p:cNvSpPr>
            <a:spLocks xmlns:a="http://schemas.openxmlformats.org/drawingml/2006/main" noGrp="1"/>
          </p:cNvSpPr>
          <p:nvPr/>
        </p:nvSpPr>
        <p:spPr>
          <a:xfrm xmlns:a="http://schemas.openxmlformats.org/drawingml/2006/main">
            <a:off x="9172575" y="2228850"/>
            <a:ext cx="22288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No duplicate money;</a:t>
            </a:r>
          </a:p>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no missing controls.</a:t>
            </a:r>
          </a:p>
        </p:txBody>
      </p:sp>
      <p:sp>
        <p:nvSpPr>
          <p:cNvPr id="24" name="">
            <a:extLst xmlns:a="http://schemas.openxmlformats.org/drawingml/2006/main">
              <a:ext uri="{FF2B5EF4-FFF2-40B4-BE49-F238E27FC236}">
                <a16:creationId xmlns:a16="http://schemas.microsoft.com/office/drawing/2014/main" id="{416F790D-3262-4A18-85DF-565F25B9D9BF}"/>
              </a:ext>
            </a:extLst>
          </p:cNvPr>
          <p:cNvSpPr>
            <a:spLocks xmlns:a="http://schemas.openxmlformats.org/drawingml/2006/main" noGrp="1"/>
          </p:cNvSpPr>
          <p:nvPr/>
        </p:nvSpPr>
        <p:spPr>
          <a:xfrm xmlns:a="http://schemas.openxmlformats.org/drawingml/2006/main">
            <a:off x="609600" y="3743325"/>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Figure 1. From source views to reconciled cohort evidence</a:t>
            </a:r>
          </a:p>
        </p:txBody>
      </p:sp>
      <p:sp>
        <p:nvSpPr>
          <p:cNvPr id="25" name="">
            <a:extLst xmlns:a="http://schemas.openxmlformats.org/drawingml/2006/main">
              <a:ext uri="{FF2B5EF4-FFF2-40B4-BE49-F238E27FC236}">
                <a16:creationId xmlns:a16="http://schemas.microsoft.com/office/drawing/2014/main" id="{75930944-2184-4778-AA07-14A1EEE426F0}"/>
              </a:ext>
            </a:extLst>
          </p:cNvPr>
          <p:cNvSpPr>
            <a:spLocks xmlns:a="http://schemas.openxmlformats.org/drawingml/2006/main" noGrp="1"/>
          </p:cNvSpPr>
          <p:nvPr/>
        </p:nvSpPr>
        <p:spPr>
          <a:xfrm xmlns:a="http://schemas.openxmlformats.org/drawingml/2006/main">
            <a:off x="609600" y="40576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650" b="1">
                <a:solidFill>
                  <a:srgbClr val="3191B5"/>
                </a:solidFill>
                <a:latin typeface="Arial"/>
                <a:ea typeface="Arial"/>
                <a:cs typeface="Arial"/>
              </a:defRPr>
            </a:defPPr>
            <a:lvl1pPr>
              <a:defRPr sz="1650" b="1">
                <a:solidFill>
                  <a:srgbClr val="3191B5"/>
                </a:solidFill>
                <a:latin typeface="Arial"/>
                <a:ea typeface="Arial"/>
                <a:cs typeface="Arial"/>
              </a:defRPr>
            </a:lvl1pPr>
            <a:lvl2pPr>
              <a:defRPr sz="1650" b="1">
                <a:solidFill>
                  <a:srgbClr val="3191B5"/>
                </a:solidFill>
                <a:latin typeface="Arial"/>
                <a:ea typeface="Arial"/>
                <a:cs typeface="Arial"/>
              </a:defRPr>
            </a:lvl2pPr>
            <a:lvl3pPr>
              <a:defRPr sz="1650" b="1">
                <a:solidFill>
                  <a:srgbClr val="3191B5"/>
                </a:solidFill>
                <a:latin typeface="Arial"/>
                <a:ea typeface="Arial"/>
                <a:cs typeface="Arial"/>
              </a:defRPr>
            </a:lvl3pPr>
            <a:lvl4pPr>
              <a:defRPr sz="1650" b="1">
                <a:solidFill>
                  <a:srgbClr val="3191B5"/>
                </a:solidFill>
                <a:latin typeface="Arial"/>
                <a:ea typeface="Arial"/>
                <a:cs typeface="Arial"/>
              </a:defRPr>
            </a:lvl4pPr>
            <a:lvl5pPr>
              <a:defRPr sz="1650" b="1">
                <a:solidFill>
                  <a:srgbClr val="3191B5"/>
                </a:solidFill>
                <a:latin typeface="Arial"/>
                <a:ea typeface="Arial"/>
                <a:cs typeface="Arial"/>
              </a:defRPr>
            </a:lvl5pPr>
            <a:lvl6pPr>
              <a:defRPr sz="1650" b="1">
                <a:solidFill>
                  <a:srgbClr val="3191B5"/>
                </a:solidFill>
                <a:latin typeface="Arial"/>
                <a:ea typeface="Arial"/>
                <a:cs typeface="Arial"/>
              </a:defRPr>
            </a:lvl6pPr>
            <a:lvl7pPr>
              <a:defRPr sz="1650" b="1">
                <a:solidFill>
                  <a:srgbClr val="3191B5"/>
                </a:solidFill>
                <a:latin typeface="Arial"/>
                <a:ea typeface="Arial"/>
                <a:cs typeface="Arial"/>
              </a:defRPr>
            </a:lvl7pPr>
            <a:lvl8pPr>
              <a:defRPr sz="1650" b="1">
                <a:solidFill>
                  <a:srgbClr val="3191B5"/>
                </a:solidFill>
                <a:latin typeface="Arial"/>
                <a:ea typeface="Arial"/>
                <a:cs typeface="Arial"/>
              </a:defRPr>
            </a:lvl8pPr>
            <a:lvl9pPr>
              <a:defRPr sz="1650" b="1">
                <a:solidFill>
                  <a:srgbClr val="3191B5"/>
                </a:solidFill>
                <a:latin typeface="Arial"/>
                <a:ea typeface="Arial"/>
                <a:cs typeface="Arial"/>
              </a:defRPr>
            </a:lvl9pPr>
          </a:lstStyle>
          <a:p xmlns:a="http://schemas.openxmlformats.org/drawingml/2006/main">
            <a:pPr>
              <a:defRPr sz="1650" b="1">
                <a:solidFill>
                  <a:srgbClr val="3191B5"/>
                </a:solidFill>
                <a:latin typeface="Arial"/>
                <a:ea typeface="Arial"/>
                <a:cs typeface="Arial"/>
              </a:defRPr>
            </a:pPr>
            <a:r>
              <a:rPr sz="1650" b="1">
                <a:solidFill>
                  <a:srgbClr val="3191B5"/>
                </a:solidFill>
                <a:latin typeface="Arial"/>
                <a:ea typeface="Arial"/>
                <a:cs typeface="Arial"/>
              </a:rPr>
              <a:t>Prompt to try</a:t>
            </a:r>
          </a:p>
        </p:txBody>
      </p:sp>
      <p:sp>
        <p:nvSpPr>
          <p:cNvPr id="26" name="">
            <a:extLst xmlns:a="http://schemas.openxmlformats.org/drawingml/2006/main">
              <a:ext uri="{FF2B5EF4-FFF2-40B4-BE49-F238E27FC236}">
                <a16:creationId xmlns:a16="http://schemas.microsoft.com/office/drawing/2014/main" id="{A74987BF-AC11-45D5-ACD2-B1105B8F5E60}"/>
              </a:ext>
            </a:extLst>
          </p:cNvPr>
          <p:cNvSpPr>
            <a:spLocks xmlns:a="http://schemas.openxmlformats.org/drawingml/2006/main" noGrp="1"/>
          </p:cNvSpPr>
          <p:nvPr/>
        </p:nvSpPr>
        <p:spPr>
          <a:xfrm xmlns:a="http://schemas.openxmlformats.org/drawingml/2006/main">
            <a:off x="609600" y="4467225"/>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0">
                <a:solidFill>
                  <a:srgbClr val="172D3C"/>
                </a:solidFill>
                <a:latin typeface="Arial"/>
                <a:ea typeface="Arial"/>
                <a:cs typeface="Arial"/>
              </a:defRPr>
            </a:defPPr>
            <a:lvl1pPr>
              <a:defRPr sz="1800" b="0">
                <a:solidFill>
                  <a:srgbClr val="172D3C"/>
                </a:solidFill>
                <a:latin typeface="Arial"/>
                <a:ea typeface="Arial"/>
                <a:cs typeface="Arial"/>
              </a:defRPr>
            </a:lvl1pPr>
            <a:lvl2pPr>
              <a:defRPr sz="1800" b="0">
                <a:solidFill>
                  <a:srgbClr val="172D3C"/>
                </a:solidFill>
                <a:latin typeface="Arial"/>
                <a:ea typeface="Arial"/>
                <a:cs typeface="Arial"/>
              </a:defRPr>
            </a:lvl2pPr>
            <a:lvl3pPr>
              <a:defRPr sz="1800" b="0">
                <a:solidFill>
                  <a:srgbClr val="172D3C"/>
                </a:solidFill>
                <a:latin typeface="Arial"/>
                <a:ea typeface="Arial"/>
                <a:cs typeface="Arial"/>
              </a:defRPr>
            </a:lvl3pPr>
            <a:lvl4pPr>
              <a:defRPr sz="1800" b="0">
                <a:solidFill>
                  <a:srgbClr val="172D3C"/>
                </a:solidFill>
                <a:latin typeface="Arial"/>
                <a:ea typeface="Arial"/>
                <a:cs typeface="Arial"/>
              </a:defRPr>
            </a:lvl4pPr>
            <a:lvl5pPr>
              <a:defRPr sz="1800" b="0">
                <a:solidFill>
                  <a:srgbClr val="172D3C"/>
                </a:solidFill>
                <a:latin typeface="Arial"/>
                <a:ea typeface="Arial"/>
                <a:cs typeface="Arial"/>
              </a:defRPr>
            </a:lvl5pPr>
            <a:lvl6pPr>
              <a:defRPr sz="1800" b="0">
                <a:solidFill>
                  <a:srgbClr val="172D3C"/>
                </a:solidFill>
                <a:latin typeface="Arial"/>
                <a:ea typeface="Arial"/>
                <a:cs typeface="Arial"/>
              </a:defRPr>
            </a:lvl6pPr>
            <a:lvl7pPr>
              <a:defRPr sz="1800" b="0">
                <a:solidFill>
                  <a:srgbClr val="172D3C"/>
                </a:solidFill>
                <a:latin typeface="Arial"/>
                <a:ea typeface="Arial"/>
                <a:cs typeface="Arial"/>
              </a:defRPr>
            </a:lvl7pPr>
            <a:lvl8pPr>
              <a:defRPr sz="1800" b="0">
                <a:solidFill>
                  <a:srgbClr val="172D3C"/>
                </a:solidFill>
                <a:latin typeface="Arial"/>
                <a:ea typeface="Arial"/>
                <a:cs typeface="Arial"/>
              </a:defRPr>
            </a:lvl8pPr>
            <a:lvl9pPr>
              <a:defRPr sz="1800" b="0">
                <a:solidFill>
                  <a:srgbClr val="172D3C"/>
                </a:solidFill>
                <a:latin typeface="Arial"/>
                <a:ea typeface="Arial"/>
                <a:cs typeface="Arial"/>
              </a:defRPr>
            </a:lvl9pPr>
          </a:lstStyle>
          <a:p xmlns:a="http://schemas.openxmlformats.org/drawingml/2006/main">
            <a:pPr>
              <a:defRPr sz="1800" b="0">
                <a:solidFill>
                  <a:srgbClr val="172D3C"/>
                </a:solidFill>
                <a:latin typeface="Arial"/>
                <a:ea typeface="Arial"/>
                <a:cs typeface="Arial"/>
              </a:defRPr>
            </a:pPr>
            <a:r>
              <a:rPr sz="1800" b="0">
                <a:solidFill>
                  <a:srgbClr val="172D3C"/>
                </a:solidFill>
                <a:latin typeface="Arial"/>
                <a:ea typeface="Arial"/>
                <a:cs typeface="Arial"/>
              </a:rPr>
              <a:t>“Show the SQL that calculates retained customers and contribution by joining month and customer age. Explain the denominator and preserve unobserved future ages as missing.”</a:t>
            </a:r>
          </a:p>
        </p:txBody>
      </p:sp>
      <p:sp>
        <p:nvSpPr>
          <p:cNvPr id="27" name="">
            <a:extLst xmlns:a="http://schemas.openxmlformats.org/drawingml/2006/main">
              <a:ext uri="{FF2B5EF4-FFF2-40B4-BE49-F238E27FC236}">
                <a16:creationId xmlns:a16="http://schemas.microsoft.com/office/drawing/2014/main" id="{CFA01343-CE65-4840-958B-F02765B2BA8F}"/>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6E04A6B-7628-483E-A9B3-2A4BC9083768}"/>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A SQL script makes a calculation inspectable; the data definitions determine whether it answers the right question.</a:t>
            </a:r>
          </a:p>
        </p:txBody>
      </p:sp>
    </p:spTree>
    <p:extLst>
      <p:ext uri="{BB962C8B-B14F-4D97-AF65-F5344CB8AC3E}">
        <p14:creationId xmlns:p14="http://schemas.microsoft.com/office/powerpoint/2010/main" val="6301961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225D51-A0D4-4ED7-AF44-2759176AA3B3}"/>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68778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8AE618-986C-44B0-892E-0549937601AB}"/>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A cohort follows the same original customers</a:t>
            </a:r>
          </a:p>
        </p:txBody>
      </p:sp>
      <p:sp>
        <p:nvSpPr>
          <p:cNvPr id="3" name="">
            <a:extLst xmlns:a="http://schemas.openxmlformats.org/drawingml/2006/main">
              <a:ext uri="{FF2B5EF4-FFF2-40B4-BE49-F238E27FC236}">
                <a16:creationId xmlns:a16="http://schemas.microsoft.com/office/drawing/2014/main" id="{7BC01247-B1E7-4532-BDBD-6CE25DCCEB78}"/>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687780"/>
                </a:solidFill>
                <a:latin typeface="Arial"/>
                <a:ea typeface="Arial"/>
                <a:cs typeface="Arial"/>
              </a:defRPr>
            </a:defPPr>
            <a:lvl1pPr>
              <a:defRPr sz="900" b="1">
                <a:solidFill>
                  <a:srgbClr val="687780"/>
                </a:solidFill>
                <a:latin typeface="Arial"/>
                <a:ea typeface="Arial"/>
                <a:cs typeface="Arial"/>
              </a:defRPr>
            </a:lvl1pPr>
            <a:lvl2pPr>
              <a:defRPr sz="900" b="1">
                <a:solidFill>
                  <a:srgbClr val="687780"/>
                </a:solidFill>
                <a:latin typeface="Arial"/>
                <a:ea typeface="Arial"/>
                <a:cs typeface="Arial"/>
              </a:defRPr>
            </a:lvl2pPr>
            <a:lvl3pPr>
              <a:defRPr sz="900" b="1">
                <a:solidFill>
                  <a:srgbClr val="687780"/>
                </a:solidFill>
                <a:latin typeface="Arial"/>
                <a:ea typeface="Arial"/>
                <a:cs typeface="Arial"/>
              </a:defRPr>
            </a:lvl3pPr>
            <a:lvl4pPr>
              <a:defRPr sz="900" b="1">
                <a:solidFill>
                  <a:srgbClr val="687780"/>
                </a:solidFill>
                <a:latin typeface="Arial"/>
                <a:ea typeface="Arial"/>
                <a:cs typeface="Arial"/>
              </a:defRPr>
            </a:lvl4pPr>
            <a:lvl5pPr>
              <a:defRPr sz="900" b="1">
                <a:solidFill>
                  <a:srgbClr val="687780"/>
                </a:solidFill>
                <a:latin typeface="Arial"/>
                <a:ea typeface="Arial"/>
                <a:cs typeface="Arial"/>
              </a:defRPr>
            </a:lvl5pPr>
            <a:lvl6pPr>
              <a:defRPr sz="900" b="1">
                <a:solidFill>
                  <a:srgbClr val="687780"/>
                </a:solidFill>
                <a:latin typeface="Arial"/>
                <a:ea typeface="Arial"/>
                <a:cs typeface="Arial"/>
              </a:defRPr>
            </a:lvl6pPr>
            <a:lvl7pPr>
              <a:defRPr sz="900" b="1">
                <a:solidFill>
                  <a:srgbClr val="687780"/>
                </a:solidFill>
                <a:latin typeface="Arial"/>
                <a:ea typeface="Arial"/>
                <a:cs typeface="Arial"/>
              </a:defRPr>
            </a:lvl7pPr>
            <a:lvl8pPr>
              <a:defRPr sz="900" b="1">
                <a:solidFill>
                  <a:srgbClr val="687780"/>
                </a:solidFill>
                <a:latin typeface="Arial"/>
                <a:ea typeface="Arial"/>
                <a:cs typeface="Arial"/>
              </a:defRPr>
            </a:lvl8pPr>
            <a:lvl9pPr>
              <a:defRPr sz="900" b="1">
                <a:solidFill>
                  <a:srgbClr val="687780"/>
                </a:solidFill>
                <a:latin typeface="Arial"/>
                <a:ea typeface="Arial"/>
                <a:cs typeface="Arial"/>
              </a:defRPr>
            </a:lvl9pPr>
          </a:lstStyle>
          <a:p xmlns:a="http://schemas.openxmlformats.org/drawingml/2006/main">
            <a:pPr>
              <a:defRPr sz="900" b="1">
                <a:solidFill>
                  <a:srgbClr val="687780"/>
                </a:solidFill>
                <a:latin typeface="Arial"/>
                <a:ea typeface="Arial"/>
                <a:cs typeface="Arial"/>
              </a:defRPr>
            </a:pPr>
            <a:r>
              <a:rPr sz="900" b="1">
                <a:solidFill>
                  <a:srgbClr val="687780"/>
                </a:solidFill>
                <a:latin typeface="Arial"/>
                <a:ea typeface="Arial"/>
                <a:cs typeface="Arial"/>
              </a:rPr>
              <a:t>EVIDENCE INTERPRETATION</a:t>
            </a:r>
          </a:p>
        </p:txBody>
      </p:sp>
      <p:sp>
        <p:nvSpPr>
          <p:cNvPr id="4" name="">
            <a:extLst xmlns:a="http://schemas.openxmlformats.org/drawingml/2006/main">
              <a:ext uri="{FF2B5EF4-FFF2-40B4-BE49-F238E27FC236}">
                <a16:creationId xmlns:a16="http://schemas.microsoft.com/office/drawing/2014/main" id="{F6C21C62-0077-447C-8767-F7812DA85DCB}"/>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A7F69AAF-8BB8-419A-83B9-250D553C06A2}"/>
              </a:ext>
            </a:extLst>
          </p:cNvPr>
          <p:cNvSpPr>
            <a:spLocks xmlns:a="http://schemas.openxmlformats.org/drawingml/2006/main" noGrp="1"/>
          </p:cNvSpPr>
          <p:nvPr/>
        </p:nvSpPr>
        <p:spPr>
          <a:xfrm xmlns:a="http://schemas.openxmlformats.org/drawingml/2006/main">
            <a:off x="609600" y="1381125"/>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Table 3. Retained share by joining cohort and customer age (months)</a:t>
            </a:r>
          </a:p>
        </p:txBody>
      </p:sp>
      <p:graphicFrame>
        <p:nvGraphicFramePr>
          <p:cNvPr id="6" name="">
            <a:extLst xmlns:a="http://schemas.openxmlformats.org/drawingml/2006/main">
              <a:ext uri="{FF2B5EF4-FFF2-40B4-BE49-F238E27FC236}">
                <a16:creationId xmlns:a16="http://schemas.microsoft.com/office/drawing/2014/main" id="{AB2452C3-199A-4C53-9ADC-36370494FC73}"/>
              </a:ext>
            </a:extLst>
          </p:cNvPr>
          <p:cNvGraphicFramePr/>
          <p:nvPr/>
        </p:nvGraphicFramePr>
        <p:xfrm>
          <a:off xmlns:a="http://schemas.openxmlformats.org/drawingml/2006/main" x="609600" y="1685925"/>
          <a:ext xmlns:a="http://schemas.openxmlformats.org/drawingml/2006/main" cx="10972800" cy="4048125"/>
        </p:xfrm>
        <a:graphic xmlns:a="http://schemas.openxmlformats.org/drawingml/2006/main">
          <a:graphicData uri="http://schemas.openxmlformats.org/drawingml/2006/table">
            <a:tbl>
              <a:tblPr/>
              <a:tblGrid>
                <a:gridCol w="1143000"/>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gridCol w="409575"/>
              </a:tblGrid>
              <a:tr h="161925">
                <a:tc>
                  <a:txBody>
                    <a:bodyPr/>
                    <a:lstStyle/>
                    <a:p>
                      <a:r>
                        <a:rPr sz="938" b="1">
                          <a:solidFill>
                            <a:srgbClr val="FFFFFF"/>
                          </a:solidFill>
                          <a:latin typeface="Arial"/>
                          <a:ea typeface="Arial"/>
                          <a:cs typeface="Arial"/>
                        </a:rPr>
                        <a:t>Cohort</a:t>
                      </a:r>
                    </a:p>
                  </a:txBody>
                  <a:tcPr marL="28575" marR="28575" marT="7620" marB="7620">
                    <a:solidFill>
                      <a:srgbClr val="172D3C"/>
                    </a:solidFill>
                  </a:tcPr>
                </a:tc>
                <a:tc>
                  <a:txBody>
                    <a:bodyPr/>
                    <a:lstStyle/>
                    <a:p>
                      <a:r>
                        <a:rPr sz="938" b="1">
                          <a:solidFill>
                            <a:srgbClr val="FFFFFF"/>
                          </a:solidFill>
                          <a:latin typeface="Arial"/>
                          <a:ea typeface="Arial"/>
                          <a:cs typeface="Arial"/>
                        </a:rPr>
                        <a:t>0</a:t>
                      </a:r>
                    </a:p>
                  </a:txBody>
                  <a:tcPr marL="28575" marR="28575" marT="7620" marB="7620">
                    <a:solidFill>
                      <a:srgbClr val="172D3C"/>
                    </a:solidFill>
                  </a:tcPr>
                </a:tc>
                <a:tc>
                  <a:txBody>
                    <a:bodyPr/>
                    <a:lstStyle/>
                    <a:p>
                      <a:r>
                        <a:rPr sz="938" b="1">
                          <a:solidFill>
                            <a:srgbClr val="FFFFFF"/>
                          </a:solidFill>
                          <a:latin typeface="Arial"/>
                          <a:ea typeface="Arial"/>
                          <a:cs typeface="Arial"/>
                        </a:rPr>
                        <a:t>1</a:t>
                      </a:r>
                    </a:p>
                  </a:txBody>
                  <a:tcPr marL="28575" marR="28575" marT="7620" marB="7620">
                    <a:solidFill>
                      <a:srgbClr val="172D3C"/>
                    </a:solidFill>
                  </a:tcPr>
                </a:tc>
                <a:tc>
                  <a:txBody>
                    <a:bodyPr/>
                    <a:lstStyle/>
                    <a:p>
                      <a:r>
                        <a:rPr sz="938" b="1">
                          <a:solidFill>
                            <a:srgbClr val="FFFFFF"/>
                          </a:solidFill>
                          <a:latin typeface="Arial"/>
                          <a:ea typeface="Arial"/>
                          <a:cs typeface="Arial"/>
                        </a:rPr>
                        <a:t>2</a:t>
                      </a:r>
                    </a:p>
                  </a:txBody>
                  <a:tcPr marL="28575" marR="28575" marT="7620" marB="7620">
                    <a:solidFill>
                      <a:srgbClr val="172D3C"/>
                    </a:solidFill>
                  </a:tcPr>
                </a:tc>
                <a:tc>
                  <a:txBody>
                    <a:bodyPr/>
                    <a:lstStyle/>
                    <a:p>
                      <a:r>
                        <a:rPr sz="938" b="1">
                          <a:solidFill>
                            <a:srgbClr val="FFFFFF"/>
                          </a:solidFill>
                          <a:latin typeface="Arial"/>
                          <a:ea typeface="Arial"/>
                          <a:cs typeface="Arial"/>
                        </a:rPr>
                        <a:t>3</a:t>
                      </a:r>
                    </a:p>
                  </a:txBody>
                  <a:tcPr marL="28575" marR="28575" marT="7620" marB="7620">
                    <a:solidFill>
                      <a:srgbClr val="172D3C"/>
                    </a:solidFill>
                  </a:tcPr>
                </a:tc>
                <a:tc>
                  <a:txBody>
                    <a:bodyPr/>
                    <a:lstStyle/>
                    <a:p>
                      <a:r>
                        <a:rPr sz="938" b="1">
                          <a:solidFill>
                            <a:srgbClr val="FFFFFF"/>
                          </a:solidFill>
                          <a:latin typeface="Arial"/>
                          <a:ea typeface="Arial"/>
                          <a:cs typeface="Arial"/>
                        </a:rPr>
                        <a:t>4</a:t>
                      </a:r>
                    </a:p>
                  </a:txBody>
                  <a:tcPr marL="28575" marR="28575" marT="7620" marB="7620">
                    <a:solidFill>
                      <a:srgbClr val="172D3C"/>
                    </a:solidFill>
                  </a:tcPr>
                </a:tc>
                <a:tc>
                  <a:txBody>
                    <a:bodyPr/>
                    <a:lstStyle/>
                    <a:p>
                      <a:r>
                        <a:rPr sz="938" b="1">
                          <a:solidFill>
                            <a:srgbClr val="FFFFFF"/>
                          </a:solidFill>
                          <a:latin typeface="Arial"/>
                          <a:ea typeface="Arial"/>
                          <a:cs typeface="Arial"/>
                        </a:rPr>
                        <a:t>5</a:t>
                      </a:r>
                    </a:p>
                  </a:txBody>
                  <a:tcPr marL="28575" marR="28575" marT="7620" marB="7620">
                    <a:solidFill>
                      <a:srgbClr val="172D3C"/>
                    </a:solidFill>
                  </a:tcPr>
                </a:tc>
                <a:tc>
                  <a:txBody>
                    <a:bodyPr/>
                    <a:lstStyle/>
                    <a:p>
                      <a:r>
                        <a:rPr sz="938" b="1">
                          <a:solidFill>
                            <a:srgbClr val="FFFFFF"/>
                          </a:solidFill>
                          <a:latin typeface="Arial"/>
                          <a:ea typeface="Arial"/>
                          <a:cs typeface="Arial"/>
                        </a:rPr>
                        <a:t>6</a:t>
                      </a:r>
                    </a:p>
                  </a:txBody>
                  <a:tcPr marL="28575" marR="28575" marT="7620" marB="7620">
                    <a:solidFill>
                      <a:srgbClr val="172D3C"/>
                    </a:solidFill>
                  </a:tcPr>
                </a:tc>
                <a:tc>
                  <a:txBody>
                    <a:bodyPr/>
                    <a:lstStyle/>
                    <a:p>
                      <a:r>
                        <a:rPr sz="938" b="1">
                          <a:solidFill>
                            <a:srgbClr val="FFFFFF"/>
                          </a:solidFill>
                          <a:latin typeface="Arial"/>
                          <a:ea typeface="Arial"/>
                          <a:cs typeface="Arial"/>
                        </a:rPr>
                        <a:t>7</a:t>
                      </a:r>
                    </a:p>
                  </a:txBody>
                  <a:tcPr marL="28575" marR="28575" marT="7620" marB="7620">
                    <a:solidFill>
                      <a:srgbClr val="172D3C"/>
                    </a:solidFill>
                  </a:tcPr>
                </a:tc>
                <a:tc>
                  <a:txBody>
                    <a:bodyPr/>
                    <a:lstStyle/>
                    <a:p>
                      <a:r>
                        <a:rPr sz="938" b="1">
                          <a:solidFill>
                            <a:srgbClr val="FFFFFF"/>
                          </a:solidFill>
                          <a:latin typeface="Arial"/>
                          <a:ea typeface="Arial"/>
                          <a:cs typeface="Arial"/>
                        </a:rPr>
                        <a:t>8</a:t>
                      </a:r>
                    </a:p>
                  </a:txBody>
                  <a:tcPr marL="28575" marR="28575" marT="7620" marB="7620">
                    <a:solidFill>
                      <a:srgbClr val="172D3C"/>
                    </a:solidFill>
                  </a:tcPr>
                </a:tc>
                <a:tc>
                  <a:txBody>
                    <a:bodyPr/>
                    <a:lstStyle/>
                    <a:p>
                      <a:r>
                        <a:rPr sz="938" b="1">
                          <a:solidFill>
                            <a:srgbClr val="FFFFFF"/>
                          </a:solidFill>
                          <a:latin typeface="Arial"/>
                          <a:ea typeface="Arial"/>
                          <a:cs typeface="Arial"/>
                        </a:rPr>
                        <a:t>9</a:t>
                      </a:r>
                    </a:p>
                  </a:txBody>
                  <a:tcPr marL="28575" marR="28575" marT="7620" marB="7620">
                    <a:solidFill>
                      <a:srgbClr val="172D3C"/>
                    </a:solidFill>
                  </a:tcPr>
                </a:tc>
                <a:tc>
                  <a:txBody>
                    <a:bodyPr/>
                    <a:lstStyle/>
                    <a:p>
                      <a:r>
                        <a:rPr sz="938" b="1">
                          <a:solidFill>
                            <a:srgbClr val="FFFFFF"/>
                          </a:solidFill>
                          <a:latin typeface="Arial"/>
                          <a:ea typeface="Arial"/>
                          <a:cs typeface="Arial"/>
                        </a:rPr>
                        <a:t>10</a:t>
                      </a:r>
                    </a:p>
                  </a:txBody>
                  <a:tcPr marL="28575" marR="28575" marT="7620" marB="7620">
                    <a:solidFill>
                      <a:srgbClr val="172D3C"/>
                    </a:solidFill>
                  </a:tcPr>
                </a:tc>
                <a:tc>
                  <a:txBody>
                    <a:bodyPr/>
                    <a:lstStyle/>
                    <a:p>
                      <a:r>
                        <a:rPr sz="938" b="1">
                          <a:solidFill>
                            <a:srgbClr val="FFFFFF"/>
                          </a:solidFill>
                          <a:latin typeface="Arial"/>
                          <a:ea typeface="Arial"/>
                          <a:cs typeface="Arial"/>
                        </a:rPr>
                        <a:t>11</a:t>
                      </a:r>
                    </a:p>
                  </a:txBody>
                  <a:tcPr marL="28575" marR="28575" marT="7620" marB="7620">
                    <a:solidFill>
                      <a:srgbClr val="172D3C"/>
                    </a:solidFill>
                  </a:tcPr>
                </a:tc>
                <a:tc>
                  <a:txBody>
                    <a:bodyPr/>
                    <a:lstStyle/>
                    <a:p>
                      <a:r>
                        <a:rPr sz="938" b="1">
                          <a:solidFill>
                            <a:srgbClr val="FFFFFF"/>
                          </a:solidFill>
                          <a:latin typeface="Arial"/>
                          <a:ea typeface="Arial"/>
                          <a:cs typeface="Arial"/>
                        </a:rPr>
                        <a:t>12</a:t>
                      </a:r>
                    </a:p>
                  </a:txBody>
                  <a:tcPr marL="28575" marR="28575" marT="7620" marB="7620">
                    <a:solidFill>
                      <a:srgbClr val="172D3C"/>
                    </a:solidFill>
                  </a:tcPr>
                </a:tc>
                <a:tc>
                  <a:txBody>
                    <a:bodyPr/>
                    <a:lstStyle/>
                    <a:p>
                      <a:r>
                        <a:rPr sz="938" b="1">
                          <a:solidFill>
                            <a:srgbClr val="FFFFFF"/>
                          </a:solidFill>
                          <a:latin typeface="Arial"/>
                          <a:ea typeface="Arial"/>
                          <a:cs typeface="Arial"/>
                        </a:rPr>
                        <a:t>13</a:t>
                      </a:r>
                    </a:p>
                  </a:txBody>
                  <a:tcPr marL="28575" marR="28575" marT="7620" marB="7620">
                    <a:solidFill>
                      <a:srgbClr val="172D3C"/>
                    </a:solidFill>
                  </a:tcPr>
                </a:tc>
                <a:tc>
                  <a:txBody>
                    <a:bodyPr/>
                    <a:lstStyle/>
                    <a:p>
                      <a:r>
                        <a:rPr sz="938" b="1">
                          <a:solidFill>
                            <a:srgbClr val="FFFFFF"/>
                          </a:solidFill>
                          <a:latin typeface="Arial"/>
                          <a:ea typeface="Arial"/>
                          <a:cs typeface="Arial"/>
                        </a:rPr>
                        <a:t>14</a:t>
                      </a:r>
                    </a:p>
                  </a:txBody>
                  <a:tcPr marL="28575" marR="28575" marT="7620" marB="7620">
                    <a:solidFill>
                      <a:srgbClr val="172D3C"/>
                    </a:solidFill>
                  </a:tcPr>
                </a:tc>
                <a:tc>
                  <a:txBody>
                    <a:bodyPr/>
                    <a:lstStyle/>
                    <a:p>
                      <a:r>
                        <a:rPr sz="938" b="1">
                          <a:solidFill>
                            <a:srgbClr val="FFFFFF"/>
                          </a:solidFill>
                          <a:latin typeface="Arial"/>
                          <a:ea typeface="Arial"/>
                          <a:cs typeface="Arial"/>
                        </a:rPr>
                        <a:t>15</a:t>
                      </a:r>
                    </a:p>
                  </a:txBody>
                  <a:tcPr marL="28575" marR="28575" marT="7620" marB="7620">
                    <a:solidFill>
                      <a:srgbClr val="172D3C"/>
                    </a:solidFill>
                  </a:tcPr>
                </a:tc>
                <a:tc>
                  <a:txBody>
                    <a:bodyPr/>
                    <a:lstStyle/>
                    <a:p>
                      <a:r>
                        <a:rPr sz="938" b="1">
                          <a:solidFill>
                            <a:srgbClr val="FFFFFF"/>
                          </a:solidFill>
                          <a:latin typeface="Arial"/>
                          <a:ea typeface="Arial"/>
                          <a:cs typeface="Arial"/>
                        </a:rPr>
                        <a:t>16</a:t>
                      </a:r>
                    </a:p>
                  </a:txBody>
                  <a:tcPr marL="28575" marR="28575" marT="7620" marB="7620">
                    <a:solidFill>
                      <a:srgbClr val="172D3C"/>
                    </a:solidFill>
                  </a:tcPr>
                </a:tc>
                <a:tc>
                  <a:txBody>
                    <a:bodyPr/>
                    <a:lstStyle/>
                    <a:p>
                      <a:r>
                        <a:rPr sz="938" b="1">
                          <a:solidFill>
                            <a:srgbClr val="FFFFFF"/>
                          </a:solidFill>
                          <a:latin typeface="Arial"/>
                          <a:ea typeface="Arial"/>
                          <a:cs typeface="Arial"/>
                        </a:rPr>
                        <a:t>17</a:t>
                      </a:r>
                    </a:p>
                  </a:txBody>
                  <a:tcPr marL="28575" marR="28575" marT="7620" marB="7620">
                    <a:solidFill>
                      <a:srgbClr val="172D3C"/>
                    </a:solidFill>
                  </a:tcPr>
                </a:tc>
                <a:tc>
                  <a:txBody>
                    <a:bodyPr/>
                    <a:lstStyle/>
                    <a:p>
                      <a:r>
                        <a:rPr sz="938" b="1">
                          <a:solidFill>
                            <a:srgbClr val="FFFFFF"/>
                          </a:solidFill>
                          <a:latin typeface="Arial"/>
                          <a:ea typeface="Arial"/>
                          <a:cs typeface="Arial"/>
                        </a:rPr>
                        <a:t>18</a:t>
                      </a:r>
                    </a:p>
                  </a:txBody>
                  <a:tcPr marL="28575" marR="28575" marT="7620" marB="7620">
                    <a:solidFill>
                      <a:srgbClr val="172D3C"/>
                    </a:solidFill>
                  </a:tcPr>
                </a:tc>
                <a:tc>
                  <a:txBody>
                    <a:bodyPr/>
                    <a:lstStyle/>
                    <a:p>
                      <a:r>
                        <a:rPr sz="938" b="1">
                          <a:solidFill>
                            <a:srgbClr val="FFFFFF"/>
                          </a:solidFill>
                          <a:latin typeface="Arial"/>
                          <a:ea typeface="Arial"/>
                          <a:cs typeface="Arial"/>
                        </a:rPr>
                        <a:t>19</a:t>
                      </a:r>
                    </a:p>
                  </a:txBody>
                  <a:tcPr marL="28575" marR="28575" marT="7620" marB="7620">
                    <a:solidFill>
                      <a:srgbClr val="172D3C"/>
                    </a:solidFill>
                  </a:tcPr>
                </a:tc>
                <a:tc>
                  <a:txBody>
                    <a:bodyPr/>
                    <a:lstStyle/>
                    <a:p>
                      <a:r>
                        <a:rPr sz="938" b="1">
                          <a:solidFill>
                            <a:srgbClr val="FFFFFF"/>
                          </a:solidFill>
                          <a:latin typeface="Arial"/>
                          <a:ea typeface="Arial"/>
                          <a:cs typeface="Arial"/>
                        </a:rPr>
                        <a:t>20</a:t>
                      </a:r>
                    </a:p>
                  </a:txBody>
                  <a:tcPr marL="28575" marR="28575" marT="7620" marB="7620">
                    <a:solidFill>
                      <a:srgbClr val="172D3C"/>
                    </a:solidFill>
                  </a:tcPr>
                </a:tc>
                <a:tc>
                  <a:txBody>
                    <a:bodyPr/>
                    <a:lstStyle/>
                    <a:p>
                      <a:r>
                        <a:rPr sz="938" b="1">
                          <a:solidFill>
                            <a:srgbClr val="FFFFFF"/>
                          </a:solidFill>
                          <a:latin typeface="Arial"/>
                          <a:ea typeface="Arial"/>
                          <a:cs typeface="Arial"/>
                        </a:rPr>
                        <a:t>21</a:t>
                      </a:r>
                    </a:p>
                  </a:txBody>
                  <a:tcPr marL="28575" marR="28575" marT="7620" marB="7620">
                    <a:solidFill>
                      <a:srgbClr val="172D3C"/>
                    </a:solidFill>
                  </a:tcPr>
                </a:tc>
                <a:tc>
                  <a:txBody>
                    <a:bodyPr/>
                    <a:lstStyle/>
                    <a:p>
                      <a:r>
                        <a:rPr sz="938" b="1">
                          <a:solidFill>
                            <a:srgbClr val="FFFFFF"/>
                          </a:solidFill>
                          <a:latin typeface="Arial"/>
                          <a:ea typeface="Arial"/>
                          <a:cs typeface="Arial"/>
                        </a:rPr>
                        <a:t>22</a:t>
                      </a:r>
                    </a:p>
                  </a:txBody>
                  <a:tcPr marL="28575" marR="28575" marT="7620" marB="7620">
                    <a:solidFill>
                      <a:srgbClr val="172D3C"/>
                    </a:solidFill>
                  </a:tcPr>
                </a:tc>
                <a:tc>
                  <a:txBody>
                    <a:bodyPr/>
                    <a:lstStyle/>
                    <a:p>
                      <a:r>
                        <a:rPr sz="938" b="1">
                          <a:solidFill>
                            <a:srgbClr val="FFFFFF"/>
                          </a:solidFill>
                          <a:latin typeface="Arial"/>
                          <a:ea typeface="Arial"/>
                          <a:cs typeface="Arial"/>
                        </a:rPr>
                        <a:t>23</a:t>
                      </a:r>
                    </a:p>
                  </a:txBody>
                  <a:tcPr marL="28575" marR="28575" marT="7620" marB="7620">
                    <a:solidFill>
                      <a:srgbClr val="172D3C"/>
                    </a:solidFill>
                  </a:tcPr>
                </a:tc>
              </a:tr>
              <a:tr h="161925">
                <a:tc>
                  <a:txBody>
                    <a:bodyPr/>
                    <a:lstStyle/>
                    <a:p>
                      <a:r>
                        <a:rPr sz="938" b="0">
                          <a:solidFill>
                            <a:srgbClr val="172D3C"/>
                          </a:solidFill>
                          <a:latin typeface="Arial"/>
                          <a:ea typeface="Arial"/>
                          <a:cs typeface="Arial"/>
                        </a:rPr>
                        <a:t>2024-01</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80%</a:t>
                      </a:r>
                    </a:p>
                  </a:txBody>
                  <a:tcPr marL="28575" marR="28575" marT="7620" marB="7620">
                    <a:solidFill>
                      <a:srgbClr val="F0F5F6"/>
                    </a:solidFill>
                  </a:tcPr>
                </a:tc>
                <a:tc>
                  <a:txBody>
                    <a:bodyPr/>
                    <a:lstStyle/>
                    <a:p>
                      <a:r>
                        <a:rPr sz="938" b="0">
                          <a:solidFill>
                            <a:srgbClr val="172D3C"/>
                          </a:solidFill>
                          <a:latin typeface="Arial"/>
                          <a:ea typeface="Arial"/>
                          <a:cs typeface="Arial"/>
                        </a:rPr>
                        <a:t>70%</a:t>
                      </a:r>
                    </a:p>
                  </a:txBody>
                  <a:tcPr marL="28575" marR="28575" marT="7620" marB="7620">
                    <a:solidFill>
                      <a:srgbClr val="F0F5F6"/>
                    </a:solidFill>
                  </a:tcPr>
                </a:tc>
                <a:tc>
                  <a:txBody>
                    <a:bodyPr/>
                    <a:lstStyle/>
                    <a:p>
                      <a:r>
                        <a:rPr sz="938" b="0">
                          <a:solidFill>
                            <a:srgbClr val="172D3C"/>
                          </a:solidFill>
                          <a:latin typeface="Arial"/>
                          <a:ea typeface="Arial"/>
                          <a:cs typeface="Arial"/>
                        </a:rPr>
                        <a:t>63%</a:t>
                      </a:r>
                    </a:p>
                  </a:txBody>
                  <a:tcPr marL="28575" marR="28575" marT="7620" marB="7620">
                    <a:solidFill>
                      <a:srgbClr val="F0F5F6"/>
                    </a:solidFill>
                  </a:tcPr>
                </a:tc>
                <a:tc>
                  <a:txBody>
                    <a:bodyPr/>
                    <a:lstStyle/>
                    <a:p>
                      <a:r>
                        <a:rPr sz="938" b="0">
                          <a:solidFill>
                            <a:srgbClr val="172D3C"/>
                          </a:solidFill>
                          <a:latin typeface="Arial"/>
                          <a:ea typeface="Arial"/>
                          <a:cs typeface="Arial"/>
                        </a:rPr>
                        <a:t>55%</a:t>
                      </a:r>
                    </a:p>
                  </a:txBody>
                  <a:tcPr marL="28575" marR="28575" marT="7620" marB="7620">
                    <a:solidFill>
                      <a:srgbClr val="F0F5F6"/>
                    </a:solidFill>
                  </a:tcPr>
                </a:tc>
                <a:tc>
                  <a:txBody>
                    <a:bodyPr/>
                    <a:lstStyle/>
                    <a:p>
                      <a:r>
                        <a:rPr sz="938" b="0">
                          <a:solidFill>
                            <a:srgbClr val="172D3C"/>
                          </a:solidFill>
                          <a:latin typeface="Arial"/>
                          <a:ea typeface="Arial"/>
                          <a:cs typeface="Arial"/>
                        </a:rPr>
                        <a:t>51%</a:t>
                      </a:r>
                    </a:p>
                  </a:txBody>
                  <a:tcPr marL="28575" marR="28575" marT="7620" marB="7620">
                    <a:solidFill>
                      <a:srgbClr val="F0F5F6"/>
                    </a:solidFill>
                  </a:tcPr>
                </a:tc>
                <a:tc>
                  <a:txBody>
                    <a:bodyPr/>
                    <a:lstStyle/>
                    <a:p>
                      <a:r>
                        <a:rPr sz="938" b="0">
                          <a:solidFill>
                            <a:srgbClr val="172D3C"/>
                          </a:solidFill>
                          <a:latin typeface="Arial"/>
                          <a:ea typeface="Arial"/>
                          <a:cs typeface="Arial"/>
                        </a:rPr>
                        <a:t>47%</a:t>
                      </a:r>
                    </a:p>
                  </a:txBody>
                  <a:tcPr marL="28575" marR="28575" marT="7620" marB="7620">
                    <a:solidFill>
                      <a:srgbClr val="F0F5F6"/>
                    </a:solidFill>
                  </a:tcPr>
                </a:tc>
                <a:tc>
                  <a:txBody>
                    <a:bodyPr/>
                    <a:lstStyle/>
                    <a:p>
                      <a:r>
                        <a:rPr sz="938" b="0">
                          <a:solidFill>
                            <a:srgbClr val="172D3C"/>
                          </a:solidFill>
                          <a:latin typeface="Arial"/>
                          <a:ea typeface="Arial"/>
                          <a:cs typeface="Arial"/>
                        </a:rPr>
                        <a:t>45%</a:t>
                      </a:r>
                    </a:p>
                  </a:txBody>
                  <a:tcPr marL="28575" marR="28575" marT="7620" marB="7620">
                    <a:solidFill>
                      <a:srgbClr val="F0F5F6"/>
                    </a:solidFill>
                  </a:tcPr>
                </a:tc>
                <a:tc>
                  <a:txBody>
                    <a:bodyPr/>
                    <a:lstStyle/>
                    <a:p>
                      <a:r>
                        <a:rPr sz="938" b="0">
                          <a:solidFill>
                            <a:srgbClr val="172D3C"/>
                          </a:solidFill>
                          <a:latin typeface="Arial"/>
                          <a:ea typeface="Arial"/>
                          <a:cs typeface="Arial"/>
                        </a:rPr>
                        <a:t>42%</a:t>
                      </a:r>
                    </a:p>
                  </a:txBody>
                  <a:tcPr marL="28575" marR="28575" marT="7620" marB="7620">
                    <a:solidFill>
                      <a:srgbClr val="F0F5F6"/>
                    </a:solidFill>
                  </a:tcPr>
                </a:tc>
                <a:tc>
                  <a:txBody>
                    <a:bodyPr/>
                    <a:lstStyle/>
                    <a:p>
                      <a:r>
                        <a:rPr sz="938" b="0">
                          <a:solidFill>
                            <a:srgbClr val="172D3C"/>
                          </a:solidFill>
                          <a:latin typeface="Arial"/>
                          <a:ea typeface="Arial"/>
                          <a:cs typeface="Arial"/>
                        </a:rPr>
                        <a:t>40%</a:t>
                      </a:r>
                    </a:p>
                  </a:txBody>
                  <a:tcPr marL="28575" marR="28575" marT="7620" marB="7620">
                    <a:solidFill>
                      <a:srgbClr val="F0F5F6"/>
                    </a:solidFill>
                  </a:tcPr>
                </a:tc>
                <a:tc>
                  <a:txBody>
                    <a:bodyPr/>
                    <a:lstStyle/>
                    <a:p>
                      <a:r>
                        <a:rPr sz="938" b="0">
                          <a:solidFill>
                            <a:srgbClr val="172D3C"/>
                          </a:solidFill>
                          <a:latin typeface="Arial"/>
                          <a:ea typeface="Arial"/>
                          <a:cs typeface="Arial"/>
                        </a:rPr>
                        <a:t>39%</a:t>
                      </a:r>
                    </a:p>
                  </a:txBody>
                  <a:tcPr marL="28575" marR="28575" marT="7620" marB="7620">
                    <a:solidFill>
                      <a:srgbClr val="F0F5F6"/>
                    </a:solidFill>
                  </a:tcPr>
                </a:tc>
                <a:tc>
                  <a:txBody>
                    <a:bodyPr/>
                    <a:lstStyle/>
                    <a:p>
                      <a:r>
                        <a:rPr sz="938" b="0">
                          <a:solidFill>
                            <a:srgbClr val="172D3C"/>
                          </a:solidFill>
                          <a:latin typeface="Arial"/>
                          <a:ea typeface="Arial"/>
                          <a:cs typeface="Arial"/>
                        </a:rPr>
                        <a:t>35%</a:t>
                      </a:r>
                    </a:p>
                  </a:txBody>
                  <a:tcPr marL="28575" marR="28575" marT="7620" marB="7620">
                    <a:solidFill>
                      <a:srgbClr val="F0F5F6"/>
                    </a:solidFill>
                  </a:tcPr>
                </a:tc>
                <a:tc>
                  <a:txBody>
                    <a:bodyPr/>
                    <a:lstStyle/>
                    <a:p>
                      <a:r>
                        <a:rPr sz="938" b="0">
                          <a:solidFill>
                            <a:srgbClr val="172D3C"/>
                          </a:solidFill>
                          <a:latin typeface="Arial"/>
                          <a:ea typeface="Arial"/>
                          <a:cs typeface="Arial"/>
                        </a:rPr>
                        <a:t>34%</a:t>
                      </a:r>
                    </a:p>
                  </a:txBody>
                  <a:tcPr marL="28575" marR="28575" marT="7620" marB="7620">
                    <a:solidFill>
                      <a:srgbClr val="F0F5F6"/>
                    </a:solidFill>
                  </a:tcPr>
                </a:tc>
                <a:tc>
                  <a:txBody>
                    <a:bodyPr/>
                    <a:lstStyle/>
                    <a:p>
                      <a:r>
                        <a:rPr sz="938" b="0">
                          <a:solidFill>
                            <a:srgbClr val="172D3C"/>
                          </a:solidFill>
                          <a:latin typeface="Arial"/>
                          <a:ea typeface="Arial"/>
                          <a:cs typeface="Arial"/>
                        </a:rPr>
                        <a:t>31%</a:t>
                      </a:r>
                    </a:p>
                  </a:txBody>
                  <a:tcPr marL="28575" marR="28575" marT="7620" marB="7620">
                    <a:solidFill>
                      <a:srgbClr val="F0F5F6"/>
                    </a:solidFill>
                  </a:tcPr>
                </a:tc>
                <a:tc>
                  <a:txBody>
                    <a:bodyPr/>
                    <a:lstStyle/>
                    <a:p>
                      <a:r>
                        <a:rPr sz="938" b="0">
                          <a:solidFill>
                            <a:srgbClr val="172D3C"/>
                          </a:solidFill>
                          <a:latin typeface="Arial"/>
                          <a:ea typeface="Arial"/>
                          <a:cs typeface="Arial"/>
                        </a:rPr>
                        <a:t>28%</a:t>
                      </a:r>
                    </a:p>
                  </a:txBody>
                  <a:tcPr marL="28575" marR="28575" marT="7620" marB="7620">
                    <a:solidFill>
                      <a:srgbClr val="F0F5F6"/>
                    </a:solidFill>
                  </a:tcPr>
                </a:tc>
                <a:tc>
                  <a:txBody>
                    <a:bodyPr/>
                    <a:lstStyle/>
                    <a:p>
                      <a:r>
                        <a:rPr sz="938" b="0">
                          <a:solidFill>
                            <a:srgbClr val="172D3C"/>
                          </a:solidFill>
                          <a:latin typeface="Arial"/>
                          <a:ea typeface="Arial"/>
                          <a:cs typeface="Arial"/>
                        </a:rPr>
                        <a:t>27%</a:t>
                      </a:r>
                    </a:p>
                  </a:txBody>
                  <a:tcPr marL="28575" marR="28575" marT="7620" marB="7620">
                    <a:solidFill>
                      <a:srgbClr val="F0F5F6"/>
                    </a:solidFill>
                  </a:tcPr>
                </a:tc>
                <a:tc>
                  <a:txBody>
                    <a:bodyPr/>
                    <a:lstStyle/>
                    <a:p>
                      <a:r>
                        <a:rPr sz="938" b="0">
                          <a:solidFill>
                            <a:srgbClr val="172D3C"/>
                          </a:solidFill>
                          <a:latin typeface="Arial"/>
                          <a:ea typeface="Arial"/>
                          <a:cs typeface="Arial"/>
                        </a:rPr>
                        <a:t>26%</a:t>
                      </a:r>
                    </a:p>
                  </a:txBody>
                  <a:tcPr marL="28575" marR="28575" marT="7620" marB="7620">
                    <a:solidFill>
                      <a:srgbClr val="F0F5F6"/>
                    </a:solidFill>
                  </a:tcPr>
                </a:tc>
                <a:tc>
                  <a:txBody>
                    <a:bodyPr/>
                    <a:lstStyle/>
                    <a:p>
                      <a:r>
                        <a:rPr sz="938" b="0">
                          <a:solidFill>
                            <a:srgbClr val="172D3C"/>
                          </a:solidFill>
                          <a:latin typeface="Arial"/>
                          <a:ea typeface="Arial"/>
                          <a:cs typeface="Arial"/>
                        </a:rPr>
                        <a:t>26%</a:t>
                      </a:r>
                    </a:p>
                  </a:txBody>
                  <a:tcPr marL="28575" marR="28575" marT="7620" marB="7620">
                    <a:solidFill>
                      <a:srgbClr val="F0F5F6"/>
                    </a:solidFill>
                  </a:tcPr>
                </a:tc>
                <a:tc>
                  <a:txBody>
                    <a:bodyPr/>
                    <a:lstStyle/>
                    <a:p>
                      <a:r>
                        <a:rPr sz="938" b="0">
                          <a:solidFill>
                            <a:srgbClr val="172D3C"/>
                          </a:solidFill>
                          <a:latin typeface="Arial"/>
                          <a:ea typeface="Arial"/>
                          <a:cs typeface="Arial"/>
                        </a:rPr>
                        <a:t>24%</a:t>
                      </a:r>
                    </a:p>
                  </a:txBody>
                  <a:tcPr marL="28575" marR="28575" marT="7620" marB="7620">
                    <a:solidFill>
                      <a:srgbClr val="F0F5F6"/>
                    </a:solidFill>
                  </a:tcPr>
                </a:tc>
                <a:tc>
                  <a:txBody>
                    <a:bodyPr/>
                    <a:lstStyle/>
                    <a:p>
                      <a:r>
                        <a:rPr sz="938" b="0">
                          <a:solidFill>
                            <a:srgbClr val="172D3C"/>
                          </a:solidFill>
                          <a:latin typeface="Arial"/>
                          <a:ea typeface="Arial"/>
                          <a:cs typeface="Arial"/>
                        </a:rPr>
                        <a:t>24%</a:t>
                      </a:r>
                    </a:p>
                  </a:txBody>
                  <a:tcPr marL="28575" marR="28575" marT="7620" marB="7620">
                    <a:solidFill>
                      <a:srgbClr val="F0F5F6"/>
                    </a:solidFill>
                  </a:tcPr>
                </a:tc>
                <a:tc>
                  <a:txBody>
                    <a:bodyPr/>
                    <a:lstStyle/>
                    <a:p>
                      <a:r>
                        <a:rPr sz="938" b="0">
                          <a:solidFill>
                            <a:srgbClr val="172D3C"/>
                          </a:solidFill>
                          <a:latin typeface="Arial"/>
                          <a:ea typeface="Arial"/>
                          <a:cs typeface="Arial"/>
                        </a:rPr>
                        <a:t>23%</a:t>
                      </a:r>
                    </a:p>
                  </a:txBody>
                  <a:tcPr marL="28575" marR="28575" marT="7620" marB="7620">
                    <a:solidFill>
                      <a:srgbClr val="F0F5F6"/>
                    </a:solidFill>
                  </a:tcPr>
                </a:tc>
                <a:tc>
                  <a:txBody>
                    <a:bodyPr/>
                    <a:lstStyle/>
                    <a:p>
                      <a:r>
                        <a:rPr sz="938" b="0">
                          <a:solidFill>
                            <a:srgbClr val="172D3C"/>
                          </a:solidFill>
                          <a:latin typeface="Arial"/>
                          <a:ea typeface="Arial"/>
                          <a:cs typeface="Arial"/>
                        </a:rPr>
                        <a:t>23%</a:t>
                      </a:r>
                    </a:p>
                  </a:txBody>
                  <a:tcPr marL="28575" marR="28575" marT="7620" marB="7620">
                    <a:solidFill>
                      <a:srgbClr val="F0F5F6"/>
                    </a:solidFill>
                  </a:tcPr>
                </a:tc>
                <a:tc>
                  <a:txBody>
                    <a:bodyPr/>
                    <a:lstStyle/>
                    <a:p>
                      <a:r>
                        <a:rPr sz="938" b="0">
                          <a:solidFill>
                            <a:srgbClr val="172D3C"/>
                          </a:solidFill>
                          <a:latin typeface="Arial"/>
                          <a:ea typeface="Arial"/>
                          <a:cs typeface="Arial"/>
                        </a:rPr>
                        <a:t>22%</a:t>
                      </a:r>
                    </a:p>
                  </a:txBody>
                  <a:tcPr marL="28575" marR="28575" marT="7620" marB="7620">
                    <a:solidFill>
                      <a:srgbClr val="F0F5F6"/>
                    </a:solidFill>
                  </a:tcPr>
                </a:tc>
                <a:tc>
                  <a:txBody>
                    <a:bodyPr/>
                    <a:lstStyle/>
                    <a:p>
                      <a:r>
                        <a:rPr sz="938" b="0">
                          <a:solidFill>
                            <a:srgbClr val="172D3C"/>
                          </a:solidFill>
                          <a:latin typeface="Arial"/>
                          <a:ea typeface="Arial"/>
                          <a:cs typeface="Arial"/>
                        </a:rPr>
                        <a:t>20%</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2024-02</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78%</a:t>
                      </a:r>
                    </a:p>
                  </a:txBody>
                  <a:tcPr marL="28575" marR="28575" marT="7620" marB="7620">
                    <a:solidFill>
                      <a:srgbClr val="FFFFFF"/>
                    </a:solidFill>
                  </a:tcPr>
                </a:tc>
                <a:tc>
                  <a:txBody>
                    <a:bodyPr/>
                    <a:lstStyle/>
                    <a:p>
                      <a:r>
                        <a:rPr sz="938" b="0">
                          <a:solidFill>
                            <a:srgbClr val="172D3C"/>
                          </a:solidFill>
                          <a:latin typeface="Arial"/>
                          <a:ea typeface="Arial"/>
                          <a:cs typeface="Arial"/>
                        </a:rPr>
                        <a:t>70%</a:t>
                      </a:r>
                    </a:p>
                  </a:txBody>
                  <a:tcPr marL="28575" marR="28575" marT="7620" marB="7620">
                    <a:solidFill>
                      <a:srgbClr val="FFFFFF"/>
                    </a:solidFill>
                  </a:tcPr>
                </a:tc>
                <a:tc>
                  <a:txBody>
                    <a:bodyPr/>
                    <a:lstStyle/>
                    <a:p>
                      <a:r>
                        <a:rPr sz="938" b="0">
                          <a:solidFill>
                            <a:srgbClr val="172D3C"/>
                          </a:solidFill>
                          <a:latin typeface="Arial"/>
                          <a:ea typeface="Arial"/>
                          <a:cs typeface="Arial"/>
                        </a:rPr>
                        <a:t>56%</a:t>
                      </a:r>
                    </a:p>
                  </a:txBody>
                  <a:tcPr marL="28575" marR="28575" marT="7620" marB="7620">
                    <a:solidFill>
                      <a:srgbClr val="FFFFFF"/>
                    </a:solidFill>
                  </a:tcPr>
                </a:tc>
                <a:tc>
                  <a:txBody>
                    <a:bodyPr/>
                    <a:lstStyle/>
                    <a:p>
                      <a:r>
                        <a:rPr sz="938" b="0">
                          <a:solidFill>
                            <a:srgbClr val="172D3C"/>
                          </a:solidFill>
                          <a:latin typeface="Arial"/>
                          <a:ea typeface="Arial"/>
                          <a:cs typeface="Arial"/>
                        </a:rPr>
                        <a:t>49%</a:t>
                      </a:r>
                    </a:p>
                  </a:txBody>
                  <a:tcPr marL="28575" marR="28575" marT="7620" marB="7620">
                    <a:solidFill>
                      <a:srgbClr val="FFFFFF"/>
                    </a:solidFill>
                  </a:tcPr>
                </a:tc>
                <a:tc>
                  <a:txBody>
                    <a:bodyPr/>
                    <a:lstStyle/>
                    <a:p>
                      <a:r>
                        <a:rPr sz="938" b="0">
                          <a:solidFill>
                            <a:srgbClr val="172D3C"/>
                          </a:solidFill>
                          <a:latin typeface="Arial"/>
                          <a:ea typeface="Arial"/>
                          <a:cs typeface="Arial"/>
                        </a:rPr>
                        <a:t>46%</a:t>
                      </a:r>
                    </a:p>
                  </a:txBody>
                  <a:tcPr marL="28575" marR="28575" marT="7620" marB="7620">
                    <a:solidFill>
                      <a:srgbClr val="FFFFFF"/>
                    </a:solidFill>
                  </a:tcPr>
                </a:tc>
                <a:tc>
                  <a:txBody>
                    <a:bodyPr/>
                    <a:lstStyle/>
                    <a:p>
                      <a:r>
                        <a:rPr sz="938" b="0">
                          <a:solidFill>
                            <a:srgbClr val="172D3C"/>
                          </a:solidFill>
                          <a:latin typeface="Arial"/>
                          <a:ea typeface="Arial"/>
                          <a:cs typeface="Arial"/>
                        </a:rPr>
                        <a:t>42%</a:t>
                      </a:r>
                    </a:p>
                  </a:txBody>
                  <a:tcPr marL="28575" marR="28575" marT="7620" marB="7620">
                    <a:solidFill>
                      <a:srgbClr val="FFFFFF"/>
                    </a:solidFill>
                  </a:tcPr>
                </a:tc>
                <a:tc>
                  <a:txBody>
                    <a:bodyPr/>
                    <a:lstStyle/>
                    <a:p>
                      <a:r>
                        <a:rPr sz="938" b="0">
                          <a:solidFill>
                            <a:srgbClr val="172D3C"/>
                          </a:solidFill>
                          <a:latin typeface="Arial"/>
                          <a:ea typeface="Arial"/>
                          <a:cs typeface="Arial"/>
                        </a:rPr>
                        <a:t>38%</a:t>
                      </a:r>
                    </a:p>
                  </a:txBody>
                  <a:tcPr marL="28575" marR="28575" marT="7620" marB="7620">
                    <a:solidFill>
                      <a:srgbClr val="FFFFFF"/>
                    </a:solidFill>
                  </a:tcPr>
                </a:tc>
                <a:tc>
                  <a:txBody>
                    <a:bodyPr/>
                    <a:lstStyle/>
                    <a:p>
                      <a:r>
                        <a:rPr sz="938" b="0">
                          <a:solidFill>
                            <a:srgbClr val="172D3C"/>
                          </a:solidFill>
                          <a:latin typeface="Arial"/>
                          <a:ea typeface="Arial"/>
                          <a:cs typeface="Arial"/>
                        </a:rPr>
                        <a:t>37%</a:t>
                      </a:r>
                    </a:p>
                  </a:txBody>
                  <a:tcPr marL="28575" marR="28575" marT="7620" marB="7620">
                    <a:solidFill>
                      <a:srgbClr val="FFFFFF"/>
                    </a:solidFill>
                  </a:tcPr>
                </a:tc>
                <a:tc>
                  <a:txBody>
                    <a:bodyPr/>
                    <a:lstStyle/>
                    <a:p>
                      <a:r>
                        <a:rPr sz="938" b="0">
                          <a:solidFill>
                            <a:srgbClr val="172D3C"/>
                          </a:solidFill>
                          <a:latin typeface="Arial"/>
                          <a:ea typeface="Arial"/>
                          <a:cs typeface="Arial"/>
                        </a:rPr>
                        <a:t>36%</a:t>
                      </a:r>
                    </a:p>
                  </a:txBody>
                  <a:tcPr marL="28575" marR="28575" marT="7620" marB="7620">
                    <a:solidFill>
                      <a:srgbClr val="FFFFFF"/>
                    </a:solidFill>
                  </a:tcPr>
                </a:tc>
                <a:tc>
                  <a:txBody>
                    <a:bodyPr/>
                    <a:lstStyle/>
                    <a:p>
                      <a:r>
                        <a:rPr sz="938" b="0">
                          <a:solidFill>
                            <a:srgbClr val="172D3C"/>
                          </a:solidFill>
                          <a:latin typeface="Arial"/>
                          <a:ea typeface="Arial"/>
                          <a:cs typeface="Arial"/>
                        </a:rPr>
                        <a:t>33%</a:t>
                      </a:r>
                    </a:p>
                  </a:txBody>
                  <a:tcPr marL="28575" marR="28575" marT="7620" marB="7620">
                    <a:solidFill>
                      <a:srgbClr val="FFFFFF"/>
                    </a:solidFill>
                  </a:tcPr>
                </a:tc>
                <a:tc>
                  <a:txBody>
                    <a:bodyPr/>
                    <a:lstStyle/>
                    <a:p>
                      <a:r>
                        <a:rPr sz="938" b="0">
                          <a:solidFill>
                            <a:srgbClr val="172D3C"/>
                          </a:solidFill>
                          <a:latin typeface="Arial"/>
                          <a:ea typeface="Arial"/>
                          <a:cs typeface="Arial"/>
                        </a:rPr>
                        <a:t>32%</a:t>
                      </a:r>
                    </a:p>
                  </a:txBody>
                  <a:tcPr marL="28575" marR="28575" marT="7620" marB="7620">
                    <a:solidFill>
                      <a:srgbClr val="FFFFFF"/>
                    </a:solidFill>
                  </a:tcPr>
                </a:tc>
                <a:tc>
                  <a:txBody>
                    <a:bodyPr/>
                    <a:lstStyle/>
                    <a:p>
                      <a:r>
                        <a:rPr sz="938" b="0">
                          <a:solidFill>
                            <a:srgbClr val="172D3C"/>
                          </a:solidFill>
                          <a:latin typeface="Arial"/>
                          <a:ea typeface="Arial"/>
                          <a:cs typeface="Arial"/>
                        </a:rPr>
                        <a:t>30%</a:t>
                      </a:r>
                    </a:p>
                  </a:txBody>
                  <a:tcPr marL="28575" marR="28575" marT="7620" marB="7620">
                    <a:solidFill>
                      <a:srgbClr val="FFFFFF"/>
                    </a:solidFill>
                  </a:tcPr>
                </a:tc>
                <a:tc>
                  <a:txBody>
                    <a:bodyPr/>
                    <a:lstStyle/>
                    <a:p>
                      <a:r>
                        <a:rPr sz="938" b="0">
                          <a:solidFill>
                            <a:srgbClr val="172D3C"/>
                          </a:solidFill>
                          <a:latin typeface="Arial"/>
                          <a:ea typeface="Arial"/>
                          <a:cs typeface="Arial"/>
                        </a:rPr>
                        <a:t>29%</a:t>
                      </a:r>
                    </a:p>
                  </a:txBody>
                  <a:tcPr marL="28575" marR="28575" marT="7620" marB="7620">
                    <a:solidFill>
                      <a:srgbClr val="FFFFFF"/>
                    </a:solidFill>
                  </a:tcPr>
                </a:tc>
                <a:tc>
                  <a:txBody>
                    <a:bodyPr/>
                    <a:lstStyle/>
                    <a:p>
                      <a:r>
                        <a:rPr sz="938" b="0">
                          <a:solidFill>
                            <a:srgbClr val="172D3C"/>
                          </a:solidFill>
                          <a:latin typeface="Arial"/>
                          <a:ea typeface="Arial"/>
                          <a:cs typeface="Arial"/>
                        </a:rPr>
                        <a:t>28%</a:t>
                      </a:r>
                    </a:p>
                  </a:txBody>
                  <a:tcPr marL="28575" marR="28575" marT="7620" marB="7620">
                    <a:solidFill>
                      <a:srgbClr val="FFFFFF"/>
                    </a:solidFill>
                  </a:tcPr>
                </a:tc>
                <a:tc>
                  <a:txBody>
                    <a:bodyPr/>
                    <a:lstStyle/>
                    <a:p>
                      <a:r>
                        <a:rPr sz="938" b="0">
                          <a:solidFill>
                            <a:srgbClr val="172D3C"/>
                          </a:solidFill>
                          <a:latin typeface="Arial"/>
                          <a:ea typeface="Arial"/>
                          <a:cs typeface="Arial"/>
                        </a:rPr>
                        <a:t>27%</a:t>
                      </a:r>
                    </a:p>
                  </a:txBody>
                  <a:tcPr marL="28575" marR="28575" marT="7620" marB="7620">
                    <a:solidFill>
                      <a:srgbClr val="FFFFFF"/>
                    </a:solidFill>
                  </a:tcPr>
                </a:tc>
                <a:tc>
                  <a:txBody>
                    <a:bodyPr/>
                    <a:lstStyle/>
                    <a:p>
                      <a:r>
                        <a:rPr sz="938" b="0">
                          <a:solidFill>
                            <a:srgbClr val="172D3C"/>
                          </a:solidFill>
                          <a:latin typeface="Arial"/>
                          <a:ea typeface="Arial"/>
                          <a:cs typeface="Arial"/>
                        </a:rPr>
                        <a:t>27%</a:t>
                      </a:r>
                    </a:p>
                  </a:txBody>
                  <a:tcPr marL="28575" marR="28575" marT="7620" marB="7620">
                    <a:solidFill>
                      <a:srgbClr val="FFFFFF"/>
                    </a:solidFill>
                  </a:tcPr>
                </a:tc>
                <a:tc>
                  <a:txBody>
                    <a:bodyPr/>
                    <a:lstStyle/>
                    <a:p>
                      <a:r>
                        <a:rPr sz="938" b="0">
                          <a:solidFill>
                            <a:srgbClr val="172D3C"/>
                          </a:solidFill>
                          <a:latin typeface="Arial"/>
                          <a:ea typeface="Arial"/>
                          <a:cs typeface="Arial"/>
                        </a:rPr>
                        <a:t>26%</a:t>
                      </a:r>
                    </a:p>
                  </a:txBody>
                  <a:tcPr marL="28575" marR="28575" marT="7620" marB="7620">
                    <a:solidFill>
                      <a:srgbClr val="FFFFFF"/>
                    </a:solidFill>
                  </a:tcPr>
                </a:tc>
                <a:tc>
                  <a:txBody>
                    <a:bodyPr/>
                    <a:lstStyle/>
                    <a:p>
                      <a:r>
                        <a:rPr sz="938" b="0">
                          <a:solidFill>
                            <a:srgbClr val="172D3C"/>
                          </a:solidFill>
                          <a:latin typeface="Arial"/>
                          <a:ea typeface="Arial"/>
                          <a:cs typeface="Arial"/>
                        </a:rPr>
                        <a:t>26%</a:t>
                      </a:r>
                    </a:p>
                  </a:txBody>
                  <a:tcPr marL="28575" marR="28575" marT="7620" marB="7620">
                    <a:solidFill>
                      <a:srgbClr val="FFFFFF"/>
                    </a:solidFill>
                  </a:tcPr>
                </a:tc>
                <a:tc>
                  <a:txBody>
                    <a:bodyPr/>
                    <a:lstStyle/>
                    <a:p>
                      <a:r>
                        <a:rPr sz="938" b="0">
                          <a:solidFill>
                            <a:srgbClr val="172D3C"/>
                          </a:solidFill>
                          <a:latin typeface="Arial"/>
                          <a:ea typeface="Arial"/>
                          <a:cs typeface="Arial"/>
                        </a:rPr>
                        <a:t>25%</a:t>
                      </a:r>
                    </a:p>
                  </a:txBody>
                  <a:tcPr marL="28575" marR="28575" marT="7620" marB="7620">
                    <a:solidFill>
                      <a:srgbClr val="FFFFFF"/>
                    </a:solidFill>
                  </a:tcPr>
                </a:tc>
                <a:tc>
                  <a:txBody>
                    <a:bodyPr/>
                    <a:lstStyle/>
                    <a:p>
                      <a:r>
                        <a:rPr sz="938" b="0">
                          <a:solidFill>
                            <a:srgbClr val="172D3C"/>
                          </a:solidFill>
                          <a:latin typeface="Arial"/>
                          <a:ea typeface="Arial"/>
                          <a:cs typeface="Arial"/>
                        </a:rPr>
                        <a:t>25%</a:t>
                      </a:r>
                    </a:p>
                  </a:txBody>
                  <a:tcPr marL="28575" marR="28575" marT="7620" marB="7620">
                    <a:solidFill>
                      <a:srgbClr val="FFFFFF"/>
                    </a:solidFill>
                  </a:tcPr>
                </a:tc>
                <a:tc>
                  <a:txBody>
                    <a:bodyPr/>
                    <a:lstStyle/>
                    <a:p>
                      <a:r>
                        <a:rPr sz="938" b="0">
                          <a:solidFill>
                            <a:srgbClr val="172D3C"/>
                          </a:solidFill>
                          <a:latin typeface="Arial"/>
                          <a:ea typeface="Arial"/>
                          <a:cs typeface="Arial"/>
                        </a:rPr>
                        <a:t>25%</a:t>
                      </a:r>
                    </a:p>
                  </a:txBody>
                  <a:tcPr marL="28575" marR="28575" marT="7620" marB="7620">
                    <a:solidFill>
                      <a:srgbClr val="FFFFFF"/>
                    </a:solidFill>
                  </a:tcPr>
                </a:tc>
                <a:tc>
                  <a:txBody>
                    <a:bodyPr/>
                    <a:lstStyle/>
                    <a:p>
                      <a:r>
                        <a:rPr sz="938" b="0">
                          <a:solidFill>
                            <a:srgbClr val="172D3C"/>
                          </a:solidFill>
                          <a:latin typeface="Arial"/>
                          <a:ea typeface="Arial"/>
                          <a:cs typeface="Arial"/>
                        </a:rPr>
                        <a:t>25%</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2024-03</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78%</a:t>
                      </a:r>
                    </a:p>
                  </a:txBody>
                  <a:tcPr marL="28575" marR="28575" marT="7620" marB="7620">
                    <a:solidFill>
                      <a:srgbClr val="F0F5F6"/>
                    </a:solidFill>
                  </a:tcPr>
                </a:tc>
                <a:tc>
                  <a:txBody>
                    <a:bodyPr/>
                    <a:lstStyle/>
                    <a:p>
                      <a:r>
                        <a:rPr sz="938" b="0">
                          <a:solidFill>
                            <a:srgbClr val="172D3C"/>
                          </a:solidFill>
                          <a:latin typeface="Arial"/>
                          <a:ea typeface="Arial"/>
                          <a:cs typeface="Arial"/>
                        </a:rPr>
                        <a:t>66%</a:t>
                      </a:r>
                    </a:p>
                  </a:txBody>
                  <a:tcPr marL="28575" marR="28575" marT="7620" marB="7620">
                    <a:solidFill>
                      <a:srgbClr val="F0F5F6"/>
                    </a:solidFill>
                  </a:tcPr>
                </a:tc>
                <a:tc>
                  <a:txBody>
                    <a:bodyPr/>
                    <a:lstStyle/>
                    <a:p>
                      <a:r>
                        <a:rPr sz="938" b="0">
                          <a:solidFill>
                            <a:srgbClr val="172D3C"/>
                          </a:solidFill>
                          <a:latin typeface="Arial"/>
                          <a:ea typeface="Arial"/>
                          <a:cs typeface="Arial"/>
                        </a:rPr>
                        <a:t>59%</a:t>
                      </a:r>
                    </a:p>
                  </a:txBody>
                  <a:tcPr marL="28575" marR="28575" marT="7620" marB="7620">
                    <a:solidFill>
                      <a:srgbClr val="F0F5F6"/>
                    </a:solidFill>
                  </a:tcPr>
                </a:tc>
                <a:tc>
                  <a:txBody>
                    <a:bodyPr/>
                    <a:lstStyle/>
                    <a:p>
                      <a:r>
                        <a:rPr sz="938" b="0">
                          <a:solidFill>
                            <a:srgbClr val="172D3C"/>
                          </a:solidFill>
                          <a:latin typeface="Arial"/>
                          <a:ea typeface="Arial"/>
                          <a:cs typeface="Arial"/>
                        </a:rPr>
                        <a:t>51%</a:t>
                      </a:r>
                    </a:p>
                  </a:txBody>
                  <a:tcPr marL="28575" marR="28575" marT="7620" marB="7620">
                    <a:solidFill>
                      <a:srgbClr val="F0F5F6"/>
                    </a:solidFill>
                  </a:tcPr>
                </a:tc>
                <a:tc>
                  <a:txBody>
                    <a:bodyPr/>
                    <a:lstStyle/>
                    <a:p>
                      <a:r>
                        <a:rPr sz="938" b="0">
                          <a:solidFill>
                            <a:srgbClr val="172D3C"/>
                          </a:solidFill>
                          <a:latin typeface="Arial"/>
                          <a:ea typeface="Arial"/>
                          <a:cs typeface="Arial"/>
                        </a:rPr>
                        <a:t>44%</a:t>
                      </a:r>
                    </a:p>
                  </a:txBody>
                  <a:tcPr marL="28575" marR="28575" marT="7620" marB="7620">
                    <a:solidFill>
                      <a:srgbClr val="F0F5F6"/>
                    </a:solidFill>
                  </a:tcPr>
                </a:tc>
                <a:tc>
                  <a:txBody>
                    <a:bodyPr/>
                    <a:lstStyle/>
                    <a:p>
                      <a:r>
                        <a:rPr sz="938" b="0">
                          <a:solidFill>
                            <a:srgbClr val="172D3C"/>
                          </a:solidFill>
                          <a:latin typeface="Arial"/>
                          <a:ea typeface="Arial"/>
                          <a:cs typeface="Arial"/>
                        </a:rPr>
                        <a:t>42%</a:t>
                      </a:r>
                    </a:p>
                  </a:txBody>
                  <a:tcPr marL="28575" marR="28575" marT="7620" marB="7620">
                    <a:solidFill>
                      <a:srgbClr val="F0F5F6"/>
                    </a:solidFill>
                  </a:tcPr>
                </a:tc>
                <a:tc>
                  <a:txBody>
                    <a:bodyPr/>
                    <a:lstStyle/>
                    <a:p>
                      <a:r>
                        <a:rPr sz="938" b="0">
                          <a:solidFill>
                            <a:srgbClr val="172D3C"/>
                          </a:solidFill>
                          <a:latin typeface="Arial"/>
                          <a:ea typeface="Arial"/>
                          <a:cs typeface="Arial"/>
                        </a:rPr>
                        <a:t>40%</a:t>
                      </a:r>
                    </a:p>
                  </a:txBody>
                  <a:tcPr marL="28575" marR="28575" marT="7620" marB="7620">
                    <a:solidFill>
                      <a:srgbClr val="F0F5F6"/>
                    </a:solidFill>
                  </a:tcPr>
                </a:tc>
                <a:tc>
                  <a:txBody>
                    <a:bodyPr/>
                    <a:lstStyle/>
                    <a:p>
                      <a:r>
                        <a:rPr sz="938" b="0">
                          <a:solidFill>
                            <a:srgbClr val="172D3C"/>
                          </a:solidFill>
                          <a:latin typeface="Arial"/>
                          <a:ea typeface="Arial"/>
                          <a:cs typeface="Arial"/>
                        </a:rPr>
                        <a:t>38%</a:t>
                      </a:r>
                    </a:p>
                  </a:txBody>
                  <a:tcPr marL="28575" marR="28575" marT="7620" marB="7620">
                    <a:solidFill>
                      <a:srgbClr val="F0F5F6"/>
                    </a:solidFill>
                  </a:tcPr>
                </a:tc>
                <a:tc>
                  <a:txBody>
                    <a:bodyPr/>
                    <a:lstStyle/>
                    <a:p>
                      <a:r>
                        <a:rPr sz="938" b="0">
                          <a:solidFill>
                            <a:srgbClr val="172D3C"/>
                          </a:solidFill>
                          <a:latin typeface="Arial"/>
                          <a:ea typeface="Arial"/>
                          <a:cs typeface="Arial"/>
                        </a:rPr>
                        <a:t>36%</a:t>
                      </a:r>
                    </a:p>
                  </a:txBody>
                  <a:tcPr marL="28575" marR="28575" marT="7620" marB="7620">
                    <a:solidFill>
                      <a:srgbClr val="F0F5F6"/>
                    </a:solidFill>
                  </a:tcPr>
                </a:tc>
                <a:tc>
                  <a:txBody>
                    <a:bodyPr/>
                    <a:lstStyle/>
                    <a:p>
                      <a:r>
                        <a:rPr sz="938" b="0">
                          <a:solidFill>
                            <a:srgbClr val="172D3C"/>
                          </a:solidFill>
                          <a:latin typeface="Arial"/>
                          <a:ea typeface="Arial"/>
                          <a:cs typeface="Arial"/>
                        </a:rPr>
                        <a:t>34%</a:t>
                      </a:r>
                    </a:p>
                  </a:txBody>
                  <a:tcPr marL="28575" marR="28575" marT="7620" marB="7620">
                    <a:solidFill>
                      <a:srgbClr val="F0F5F6"/>
                    </a:solidFill>
                  </a:tcPr>
                </a:tc>
                <a:tc>
                  <a:txBody>
                    <a:bodyPr/>
                    <a:lstStyle/>
                    <a:p>
                      <a:r>
                        <a:rPr sz="938" b="0">
                          <a:solidFill>
                            <a:srgbClr val="172D3C"/>
                          </a:solidFill>
                          <a:latin typeface="Arial"/>
                          <a:ea typeface="Arial"/>
                          <a:cs typeface="Arial"/>
                        </a:rPr>
                        <a:t>32%</a:t>
                      </a:r>
                    </a:p>
                  </a:txBody>
                  <a:tcPr marL="28575" marR="28575" marT="7620" marB="7620">
                    <a:solidFill>
                      <a:srgbClr val="F0F5F6"/>
                    </a:solidFill>
                  </a:tcPr>
                </a:tc>
                <a:tc>
                  <a:txBody>
                    <a:bodyPr/>
                    <a:lstStyle/>
                    <a:p>
                      <a:r>
                        <a:rPr sz="938" b="0">
                          <a:solidFill>
                            <a:srgbClr val="172D3C"/>
                          </a:solidFill>
                          <a:latin typeface="Arial"/>
                          <a:ea typeface="Arial"/>
                          <a:cs typeface="Arial"/>
                        </a:rPr>
                        <a:t>29%</a:t>
                      </a:r>
                    </a:p>
                  </a:txBody>
                  <a:tcPr marL="28575" marR="28575" marT="7620" marB="7620">
                    <a:solidFill>
                      <a:srgbClr val="F0F5F6"/>
                    </a:solidFill>
                  </a:tcPr>
                </a:tc>
                <a:tc>
                  <a:txBody>
                    <a:bodyPr/>
                    <a:lstStyle/>
                    <a:p>
                      <a:r>
                        <a:rPr sz="938" b="0">
                          <a:solidFill>
                            <a:srgbClr val="172D3C"/>
                          </a:solidFill>
                          <a:latin typeface="Arial"/>
                          <a:ea typeface="Arial"/>
                          <a:cs typeface="Arial"/>
                        </a:rPr>
                        <a:t>27%</a:t>
                      </a:r>
                    </a:p>
                  </a:txBody>
                  <a:tcPr marL="28575" marR="28575" marT="7620" marB="7620">
                    <a:solidFill>
                      <a:srgbClr val="F0F5F6"/>
                    </a:solidFill>
                  </a:tcPr>
                </a:tc>
                <a:tc>
                  <a:txBody>
                    <a:bodyPr/>
                    <a:lstStyle/>
                    <a:p>
                      <a:r>
                        <a:rPr sz="938" b="0">
                          <a:solidFill>
                            <a:srgbClr val="172D3C"/>
                          </a:solidFill>
                          <a:latin typeface="Arial"/>
                          <a:ea typeface="Arial"/>
                          <a:cs typeface="Arial"/>
                        </a:rPr>
                        <a:t>25%</a:t>
                      </a:r>
                    </a:p>
                  </a:txBody>
                  <a:tcPr marL="28575" marR="28575" marT="7620" marB="7620">
                    <a:solidFill>
                      <a:srgbClr val="F0F5F6"/>
                    </a:solidFill>
                  </a:tcPr>
                </a:tc>
                <a:tc>
                  <a:txBody>
                    <a:bodyPr/>
                    <a:lstStyle/>
                    <a:p>
                      <a:r>
                        <a:rPr sz="938" b="0">
                          <a:solidFill>
                            <a:srgbClr val="172D3C"/>
                          </a:solidFill>
                          <a:latin typeface="Arial"/>
                          <a:ea typeface="Arial"/>
                          <a:cs typeface="Arial"/>
                        </a:rPr>
                        <a:t>25%</a:t>
                      </a:r>
                    </a:p>
                  </a:txBody>
                  <a:tcPr marL="28575" marR="28575" marT="7620" marB="7620">
                    <a:solidFill>
                      <a:srgbClr val="F0F5F6"/>
                    </a:solidFill>
                  </a:tcPr>
                </a:tc>
                <a:tc>
                  <a:txBody>
                    <a:bodyPr/>
                    <a:lstStyle/>
                    <a:p>
                      <a:r>
                        <a:rPr sz="938" b="0">
                          <a:solidFill>
                            <a:srgbClr val="172D3C"/>
                          </a:solidFill>
                          <a:latin typeface="Arial"/>
                          <a:ea typeface="Arial"/>
                          <a:cs typeface="Arial"/>
                        </a:rPr>
                        <a:t>25%</a:t>
                      </a:r>
                    </a:p>
                  </a:txBody>
                  <a:tcPr marL="28575" marR="28575" marT="7620" marB="7620">
                    <a:solidFill>
                      <a:srgbClr val="F0F5F6"/>
                    </a:solidFill>
                  </a:tcPr>
                </a:tc>
                <a:tc>
                  <a:txBody>
                    <a:bodyPr/>
                    <a:lstStyle/>
                    <a:p>
                      <a:r>
                        <a:rPr sz="938" b="0">
                          <a:solidFill>
                            <a:srgbClr val="172D3C"/>
                          </a:solidFill>
                          <a:latin typeface="Arial"/>
                          <a:ea typeface="Arial"/>
                          <a:cs typeface="Arial"/>
                        </a:rPr>
                        <a:t>24%</a:t>
                      </a:r>
                    </a:p>
                  </a:txBody>
                  <a:tcPr marL="28575" marR="28575" marT="7620" marB="7620">
                    <a:solidFill>
                      <a:srgbClr val="F0F5F6"/>
                    </a:solidFill>
                  </a:tcPr>
                </a:tc>
                <a:tc>
                  <a:txBody>
                    <a:bodyPr/>
                    <a:lstStyle/>
                    <a:p>
                      <a:r>
                        <a:rPr sz="938" b="0">
                          <a:solidFill>
                            <a:srgbClr val="172D3C"/>
                          </a:solidFill>
                          <a:latin typeface="Arial"/>
                          <a:ea typeface="Arial"/>
                          <a:cs typeface="Arial"/>
                        </a:rPr>
                        <a:t>24%</a:t>
                      </a:r>
                    </a:p>
                  </a:txBody>
                  <a:tcPr marL="28575" marR="28575" marT="7620" marB="7620">
                    <a:solidFill>
                      <a:srgbClr val="F0F5F6"/>
                    </a:solidFill>
                  </a:tcPr>
                </a:tc>
                <a:tc>
                  <a:txBody>
                    <a:bodyPr/>
                    <a:lstStyle/>
                    <a:p>
                      <a:r>
                        <a:rPr sz="938" b="0">
                          <a:solidFill>
                            <a:srgbClr val="172D3C"/>
                          </a:solidFill>
                          <a:latin typeface="Arial"/>
                          <a:ea typeface="Arial"/>
                          <a:cs typeface="Arial"/>
                        </a:rPr>
                        <a:t>24%</a:t>
                      </a:r>
                    </a:p>
                  </a:txBody>
                  <a:tcPr marL="28575" marR="28575" marT="7620" marB="7620">
                    <a:solidFill>
                      <a:srgbClr val="F0F5F6"/>
                    </a:solidFill>
                  </a:tcPr>
                </a:tc>
                <a:tc>
                  <a:txBody>
                    <a:bodyPr/>
                    <a:lstStyle/>
                    <a:p>
                      <a:r>
                        <a:rPr sz="938" b="0">
                          <a:solidFill>
                            <a:srgbClr val="172D3C"/>
                          </a:solidFill>
                          <a:latin typeface="Arial"/>
                          <a:ea typeface="Arial"/>
                          <a:cs typeface="Arial"/>
                        </a:rPr>
                        <a:t>24%</a:t>
                      </a:r>
                    </a:p>
                  </a:txBody>
                  <a:tcPr marL="28575" marR="28575" marT="7620" marB="7620">
                    <a:solidFill>
                      <a:srgbClr val="F0F5F6"/>
                    </a:solidFill>
                  </a:tcPr>
                </a:tc>
                <a:tc>
                  <a:txBody>
                    <a:bodyPr/>
                    <a:lstStyle/>
                    <a:p>
                      <a:r>
                        <a:rPr sz="938" b="0">
                          <a:solidFill>
                            <a:srgbClr val="172D3C"/>
                          </a:solidFill>
                          <a:latin typeface="Arial"/>
                          <a:ea typeface="Arial"/>
                          <a:cs typeface="Arial"/>
                        </a:rPr>
                        <a:t>24%</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2024-04</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84%</a:t>
                      </a:r>
                    </a:p>
                  </a:txBody>
                  <a:tcPr marL="28575" marR="28575" marT="7620" marB="7620">
                    <a:solidFill>
                      <a:srgbClr val="FFFFFF"/>
                    </a:solidFill>
                  </a:tcPr>
                </a:tc>
                <a:tc>
                  <a:txBody>
                    <a:bodyPr/>
                    <a:lstStyle/>
                    <a:p>
                      <a:r>
                        <a:rPr sz="938" b="0">
                          <a:solidFill>
                            <a:srgbClr val="172D3C"/>
                          </a:solidFill>
                          <a:latin typeface="Arial"/>
                          <a:ea typeface="Arial"/>
                          <a:cs typeface="Arial"/>
                        </a:rPr>
                        <a:t>72%</a:t>
                      </a:r>
                    </a:p>
                  </a:txBody>
                  <a:tcPr marL="28575" marR="28575" marT="7620" marB="7620">
                    <a:solidFill>
                      <a:srgbClr val="FFFFFF"/>
                    </a:solidFill>
                  </a:tcPr>
                </a:tc>
                <a:tc>
                  <a:txBody>
                    <a:bodyPr/>
                    <a:lstStyle/>
                    <a:p>
                      <a:r>
                        <a:rPr sz="938" b="0">
                          <a:solidFill>
                            <a:srgbClr val="172D3C"/>
                          </a:solidFill>
                          <a:latin typeface="Arial"/>
                          <a:ea typeface="Arial"/>
                          <a:cs typeface="Arial"/>
                        </a:rPr>
                        <a:t>67%</a:t>
                      </a:r>
                    </a:p>
                  </a:txBody>
                  <a:tcPr marL="28575" marR="28575" marT="7620" marB="7620">
                    <a:solidFill>
                      <a:srgbClr val="FFFFFF"/>
                    </a:solidFill>
                  </a:tcPr>
                </a:tc>
                <a:tc>
                  <a:txBody>
                    <a:bodyPr/>
                    <a:lstStyle/>
                    <a:p>
                      <a:r>
                        <a:rPr sz="938" b="0">
                          <a:solidFill>
                            <a:srgbClr val="172D3C"/>
                          </a:solidFill>
                          <a:latin typeface="Arial"/>
                          <a:ea typeface="Arial"/>
                          <a:cs typeface="Arial"/>
                        </a:rPr>
                        <a:t>62%</a:t>
                      </a:r>
                    </a:p>
                  </a:txBody>
                  <a:tcPr marL="28575" marR="28575" marT="7620" marB="7620">
                    <a:solidFill>
                      <a:srgbClr val="FFFFFF"/>
                    </a:solidFill>
                  </a:tcPr>
                </a:tc>
                <a:tc>
                  <a:txBody>
                    <a:bodyPr/>
                    <a:lstStyle/>
                    <a:p>
                      <a:r>
                        <a:rPr sz="938" b="0">
                          <a:solidFill>
                            <a:srgbClr val="172D3C"/>
                          </a:solidFill>
                          <a:latin typeface="Arial"/>
                          <a:ea typeface="Arial"/>
                          <a:cs typeface="Arial"/>
                        </a:rPr>
                        <a:t>59%</a:t>
                      </a:r>
                    </a:p>
                  </a:txBody>
                  <a:tcPr marL="28575" marR="28575" marT="7620" marB="7620">
                    <a:solidFill>
                      <a:srgbClr val="FFFFFF"/>
                    </a:solidFill>
                  </a:tcPr>
                </a:tc>
                <a:tc>
                  <a:txBody>
                    <a:bodyPr/>
                    <a:lstStyle/>
                    <a:p>
                      <a:r>
                        <a:rPr sz="938" b="0">
                          <a:solidFill>
                            <a:srgbClr val="172D3C"/>
                          </a:solidFill>
                          <a:latin typeface="Arial"/>
                          <a:ea typeface="Arial"/>
                          <a:cs typeface="Arial"/>
                        </a:rPr>
                        <a:t>55%</a:t>
                      </a:r>
                    </a:p>
                  </a:txBody>
                  <a:tcPr marL="28575" marR="28575" marT="7620" marB="7620">
                    <a:solidFill>
                      <a:srgbClr val="FFFFFF"/>
                    </a:solidFill>
                  </a:tcPr>
                </a:tc>
                <a:tc>
                  <a:txBody>
                    <a:bodyPr/>
                    <a:lstStyle/>
                    <a:p>
                      <a:r>
                        <a:rPr sz="938" b="0">
                          <a:solidFill>
                            <a:srgbClr val="172D3C"/>
                          </a:solidFill>
                          <a:latin typeface="Arial"/>
                          <a:ea typeface="Arial"/>
                          <a:cs typeface="Arial"/>
                        </a:rPr>
                        <a:t>52%</a:t>
                      </a:r>
                    </a:p>
                  </a:txBody>
                  <a:tcPr marL="28575" marR="28575" marT="7620" marB="7620">
                    <a:solidFill>
                      <a:srgbClr val="FFFFFF"/>
                    </a:solidFill>
                  </a:tcPr>
                </a:tc>
                <a:tc>
                  <a:txBody>
                    <a:bodyPr/>
                    <a:lstStyle/>
                    <a:p>
                      <a:r>
                        <a:rPr sz="938" b="0">
                          <a:solidFill>
                            <a:srgbClr val="172D3C"/>
                          </a:solidFill>
                          <a:latin typeface="Arial"/>
                          <a:ea typeface="Arial"/>
                          <a:cs typeface="Arial"/>
                        </a:rPr>
                        <a:t>49%</a:t>
                      </a:r>
                    </a:p>
                  </a:txBody>
                  <a:tcPr marL="28575" marR="28575" marT="7620" marB="7620">
                    <a:solidFill>
                      <a:srgbClr val="FFFFFF"/>
                    </a:solidFill>
                  </a:tcPr>
                </a:tc>
                <a:tc>
                  <a:txBody>
                    <a:bodyPr/>
                    <a:lstStyle/>
                    <a:p>
                      <a:r>
                        <a:rPr sz="938" b="0">
                          <a:solidFill>
                            <a:srgbClr val="172D3C"/>
                          </a:solidFill>
                          <a:latin typeface="Arial"/>
                          <a:ea typeface="Arial"/>
                          <a:cs typeface="Arial"/>
                        </a:rPr>
                        <a:t>46%</a:t>
                      </a:r>
                    </a:p>
                  </a:txBody>
                  <a:tcPr marL="28575" marR="28575" marT="7620" marB="7620">
                    <a:solidFill>
                      <a:srgbClr val="FFFFFF"/>
                    </a:solidFill>
                  </a:tcPr>
                </a:tc>
                <a:tc>
                  <a:txBody>
                    <a:bodyPr/>
                    <a:lstStyle/>
                    <a:p>
                      <a:r>
                        <a:rPr sz="938" b="0">
                          <a:solidFill>
                            <a:srgbClr val="172D3C"/>
                          </a:solidFill>
                          <a:latin typeface="Arial"/>
                          <a:ea typeface="Arial"/>
                          <a:cs typeface="Arial"/>
                        </a:rPr>
                        <a:t>42%</a:t>
                      </a:r>
                    </a:p>
                  </a:txBody>
                  <a:tcPr marL="28575" marR="28575" marT="7620" marB="7620">
                    <a:solidFill>
                      <a:srgbClr val="FFFFFF"/>
                    </a:solidFill>
                  </a:tcPr>
                </a:tc>
                <a:tc>
                  <a:txBody>
                    <a:bodyPr/>
                    <a:lstStyle/>
                    <a:p>
                      <a:r>
                        <a:rPr sz="938" b="0">
                          <a:solidFill>
                            <a:srgbClr val="172D3C"/>
                          </a:solidFill>
                          <a:latin typeface="Arial"/>
                          <a:ea typeface="Arial"/>
                          <a:cs typeface="Arial"/>
                        </a:rPr>
                        <a:t>40%</a:t>
                      </a:r>
                    </a:p>
                  </a:txBody>
                  <a:tcPr marL="28575" marR="28575" marT="7620" marB="7620">
                    <a:solidFill>
                      <a:srgbClr val="FFFFFF"/>
                    </a:solidFill>
                  </a:tcPr>
                </a:tc>
                <a:tc>
                  <a:txBody>
                    <a:bodyPr/>
                    <a:lstStyle/>
                    <a:p>
                      <a:r>
                        <a:rPr sz="938" b="0">
                          <a:solidFill>
                            <a:srgbClr val="172D3C"/>
                          </a:solidFill>
                          <a:latin typeface="Arial"/>
                          <a:ea typeface="Arial"/>
                          <a:cs typeface="Arial"/>
                        </a:rPr>
                        <a:t>38%</a:t>
                      </a:r>
                    </a:p>
                  </a:txBody>
                  <a:tcPr marL="28575" marR="28575" marT="7620" marB="7620">
                    <a:solidFill>
                      <a:srgbClr val="FFFFFF"/>
                    </a:solidFill>
                  </a:tcPr>
                </a:tc>
                <a:tc>
                  <a:txBody>
                    <a:bodyPr/>
                    <a:lstStyle/>
                    <a:p>
                      <a:r>
                        <a:rPr sz="938" b="0">
                          <a:solidFill>
                            <a:srgbClr val="172D3C"/>
                          </a:solidFill>
                          <a:latin typeface="Arial"/>
                          <a:ea typeface="Arial"/>
                          <a:cs typeface="Arial"/>
                        </a:rPr>
                        <a:t>37%</a:t>
                      </a:r>
                    </a:p>
                  </a:txBody>
                  <a:tcPr marL="28575" marR="28575" marT="7620" marB="7620">
                    <a:solidFill>
                      <a:srgbClr val="FFFFFF"/>
                    </a:solidFill>
                  </a:tcPr>
                </a:tc>
                <a:tc>
                  <a:txBody>
                    <a:bodyPr/>
                    <a:lstStyle/>
                    <a:p>
                      <a:r>
                        <a:rPr sz="938" b="0">
                          <a:solidFill>
                            <a:srgbClr val="172D3C"/>
                          </a:solidFill>
                          <a:latin typeface="Arial"/>
                          <a:ea typeface="Arial"/>
                          <a:cs typeface="Arial"/>
                        </a:rPr>
                        <a:t>35%</a:t>
                      </a:r>
                    </a:p>
                  </a:txBody>
                  <a:tcPr marL="28575" marR="28575" marT="7620" marB="7620">
                    <a:solidFill>
                      <a:srgbClr val="FFFFFF"/>
                    </a:solidFill>
                  </a:tcPr>
                </a:tc>
                <a:tc>
                  <a:txBody>
                    <a:bodyPr/>
                    <a:lstStyle/>
                    <a:p>
                      <a:r>
                        <a:rPr sz="938" b="0">
                          <a:solidFill>
                            <a:srgbClr val="172D3C"/>
                          </a:solidFill>
                          <a:latin typeface="Arial"/>
                          <a:ea typeface="Arial"/>
                          <a:cs typeface="Arial"/>
                        </a:rPr>
                        <a:t>34%</a:t>
                      </a:r>
                    </a:p>
                  </a:txBody>
                  <a:tcPr marL="28575" marR="28575" marT="7620" marB="7620">
                    <a:solidFill>
                      <a:srgbClr val="FFFFFF"/>
                    </a:solidFill>
                  </a:tcPr>
                </a:tc>
                <a:tc>
                  <a:txBody>
                    <a:bodyPr/>
                    <a:lstStyle/>
                    <a:p>
                      <a:r>
                        <a:rPr sz="938" b="0">
                          <a:solidFill>
                            <a:srgbClr val="172D3C"/>
                          </a:solidFill>
                          <a:latin typeface="Arial"/>
                          <a:ea typeface="Arial"/>
                          <a:cs typeface="Arial"/>
                        </a:rPr>
                        <a:t>32%</a:t>
                      </a:r>
                    </a:p>
                  </a:txBody>
                  <a:tcPr marL="28575" marR="28575" marT="7620" marB="7620">
                    <a:solidFill>
                      <a:srgbClr val="FFFFFF"/>
                    </a:solidFill>
                  </a:tcPr>
                </a:tc>
                <a:tc>
                  <a:txBody>
                    <a:bodyPr/>
                    <a:lstStyle/>
                    <a:p>
                      <a:r>
                        <a:rPr sz="938" b="0">
                          <a:solidFill>
                            <a:srgbClr val="172D3C"/>
                          </a:solidFill>
                          <a:latin typeface="Arial"/>
                          <a:ea typeface="Arial"/>
                          <a:cs typeface="Arial"/>
                        </a:rPr>
                        <a:t>31%</a:t>
                      </a:r>
                    </a:p>
                  </a:txBody>
                  <a:tcPr marL="28575" marR="28575" marT="7620" marB="7620">
                    <a:solidFill>
                      <a:srgbClr val="FFFFFF"/>
                    </a:solidFill>
                  </a:tcPr>
                </a:tc>
                <a:tc>
                  <a:txBody>
                    <a:bodyPr/>
                    <a:lstStyle/>
                    <a:p>
                      <a:r>
                        <a:rPr sz="938" b="0">
                          <a:solidFill>
                            <a:srgbClr val="172D3C"/>
                          </a:solidFill>
                          <a:latin typeface="Arial"/>
                          <a:ea typeface="Arial"/>
                          <a:cs typeface="Arial"/>
                        </a:rPr>
                        <a:t>30%</a:t>
                      </a:r>
                    </a:p>
                  </a:txBody>
                  <a:tcPr marL="28575" marR="28575" marT="7620" marB="7620">
                    <a:solidFill>
                      <a:srgbClr val="FFFFFF"/>
                    </a:solidFill>
                  </a:tcPr>
                </a:tc>
                <a:tc>
                  <a:txBody>
                    <a:bodyPr/>
                    <a:lstStyle/>
                    <a:p>
                      <a:r>
                        <a:rPr sz="938" b="0">
                          <a:solidFill>
                            <a:srgbClr val="172D3C"/>
                          </a:solidFill>
                          <a:latin typeface="Arial"/>
                          <a:ea typeface="Arial"/>
                          <a:cs typeface="Arial"/>
                        </a:rPr>
                        <a:t>30%</a:t>
                      </a:r>
                    </a:p>
                  </a:txBody>
                  <a:tcPr marL="28575" marR="28575" marT="7620" marB="7620">
                    <a:solidFill>
                      <a:srgbClr val="FFFFFF"/>
                    </a:solidFill>
                  </a:tcPr>
                </a:tc>
                <a:tc>
                  <a:txBody>
                    <a:bodyPr/>
                    <a:lstStyle/>
                    <a:p>
                      <a:r>
                        <a:rPr sz="938" b="0">
                          <a:solidFill>
                            <a:srgbClr val="172D3C"/>
                          </a:solidFill>
                          <a:latin typeface="Arial"/>
                          <a:ea typeface="Arial"/>
                          <a:cs typeface="Arial"/>
                        </a:rPr>
                        <a:t>29%</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2024-05</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78%</a:t>
                      </a:r>
                    </a:p>
                  </a:txBody>
                  <a:tcPr marL="28575" marR="28575" marT="7620" marB="7620">
                    <a:solidFill>
                      <a:srgbClr val="F0F5F6"/>
                    </a:solidFill>
                  </a:tcPr>
                </a:tc>
                <a:tc>
                  <a:txBody>
                    <a:bodyPr/>
                    <a:lstStyle/>
                    <a:p>
                      <a:r>
                        <a:rPr sz="938" b="0">
                          <a:solidFill>
                            <a:srgbClr val="172D3C"/>
                          </a:solidFill>
                          <a:latin typeface="Arial"/>
                          <a:ea typeface="Arial"/>
                          <a:cs typeface="Arial"/>
                        </a:rPr>
                        <a:t>67%</a:t>
                      </a:r>
                    </a:p>
                  </a:txBody>
                  <a:tcPr marL="28575" marR="28575" marT="7620" marB="7620">
                    <a:solidFill>
                      <a:srgbClr val="F0F5F6"/>
                    </a:solidFill>
                  </a:tcPr>
                </a:tc>
                <a:tc>
                  <a:txBody>
                    <a:bodyPr/>
                    <a:lstStyle/>
                    <a:p>
                      <a:r>
                        <a:rPr sz="938" b="0">
                          <a:solidFill>
                            <a:srgbClr val="172D3C"/>
                          </a:solidFill>
                          <a:latin typeface="Arial"/>
                          <a:ea typeface="Arial"/>
                          <a:cs typeface="Arial"/>
                        </a:rPr>
                        <a:t>65%</a:t>
                      </a:r>
                    </a:p>
                  </a:txBody>
                  <a:tcPr marL="28575" marR="28575" marT="7620" marB="7620">
                    <a:solidFill>
                      <a:srgbClr val="F0F5F6"/>
                    </a:solidFill>
                  </a:tcPr>
                </a:tc>
                <a:tc>
                  <a:txBody>
                    <a:bodyPr/>
                    <a:lstStyle/>
                    <a:p>
                      <a:r>
                        <a:rPr sz="938" b="0">
                          <a:solidFill>
                            <a:srgbClr val="172D3C"/>
                          </a:solidFill>
                          <a:latin typeface="Arial"/>
                          <a:ea typeface="Arial"/>
                          <a:cs typeface="Arial"/>
                        </a:rPr>
                        <a:t>62%</a:t>
                      </a:r>
                    </a:p>
                  </a:txBody>
                  <a:tcPr marL="28575" marR="28575" marT="7620" marB="7620">
                    <a:solidFill>
                      <a:srgbClr val="F0F5F6"/>
                    </a:solidFill>
                  </a:tcPr>
                </a:tc>
                <a:tc>
                  <a:txBody>
                    <a:bodyPr/>
                    <a:lstStyle/>
                    <a:p>
                      <a:r>
                        <a:rPr sz="938" b="0">
                          <a:solidFill>
                            <a:srgbClr val="172D3C"/>
                          </a:solidFill>
                          <a:latin typeface="Arial"/>
                          <a:ea typeface="Arial"/>
                          <a:cs typeface="Arial"/>
                        </a:rPr>
                        <a:t>60%</a:t>
                      </a:r>
                    </a:p>
                  </a:txBody>
                  <a:tcPr marL="28575" marR="28575" marT="7620" marB="7620">
                    <a:solidFill>
                      <a:srgbClr val="F0F5F6"/>
                    </a:solidFill>
                  </a:tcPr>
                </a:tc>
                <a:tc>
                  <a:txBody>
                    <a:bodyPr/>
                    <a:lstStyle/>
                    <a:p>
                      <a:r>
                        <a:rPr sz="938" b="0">
                          <a:solidFill>
                            <a:srgbClr val="172D3C"/>
                          </a:solidFill>
                          <a:latin typeface="Arial"/>
                          <a:ea typeface="Arial"/>
                          <a:cs typeface="Arial"/>
                        </a:rPr>
                        <a:t>57%</a:t>
                      </a:r>
                    </a:p>
                  </a:txBody>
                  <a:tcPr marL="28575" marR="28575" marT="7620" marB="7620">
                    <a:solidFill>
                      <a:srgbClr val="F0F5F6"/>
                    </a:solidFill>
                  </a:tcPr>
                </a:tc>
                <a:tc>
                  <a:txBody>
                    <a:bodyPr/>
                    <a:lstStyle/>
                    <a:p>
                      <a:r>
                        <a:rPr sz="938" b="0">
                          <a:solidFill>
                            <a:srgbClr val="172D3C"/>
                          </a:solidFill>
                          <a:latin typeface="Arial"/>
                          <a:ea typeface="Arial"/>
                          <a:cs typeface="Arial"/>
                        </a:rPr>
                        <a:t>54%</a:t>
                      </a:r>
                    </a:p>
                  </a:txBody>
                  <a:tcPr marL="28575" marR="28575" marT="7620" marB="7620">
                    <a:solidFill>
                      <a:srgbClr val="F0F5F6"/>
                    </a:solidFill>
                  </a:tcPr>
                </a:tc>
                <a:tc>
                  <a:txBody>
                    <a:bodyPr/>
                    <a:lstStyle/>
                    <a:p>
                      <a:r>
                        <a:rPr sz="938" b="0">
                          <a:solidFill>
                            <a:srgbClr val="172D3C"/>
                          </a:solidFill>
                          <a:latin typeface="Arial"/>
                          <a:ea typeface="Arial"/>
                          <a:cs typeface="Arial"/>
                        </a:rPr>
                        <a:t>50%</a:t>
                      </a:r>
                    </a:p>
                  </a:txBody>
                  <a:tcPr marL="28575" marR="28575" marT="7620" marB="7620">
                    <a:solidFill>
                      <a:srgbClr val="F0F5F6"/>
                    </a:solidFill>
                  </a:tcPr>
                </a:tc>
                <a:tc>
                  <a:txBody>
                    <a:bodyPr/>
                    <a:lstStyle/>
                    <a:p>
                      <a:r>
                        <a:rPr sz="938" b="0">
                          <a:solidFill>
                            <a:srgbClr val="172D3C"/>
                          </a:solidFill>
                          <a:latin typeface="Arial"/>
                          <a:ea typeface="Arial"/>
                          <a:cs typeface="Arial"/>
                        </a:rPr>
                        <a:t>47%</a:t>
                      </a:r>
                    </a:p>
                  </a:txBody>
                  <a:tcPr marL="28575" marR="28575" marT="7620" marB="7620">
                    <a:solidFill>
                      <a:srgbClr val="F0F5F6"/>
                    </a:solidFill>
                  </a:tcPr>
                </a:tc>
                <a:tc>
                  <a:txBody>
                    <a:bodyPr/>
                    <a:lstStyle/>
                    <a:p>
                      <a:r>
                        <a:rPr sz="938" b="0">
                          <a:solidFill>
                            <a:srgbClr val="172D3C"/>
                          </a:solidFill>
                          <a:latin typeface="Arial"/>
                          <a:ea typeface="Arial"/>
                          <a:cs typeface="Arial"/>
                        </a:rPr>
                        <a:t>45%</a:t>
                      </a:r>
                    </a:p>
                  </a:txBody>
                  <a:tcPr marL="28575" marR="28575" marT="7620" marB="7620">
                    <a:solidFill>
                      <a:srgbClr val="F0F5F6"/>
                    </a:solidFill>
                  </a:tcPr>
                </a:tc>
                <a:tc>
                  <a:txBody>
                    <a:bodyPr/>
                    <a:lstStyle/>
                    <a:p>
                      <a:r>
                        <a:rPr sz="938" b="0">
                          <a:solidFill>
                            <a:srgbClr val="172D3C"/>
                          </a:solidFill>
                          <a:latin typeface="Arial"/>
                          <a:ea typeface="Arial"/>
                          <a:cs typeface="Arial"/>
                        </a:rPr>
                        <a:t>42%</a:t>
                      </a:r>
                    </a:p>
                  </a:txBody>
                  <a:tcPr marL="28575" marR="28575" marT="7620" marB="7620">
                    <a:solidFill>
                      <a:srgbClr val="F0F5F6"/>
                    </a:solidFill>
                  </a:tcPr>
                </a:tc>
                <a:tc>
                  <a:txBody>
                    <a:bodyPr/>
                    <a:lstStyle/>
                    <a:p>
                      <a:r>
                        <a:rPr sz="938" b="0">
                          <a:solidFill>
                            <a:srgbClr val="172D3C"/>
                          </a:solidFill>
                          <a:latin typeface="Arial"/>
                          <a:ea typeface="Arial"/>
                          <a:cs typeface="Arial"/>
                        </a:rPr>
                        <a:t>40%</a:t>
                      </a:r>
                    </a:p>
                  </a:txBody>
                  <a:tcPr marL="28575" marR="28575" marT="7620" marB="7620">
                    <a:solidFill>
                      <a:srgbClr val="F0F5F6"/>
                    </a:solidFill>
                  </a:tcPr>
                </a:tc>
                <a:tc>
                  <a:txBody>
                    <a:bodyPr/>
                    <a:lstStyle/>
                    <a:p>
                      <a:r>
                        <a:rPr sz="938" b="0">
                          <a:solidFill>
                            <a:srgbClr val="172D3C"/>
                          </a:solidFill>
                          <a:latin typeface="Arial"/>
                          <a:ea typeface="Arial"/>
                          <a:cs typeface="Arial"/>
                        </a:rPr>
                        <a:t>39%</a:t>
                      </a:r>
                    </a:p>
                  </a:txBody>
                  <a:tcPr marL="28575" marR="28575" marT="7620" marB="7620">
                    <a:solidFill>
                      <a:srgbClr val="F0F5F6"/>
                    </a:solidFill>
                  </a:tcPr>
                </a:tc>
                <a:tc>
                  <a:txBody>
                    <a:bodyPr/>
                    <a:lstStyle/>
                    <a:p>
                      <a:r>
                        <a:rPr sz="938" b="0">
                          <a:solidFill>
                            <a:srgbClr val="172D3C"/>
                          </a:solidFill>
                          <a:latin typeface="Arial"/>
                          <a:ea typeface="Arial"/>
                          <a:cs typeface="Arial"/>
                        </a:rPr>
                        <a:t>38%</a:t>
                      </a:r>
                    </a:p>
                  </a:txBody>
                  <a:tcPr marL="28575" marR="28575" marT="7620" marB="7620">
                    <a:solidFill>
                      <a:srgbClr val="F0F5F6"/>
                    </a:solidFill>
                  </a:tcPr>
                </a:tc>
                <a:tc>
                  <a:txBody>
                    <a:bodyPr/>
                    <a:lstStyle/>
                    <a:p>
                      <a:r>
                        <a:rPr sz="938" b="0">
                          <a:solidFill>
                            <a:srgbClr val="172D3C"/>
                          </a:solidFill>
                          <a:latin typeface="Arial"/>
                          <a:ea typeface="Arial"/>
                          <a:cs typeface="Arial"/>
                        </a:rPr>
                        <a:t>38%</a:t>
                      </a:r>
                    </a:p>
                  </a:txBody>
                  <a:tcPr marL="28575" marR="28575" marT="7620" marB="7620">
                    <a:solidFill>
                      <a:srgbClr val="F0F5F6"/>
                    </a:solidFill>
                  </a:tcPr>
                </a:tc>
                <a:tc>
                  <a:txBody>
                    <a:bodyPr/>
                    <a:lstStyle/>
                    <a:p>
                      <a:r>
                        <a:rPr sz="938" b="0">
                          <a:solidFill>
                            <a:srgbClr val="172D3C"/>
                          </a:solidFill>
                          <a:latin typeface="Arial"/>
                          <a:ea typeface="Arial"/>
                          <a:cs typeface="Arial"/>
                        </a:rPr>
                        <a:t>35%</a:t>
                      </a:r>
                    </a:p>
                  </a:txBody>
                  <a:tcPr marL="28575" marR="28575" marT="7620" marB="7620">
                    <a:solidFill>
                      <a:srgbClr val="F0F5F6"/>
                    </a:solidFill>
                  </a:tcPr>
                </a:tc>
                <a:tc>
                  <a:txBody>
                    <a:bodyPr/>
                    <a:lstStyle/>
                    <a:p>
                      <a:r>
                        <a:rPr sz="938" b="0">
                          <a:solidFill>
                            <a:srgbClr val="172D3C"/>
                          </a:solidFill>
                          <a:latin typeface="Arial"/>
                          <a:ea typeface="Arial"/>
                          <a:cs typeface="Arial"/>
                        </a:rPr>
                        <a:t>34%</a:t>
                      </a:r>
                    </a:p>
                  </a:txBody>
                  <a:tcPr marL="28575" marR="28575" marT="7620" marB="7620">
                    <a:solidFill>
                      <a:srgbClr val="F0F5F6"/>
                    </a:solidFill>
                  </a:tcPr>
                </a:tc>
                <a:tc>
                  <a:txBody>
                    <a:bodyPr/>
                    <a:lstStyle/>
                    <a:p>
                      <a:r>
                        <a:rPr sz="938" b="0">
                          <a:solidFill>
                            <a:srgbClr val="172D3C"/>
                          </a:solidFill>
                          <a:latin typeface="Arial"/>
                          <a:ea typeface="Arial"/>
                          <a:cs typeface="Arial"/>
                        </a:rPr>
                        <a:t>34%</a:t>
                      </a:r>
                    </a:p>
                  </a:txBody>
                  <a:tcPr marL="28575" marR="28575" marT="7620" marB="7620">
                    <a:solidFill>
                      <a:srgbClr val="F0F5F6"/>
                    </a:solidFill>
                  </a:tcPr>
                </a:tc>
                <a:tc>
                  <a:txBody>
                    <a:bodyPr/>
                    <a:lstStyle/>
                    <a:p>
                      <a:r>
                        <a:rPr sz="938" b="0">
                          <a:solidFill>
                            <a:srgbClr val="172D3C"/>
                          </a:solidFill>
                          <a:latin typeface="Arial"/>
                          <a:ea typeface="Arial"/>
                          <a:cs typeface="Arial"/>
                        </a:rPr>
                        <a:t>32%</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2024-06</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82%</a:t>
                      </a:r>
                    </a:p>
                  </a:txBody>
                  <a:tcPr marL="28575" marR="28575" marT="7620" marB="7620">
                    <a:solidFill>
                      <a:srgbClr val="FFFFFF"/>
                    </a:solidFill>
                  </a:tcPr>
                </a:tc>
                <a:tc>
                  <a:txBody>
                    <a:bodyPr/>
                    <a:lstStyle/>
                    <a:p>
                      <a:r>
                        <a:rPr sz="938" b="0">
                          <a:solidFill>
                            <a:srgbClr val="172D3C"/>
                          </a:solidFill>
                          <a:latin typeface="Arial"/>
                          <a:ea typeface="Arial"/>
                          <a:cs typeface="Arial"/>
                        </a:rPr>
                        <a:t>73%</a:t>
                      </a:r>
                    </a:p>
                  </a:txBody>
                  <a:tcPr marL="28575" marR="28575" marT="7620" marB="7620">
                    <a:solidFill>
                      <a:srgbClr val="FFFFFF"/>
                    </a:solidFill>
                  </a:tcPr>
                </a:tc>
                <a:tc>
                  <a:txBody>
                    <a:bodyPr/>
                    <a:lstStyle/>
                    <a:p>
                      <a:r>
                        <a:rPr sz="938" b="0">
                          <a:solidFill>
                            <a:srgbClr val="172D3C"/>
                          </a:solidFill>
                          <a:latin typeface="Arial"/>
                          <a:ea typeface="Arial"/>
                          <a:cs typeface="Arial"/>
                        </a:rPr>
                        <a:t>65%</a:t>
                      </a:r>
                    </a:p>
                  </a:txBody>
                  <a:tcPr marL="28575" marR="28575" marT="7620" marB="7620">
                    <a:solidFill>
                      <a:srgbClr val="FFFFFF"/>
                    </a:solidFill>
                  </a:tcPr>
                </a:tc>
                <a:tc>
                  <a:txBody>
                    <a:bodyPr/>
                    <a:lstStyle/>
                    <a:p>
                      <a:r>
                        <a:rPr sz="938" b="0">
                          <a:solidFill>
                            <a:srgbClr val="172D3C"/>
                          </a:solidFill>
                          <a:latin typeface="Arial"/>
                          <a:ea typeface="Arial"/>
                          <a:cs typeface="Arial"/>
                        </a:rPr>
                        <a:t>57%</a:t>
                      </a:r>
                    </a:p>
                  </a:txBody>
                  <a:tcPr marL="28575" marR="28575" marT="7620" marB="7620">
                    <a:solidFill>
                      <a:srgbClr val="FFFFFF"/>
                    </a:solidFill>
                  </a:tcPr>
                </a:tc>
                <a:tc>
                  <a:txBody>
                    <a:bodyPr/>
                    <a:lstStyle/>
                    <a:p>
                      <a:r>
                        <a:rPr sz="938" b="0">
                          <a:solidFill>
                            <a:srgbClr val="172D3C"/>
                          </a:solidFill>
                          <a:latin typeface="Arial"/>
                          <a:ea typeface="Arial"/>
                          <a:cs typeface="Arial"/>
                        </a:rPr>
                        <a:t>53%</a:t>
                      </a:r>
                    </a:p>
                  </a:txBody>
                  <a:tcPr marL="28575" marR="28575" marT="7620" marB="7620">
                    <a:solidFill>
                      <a:srgbClr val="FFFFFF"/>
                    </a:solidFill>
                  </a:tcPr>
                </a:tc>
                <a:tc>
                  <a:txBody>
                    <a:bodyPr/>
                    <a:lstStyle/>
                    <a:p>
                      <a:r>
                        <a:rPr sz="938" b="0">
                          <a:solidFill>
                            <a:srgbClr val="172D3C"/>
                          </a:solidFill>
                          <a:latin typeface="Arial"/>
                          <a:ea typeface="Arial"/>
                          <a:cs typeface="Arial"/>
                        </a:rPr>
                        <a:t>49%</a:t>
                      </a:r>
                    </a:p>
                  </a:txBody>
                  <a:tcPr marL="28575" marR="28575" marT="7620" marB="7620">
                    <a:solidFill>
                      <a:srgbClr val="FFFFFF"/>
                    </a:solidFill>
                  </a:tcPr>
                </a:tc>
                <a:tc>
                  <a:txBody>
                    <a:bodyPr/>
                    <a:lstStyle/>
                    <a:p>
                      <a:r>
                        <a:rPr sz="938" b="0">
                          <a:solidFill>
                            <a:srgbClr val="172D3C"/>
                          </a:solidFill>
                          <a:latin typeface="Arial"/>
                          <a:ea typeface="Arial"/>
                          <a:cs typeface="Arial"/>
                        </a:rPr>
                        <a:t>46%</a:t>
                      </a:r>
                    </a:p>
                  </a:txBody>
                  <a:tcPr marL="28575" marR="28575" marT="7620" marB="7620">
                    <a:solidFill>
                      <a:srgbClr val="FFFFFF"/>
                    </a:solidFill>
                  </a:tcPr>
                </a:tc>
                <a:tc>
                  <a:txBody>
                    <a:bodyPr/>
                    <a:lstStyle/>
                    <a:p>
                      <a:r>
                        <a:rPr sz="938" b="0">
                          <a:solidFill>
                            <a:srgbClr val="172D3C"/>
                          </a:solidFill>
                          <a:latin typeface="Arial"/>
                          <a:ea typeface="Arial"/>
                          <a:cs typeface="Arial"/>
                        </a:rPr>
                        <a:t>44%</a:t>
                      </a:r>
                    </a:p>
                  </a:txBody>
                  <a:tcPr marL="28575" marR="28575" marT="7620" marB="7620">
                    <a:solidFill>
                      <a:srgbClr val="FFFFFF"/>
                    </a:solidFill>
                  </a:tcPr>
                </a:tc>
                <a:tc>
                  <a:txBody>
                    <a:bodyPr/>
                    <a:lstStyle/>
                    <a:p>
                      <a:r>
                        <a:rPr sz="938" b="0">
                          <a:solidFill>
                            <a:srgbClr val="172D3C"/>
                          </a:solidFill>
                          <a:latin typeface="Arial"/>
                          <a:ea typeface="Arial"/>
                          <a:cs typeface="Arial"/>
                        </a:rPr>
                        <a:t>41%</a:t>
                      </a:r>
                    </a:p>
                  </a:txBody>
                  <a:tcPr marL="28575" marR="28575" marT="7620" marB="7620">
                    <a:solidFill>
                      <a:srgbClr val="FFFFFF"/>
                    </a:solidFill>
                  </a:tcPr>
                </a:tc>
                <a:tc>
                  <a:txBody>
                    <a:bodyPr/>
                    <a:lstStyle/>
                    <a:p>
                      <a:r>
                        <a:rPr sz="938" b="0">
                          <a:solidFill>
                            <a:srgbClr val="172D3C"/>
                          </a:solidFill>
                          <a:latin typeface="Arial"/>
                          <a:ea typeface="Arial"/>
                          <a:cs typeface="Arial"/>
                        </a:rPr>
                        <a:t>39%</a:t>
                      </a:r>
                    </a:p>
                  </a:txBody>
                  <a:tcPr marL="28575" marR="28575" marT="7620" marB="7620">
                    <a:solidFill>
                      <a:srgbClr val="FFFFFF"/>
                    </a:solidFill>
                  </a:tcPr>
                </a:tc>
                <a:tc>
                  <a:txBody>
                    <a:bodyPr/>
                    <a:lstStyle/>
                    <a:p>
                      <a:r>
                        <a:rPr sz="938" b="0">
                          <a:solidFill>
                            <a:srgbClr val="172D3C"/>
                          </a:solidFill>
                          <a:latin typeface="Arial"/>
                          <a:ea typeface="Arial"/>
                          <a:cs typeface="Arial"/>
                        </a:rPr>
                        <a:t>37%</a:t>
                      </a:r>
                    </a:p>
                  </a:txBody>
                  <a:tcPr marL="28575" marR="28575" marT="7620" marB="7620">
                    <a:solidFill>
                      <a:srgbClr val="FFFFFF"/>
                    </a:solidFill>
                  </a:tcPr>
                </a:tc>
                <a:tc>
                  <a:txBody>
                    <a:bodyPr/>
                    <a:lstStyle/>
                    <a:p>
                      <a:r>
                        <a:rPr sz="938" b="0">
                          <a:solidFill>
                            <a:srgbClr val="172D3C"/>
                          </a:solidFill>
                          <a:latin typeface="Arial"/>
                          <a:ea typeface="Arial"/>
                          <a:cs typeface="Arial"/>
                        </a:rPr>
                        <a:t>37%</a:t>
                      </a:r>
                    </a:p>
                  </a:txBody>
                  <a:tcPr marL="28575" marR="28575" marT="7620" marB="7620">
                    <a:solidFill>
                      <a:srgbClr val="FFFFFF"/>
                    </a:solidFill>
                  </a:tcPr>
                </a:tc>
                <a:tc>
                  <a:txBody>
                    <a:bodyPr/>
                    <a:lstStyle/>
                    <a:p>
                      <a:r>
                        <a:rPr sz="938" b="0">
                          <a:solidFill>
                            <a:srgbClr val="172D3C"/>
                          </a:solidFill>
                          <a:latin typeface="Arial"/>
                          <a:ea typeface="Arial"/>
                          <a:cs typeface="Arial"/>
                        </a:rPr>
                        <a:t>37%</a:t>
                      </a:r>
                    </a:p>
                  </a:txBody>
                  <a:tcPr marL="28575" marR="28575" marT="7620" marB="7620">
                    <a:solidFill>
                      <a:srgbClr val="FFFFFF"/>
                    </a:solidFill>
                  </a:tcPr>
                </a:tc>
                <a:tc>
                  <a:txBody>
                    <a:bodyPr/>
                    <a:lstStyle/>
                    <a:p>
                      <a:r>
                        <a:rPr sz="938" b="0">
                          <a:solidFill>
                            <a:srgbClr val="172D3C"/>
                          </a:solidFill>
                          <a:latin typeface="Arial"/>
                          <a:ea typeface="Arial"/>
                          <a:cs typeface="Arial"/>
                        </a:rPr>
                        <a:t>34%</a:t>
                      </a:r>
                    </a:p>
                  </a:txBody>
                  <a:tcPr marL="28575" marR="28575" marT="7620" marB="7620">
                    <a:solidFill>
                      <a:srgbClr val="FFFFFF"/>
                    </a:solidFill>
                  </a:tcPr>
                </a:tc>
                <a:tc>
                  <a:txBody>
                    <a:bodyPr/>
                    <a:lstStyle/>
                    <a:p>
                      <a:r>
                        <a:rPr sz="938" b="0">
                          <a:solidFill>
                            <a:srgbClr val="172D3C"/>
                          </a:solidFill>
                          <a:latin typeface="Arial"/>
                          <a:ea typeface="Arial"/>
                          <a:cs typeface="Arial"/>
                        </a:rPr>
                        <a:t>32%</a:t>
                      </a:r>
                    </a:p>
                  </a:txBody>
                  <a:tcPr marL="28575" marR="28575" marT="7620" marB="7620">
                    <a:solidFill>
                      <a:srgbClr val="FFFFFF"/>
                    </a:solidFill>
                  </a:tcPr>
                </a:tc>
                <a:tc>
                  <a:txBody>
                    <a:bodyPr/>
                    <a:lstStyle/>
                    <a:p>
                      <a:r>
                        <a:rPr sz="938" b="0">
                          <a:solidFill>
                            <a:srgbClr val="172D3C"/>
                          </a:solidFill>
                          <a:latin typeface="Arial"/>
                          <a:ea typeface="Arial"/>
                          <a:cs typeface="Arial"/>
                        </a:rPr>
                        <a:t>31%</a:t>
                      </a:r>
                    </a:p>
                  </a:txBody>
                  <a:tcPr marL="28575" marR="28575" marT="7620" marB="7620">
                    <a:solidFill>
                      <a:srgbClr val="FFFFFF"/>
                    </a:solidFill>
                  </a:tcPr>
                </a:tc>
                <a:tc>
                  <a:txBody>
                    <a:bodyPr/>
                    <a:lstStyle/>
                    <a:p>
                      <a:r>
                        <a:rPr sz="938" b="0">
                          <a:solidFill>
                            <a:srgbClr val="172D3C"/>
                          </a:solidFill>
                          <a:latin typeface="Arial"/>
                          <a:ea typeface="Arial"/>
                          <a:cs typeface="Arial"/>
                        </a:rPr>
                        <a:t>30%</a:t>
                      </a:r>
                    </a:p>
                  </a:txBody>
                  <a:tcPr marL="28575" marR="28575" marT="7620" marB="7620">
                    <a:solidFill>
                      <a:srgbClr val="FFFFFF"/>
                    </a:solidFill>
                  </a:tcPr>
                </a:tc>
                <a:tc>
                  <a:txBody>
                    <a:bodyPr/>
                    <a:lstStyle/>
                    <a:p>
                      <a:r>
                        <a:rPr sz="938" b="0">
                          <a:solidFill>
                            <a:srgbClr val="172D3C"/>
                          </a:solidFill>
                          <a:latin typeface="Arial"/>
                          <a:ea typeface="Arial"/>
                          <a:cs typeface="Arial"/>
                        </a:rPr>
                        <a:t>30%</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2024-07</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85%</a:t>
                      </a:r>
                    </a:p>
                  </a:txBody>
                  <a:tcPr marL="28575" marR="28575" marT="7620" marB="7620">
                    <a:solidFill>
                      <a:srgbClr val="F0F5F6"/>
                    </a:solidFill>
                  </a:tcPr>
                </a:tc>
                <a:tc>
                  <a:txBody>
                    <a:bodyPr/>
                    <a:lstStyle/>
                    <a:p>
                      <a:r>
                        <a:rPr sz="938" b="0">
                          <a:solidFill>
                            <a:srgbClr val="172D3C"/>
                          </a:solidFill>
                          <a:latin typeface="Arial"/>
                          <a:ea typeface="Arial"/>
                          <a:cs typeface="Arial"/>
                        </a:rPr>
                        <a:t>77%</a:t>
                      </a:r>
                    </a:p>
                  </a:txBody>
                  <a:tcPr marL="28575" marR="28575" marT="7620" marB="7620">
                    <a:solidFill>
                      <a:srgbClr val="F0F5F6"/>
                    </a:solidFill>
                  </a:tcPr>
                </a:tc>
                <a:tc>
                  <a:txBody>
                    <a:bodyPr/>
                    <a:lstStyle/>
                    <a:p>
                      <a:r>
                        <a:rPr sz="938" b="0">
                          <a:solidFill>
                            <a:srgbClr val="172D3C"/>
                          </a:solidFill>
                          <a:latin typeface="Arial"/>
                          <a:ea typeface="Arial"/>
                          <a:cs typeface="Arial"/>
                        </a:rPr>
                        <a:t>72%</a:t>
                      </a:r>
                    </a:p>
                  </a:txBody>
                  <a:tcPr marL="28575" marR="28575" marT="7620" marB="7620">
                    <a:solidFill>
                      <a:srgbClr val="F0F5F6"/>
                    </a:solidFill>
                  </a:tcPr>
                </a:tc>
                <a:tc>
                  <a:txBody>
                    <a:bodyPr/>
                    <a:lstStyle/>
                    <a:p>
                      <a:r>
                        <a:rPr sz="938" b="0">
                          <a:solidFill>
                            <a:srgbClr val="172D3C"/>
                          </a:solidFill>
                          <a:latin typeface="Arial"/>
                          <a:ea typeface="Arial"/>
                          <a:cs typeface="Arial"/>
                        </a:rPr>
                        <a:t>63%</a:t>
                      </a:r>
                    </a:p>
                  </a:txBody>
                  <a:tcPr marL="28575" marR="28575" marT="7620" marB="7620">
                    <a:solidFill>
                      <a:srgbClr val="F0F5F6"/>
                    </a:solidFill>
                  </a:tcPr>
                </a:tc>
                <a:tc>
                  <a:txBody>
                    <a:bodyPr/>
                    <a:lstStyle/>
                    <a:p>
                      <a:r>
                        <a:rPr sz="938" b="0">
                          <a:solidFill>
                            <a:srgbClr val="172D3C"/>
                          </a:solidFill>
                          <a:latin typeface="Arial"/>
                          <a:ea typeface="Arial"/>
                          <a:cs typeface="Arial"/>
                        </a:rPr>
                        <a:t>60%</a:t>
                      </a:r>
                    </a:p>
                  </a:txBody>
                  <a:tcPr marL="28575" marR="28575" marT="7620" marB="7620">
                    <a:solidFill>
                      <a:srgbClr val="F0F5F6"/>
                    </a:solidFill>
                  </a:tcPr>
                </a:tc>
                <a:tc>
                  <a:txBody>
                    <a:bodyPr/>
                    <a:lstStyle/>
                    <a:p>
                      <a:r>
                        <a:rPr sz="938" b="0">
                          <a:solidFill>
                            <a:srgbClr val="172D3C"/>
                          </a:solidFill>
                          <a:latin typeface="Arial"/>
                          <a:ea typeface="Arial"/>
                          <a:cs typeface="Arial"/>
                        </a:rPr>
                        <a:t>56%</a:t>
                      </a:r>
                    </a:p>
                  </a:txBody>
                  <a:tcPr marL="28575" marR="28575" marT="7620" marB="7620">
                    <a:solidFill>
                      <a:srgbClr val="F0F5F6"/>
                    </a:solidFill>
                  </a:tcPr>
                </a:tc>
                <a:tc>
                  <a:txBody>
                    <a:bodyPr/>
                    <a:lstStyle/>
                    <a:p>
                      <a:r>
                        <a:rPr sz="938" b="0">
                          <a:solidFill>
                            <a:srgbClr val="172D3C"/>
                          </a:solidFill>
                          <a:latin typeface="Arial"/>
                          <a:ea typeface="Arial"/>
                          <a:cs typeface="Arial"/>
                        </a:rPr>
                        <a:t>53%</a:t>
                      </a:r>
                    </a:p>
                  </a:txBody>
                  <a:tcPr marL="28575" marR="28575" marT="7620" marB="7620">
                    <a:solidFill>
                      <a:srgbClr val="F0F5F6"/>
                    </a:solidFill>
                  </a:tcPr>
                </a:tc>
                <a:tc>
                  <a:txBody>
                    <a:bodyPr/>
                    <a:lstStyle/>
                    <a:p>
                      <a:r>
                        <a:rPr sz="938" b="0">
                          <a:solidFill>
                            <a:srgbClr val="172D3C"/>
                          </a:solidFill>
                          <a:latin typeface="Arial"/>
                          <a:ea typeface="Arial"/>
                          <a:cs typeface="Arial"/>
                        </a:rPr>
                        <a:t>52%</a:t>
                      </a:r>
                    </a:p>
                  </a:txBody>
                  <a:tcPr marL="28575" marR="28575" marT="7620" marB="7620">
                    <a:solidFill>
                      <a:srgbClr val="F0F5F6"/>
                    </a:solidFill>
                  </a:tcPr>
                </a:tc>
                <a:tc>
                  <a:txBody>
                    <a:bodyPr/>
                    <a:lstStyle/>
                    <a:p>
                      <a:r>
                        <a:rPr sz="938" b="0">
                          <a:solidFill>
                            <a:srgbClr val="172D3C"/>
                          </a:solidFill>
                          <a:latin typeface="Arial"/>
                          <a:ea typeface="Arial"/>
                          <a:cs typeface="Arial"/>
                        </a:rPr>
                        <a:t>49%</a:t>
                      </a:r>
                    </a:p>
                  </a:txBody>
                  <a:tcPr marL="28575" marR="28575" marT="7620" marB="7620">
                    <a:solidFill>
                      <a:srgbClr val="F0F5F6"/>
                    </a:solidFill>
                  </a:tcPr>
                </a:tc>
                <a:tc>
                  <a:txBody>
                    <a:bodyPr/>
                    <a:lstStyle/>
                    <a:p>
                      <a:r>
                        <a:rPr sz="938" b="0">
                          <a:solidFill>
                            <a:srgbClr val="172D3C"/>
                          </a:solidFill>
                          <a:latin typeface="Arial"/>
                          <a:ea typeface="Arial"/>
                          <a:cs typeface="Arial"/>
                        </a:rPr>
                        <a:t>45%</a:t>
                      </a:r>
                    </a:p>
                  </a:txBody>
                  <a:tcPr marL="28575" marR="28575" marT="7620" marB="7620">
                    <a:solidFill>
                      <a:srgbClr val="F0F5F6"/>
                    </a:solidFill>
                  </a:tcPr>
                </a:tc>
                <a:tc>
                  <a:txBody>
                    <a:bodyPr/>
                    <a:lstStyle/>
                    <a:p>
                      <a:r>
                        <a:rPr sz="938" b="0">
                          <a:solidFill>
                            <a:srgbClr val="172D3C"/>
                          </a:solidFill>
                          <a:latin typeface="Arial"/>
                          <a:ea typeface="Arial"/>
                          <a:cs typeface="Arial"/>
                        </a:rPr>
                        <a:t>42%</a:t>
                      </a:r>
                    </a:p>
                  </a:txBody>
                  <a:tcPr marL="28575" marR="28575" marT="7620" marB="7620">
                    <a:solidFill>
                      <a:srgbClr val="F0F5F6"/>
                    </a:solidFill>
                  </a:tcPr>
                </a:tc>
                <a:tc>
                  <a:txBody>
                    <a:bodyPr/>
                    <a:lstStyle/>
                    <a:p>
                      <a:r>
                        <a:rPr sz="938" b="0">
                          <a:solidFill>
                            <a:srgbClr val="172D3C"/>
                          </a:solidFill>
                          <a:latin typeface="Arial"/>
                          <a:ea typeface="Arial"/>
                          <a:cs typeface="Arial"/>
                        </a:rPr>
                        <a:t>41%</a:t>
                      </a:r>
                    </a:p>
                  </a:txBody>
                  <a:tcPr marL="28575" marR="28575" marT="7620" marB="7620">
                    <a:solidFill>
                      <a:srgbClr val="F0F5F6"/>
                    </a:solidFill>
                  </a:tcPr>
                </a:tc>
                <a:tc>
                  <a:txBody>
                    <a:bodyPr/>
                    <a:lstStyle/>
                    <a:p>
                      <a:r>
                        <a:rPr sz="938" b="0">
                          <a:solidFill>
                            <a:srgbClr val="172D3C"/>
                          </a:solidFill>
                          <a:latin typeface="Arial"/>
                          <a:ea typeface="Arial"/>
                          <a:cs typeface="Arial"/>
                        </a:rPr>
                        <a:t>40%</a:t>
                      </a:r>
                    </a:p>
                  </a:txBody>
                  <a:tcPr marL="28575" marR="28575" marT="7620" marB="7620">
                    <a:solidFill>
                      <a:srgbClr val="F0F5F6"/>
                    </a:solidFill>
                  </a:tcPr>
                </a:tc>
                <a:tc>
                  <a:txBody>
                    <a:bodyPr/>
                    <a:lstStyle/>
                    <a:p>
                      <a:r>
                        <a:rPr sz="938" b="0">
                          <a:solidFill>
                            <a:srgbClr val="172D3C"/>
                          </a:solidFill>
                          <a:latin typeface="Arial"/>
                          <a:ea typeface="Arial"/>
                          <a:cs typeface="Arial"/>
                        </a:rPr>
                        <a:t>39%</a:t>
                      </a:r>
                    </a:p>
                  </a:txBody>
                  <a:tcPr marL="28575" marR="28575" marT="7620" marB="7620">
                    <a:solidFill>
                      <a:srgbClr val="F0F5F6"/>
                    </a:solidFill>
                  </a:tcPr>
                </a:tc>
                <a:tc>
                  <a:txBody>
                    <a:bodyPr/>
                    <a:lstStyle/>
                    <a:p>
                      <a:r>
                        <a:rPr sz="938" b="0">
                          <a:solidFill>
                            <a:srgbClr val="172D3C"/>
                          </a:solidFill>
                          <a:latin typeface="Arial"/>
                          <a:ea typeface="Arial"/>
                          <a:cs typeface="Arial"/>
                        </a:rPr>
                        <a:t>38%</a:t>
                      </a:r>
                    </a:p>
                  </a:txBody>
                  <a:tcPr marL="28575" marR="28575" marT="7620" marB="7620">
                    <a:solidFill>
                      <a:srgbClr val="F0F5F6"/>
                    </a:solidFill>
                  </a:tcPr>
                </a:tc>
                <a:tc>
                  <a:txBody>
                    <a:bodyPr/>
                    <a:lstStyle/>
                    <a:p>
                      <a:r>
                        <a:rPr sz="938" b="0">
                          <a:solidFill>
                            <a:srgbClr val="172D3C"/>
                          </a:solidFill>
                          <a:latin typeface="Arial"/>
                          <a:ea typeface="Arial"/>
                          <a:cs typeface="Arial"/>
                        </a:rPr>
                        <a:t>38%</a:t>
                      </a:r>
                    </a:p>
                  </a:txBody>
                  <a:tcPr marL="28575" marR="28575" marT="7620" marB="7620">
                    <a:solidFill>
                      <a:srgbClr val="F0F5F6"/>
                    </a:solidFill>
                  </a:tcPr>
                </a:tc>
                <a:tc>
                  <a:txBody>
                    <a:bodyPr/>
                    <a:lstStyle/>
                    <a:p>
                      <a:r>
                        <a:rPr sz="938" b="0">
                          <a:solidFill>
                            <a:srgbClr val="172D3C"/>
                          </a:solidFill>
                          <a:latin typeface="Arial"/>
                          <a:ea typeface="Arial"/>
                          <a:cs typeface="Arial"/>
                        </a:rPr>
                        <a:t>36%</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2024-08</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80%</a:t>
                      </a:r>
                    </a:p>
                  </a:txBody>
                  <a:tcPr marL="28575" marR="28575" marT="7620" marB="7620">
                    <a:solidFill>
                      <a:srgbClr val="FFFFFF"/>
                    </a:solidFill>
                  </a:tcPr>
                </a:tc>
                <a:tc>
                  <a:txBody>
                    <a:bodyPr/>
                    <a:lstStyle/>
                    <a:p>
                      <a:r>
                        <a:rPr sz="938" b="0">
                          <a:solidFill>
                            <a:srgbClr val="172D3C"/>
                          </a:solidFill>
                          <a:latin typeface="Arial"/>
                          <a:ea typeface="Arial"/>
                          <a:cs typeface="Arial"/>
                        </a:rPr>
                        <a:t>72%</a:t>
                      </a:r>
                    </a:p>
                  </a:txBody>
                  <a:tcPr marL="28575" marR="28575" marT="7620" marB="7620">
                    <a:solidFill>
                      <a:srgbClr val="FFFFFF"/>
                    </a:solidFill>
                  </a:tcPr>
                </a:tc>
                <a:tc>
                  <a:txBody>
                    <a:bodyPr/>
                    <a:lstStyle/>
                    <a:p>
                      <a:r>
                        <a:rPr sz="938" b="0">
                          <a:solidFill>
                            <a:srgbClr val="172D3C"/>
                          </a:solidFill>
                          <a:latin typeface="Arial"/>
                          <a:ea typeface="Arial"/>
                          <a:cs typeface="Arial"/>
                        </a:rPr>
                        <a:t>65%</a:t>
                      </a:r>
                    </a:p>
                  </a:txBody>
                  <a:tcPr marL="28575" marR="28575" marT="7620" marB="7620">
                    <a:solidFill>
                      <a:srgbClr val="FFFFFF"/>
                    </a:solidFill>
                  </a:tcPr>
                </a:tc>
                <a:tc>
                  <a:txBody>
                    <a:bodyPr/>
                    <a:lstStyle/>
                    <a:p>
                      <a:r>
                        <a:rPr sz="938" b="0">
                          <a:solidFill>
                            <a:srgbClr val="172D3C"/>
                          </a:solidFill>
                          <a:latin typeface="Arial"/>
                          <a:ea typeface="Arial"/>
                          <a:cs typeface="Arial"/>
                        </a:rPr>
                        <a:t>60%</a:t>
                      </a:r>
                    </a:p>
                  </a:txBody>
                  <a:tcPr marL="28575" marR="28575" marT="7620" marB="7620">
                    <a:solidFill>
                      <a:srgbClr val="FFFFFF"/>
                    </a:solidFill>
                  </a:tcPr>
                </a:tc>
                <a:tc>
                  <a:txBody>
                    <a:bodyPr/>
                    <a:lstStyle/>
                    <a:p>
                      <a:r>
                        <a:rPr sz="938" b="0">
                          <a:solidFill>
                            <a:srgbClr val="172D3C"/>
                          </a:solidFill>
                          <a:latin typeface="Arial"/>
                          <a:ea typeface="Arial"/>
                          <a:cs typeface="Arial"/>
                        </a:rPr>
                        <a:t>56%</a:t>
                      </a:r>
                    </a:p>
                  </a:txBody>
                  <a:tcPr marL="28575" marR="28575" marT="7620" marB="7620">
                    <a:solidFill>
                      <a:srgbClr val="FFFFFF"/>
                    </a:solidFill>
                  </a:tcPr>
                </a:tc>
                <a:tc>
                  <a:txBody>
                    <a:bodyPr/>
                    <a:lstStyle/>
                    <a:p>
                      <a:r>
                        <a:rPr sz="938" b="0">
                          <a:solidFill>
                            <a:srgbClr val="172D3C"/>
                          </a:solidFill>
                          <a:latin typeface="Arial"/>
                          <a:ea typeface="Arial"/>
                          <a:cs typeface="Arial"/>
                        </a:rPr>
                        <a:t>52%</a:t>
                      </a:r>
                    </a:p>
                  </a:txBody>
                  <a:tcPr marL="28575" marR="28575" marT="7620" marB="7620">
                    <a:solidFill>
                      <a:srgbClr val="FFFFFF"/>
                    </a:solidFill>
                  </a:tcPr>
                </a:tc>
                <a:tc>
                  <a:txBody>
                    <a:bodyPr/>
                    <a:lstStyle/>
                    <a:p>
                      <a:r>
                        <a:rPr sz="938" b="0">
                          <a:solidFill>
                            <a:srgbClr val="172D3C"/>
                          </a:solidFill>
                          <a:latin typeface="Arial"/>
                          <a:ea typeface="Arial"/>
                          <a:cs typeface="Arial"/>
                        </a:rPr>
                        <a:t>51%</a:t>
                      </a:r>
                    </a:p>
                  </a:txBody>
                  <a:tcPr marL="28575" marR="28575" marT="7620" marB="7620">
                    <a:solidFill>
                      <a:srgbClr val="FFFFFF"/>
                    </a:solidFill>
                  </a:tcPr>
                </a:tc>
                <a:tc>
                  <a:txBody>
                    <a:bodyPr/>
                    <a:lstStyle/>
                    <a:p>
                      <a:r>
                        <a:rPr sz="938" b="0">
                          <a:solidFill>
                            <a:srgbClr val="172D3C"/>
                          </a:solidFill>
                          <a:latin typeface="Arial"/>
                          <a:ea typeface="Arial"/>
                          <a:cs typeface="Arial"/>
                        </a:rPr>
                        <a:t>48%</a:t>
                      </a:r>
                    </a:p>
                  </a:txBody>
                  <a:tcPr marL="28575" marR="28575" marT="7620" marB="7620">
                    <a:solidFill>
                      <a:srgbClr val="FFFFFF"/>
                    </a:solidFill>
                  </a:tcPr>
                </a:tc>
                <a:tc>
                  <a:txBody>
                    <a:bodyPr/>
                    <a:lstStyle/>
                    <a:p>
                      <a:r>
                        <a:rPr sz="938" b="0">
                          <a:solidFill>
                            <a:srgbClr val="172D3C"/>
                          </a:solidFill>
                          <a:latin typeface="Arial"/>
                          <a:ea typeface="Arial"/>
                          <a:cs typeface="Arial"/>
                        </a:rPr>
                        <a:t>46%</a:t>
                      </a:r>
                    </a:p>
                  </a:txBody>
                  <a:tcPr marL="28575" marR="28575" marT="7620" marB="7620">
                    <a:solidFill>
                      <a:srgbClr val="FFFFFF"/>
                    </a:solidFill>
                  </a:tcPr>
                </a:tc>
                <a:tc>
                  <a:txBody>
                    <a:bodyPr/>
                    <a:lstStyle/>
                    <a:p>
                      <a:r>
                        <a:rPr sz="938" b="0">
                          <a:solidFill>
                            <a:srgbClr val="172D3C"/>
                          </a:solidFill>
                          <a:latin typeface="Arial"/>
                          <a:ea typeface="Arial"/>
                          <a:cs typeface="Arial"/>
                        </a:rPr>
                        <a:t>45%</a:t>
                      </a:r>
                    </a:p>
                  </a:txBody>
                  <a:tcPr marL="28575" marR="28575" marT="7620" marB="7620">
                    <a:solidFill>
                      <a:srgbClr val="FFFFFF"/>
                    </a:solidFill>
                  </a:tcPr>
                </a:tc>
                <a:tc>
                  <a:txBody>
                    <a:bodyPr/>
                    <a:lstStyle/>
                    <a:p>
                      <a:r>
                        <a:rPr sz="938" b="0">
                          <a:solidFill>
                            <a:srgbClr val="172D3C"/>
                          </a:solidFill>
                          <a:latin typeface="Arial"/>
                          <a:ea typeface="Arial"/>
                          <a:cs typeface="Arial"/>
                        </a:rPr>
                        <a:t>42%</a:t>
                      </a:r>
                    </a:p>
                  </a:txBody>
                  <a:tcPr marL="28575" marR="28575" marT="7620" marB="7620">
                    <a:solidFill>
                      <a:srgbClr val="FFFFFF"/>
                    </a:solidFill>
                  </a:tcPr>
                </a:tc>
                <a:tc>
                  <a:txBody>
                    <a:bodyPr/>
                    <a:lstStyle/>
                    <a:p>
                      <a:r>
                        <a:rPr sz="938" b="0">
                          <a:solidFill>
                            <a:srgbClr val="172D3C"/>
                          </a:solidFill>
                          <a:latin typeface="Arial"/>
                          <a:ea typeface="Arial"/>
                          <a:cs typeface="Arial"/>
                        </a:rPr>
                        <a:t>40%</a:t>
                      </a:r>
                    </a:p>
                  </a:txBody>
                  <a:tcPr marL="28575" marR="28575" marT="7620" marB="7620">
                    <a:solidFill>
                      <a:srgbClr val="FFFFFF"/>
                    </a:solidFill>
                  </a:tcPr>
                </a:tc>
                <a:tc>
                  <a:txBody>
                    <a:bodyPr/>
                    <a:lstStyle/>
                    <a:p>
                      <a:r>
                        <a:rPr sz="938" b="0">
                          <a:solidFill>
                            <a:srgbClr val="172D3C"/>
                          </a:solidFill>
                          <a:latin typeface="Arial"/>
                          <a:ea typeface="Arial"/>
                          <a:cs typeface="Arial"/>
                        </a:rPr>
                        <a:t>38%</a:t>
                      </a:r>
                    </a:p>
                  </a:txBody>
                  <a:tcPr marL="28575" marR="28575" marT="7620" marB="7620">
                    <a:solidFill>
                      <a:srgbClr val="FFFFFF"/>
                    </a:solidFill>
                  </a:tcPr>
                </a:tc>
                <a:tc>
                  <a:txBody>
                    <a:bodyPr/>
                    <a:lstStyle/>
                    <a:p>
                      <a:r>
                        <a:rPr sz="938" b="0">
                          <a:solidFill>
                            <a:srgbClr val="172D3C"/>
                          </a:solidFill>
                          <a:latin typeface="Arial"/>
                          <a:ea typeface="Arial"/>
                          <a:cs typeface="Arial"/>
                        </a:rPr>
                        <a:t>37%</a:t>
                      </a:r>
                    </a:p>
                  </a:txBody>
                  <a:tcPr marL="28575" marR="28575" marT="7620" marB="7620">
                    <a:solidFill>
                      <a:srgbClr val="FFFFFF"/>
                    </a:solidFill>
                  </a:tcPr>
                </a:tc>
                <a:tc>
                  <a:txBody>
                    <a:bodyPr/>
                    <a:lstStyle/>
                    <a:p>
                      <a:r>
                        <a:rPr sz="938" b="0">
                          <a:solidFill>
                            <a:srgbClr val="172D3C"/>
                          </a:solidFill>
                          <a:latin typeface="Arial"/>
                          <a:ea typeface="Arial"/>
                          <a:cs typeface="Arial"/>
                        </a:rPr>
                        <a:t>35%</a:t>
                      </a:r>
                    </a:p>
                  </a:txBody>
                  <a:tcPr marL="28575" marR="28575" marT="7620" marB="7620">
                    <a:solidFill>
                      <a:srgbClr val="FFFFFF"/>
                    </a:solidFill>
                  </a:tcPr>
                </a:tc>
                <a:tc>
                  <a:txBody>
                    <a:bodyPr/>
                    <a:lstStyle/>
                    <a:p>
                      <a:r>
                        <a:rPr sz="938" b="0">
                          <a:solidFill>
                            <a:srgbClr val="172D3C"/>
                          </a:solidFill>
                          <a:latin typeface="Arial"/>
                          <a:ea typeface="Arial"/>
                          <a:cs typeface="Arial"/>
                        </a:rPr>
                        <a:t>35%</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2024-09</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87%</a:t>
                      </a:r>
                    </a:p>
                  </a:txBody>
                  <a:tcPr marL="28575" marR="28575" marT="7620" marB="7620">
                    <a:solidFill>
                      <a:srgbClr val="F0F5F6"/>
                    </a:solidFill>
                  </a:tcPr>
                </a:tc>
                <a:tc>
                  <a:txBody>
                    <a:bodyPr/>
                    <a:lstStyle/>
                    <a:p>
                      <a:r>
                        <a:rPr sz="938" b="0">
                          <a:solidFill>
                            <a:srgbClr val="172D3C"/>
                          </a:solidFill>
                          <a:latin typeface="Arial"/>
                          <a:ea typeface="Arial"/>
                          <a:cs typeface="Arial"/>
                        </a:rPr>
                        <a:t>78%</a:t>
                      </a:r>
                    </a:p>
                  </a:txBody>
                  <a:tcPr marL="28575" marR="28575" marT="7620" marB="7620">
                    <a:solidFill>
                      <a:srgbClr val="F0F5F6"/>
                    </a:solidFill>
                  </a:tcPr>
                </a:tc>
                <a:tc>
                  <a:txBody>
                    <a:bodyPr/>
                    <a:lstStyle/>
                    <a:p>
                      <a:r>
                        <a:rPr sz="938" b="0">
                          <a:solidFill>
                            <a:srgbClr val="172D3C"/>
                          </a:solidFill>
                          <a:latin typeface="Arial"/>
                          <a:ea typeface="Arial"/>
                          <a:cs typeface="Arial"/>
                        </a:rPr>
                        <a:t>72%</a:t>
                      </a:r>
                    </a:p>
                  </a:txBody>
                  <a:tcPr marL="28575" marR="28575" marT="7620" marB="7620">
                    <a:solidFill>
                      <a:srgbClr val="F0F5F6"/>
                    </a:solidFill>
                  </a:tcPr>
                </a:tc>
                <a:tc>
                  <a:txBody>
                    <a:bodyPr/>
                    <a:lstStyle/>
                    <a:p>
                      <a:r>
                        <a:rPr sz="938" b="0">
                          <a:solidFill>
                            <a:srgbClr val="172D3C"/>
                          </a:solidFill>
                          <a:latin typeface="Arial"/>
                          <a:ea typeface="Arial"/>
                          <a:cs typeface="Arial"/>
                        </a:rPr>
                        <a:t>66%</a:t>
                      </a:r>
                    </a:p>
                  </a:txBody>
                  <a:tcPr marL="28575" marR="28575" marT="7620" marB="7620">
                    <a:solidFill>
                      <a:srgbClr val="F0F5F6"/>
                    </a:solidFill>
                  </a:tcPr>
                </a:tc>
                <a:tc>
                  <a:txBody>
                    <a:bodyPr/>
                    <a:lstStyle/>
                    <a:p>
                      <a:r>
                        <a:rPr sz="938" b="0">
                          <a:solidFill>
                            <a:srgbClr val="172D3C"/>
                          </a:solidFill>
                          <a:latin typeface="Arial"/>
                          <a:ea typeface="Arial"/>
                          <a:cs typeface="Arial"/>
                        </a:rPr>
                        <a:t>63%</a:t>
                      </a:r>
                    </a:p>
                  </a:txBody>
                  <a:tcPr marL="28575" marR="28575" marT="7620" marB="7620">
                    <a:solidFill>
                      <a:srgbClr val="F0F5F6"/>
                    </a:solidFill>
                  </a:tcPr>
                </a:tc>
                <a:tc>
                  <a:txBody>
                    <a:bodyPr/>
                    <a:lstStyle/>
                    <a:p>
                      <a:r>
                        <a:rPr sz="938" b="0">
                          <a:solidFill>
                            <a:srgbClr val="172D3C"/>
                          </a:solidFill>
                          <a:latin typeface="Arial"/>
                          <a:ea typeface="Arial"/>
                          <a:cs typeface="Arial"/>
                        </a:rPr>
                        <a:t>59%</a:t>
                      </a:r>
                    </a:p>
                  </a:txBody>
                  <a:tcPr marL="28575" marR="28575" marT="7620" marB="7620">
                    <a:solidFill>
                      <a:srgbClr val="F0F5F6"/>
                    </a:solidFill>
                  </a:tcPr>
                </a:tc>
                <a:tc>
                  <a:txBody>
                    <a:bodyPr/>
                    <a:lstStyle/>
                    <a:p>
                      <a:r>
                        <a:rPr sz="938" b="0">
                          <a:solidFill>
                            <a:srgbClr val="172D3C"/>
                          </a:solidFill>
                          <a:latin typeface="Arial"/>
                          <a:ea typeface="Arial"/>
                          <a:cs typeface="Arial"/>
                        </a:rPr>
                        <a:t>54%</a:t>
                      </a:r>
                    </a:p>
                  </a:txBody>
                  <a:tcPr marL="28575" marR="28575" marT="7620" marB="7620">
                    <a:solidFill>
                      <a:srgbClr val="F0F5F6"/>
                    </a:solidFill>
                  </a:tcPr>
                </a:tc>
                <a:tc>
                  <a:txBody>
                    <a:bodyPr/>
                    <a:lstStyle/>
                    <a:p>
                      <a:r>
                        <a:rPr sz="938" b="0">
                          <a:solidFill>
                            <a:srgbClr val="172D3C"/>
                          </a:solidFill>
                          <a:latin typeface="Arial"/>
                          <a:ea typeface="Arial"/>
                          <a:cs typeface="Arial"/>
                        </a:rPr>
                        <a:t>50%</a:t>
                      </a:r>
                    </a:p>
                  </a:txBody>
                  <a:tcPr marL="28575" marR="28575" marT="7620" marB="7620">
                    <a:solidFill>
                      <a:srgbClr val="F0F5F6"/>
                    </a:solidFill>
                  </a:tcPr>
                </a:tc>
                <a:tc>
                  <a:txBody>
                    <a:bodyPr/>
                    <a:lstStyle/>
                    <a:p>
                      <a:r>
                        <a:rPr sz="938" b="0">
                          <a:solidFill>
                            <a:srgbClr val="172D3C"/>
                          </a:solidFill>
                          <a:latin typeface="Arial"/>
                          <a:ea typeface="Arial"/>
                          <a:cs typeface="Arial"/>
                        </a:rPr>
                        <a:t>50%</a:t>
                      </a:r>
                    </a:p>
                  </a:txBody>
                  <a:tcPr marL="28575" marR="28575" marT="7620" marB="7620">
                    <a:solidFill>
                      <a:srgbClr val="F0F5F6"/>
                    </a:solidFill>
                  </a:tcPr>
                </a:tc>
                <a:tc>
                  <a:txBody>
                    <a:bodyPr/>
                    <a:lstStyle/>
                    <a:p>
                      <a:r>
                        <a:rPr sz="938" b="0">
                          <a:solidFill>
                            <a:srgbClr val="172D3C"/>
                          </a:solidFill>
                          <a:latin typeface="Arial"/>
                          <a:ea typeface="Arial"/>
                          <a:cs typeface="Arial"/>
                        </a:rPr>
                        <a:t>49%</a:t>
                      </a:r>
                    </a:p>
                  </a:txBody>
                  <a:tcPr marL="28575" marR="28575" marT="7620" marB="7620">
                    <a:solidFill>
                      <a:srgbClr val="F0F5F6"/>
                    </a:solidFill>
                  </a:tcPr>
                </a:tc>
                <a:tc>
                  <a:txBody>
                    <a:bodyPr/>
                    <a:lstStyle/>
                    <a:p>
                      <a:r>
                        <a:rPr sz="938" b="0">
                          <a:solidFill>
                            <a:srgbClr val="172D3C"/>
                          </a:solidFill>
                          <a:latin typeface="Arial"/>
                          <a:ea typeface="Arial"/>
                          <a:cs typeface="Arial"/>
                        </a:rPr>
                        <a:t>48%</a:t>
                      </a:r>
                    </a:p>
                  </a:txBody>
                  <a:tcPr marL="28575" marR="28575" marT="7620" marB="7620">
                    <a:solidFill>
                      <a:srgbClr val="F0F5F6"/>
                    </a:solidFill>
                  </a:tcPr>
                </a:tc>
                <a:tc>
                  <a:txBody>
                    <a:bodyPr/>
                    <a:lstStyle/>
                    <a:p>
                      <a:r>
                        <a:rPr sz="938" b="0">
                          <a:solidFill>
                            <a:srgbClr val="172D3C"/>
                          </a:solidFill>
                          <a:latin typeface="Arial"/>
                          <a:ea typeface="Arial"/>
                          <a:cs typeface="Arial"/>
                        </a:rPr>
                        <a:t>43%</a:t>
                      </a:r>
                    </a:p>
                  </a:txBody>
                  <a:tcPr marL="28575" marR="28575" marT="7620" marB="7620">
                    <a:solidFill>
                      <a:srgbClr val="F0F5F6"/>
                    </a:solidFill>
                  </a:tcPr>
                </a:tc>
                <a:tc>
                  <a:txBody>
                    <a:bodyPr/>
                    <a:lstStyle/>
                    <a:p>
                      <a:r>
                        <a:rPr sz="938" b="0">
                          <a:solidFill>
                            <a:srgbClr val="172D3C"/>
                          </a:solidFill>
                          <a:latin typeface="Arial"/>
                          <a:ea typeface="Arial"/>
                          <a:cs typeface="Arial"/>
                        </a:rPr>
                        <a:t>42%</a:t>
                      </a:r>
                    </a:p>
                  </a:txBody>
                  <a:tcPr marL="28575" marR="28575" marT="7620" marB="7620">
                    <a:solidFill>
                      <a:srgbClr val="F0F5F6"/>
                    </a:solidFill>
                  </a:tcPr>
                </a:tc>
                <a:tc>
                  <a:txBody>
                    <a:bodyPr/>
                    <a:lstStyle/>
                    <a:p>
                      <a:r>
                        <a:rPr sz="938" b="0">
                          <a:solidFill>
                            <a:srgbClr val="172D3C"/>
                          </a:solidFill>
                          <a:latin typeface="Arial"/>
                          <a:ea typeface="Arial"/>
                          <a:cs typeface="Arial"/>
                        </a:rPr>
                        <a:t>42%</a:t>
                      </a:r>
                    </a:p>
                  </a:txBody>
                  <a:tcPr marL="28575" marR="28575" marT="7620" marB="7620">
                    <a:solidFill>
                      <a:srgbClr val="F0F5F6"/>
                    </a:solidFill>
                  </a:tcPr>
                </a:tc>
                <a:tc>
                  <a:txBody>
                    <a:bodyPr/>
                    <a:lstStyle/>
                    <a:p>
                      <a:r>
                        <a:rPr sz="938" b="0">
                          <a:solidFill>
                            <a:srgbClr val="172D3C"/>
                          </a:solidFill>
                          <a:latin typeface="Arial"/>
                          <a:ea typeface="Arial"/>
                          <a:cs typeface="Arial"/>
                        </a:rPr>
                        <a:t>40%</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2024-10</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82%</a:t>
                      </a:r>
                    </a:p>
                  </a:txBody>
                  <a:tcPr marL="28575" marR="28575" marT="7620" marB="7620">
                    <a:solidFill>
                      <a:srgbClr val="FFFFFF"/>
                    </a:solidFill>
                  </a:tcPr>
                </a:tc>
                <a:tc>
                  <a:txBody>
                    <a:bodyPr/>
                    <a:lstStyle/>
                    <a:p>
                      <a:r>
                        <a:rPr sz="938" b="0">
                          <a:solidFill>
                            <a:srgbClr val="172D3C"/>
                          </a:solidFill>
                          <a:latin typeface="Arial"/>
                          <a:ea typeface="Arial"/>
                          <a:cs typeface="Arial"/>
                        </a:rPr>
                        <a:t>71%</a:t>
                      </a:r>
                    </a:p>
                  </a:txBody>
                  <a:tcPr marL="28575" marR="28575" marT="7620" marB="7620">
                    <a:solidFill>
                      <a:srgbClr val="FFFFFF"/>
                    </a:solidFill>
                  </a:tcPr>
                </a:tc>
                <a:tc>
                  <a:txBody>
                    <a:bodyPr/>
                    <a:lstStyle/>
                    <a:p>
                      <a:r>
                        <a:rPr sz="938" b="0">
                          <a:solidFill>
                            <a:srgbClr val="172D3C"/>
                          </a:solidFill>
                          <a:latin typeface="Arial"/>
                          <a:ea typeface="Arial"/>
                          <a:cs typeface="Arial"/>
                        </a:rPr>
                        <a:t>63%</a:t>
                      </a:r>
                    </a:p>
                  </a:txBody>
                  <a:tcPr marL="28575" marR="28575" marT="7620" marB="7620">
                    <a:solidFill>
                      <a:srgbClr val="FFFFFF"/>
                    </a:solidFill>
                  </a:tcPr>
                </a:tc>
                <a:tc>
                  <a:txBody>
                    <a:bodyPr/>
                    <a:lstStyle/>
                    <a:p>
                      <a:r>
                        <a:rPr sz="938" b="0">
                          <a:solidFill>
                            <a:srgbClr val="172D3C"/>
                          </a:solidFill>
                          <a:latin typeface="Arial"/>
                          <a:ea typeface="Arial"/>
                          <a:cs typeface="Arial"/>
                        </a:rPr>
                        <a:t>57%</a:t>
                      </a:r>
                    </a:p>
                  </a:txBody>
                  <a:tcPr marL="28575" marR="28575" marT="7620" marB="7620">
                    <a:solidFill>
                      <a:srgbClr val="FFFFFF"/>
                    </a:solidFill>
                  </a:tcPr>
                </a:tc>
                <a:tc>
                  <a:txBody>
                    <a:bodyPr/>
                    <a:lstStyle/>
                    <a:p>
                      <a:r>
                        <a:rPr sz="938" b="0">
                          <a:solidFill>
                            <a:srgbClr val="172D3C"/>
                          </a:solidFill>
                          <a:latin typeface="Arial"/>
                          <a:ea typeface="Arial"/>
                          <a:cs typeface="Arial"/>
                        </a:rPr>
                        <a:t>53%</a:t>
                      </a:r>
                    </a:p>
                  </a:txBody>
                  <a:tcPr marL="28575" marR="28575" marT="7620" marB="7620">
                    <a:solidFill>
                      <a:srgbClr val="FFFFFF"/>
                    </a:solidFill>
                  </a:tcPr>
                </a:tc>
                <a:tc>
                  <a:txBody>
                    <a:bodyPr/>
                    <a:lstStyle/>
                    <a:p>
                      <a:r>
                        <a:rPr sz="938" b="0">
                          <a:solidFill>
                            <a:srgbClr val="172D3C"/>
                          </a:solidFill>
                          <a:latin typeface="Arial"/>
                          <a:ea typeface="Arial"/>
                          <a:cs typeface="Arial"/>
                        </a:rPr>
                        <a:t>50%</a:t>
                      </a:r>
                    </a:p>
                  </a:txBody>
                  <a:tcPr marL="28575" marR="28575" marT="7620" marB="7620">
                    <a:solidFill>
                      <a:srgbClr val="FFFFFF"/>
                    </a:solidFill>
                  </a:tcPr>
                </a:tc>
                <a:tc>
                  <a:txBody>
                    <a:bodyPr/>
                    <a:lstStyle/>
                    <a:p>
                      <a:r>
                        <a:rPr sz="938" b="0">
                          <a:solidFill>
                            <a:srgbClr val="172D3C"/>
                          </a:solidFill>
                          <a:latin typeface="Arial"/>
                          <a:ea typeface="Arial"/>
                          <a:cs typeface="Arial"/>
                        </a:rPr>
                        <a:t>47%</a:t>
                      </a:r>
                    </a:p>
                  </a:txBody>
                  <a:tcPr marL="28575" marR="28575" marT="7620" marB="7620">
                    <a:solidFill>
                      <a:srgbClr val="FFFFFF"/>
                    </a:solidFill>
                  </a:tcPr>
                </a:tc>
                <a:tc>
                  <a:txBody>
                    <a:bodyPr/>
                    <a:lstStyle/>
                    <a:p>
                      <a:r>
                        <a:rPr sz="938" b="0">
                          <a:solidFill>
                            <a:srgbClr val="172D3C"/>
                          </a:solidFill>
                          <a:latin typeface="Arial"/>
                          <a:ea typeface="Arial"/>
                          <a:cs typeface="Arial"/>
                        </a:rPr>
                        <a:t>46%</a:t>
                      </a:r>
                    </a:p>
                  </a:txBody>
                  <a:tcPr marL="28575" marR="28575" marT="7620" marB="7620">
                    <a:solidFill>
                      <a:srgbClr val="FFFFFF"/>
                    </a:solidFill>
                  </a:tcPr>
                </a:tc>
                <a:tc>
                  <a:txBody>
                    <a:bodyPr/>
                    <a:lstStyle/>
                    <a:p>
                      <a:r>
                        <a:rPr sz="938" b="0">
                          <a:solidFill>
                            <a:srgbClr val="172D3C"/>
                          </a:solidFill>
                          <a:latin typeface="Arial"/>
                          <a:ea typeface="Arial"/>
                          <a:cs typeface="Arial"/>
                        </a:rPr>
                        <a:t>44%</a:t>
                      </a:r>
                    </a:p>
                  </a:txBody>
                  <a:tcPr marL="28575" marR="28575" marT="7620" marB="7620">
                    <a:solidFill>
                      <a:srgbClr val="FFFFFF"/>
                    </a:solidFill>
                  </a:tcPr>
                </a:tc>
                <a:tc>
                  <a:txBody>
                    <a:bodyPr/>
                    <a:lstStyle/>
                    <a:p>
                      <a:r>
                        <a:rPr sz="938" b="0">
                          <a:solidFill>
                            <a:srgbClr val="172D3C"/>
                          </a:solidFill>
                          <a:latin typeface="Arial"/>
                          <a:ea typeface="Arial"/>
                          <a:cs typeface="Arial"/>
                        </a:rPr>
                        <a:t>42%</a:t>
                      </a:r>
                    </a:p>
                  </a:txBody>
                  <a:tcPr marL="28575" marR="28575" marT="7620" marB="7620">
                    <a:solidFill>
                      <a:srgbClr val="FFFFFF"/>
                    </a:solidFill>
                  </a:tcPr>
                </a:tc>
                <a:tc>
                  <a:txBody>
                    <a:bodyPr/>
                    <a:lstStyle/>
                    <a:p>
                      <a:r>
                        <a:rPr sz="938" b="0">
                          <a:solidFill>
                            <a:srgbClr val="172D3C"/>
                          </a:solidFill>
                          <a:latin typeface="Arial"/>
                          <a:ea typeface="Arial"/>
                          <a:cs typeface="Arial"/>
                        </a:rPr>
                        <a:t>40%</a:t>
                      </a:r>
                    </a:p>
                  </a:txBody>
                  <a:tcPr marL="28575" marR="28575" marT="7620" marB="7620">
                    <a:solidFill>
                      <a:srgbClr val="FFFFFF"/>
                    </a:solidFill>
                  </a:tcPr>
                </a:tc>
                <a:tc>
                  <a:txBody>
                    <a:bodyPr/>
                    <a:lstStyle/>
                    <a:p>
                      <a:r>
                        <a:rPr sz="938" b="0">
                          <a:solidFill>
                            <a:srgbClr val="172D3C"/>
                          </a:solidFill>
                          <a:latin typeface="Arial"/>
                          <a:ea typeface="Arial"/>
                          <a:cs typeface="Arial"/>
                        </a:rPr>
                        <a:t>39%</a:t>
                      </a:r>
                    </a:p>
                  </a:txBody>
                  <a:tcPr marL="28575" marR="28575" marT="7620" marB="7620">
                    <a:solidFill>
                      <a:srgbClr val="FFFFFF"/>
                    </a:solidFill>
                  </a:tcPr>
                </a:tc>
                <a:tc>
                  <a:txBody>
                    <a:bodyPr/>
                    <a:lstStyle/>
                    <a:p>
                      <a:r>
                        <a:rPr sz="938" b="0">
                          <a:solidFill>
                            <a:srgbClr val="172D3C"/>
                          </a:solidFill>
                          <a:latin typeface="Arial"/>
                          <a:ea typeface="Arial"/>
                          <a:cs typeface="Arial"/>
                        </a:rPr>
                        <a:t>38%</a:t>
                      </a:r>
                    </a:p>
                  </a:txBody>
                  <a:tcPr marL="28575" marR="28575" marT="7620" marB="7620">
                    <a:solidFill>
                      <a:srgbClr val="FFFFFF"/>
                    </a:solidFill>
                  </a:tcPr>
                </a:tc>
                <a:tc>
                  <a:txBody>
                    <a:bodyPr/>
                    <a:lstStyle/>
                    <a:p>
                      <a:r>
                        <a:rPr sz="938" b="0">
                          <a:solidFill>
                            <a:srgbClr val="172D3C"/>
                          </a:solidFill>
                          <a:latin typeface="Arial"/>
                          <a:ea typeface="Arial"/>
                          <a:cs typeface="Arial"/>
                        </a:rPr>
                        <a:t>37%</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2024-11</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87%</a:t>
                      </a:r>
                    </a:p>
                  </a:txBody>
                  <a:tcPr marL="28575" marR="28575" marT="7620" marB="7620">
                    <a:solidFill>
                      <a:srgbClr val="F0F5F6"/>
                    </a:solidFill>
                  </a:tcPr>
                </a:tc>
                <a:tc>
                  <a:txBody>
                    <a:bodyPr/>
                    <a:lstStyle/>
                    <a:p>
                      <a:r>
                        <a:rPr sz="938" b="0">
                          <a:solidFill>
                            <a:srgbClr val="172D3C"/>
                          </a:solidFill>
                          <a:latin typeface="Arial"/>
                          <a:ea typeface="Arial"/>
                          <a:cs typeface="Arial"/>
                        </a:rPr>
                        <a:t>80%</a:t>
                      </a:r>
                    </a:p>
                  </a:txBody>
                  <a:tcPr marL="28575" marR="28575" marT="7620" marB="7620">
                    <a:solidFill>
                      <a:srgbClr val="F0F5F6"/>
                    </a:solidFill>
                  </a:tcPr>
                </a:tc>
                <a:tc>
                  <a:txBody>
                    <a:bodyPr/>
                    <a:lstStyle/>
                    <a:p>
                      <a:r>
                        <a:rPr sz="938" b="0">
                          <a:solidFill>
                            <a:srgbClr val="172D3C"/>
                          </a:solidFill>
                          <a:latin typeface="Arial"/>
                          <a:ea typeface="Arial"/>
                          <a:cs typeface="Arial"/>
                        </a:rPr>
                        <a:t>75%</a:t>
                      </a:r>
                    </a:p>
                  </a:txBody>
                  <a:tcPr marL="28575" marR="28575" marT="7620" marB="7620">
                    <a:solidFill>
                      <a:srgbClr val="F0F5F6"/>
                    </a:solidFill>
                  </a:tcPr>
                </a:tc>
                <a:tc>
                  <a:txBody>
                    <a:bodyPr/>
                    <a:lstStyle/>
                    <a:p>
                      <a:r>
                        <a:rPr sz="938" b="0">
                          <a:solidFill>
                            <a:srgbClr val="172D3C"/>
                          </a:solidFill>
                          <a:latin typeface="Arial"/>
                          <a:ea typeface="Arial"/>
                          <a:cs typeface="Arial"/>
                        </a:rPr>
                        <a:t>67%</a:t>
                      </a:r>
                    </a:p>
                  </a:txBody>
                  <a:tcPr marL="28575" marR="28575" marT="7620" marB="7620">
                    <a:solidFill>
                      <a:srgbClr val="F0F5F6"/>
                    </a:solidFill>
                  </a:tcPr>
                </a:tc>
                <a:tc>
                  <a:txBody>
                    <a:bodyPr/>
                    <a:lstStyle/>
                    <a:p>
                      <a:r>
                        <a:rPr sz="938" b="0">
                          <a:solidFill>
                            <a:srgbClr val="172D3C"/>
                          </a:solidFill>
                          <a:latin typeface="Arial"/>
                          <a:ea typeface="Arial"/>
                          <a:cs typeface="Arial"/>
                        </a:rPr>
                        <a:t>60%</a:t>
                      </a:r>
                    </a:p>
                  </a:txBody>
                  <a:tcPr marL="28575" marR="28575" marT="7620" marB="7620">
                    <a:solidFill>
                      <a:srgbClr val="F0F5F6"/>
                    </a:solidFill>
                  </a:tcPr>
                </a:tc>
                <a:tc>
                  <a:txBody>
                    <a:bodyPr/>
                    <a:lstStyle/>
                    <a:p>
                      <a:r>
                        <a:rPr sz="938" b="0">
                          <a:solidFill>
                            <a:srgbClr val="172D3C"/>
                          </a:solidFill>
                          <a:latin typeface="Arial"/>
                          <a:ea typeface="Arial"/>
                          <a:cs typeface="Arial"/>
                        </a:rPr>
                        <a:t>56%</a:t>
                      </a:r>
                    </a:p>
                  </a:txBody>
                  <a:tcPr marL="28575" marR="28575" marT="7620" marB="7620">
                    <a:solidFill>
                      <a:srgbClr val="F0F5F6"/>
                    </a:solidFill>
                  </a:tcPr>
                </a:tc>
                <a:tc>
                  <a:txBody>
                    <a:bodyPr/>
                    <a:lstStyle/>
                    <a:p>
                      <a:r>
                        <a:rPr sz="938" b="0">
                          <a:solidFill>
                            <a:srgbClr val="172D3C"/>
                          </a:solidFill>
                          <a:latin typeface="Arial"/>
                          <a:ea typeface="Arial"/>
                          <a:cs typeface="Arial"/>
                        </a:rPr>
                        <a:t>52%</a:t>
                      </a:r>
                    </a:p>
                  </a:txBody>
                  <a:tcPr marL="28575" marR="28575" marT="7620" marB="7620">
                    <a:solidFill>
                      <a:srgbClr val="F0F5F6"/>
                    </a:solidFill>
                  </a:tcPr>
                </a:tc>
                <a:tc>
                  <a:txBody>
                    <a:bodyPr/>
                    <a:lstStyle/>
                    <a:p>
                      <a:r>
                        <a:rPr sz="938" b="0">
                          <a:solidFill>
                            <a:srgbClr val="172D3C"/>
                          </a:solidFill>
                          <a:latin typeface="Arial"/>
                          <a:ea typeface="Arial"/>
                          <a:cs typeface="Arial"/>
                        </a:rPr>
                        <a:t>50%</a:t>
                      </a:r>
                    </a:p>
                  </a:txBody>
                  <a:tcPr marL="28575" marR="28575" marT="7620" marB="7620">
                    <a:solidFill>
                      <a:srgbClr val="F0F5F6"/>
                    </a:solidFill>
                  </a:tcPr>
                </a:tc>
                <a:tc>
                  <a:txBody>
                    <a:bodyPr/>
                    <a:lstStyle/>
                    <a:p>
                      <a:r>
                        <a:rPr sz="938" b="0">
                          <a:solidFill>
                            <a:srgbClr val="172D3C"/>
                          </a:solidFill>
                          <a:latin typeface="Arial"/>
                          <a:ea typeface="Arial"/>
                          <a:cs typeface="Arial"/>
                        </a:rPr>
                        <a:t>48%</a:t>
                      </a:r>
                    </a:p>
                  </a:txBody>
                  <a:tcPr marL="28575" marR="28575" marT="7620" marB="7620">
                    <a:solidFill>
                      <a:srgbClr val="F0F5F6"/>
                    </a:solidFill>
                  </a:tcPr>
                </a:tc>
                <a:tc>
                  <a:txBody>
                    <a:bodyPr/>
                    <a:lstStyle/>
                    <a:p>
                      <a:r>
                        <a:rPr sz="938" b="0">
                          <a:solidFill>
                            <a:srgbClr val="172D3C"/>
                          </a:solidFill>
                          <a:latin typeface="Arial"/>
                          <a:ea typeface="Arial"/>
                          <a:cs typeface="Arial"/>
                        </a:rPr>
                        <a:t>46%</a:t>
                      </a:r>
                    </a:p>
                  </a:txBody>
                  <a:tcPr marL="28575" marR="28575" marT="7620" marB="7620">
                    <a:solidFill>
                      <a:srgbClr val="F0F5F6"/>
                    </a:solidFill>
                  </a:tcPr>
                </a:tc>
                <a:tc>
                  <a:txBody>
                    <a:bodyPr/>
                    <a:lstStyle/>
                    <a:p>
                      <a:r>
                        <a:rPr sz="938" b="0">
                          <a:solidFill>
                            <a:srgbClr val="172D3C"/>
                          </a:solidFill>
                          <a:latin typeface="Arial"/>
                          <a:ea typeface="Arial"/>
                          <a:cs typeface="Arial"/>
                        </a:rPr>
                        <a:t>45%</a:t>
                      </a:r>
                    </a:p>
                  </a:txBody>
                  <a:tcPr marL="28575" marR="28575" marT="7620" marB="7620">
                    <a:solidFill>
                      <a:srgbClr val="F0F5F6"/>
                    </a:solidFill>
                  </a:tcPr>
                </a:tc>
                <a:tc>
                  <a:txBody>
                    <a:bodyPr/>
                    <a:lstStyle/>
                    <a:p>
                      <a:r>
                        <a:rPr sz="938" b="0">
                          <a:solidFill>
                            <a:srgbClr val="172D3C"/>
                          </a:solidFill>
                          <a:latin typeface="Arial"/>
                          <a:ea typeface="Arial"/>
                          <a:cs typeface="Arial"/>
                        </a:rPr>
                        <a:t>44%</a:t>
                      </a:r>
                    </a:p>
                  </a:txBody>
                  <a:tcPr marL="28575" marR="28575" marT="7620" marB="7620">
                    <a:solidFill>
                      <a:srgbClr val="F0F5F6"/>
                    </a:solidFill>
                  </a:tcPr>
                </a:tc>
                <a:tc>
                  <a:txBody>
                    <a:bodyPr/>
                    <a:lstStyle/>
                    <a:p>
                      <a:r>
                        <a:rPr sz="938" b="0">
                          <a:solidFill>
                            <a:srgbClr val="172D3C"/>
                          </a:solidFill>
                          <a:latin typeface="Arial"/>
                          <a:ea typeface="Arial"/>
                          <a:cs typeface="Arial"/>
                        </a:rPr>
                        <a:t>42%</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2024-12</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81%</a:t>
                      </a:r>
                    </a:p>
                  </a:txBody>
                  <a:tcPr marL="28575" marR="28575" marT="7620" marB="7620">
                    <a:solidFill>
                      <a:srgbClr val="FFFFFF"/>
                    </a:solidFill>
                  </a:tcPr>
                </a:tc>
                <a:tc>
                  <a:txBody>
                    <a:bodyPr/>
                    <a:lstStyle/>
                    <a:p>
                      <a:r>
                        <a:rPr sz="938" b="0">
                          <a:solidFill>
                            <a:srgbClr val="172D3C"/>
                          </a:solidFill>
                          <a:latin typeface="Arial"/>
                          <a:ea typeface="Arial"/>
                          <a:cs typeface="Arial"/>
                        </a:rPr>
                        <a:t>73%</a:t>
                      </a:r>
                    </a:p>
                  </a:txBody>
                  <a:tcPr marL="28575" marR="28575" marT="7620" marB="7620">
                    <a:solidFill>
                      <a:srgbClr val="FFFFFF"/>
                    </a:solidFill>
                  </a:tcPr>
                </a:tc>
                <a:tc>
                  <a:txBody>
                    <a:bodyPr/>
                    <a:lstStyle/>
                    <a:p>
                      <a:r>
                        <a:rPr sz="938" b="0">
                          <a:solidFill>
                            <a:srgbClr val="172D3C"/>
                          </a:solidFill>
                          <a:latin typeface="Arial"/>
                          <a:ea typeface="Arial"/>
                          <a:cs typeface="Arial"/>
                        </a:rPr>
                        <a:t>63%</a:t>
                      </a:r>
                    </a:p>
                  </a:txBody>
                  <a:tcPr marL="28575" marR="28575" marT="7620" marB="7620">
                    <a:solidFill>
                      <a:srgbClr val="FFFFFF"/>
                    </a:solidFill>
                  </a:tcPr>
                </a:tc>
                <a:tc>
                  <a:txBody>
                    <a:bodyPr/>
                    <a:lstStyle/>
                    <a:p>
                      <a:r>
                        <a:rPr sz="938" b="0">
                          <a:solidFill>
                            <a:srgbClr val="172D3C"/>
                          </a:solidFill>
                          <a:latin typeface="Arial"/>
                          <a:ea typeface="Arial"/>
                          <a:cs typeface="Arial"/>
                        </a:rPr>
                        <a:t>57%</a:t>
                      </a:r>
                    </a:p>
                  </a:txBody>
                  <a:tcPr marL="28575" marR="28575" marT="7620" marB="7620">
                    <a:solidFill>
                      <a:srgbClr val="FFFFFF"/>
                    </a:solidFill>
                  </a:tcPr>
                </a:tc>
                <a:tc>
                  <a:txBody>
                    <a:bodyPr/>
                    <a:lstStyle/>
                    <a:p>
                      <a:r>
                        <a:rPr sz="938" b="0">
                          <a:solidFill>
                            <a:srgbClr val="172D3C"/>
                          </a:solidFill>
                          <a:latin typeface="Arial"/>
                          <a:ea typeface="Arial"/>
                          <a:cs typeface="Arial"/>
                        </a:rPr>
                        <a:t>54%</a:t>
                      </a:r>
                    </a:p>
                  </a:txBody>
                  <a:tcPr marL="28575" marR="28575" marT="7620" marB="7620">
                    <a:solidFill>
                      <a:srgbClr val="FFFFFF"/>
                    </a:solidFill>
                  </a:tcPr>
                </a:tc>
                <a:tc>
                  <a:txBody>
                    <a:bodyPr/>
                    <a:lstStyle/>
                    <a:p>
                      <a:r>
                        <a:rPr sz="938" b="0">
                          <a:solidFill>
                            <a:srgbClr val="172D3C"/>
                          </a:solidFill>
                          <a:latin typeface="Arial"/>
                          <a:ea typeface="Arial"/>
                          <a:cs typeface="Arial"/>
                        </a:rPr>
                        <a:t>50%</a:t>
                      </a:r>
                    </a:p>
                  </a:txBody>
                  <a:tcPr marL="28575" marR="28575" marT="7620" marB="7620">
                    <a:solidFill>
                      <a:srgbClr val="FFFFFF"/>
                    </a:solidFill>
                  </a:tcPr>
                </a:tc>
                <a:tc>
                  <a:txBody>
                    <a:bodyPr/>
                    <a:lstStyle/>
                    <a:p>
                      <a:r>
                        <a:rPr sz="938" b="0">
                          <a:solidFill>
                            <a:srgbClr val="172D3C"/>
                          </a:solidFill>
                          <a:latin typeface="Arial"/>
                          <a:ea typeface="Arial"/>
                          <a:cs typeface="Arial"/>
                        </a:rPr>
                        <a:t>48%</a:t>
                      </a:r>
                    </a:p>
                  </a:txBody>
                  <a:tcPr marL="28575" marR="28575" marT="7620" marB="7620">
                    <a:solidFill>
                      <a:srgbClr val="FFFFFF"/>
                    </a:solidFill>
                  </a:tcPr>
                </a:tc>
                <a:tc>
                  <a:txBody>
                    <a:bodyPr/>
                    <a:lstStyle/>
                    <a:p>
                      <a:r>
                        <a:rPr sz="938" b="0">
                          <a:solidFill>
                            <a:srgbClr val="172D3C"/>
                          </a:solidFill>
                          <a:latin typeface="Arial"/>
                          <a:ea typeface="Arial"/>
                          <a:cs typeface="Arial"/>
                        </a:rPr>
                        <a:t>44%</a:t>
                      </a:r>
                    </a:p>
                  </a:txBody>
                  <a:tcPr marL="28575" marR="28575" marT="7620" marB="7620">
                    <a:solidFill>
                      <a:srgbClr val="FFFFFF"/>
                    </a:solidFill>
                  </a:tcPr>
                </a:tc>
                <a:tc>
                  <a:txBody>
                    <a:bodyPr/>
                    <a:lstStyle/>
                    <a:p>
                      <a:r>
                        <a:rPr sz="938" b="0">
                          <a:solidFill>
                            <a:srgbClr val="172D3C"/>
                          </a:solidFill>
                          <a:latin typeface="Arial"/>
                          <a:ea typeface="Arial"/>
                          <a:cs typeface="Arial"/>
                        </a:rPr>
                        <a:t>42%</a:t>
                      </a:r>
                    </a:p>
                  </a:txBody>
                  <a:tcPr marL="28575" marR="28575" marT="7620" marB="7620">
                    <a:solidFill>
                      <a:srgbClr val="FFFFFF"/>
                    </a:solidFill>
                  </a:tcPr>
                </a:tc>
                <a:tc>
                  <a:txBody>
                    <a:bodyPr/>
                    <a:lstStyle/>
                    <a:p>
                      <a:r>
                        <a:rPr sz="938" b="0">
                          <a:solidFill>
                            <a:srgbClr val="172D3C"/>
                          </a:solidFill>
                          <a:latin typeface="Arial"/>
                          <a:ea typeface="Arial"/>
                          <a:cs typeface="Arial"/>
                        </a:rPr>
                        <a:t>41%</a:t>
                      </a:r>
                    </a:p>
                  </a:txBody>
                  <a:tcPr marL="28575" marR="28575" marT="7620" marB="7620">
                    <a:solidFill>
                      <a:srgbClr val="FFFFFF"/>
                    </a:solidFill>
                  </a:tcPr>
                </a:tc>
                <a:tc>
                  <a:txBody>
                    <a:bodyPr/>
                    <a:lstStyle/>
                    <a:p>
                      <a:r>
                        <a:rPr sz="938" b="0">
                          <a:solidFill>
                            <a:srgbClr val="172D3C"/>
                          </a:solidFill>
                          <a:latin typeface="Arial"/>
                          <a:ea typeface="Arial"/>
                          <a:cs typeface="Arial"/>
                        </a:rPr>
                        <a:t>39%</a:t>
                      </a:r>
                    </a:p>
                  </a:txBody>
                  <a:tcPr marL="28575" marR="28575" marT="7620" marB="7620">
                    <a:solidFill>
                      <a:srgbClr val="FFFFFF"/>
                    </a:solidFill>
                  </a:tcPr>
                </a:tc>
                <a:tc>
                  <a:txBody>
                    <a:bodyPr/>
                    <a:lstStyle/>
                    <a:p>
                      <a:r>
                        <a:rPr sz="938" b="0">
                          <a:solidFill>
                            <a:srgbClr val="172D3C"/>
                          </a:solidFill>
                          <a:latin typeface="Arial"/>
                          <a:ea typeface="Arial"/>
                          <a:cs typeface="Arial"/>
                        </a:rPr>
                        <a:t>38%</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2025-01</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87%</a:t>
                      </a:r>
                    </a:p>
                  </a:txBody>
                  <a:tcPr marL="28575" marR="28575" marT="7620" marB="7620">
                    <a:solidFill>
                      <a:srgbClr val="F0F5F6"/>
                    </a:solidFill>
                  </a:tcPr>
                </a:tc>
                <a:tc>
                  <a:txBody>
                    <a:bodyPr/>
                    <a:lstStyle/>
                    <a:p>
                      <a:r>
                        <a:rPr sz="938" b="0">
                          <a:solidFill>
                            <a:srgbClr val="172D3C"/>
                          </a:solidFill>
                          <a:latin typeface="Arial"/>
                          <a:ea typeface="Arial"/>
                          <a:cs typeface="Arial"/>
                        </a:rPr>
                        <a:t>73%</a:t>
                      </a:r>
                    </a:p>
                  </a:txBody>
                  <a:tcPr marL="28575" marR="28575" marT="7620" marB="7620">
                    <a:solidFill>
                      <a:srgbClr val="F0F5F6"/>
                    </a:solidFill>
                  </a:tcPr>
                </a:tc>
                <a:tc>
                  <a:txBody>
                    <a:bodyPr/>
                    <a:lstStyle/>
                    <a:p>
                      <a:r>
                        <a:rPr sz="938" b="0">
                          <a:solidFill>
                            <a:srgbClr val="172D3C"/>
                          </a:solidFill>
                          <a:latin typeface="Arial"/>
                          <a:ea typeface="Arial"/>
                          <a:cs typeface="Arial"/>
                        </a:rPr>
                        <a:t>64%</a:t>
                      </a:r>
                    </a:p>
                  </a:txBody>
                  <a:tcPr marL="28575" marR="28575" marT="7620" marB="7620">
                    <a:solidFill>
                      <a:srgbClr val="F0F5F6"/>
                    </a:solidFill>
                  </a:tcPr>
                </a:tc>
                <a:tc>
                  <a:txBody>
                    <a:bodyPr/>
                    <a:lstStyle/>
                    <a:p>
                      <a:r>
                        <a:rPr sz="938" b="0">
                          <a:solidFill>
                            <a:srgbClr val="172D3C"/>
                          </a:solidFill>
                          <a:latin typeface="Arial"/>
                          <a:ea typeface="Arial"/>
                          <a:cs typeface="Arial"/>
                        </a:rPr>
                        <a:t>59%</a:t>
                      </a:r>
                    </a:p>
                  </a:txBody>
                  <a:tcPr marL="28575" marR="28575" marT="7620" marB="7620">
                    <a:solidFill>
                      <a:srgbClr val="F0F5F6"/>
                    </a:solidFill>
                  </a:tcPr>
                </a:tc>
                <a:tc>
                  <a:txBody>
                    <a:bodyPr/>
                    <a:lstStyle/>
                    <a:p>
                      <a:r>
                        <a:rPr sz="938" b="0">
                          <a:solidFill>
                            <a:srgbClr val="172D3C"/>
                          </a:solidFill>
                          <a:latin typeface="Arial"/>
                          <a:ea typeface="Arial"/>
                          <a:cs typeface="Arial"/>
                        </a:rPr>
                        <a:t>54%</a:t>
                      </a:r>
                    </a:p>
                  </a:txBody>
                  <a:tcPr marL="28575" marR="28575" marT="7620" marB="7620">
                    <a:solidFill>
                      <a:srgbClr val="F0F5F6"/>
                    </a:solidFill>
                  </a:tcPr>
                </a:tc>
                <a:tc>
                  <a:txBody>
                    <a:bodyPr/>
                    <a:lstStyle/>
                    <a:p>
                      <a:r>
                        <a:rPr sz="938" b="0">
                          <a:solidFill>
                            <a:srgbClr val="172D3C"/>
                          </a:solidFill>
                          <a:latin typeface="Arial"/>
                          <a:ea typeface="Arial"/>
                          <a:cs typeface="Arial"/>
                        </a:rPr>
                        <a:t>49%</a:t>
                      </a:r>
                    </a:p>
                  </a:txBody>
                  <a:tcPr marL="28575" marR="28575" marT="7620" marB="7620">
                    <a:solidFill>
                      <a:srgbClr val="F0F5F6"/>
                    </a:solidFill>
                  </a:tcPr>
                </a:tc>
                <a:tc>
                  <a:txBody>
                    <a:bodyPr/>
                    <a:lstStyle/>
                    <a:p>
                      <a:r>
                        <a:rPr sz="938" b="0">
                          <a:solidFill>
                            <a:srgbClr val="172D3C"/>
                          </a:solidFill>
                          <a:latin typeface="Arial"/>
                          <a:ea typeface="Arial"/>
                          <a:cs typeface="Arial"/>
                        </a:rPr>
                        <a:t>47%</a:t>
                      </a:r>
                    </a:p>
                  </a:txBody>
                  <a:tcPr marL="28575" marR="28575" marT="7620" marB="7620">
                    <a:solidFill>
                      <a:srgbClr val="F0F5F6"/>
                    </a:solidFill>
                  </a:tcPr>
                </a:tc>
                <a:tc>
                  <a:txBody>
                    <a:bodyPr/>
                    <a:lstStyle/>
                    <a:p>
                      <a:r>
                        <a:rPr sz="938" b="0">
                          <a:solidFill>
                            <a:srgbClr val="172D3C"/>
                          </a:solidFill>
                          <a:latin typeface="Arial"/>
                          <a:ea typeface="Arial"/>
                          <a:cs typeface="Arial"/>
                        </a:rPr>
                        <a:t>45%</a:t>
                      </a:r>
                    </a:p>
                  </a:txBody>
                  <a:tcPr marL="28575" marR="28575" marT="7620" marB="7620">
                    <a:solidFill>
                      <a:srgbClr val="F0F5F6"/>
                    </a:solidFill>
                  </a:tcPr>
                </a:tc>
                <a:tc>
                  <a:txBody>
                    <a:bodyPr/>
                    <a:lstStyle/>
                    <a:p>
                      <a:r>
                        <a:rPr sz="938" b="0">
                          <a:solidFill>
                            <a:srgbClr val="172D3C"/>
                          </a:solidFill>
                          <a:latin typeface="Arial"/>
                          <a:ea typeface="Arial"/>
                          <a:cs typeface="Arial"/>
                        </a:rPr>
                        <a:t>44%</a:t>
                      </a:r>
                    </a:p>
                  </a:txBody>
                  <a:tcPr marL="28575" marR="28575" marT="7620" marB="7620">
                    <a:solidFill>
                      <a:srgbClr val="F0F5F6"/>
                    </a:solidFill>
                  </a:tcPr>
                </a:tc>
                <a:tc>
                  <a:txBody>
                    <a:bodyPr/>
                    <a:lstStyle/>
                    <a:p>
                      <a:r>
                        <a:rPr sz="938" b="0">
                          <a:solidFill>
                            <a:srgbClr val="172D3C"/>
                          </a:solidFill>
                          <a:latin typeface="Arial"/>
                          <a:ea typeface="Arial"/>
                          <a:cs typeface="Arial"/>
                        </a:rPr>
                        <a:t>41%</a:t>
                      </a:r>
                    </a:p>
                  </a:txBody>
                  <a:tcPr marL="28575" marR="28575" marT="7620" marB="7620">
                    <a:solidFill>
                      <a:srgbClr val="F0F5F6"/>
                    </a:solidFill>
                  </a:tcPr>
                </a:tc>
                <a:tc>
                  <a:txBody>
                    <a:bodyPr/>
                    <a:lstStyle/>
                    <a:p>
                      <a:r>
                        <a:rPr sz="938" b="0">
                          <a:solidFill>
                            <a:srgbClr val="172D3C"/>
                          </a:solidFill>
                          <a:latin typeface="Arial"/>
                          <a:ea typeface="Arial"/>
                          <a:cs typeface="Arial"/>
                        </a:rPr>
                        <a:t>38%</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2025-02</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82%</a:t>
                      </a:r>
                    </a:p>
                  </a:txBody>
                  <a:tcPr marL="28575" marR="28575" marT="7620" marB="7620">
                    <a:solidFill>
                      <a:srgbClr val="FFFFFF"/>
                    </a:solidFill>
                  </a:tcPr>
                </a:tc>
                <a:tc>
                  <a:txBody>
                    <a:bodyPr/>
                    <a:lstStyle/>
                    <a:p>
                      <a:r>
                        <a:rPr sz="938" b="0">
                          <a:solidFill>
                            <a:srgbClr val="172D3C"/>
                          </a:solidFill>
                          <a:latin typeface="Arial"/>
                          <a:ea typeface="Arial"/>
                          <a:cs typeface="Arial"/>
                        </a:rPr>
                        <a:t>70%</a:t>
                      </a:r>
                    </a:p>
                  </a:txBody>
                  <a:tcPr marL="28575" marR="28575" marT="7620" marB="7620">
                    <a:solidFill>
                      <a:srgbClr val="FFFFFF"/>
                    </a:solidFill>
                  </a:tcPr>
                </a:tc>
                <a:tc>
                  <a:txBody>
                    <a:bodyPr/>
                    <a:lstStyle/>
                    <a:p>
                      <a:r>
                        <a:rPr sz="938" b="0">
                          <a:solidFill>
                            <a:srgbClr val="172D3C"/>
                          </a:solidFill>
                          <a:latin typeface="Arial"/>
                          <a:ea typeface="Arial"/>
                          <a:cs typeface="Arial"/>
                        </a:rPr>
                        <a:t>64%</a:t>
                      </a:r>
                    </a:p>
                  </a:txBody>
                  <a:tcPr marL="28575" marR="28575" marT="7620" marB="7620">
                    <a:solidFill>
                      <a:srgbClr val="FFFFFF"/>
                    </a:solidFill>
                  </a:tcPr>
                </a:tc>
                <a:tc>
                  <a:txBody>
                    <a:bodyPr/>
                    <a:lstStyle/>
                    <a:p>
                      <a:r>
                        <a:rPr sz="938" b="0">
                          <a:solidFill>
                            <a:srgbClr val="172D3C"/>
                          </a:solidFill>
                          <a:latin typeface="Arial"/>
                          <a:ea typeface="Arial"/>
                          <a:cs typeface="Arial"/>
                        </a:rPr>
                        <a:t>60%</a:t>
                      </a:r>
                    </a:p>
                  </a:txBody>
                  <a:tcPr marL="28575" marR="28575" marT="7620" marB="7620">
                    <a:solidFill>
                      <a:srgbClr val="FFFFFF"/>
                    </a:solidFill>
                  </a:tcPr>
                </a:tc>
                <a:tc>
                  <a:txBody>
                    <a:bodyPr/>
                    <a:lstStyle/>
                    <a:p>
                      <a:r>
                        <a:rPr sz="938" b="0">
                          <a:solidFill>
                            <a:srgbClr val="172D3C"/>
                          </a:solidFill>
                          <a:latin typeface="Arial"/>
                          <a:ea typeface="Arial"/>
                          <a:cs typeface="Arial"/>
                        </a:rPr>
                        <a:t>56%</a:t>
                      </a:r>
                    </a:p>
                  </a:txBody>
                  <a:tcPr marL="28575" marR="28575" marT="7620" marB="7620">
                    <a:solidFill>
                      <a:srgbClr val="FFFFFF"/>
                    </a:solidFill>
                  </a:tcPr>
                </a:tc>
                <a:tc>
                  <a:txBody>
                    <a:bodyPr/>
                    <a:lstStyle/>
                    <a:p>
                      <a:r>
                        <a:rPr sz="938" b="0">
                          <a:solidFill>
                            <a:srgbClr val="172D3C"/>
                          </a:solidFill>
                          <a:latin typeface="Arial"/>
                          <a:ea typeface="Arial"/>
                          <a:cs typeface="Arial"/>
                        </a:rPr>
                        <a:t>54%</a:t>
                      </a:r>
                    </a:p>
                  </a:txBody>
                  <a:tcPr marL="28575" marR="28575" marT="7620" marB="7620">
                    <a:solidFill>
                      <a:srgbClr val="FFFFFF"/>
                    </a:solidFill>
                  </a:tcPr>
                </a:tc>
                <a:tc>
                  <a:txBody>
                    <a:bodyPr/>
                    <a:lstStyle/>
                    <a:p>
                      <a:r>
                        <a:rPr sz="938" b="0">
                          <a:solidFill>
                            <a:srgbClr val="172D3C"/>
                          </a:solidFill>
                          <a:latin typeface="Arial"/>
                          <a:ea typeface="Arial"/>
                          <a:cs typeface="Arial"/>
                        </a:rPr>
                        <a:t>50%</a:t>
                      </a:r>
                    </a:p>
                  </a:txBody>
                  <a:tcPr marL="28575" marR="28575" marT="7620" marB="7620">
                    <a:solidFill>
                      <a:srgbClr val="FFFFFF"/>
                    </a:solidFill>
                  </a:tcPr>
                </a:tc>
                <a:tc>
                  <a:txBody>
                    <a:bodyPr/>
                    <a:lstStyle/>
                    <a:p>
                      <a:r>
                        <a:rPr sz="938" b="0">
                          <a:solidFill>
                            <a:srgbClr val="172D3C"/>
                          </a:solidFill>
                          <a:latin typeface="Arial"/>
                          <a:ea typeface="Arial"/>
                          <a:cs typeface="Arial"/>
                        </a:rPr>
                        <a:t>49%</a:t>
                      </a:r>
                    </a:p>
                  </a:txBody>
                  <a:tcPr marL="28575" marR="28575" marT="7620" marB="7620">
                    <a:solidFill>
                      <a:srgbClr val="FFFFFF"/>
                    </a:solidFill>
                  </a:tcPr>
                </a:tc>
                <a:tc>
                  <a:txBody>
                    <a:bodyPr/>
                    <a:lstStyle/>
                    <a:p>
                      <a:r>
                        <a:rPr sz="938" b="0">
                          <a:solidFill>
                            <a:srgbClr val="172D3C"/>
                          </a:solidFill>
                          <a:latin typeface="Arial"/>
                          <a:ea typeface="Arial"/>
                          <a:cs typeface="Arial"/>
                        </a:rPr>
                        <a:t>47%</a:t>
                      </a:r>
                    </a:p>
                  </a:txBody>
                  <a:tcPr marL="28575" marR="28575" marT="7620" marB="7620">
                    <a:solidFill>
                      <a:srgbClr val="FFFFFF"/>
                    </a:solidFill>
                  </a:tcPr>
                </a:tc>
                <a:tc>
                  <a:txBody>
                    <a:bodyPr/>
                    <a:lstStyle/>
                    <a:p>
                      <a:r>
                        <a:rPr sz="938" b="0">
                          <a:solidFill>
                            <a:srgbClr val="172D3C"/>
                          </a:solidFill>
                          <a:latin typeface="Arial"/>
                          <a:ea typeface="Arial"/>
                          <a:cs typeface="Arial"/>
                        </a:rPr>
                        <a:t>47%</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2025-03</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85%</a:t>
                      </a:r>
                    </a:p>
                  </a:txBody>
                  <a:tcPr marL="28575" marR="28575" marT="7620" marB="7620">
                    <a:solidFill>
                      <a:srgbClr val="F0F5F6"/>
                    </a:solidFill>
                  </a:tcPr>
                </a:tc>
                <a:tc>
                  <a:txBody>
                    <a:bodyPr/>
                    <a:lstStyle/>
                    <a:p>
                      <a:r>
                        <a:rPr sz="938" b="0">
                          <a:solidFill>
                            <a:srgbClr val="172D3C"/>
                          </a:solidFill>
                          <a:latin typeface="Arial"/>
                          <a:ea typeface="Arial"/>
                          <a:cs typeface="Arial"/>
                        </a:rPr>
                        <a:t>74%</a:t>
                      </a:r>
                    </a:p>
                  </a:txBody>
                  <a:tcPr marL="28575" marR="28575" marT="7620" marB="7620">
                    <a:solidFill>
                      <a:srgbClr val="F0F5F6"/>
                    </a:solidFill>
                  </a:tcPr>
                </a:tc>
                <a:tc>
                  <a:txBody>
                    <a:bodyPr/>
                    <a:lstStyle/>
                    <a:p>
                      <a:r>
                        <a:rPr sz="938" b="0">
                          <a:solidFill>
                            <a:srgbClr val="172D3C"/>
                          </a:solidFill>
                          <a:latin typeface="Arial"/>
                          <a:ea typeface="Arial"/>
                          <a:cs typeface="Arial"/>
                        </a:rPr>
                        <a:t>69%</a:t>
                      </a:r>
                    </a:p>
                  </a:txBody>
                  <a:tcPr marL="28575" marR="28575" marT="7620" marB="7620">
                    <a:solidFill>
                      <a:srgbClr val="F0F5F6"/>
                    </a:solidFill>
                  </a:tcPr>
                </a:tc>
                <a:tc>
                  <a:txBody>
                    <a:bodyPr/>
                    <a:lstStyle/>
                    <a:p>
                      <a:r>
                        <a:rPr sz="938" b="0">
                          <a:solidFill>
                            <a:srgbClr val="172D3C"/>
                          </a:solidFill>
                          <a:latin typeface="Arial"/>
                          <a:ea typeface="Arial"/>
                          <a:cs typeface="Arial"/>
                        </a:rPr>
                        <a:t>64%</a:t>
                      </a:r>
                    </a:p>
                  </a:txBody>
                  <a:tcPr marL="28575" marR="28575" marT="7620" marB="7620">
                    <a:solidFill>
                      <a:srgbClr val="F0F5F6"/>
                    </a:solidFill>
                  </a:tcPr>
                </a:tc>
                <a:tc>
                  <a:txBody>
                    <a:bodyPr/>
                    <a:lstStyle/>
                    <a:p>
                      <a:r>
                        <a:rPr sz="938" b="0">
                          <a:solidFill>
                            <a:srgbClr val="172D3C"/>
                          </a:solidFill>
                          <a:latin typeface="Arial"/>
                          <a:ea typeface="Arial"/>
                          <a:cs typeface="Arial"/>
                        </a:rPr>
                        <a:t>61%</a:t>
                      </a:r>
                    </a:p>
                  </a:txBody>
                  <a:tcPr marL="28575" marR="28575" marT="7620" marB="7620">
                    <a:solidFill>
                      <a:srgbClr val="F0F5F6"/>
                    </a:solidFill>
                  </a:tcPr>
                </a:tc>
                <a:tc>
                  <a:txBody>
                    <a:bodyPr/>
                    <a:lstStyle/>
                    <a:p>
                      <a:r>
                        <a:rPr sz="938" b="0">
                          <a:solidFill>
                            <a:srgbClr val="172D3C"/>
                          </a:solidFill>
                          <a:latin typeface="Arial"/>
                          <a:ea typeface="Arial"/>
                          <a:cs typeface="Arial"/>
                        </a:rPr>
                        <a:t>57%</a:t>
                      </a:r>
                    </a:p>
                  </a:txBody>
                  <a:tcPr marL="28575" marR="28575" marT="7620" marB="7620">
                    <a:solidFill>
                      <a:srgbClr val="F0F5F6"/>
                    </a:solidFill>
                  </a:tcPr>
                </a:tc>
                <a:tc>
                  <a:txBody>
                    <a:bodyPr/>
                    <a:lstStyle/>
                    <a:p>
                      <a:r>
                        <a:rPr sz="938" b="0">
                          <a:solidFill>
                            <a:srgbClr val="172D3C"/>
                          </a:solidFill>
                          <a:latin typeface="Arial"/>
                          <a:ea typeface="Arial"/>
                          <a:cs typeface="Arial"/>
                        </a:rPr>
                        <a:t>55%</a:t>
                      </a:r>
                    </a:p>
                  </a:txBody>
                  <a:tcPr marL="28575" marR="28575" marT="7620" marB="7620">
                    <a:solidFill>
                      <a:srgbClr val="F0F5F6"/>
                    </a:solidFill>
                  </a:tcPr>
                </a:tc>
                <a:tc>
                  <a:txBody>
                    <a:bodyPr/>
                    <a:lstStyle/>
                    <a:p>
                      <a:r>
                        <a:rPr sz="938" b="0">
                          <a:solidFill>
                            <a:srgbClr val="172D3C"/>
                          </a:solidFill>
                          <a:latin typeface="Arial"/>
                          <a:ea typeface="Arial"/>
                          <a:cs typeface="Arial"/>
                        </a:rPr>
                        <a:t>51%</a:t>
                      </a:r>
                    </a:p>
                  </a:txBody>
                  <a:tcPr marL="28575" marR="28575" marT="7620" marB="7620">
                    <a:solidFill>
                      <a:srgbClr val="F0F5F6"/>
                    </a:solidFill>
                  </a:tcPr>
                </a:tc>
                <a:tc>
                  <a:txBody>
                    <a:bodyPr/>
                    <a:lstStyle/>
                    <a:p>
                      <a:r>
                        <a:rPr sz="938" b="0">
                          <a:solidFill>
                            <a:srgbClr val="172D3C"/>
                          </a:solidFill>
                          <a:latin typeface="Arial"/>
                          <a:ea typeface="Arial"/>
                          <a:cs typeface="Arial"/>
                        </a:rPr>
                        <a:t>49%</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2025-04</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90%</a:t>
                      </a:r>
                    </a:p>
                  </a:txBody>
                  <a:tcPr marL="28575" marR="28575" marT="7620" marB="7620">
                    <a:solidFill>
                      <a:srgbClr val="FFFFFF"/>
                    </a:solidFill>
                  </a:tcPr>
                </a:tc>
                <a:tc>
                  <a:txBody>
                    <a:bodyPr/>
                    <a:lstStyle/>
                    <a:p>
                      <a:r>
                        <a:rPr sz="938" b="0">
                          <a:solidFill>
                            <a:srgbClr val="172D3C"/>
                          </a:solidFill>
                          <a:latin typeface="Arial"/>
                          <a:ea typeface="Arial"/>
                          <a:cs typeface="Arial"/>
                        </a:rPr>
                        <a:t>78%</a:t>
                      </a:r>
                    </a:p>
                  </a:txBody>
                  <a:tcPr marL="28575" marR="28575" marT="7620" marB="7620">
                    <a:solidFill>
                      <a:srgbClr val="FFFFFF"/>
                    </a:solidFill>
                  </a:tcPr>
                </a:tc>
                <a:tc>
                  <a:txBody>
                    <a:bodyPr/>
                    <a:lstStyle/>
                    <a:p>
                      <a:r>
                        <a:rPr sz="938" b="0">
                          <a:solidFill>
                            <a:srgbClr val="172D3C"/>
                          </a:solidFill>
                          <a:latin typeface="Arial"/>
                          <a:ea typeface="Arial"/>
                          <a:cs typeface="Arial"/>
                        </a:rPr>
                        <a:t>73%</a:t>
                      </a:r>
                    </a:p>
                  </a:txBody>
                  <a:tcPr marL="28575" marR="28575" marT="7620" marB="7620">
                    <a:solidFill>
                      <a:srgbClr val="FFFFFF"/>
                    </a:solidFill>
                  </a:tcPr>
                </a:tc>
                <a:tc>
                  <a:txBody>
                    <a:bodyPr/>
                    <a:lstStyle/>
                    <a:p>
                      <a:r>
                        <a:rPr sz="938" b="0">
                          <a:solidFill>
                            <a:srgbClr val="172D3C"/>
                          </a:solidFill>
                          <a:latin typeface="Arial"/>
                          <a:ea typeface="Arial"/>
                          <a:cs typeface="Arial"/>
                        </a:rPr>
                        <a:t>69%</a:t>
                      </a:r>
                    </a:p>
                  </a:txBody>
                  <a:tcPr marL="28575" marR="28575" marT="7620" marB="7620">
                    <a:solidFill>
                      <a:srgbClr val="FFFFFF"/>
                    </a:solidFill>
                  </a:tcPr>
                </a:tc>
                <a:tc>
                  <a:txBody>
                    <a:bodyPr/>
                    <a:lstStyle/>
                    <a:p>
                      <a:r>
                        <a:rPr sz="938" b="0">
                          <a:solidFill>
                            <a:srgbClr val="172D3C"/>
                          </a:solidFill>
                          <a:latin typeface="Arial"/>
                          <a:ea typeface="Arial"/>
                          <a:cs typeface="Arial"/>
                        </a:rPr>
                        <a:t>67%</a:t>
                      </a:r>
                    </a:p>
                  </a:txBody>
                  <a:tcPr marL="28575" marR="28575" marT="7620" marB="7620">
                    <a:solidFill>
                      <a:srgbClr val="FFFFFF"/>
                    </a:solidFill>
                  </a:tcPr>
                </a:tc>
                <a:tc>
                  <a:txBody>
                    <a:bodyPr/>
                    <a:lstStyle/>
                    <a:p>
                      <a:r>
                        <a:rPr sz="938" b="0">
                          <a:solidFill>
                            <a:srgbClr val="172D3C"/>
                          </a:solidFill>
                          <a:latin typeface="Arial"/>
                          <a:ea typeface="Arial"/>
                          <a:cs typeface="Arial"/>
                        </a:rPr>
                        <a:t>63%</a:t>
                      </a:r>
                    </a:p>
                  </a:txBody>
                  <a:tcPr marL="28575" marR="28575" marT="7620" marB="7620">
                    <a:solidFill>
                      <a:srgbClr val="FFFFFF"/>
                    </a:solidFill>
                  </a:tcPr>
                </a:tc>
                <a:tc>
                  <a:txBody>
                    <a:bodyPr/>
                    <a:lstStyle/>
                    <a:p>
                      <a:r>
                        <a:rPr sz="938" b="0">
                          <a:solidFill>
                            <a:srgbClr val="172D3C"/>
                          </a:solidFill>
                          <a:latin typeface="Arial"/>
                          <a:ea typeface="Arial"/>
                          <a:cs typeface="Arial"/>
                        </a:rPr>
                        <a:t>60%</a:t>
                      </a:r>
                    </a:p>
                  </a:txBody>
                  <a:tcPr marL="28575" marR="28575" marT="7620" marB="7620">
                    <a:solidFill>
                      <a:srgbClr val="FFFFFF"/>
                    </a:solidFill>
                  </a:tcPr>
                </a:tc>
                <a:tc>
                  <a:txBody>
                    <a:bodyPr/>
                    <a:lstStyle/>
                    <a:p>
                      <a:r>
                        <a:rPr sz="938" b="0">
                          <a:solidFill>
                            <a:srgbClr val="172D3C"/>
                          </a:solidFill>
                          <a:latin typeface="Arial"/>
                          <a:ea typeface="Arial"/>
                          <a:cs typeface="Arial"/>
                        </a:rPr>
                        <a:t>57%</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2025-05</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88%</a:t>
                      </a:r>
                    </a:p>
                  </a:txBody>
                  <a:tcPr marL="28575" marR="28575" marT="7620" marB="7620">
                    <a:solidFill>
                      <a:srgbClr val="F0F5F6"/>
                    </a:solidFill>
                  </a:tcPr>
                </a:tc>
                <a:tc>
                  <a:txBody>
                    <a:bodyPr/>
                    <a:lstStyle/>
                    <a:p>
                      <a:r>
                        <a:rPr sz="938" b="0">
                          <a:solidFill>
                            <a:srgbClr val="172D3C"/>
                          </a:solidFill>
                          <a:latin typeface="Arial"/>
                          <a:ea typeface="Arial"/>
                          <a:cs typeface="Arial"/>
                        </a:rPr>
                        <a:t>78%</a:t>
                      </a:r>
                    </a:p>
                  </a:txBody>
                  <a:tcPr marL="28575" marR="28575" marT="7620" marB="7620">
                    <a:solidFill>
                      <a:srgbClr val="F0F5F6"/>
                    </a:solidFill>
                  </a:tcPr>
                </a:tc>
                <a:tc>
                  <a:txBody>
                    <a:bodyPr/>
                    <a:lstStyle/>
                    <a:p>
                      <a:r>
                        <a:rPr sz="938" b="0">
                          <a:solidFill>
                            <a:srgbClr val="172D3C"/>
                          </a:solidFill>
                          <a:latin typeface="Arial"/>
                          <a:ea typeface="Arial"/>
                          <a:cs typeface="Arial"/>
                        </a:rPr>
                        <a:t>72%</a:t>
                      </a:r>
                    </a:p>
                  </a:txBody>
                  <a:tcPr marL="28575" marR="28575" marT="7620" marB="7620">
                    <a:solidFill>
                      <a:srgbClr val="F0F5F6"/>
                    </a:solidFill>
                  </a:tcPr>
                </a:tc>
                <a:tc>
                  <a:txBody>
                    <a:bodyPr/>
                    <a:lstStyle/>
                    <a:p>
                      <a:r>
                        <a:rPr sz="938" b="0">
                          <a:solidFill>
                            <a:srgbClr val="172D3C"/>
                          </a:solidFill>
                          <a:latin typeface="Arial"/>
                          <a:ea typeface="Arial"/>
                          <a:cs typeface="Arial"/>
                        </a:rPr>
                        <a:t>68%</a:t>
                      </a:r>
                    </a:p>
                  </a:txBody>
                  <a:tcPr marL="28575" marR="28575" marT="7620" marB="7620">
                    <a:solidFill>
                      <a:srgbClr val="F0F5F6"/>
                    </a:solidFill>
                  </a:tcPr>
                </a:tc>
                <a:tc>
                  <a:txBody>
                    <a:bodyPr/>
                    <a:lstStyle/>
                    <a:p>
                      <a:r>
                        <a:rPr sz="938" b="0">
                          <a:solidFill>
                            <a:srgbClr val="172D3C"/>
                          </a:solidFill>
                          <a:latin typeface="Arial"/>
                          <a:ea typeface="Arial"/>
                          <a:cs typeface="Arial"/>
                        </a:rPr>
                        <a:t>64%</a:t>
                      </a:r>
                    </a:p>
                  </a:txBody>
                  <a:tcPr marL="28575" marR="28575" marT="7620" marB="7620">
                    <a:solidFill>
                      <a:srgbClr val="F0F5F6"/>
                    </a:solidFill>
                  </a:tcPr>
                </a:tc>
                <a:tc>
                  <a:txBody>
                    <a:bodyPr/>
                    <a:lstStyle/>
                    <a:p>
                      <a:r>
                        <a:rPr sz="938" b="0">
                          <a:solidFill>
                            <a:srgbClr val="172D3C"/>
                          </a:solidFill>
                          <a:latin typeface="Arial"/>
                          <a:ea typeface="Arial"/>
                          <a:cs typeface="Arial"/>
                        </a:rPr>
                        <a:t>60%</a:t>
                      </a:r>
                    </a:p>
                  </a:txBody>
                  <a:tcPr marL="28575" marR="28575" marT="7620" marB="7620">
                    <a:solidFill>
                      <a:srgbClr val="F0F5F6"/>
                    </a:solidFill>
                  </a:tcPr>
                </a:tc>
                <a:tc>
                  <a:txBody>
                    <a:bodyPr/>
                    <a:lstStyle/>
                    <a:p>
                      <a:r>
                        <a:rPr sz="938" b="0">
                          <a:solidFill>
                            <a:srgbClr val="172D3C"/>
                          </a:solidFill>
                          <a:latin typeface="Arial"/>
                          <a:ea typeface="Arial"/>
                          <a:cs typeface="Arial"/>
                        </a:rPr>
                        <a:t>57%</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2025-06</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87%</a:t>
                      </a:r>
                    </a:p>
                  </a:txBody>
                  <a:tcPr marL="28575" marR="28575" marT="7620" marB="7620">
                    <a:solidFill>
                      <a:srgbClr val="FFFFFF"/>
                    </a:solidFill>
                  </a:tcPr>
                </a:tc>
                <a:tc>
                  <a:txBody>
                    <a:bodyPr/>
                    <a:lstStyle/>
                    <a:p>
                      <a:r>
                        <a:rPr sz="938" b="0">
                          <a:solidFill>
                            <a:srgbClr val="172D3C"/>
                          </a:solidFill>
                          <a:latin typeface="Arial"/>
                          <a:ea typeface="Arial"/>
                          <a:cs typeface="Arial"/>
                        </a:rPr>
                        <a:t>79%</a:t>
                      </a:r>
                    </a:p>
                  </a:txBody>
                  <a:tcPr marL="28575" marR="28575" marT="7620" marB="7620">
                    <a:solidFill>
                      <a:srgbClr val="FFFFFF"/>
                    </a:solidFill>
                  </a:tcPr>
                </a:tc>
                <a:tc>
                  <a:txBody>
                    <a:bodyPr/>
                    <a:lstStyle/>
                    <a:p>
                      <a:r>
                        <a:rPr sz="938" b="0">
                          <a:solidFill>
                            <a:srgbClr val="172D3C"/>
                          </a:solidFill>
                          <a:latin typeface="Arial"/>
                          <a:ea typeface="Arial"/>
                          <a:cs typeface="Arial"/>
                        </a:rPr>
                        <a:t>70%</a:t>
                      </a:r>
                    </a:p>
                  </a:txBody>
                  <a:tcPr marL="28575" marR="28575" marT="7620" marB="7620">
                    <a:solidFill>
                      <a:srgbClr val="FFFFFF"/>
                    </a:solidFill>
                  </a:tcPr>
                </a:tc>
                <a:tc>
                  <a:txBody>
                    <a:bodyPr/>
                    <a:lstStyle/>
                    <a:p>
                      <a:r>
                        <a:rPr sz="938" b="0">
                          <a:solidFill>
                            <a:srgbClr val="172D3C"/>
                          </a:solidFill>
                          <a:latin typeface="Arial"/>
                          <a:ea typeface="Arial"/>
                          <a:cs typeface="Arial"/>
                        </a:rPr>
                        <a:t>65%</a:t>
                      </a:r>
                    </a:p>
                  </a:txBody>
                  <a:tcPr marL="28575" marR="28575" marT="7620" marB="7620">
                    <a:solidFill>
                      <a:srgbClr val="FFFFFF"/>
                    </a:solidFill>
                  </a:tcPr>
                </a:tc>
                <a:tc>
                  <a:txBody>
                    <a:bodyPr/>
                    <a:lstStyle/>
                    <a:p>
                      <a:r>
                        <a:rPr sz="938" b="0">
                          <a:solidFill>
                            <a:srgbClr val="172D3C"/>
                          </a:solidFill>
                          <a:latin typeface="Arial"/>
                          <a:ea typeface="Arial"/>
                          <a:cs typeface="Arial"/>
                        </a:rPr>
                        <a:t>61%</a:t>
                      </a:r>
                    </a:p>
                  </a:txBody>
                  <a:tcPr marL="28575" marR="28575" marT="7620" marB="7620">
                    <a:solidFill>
                      <a:srgbClr val="FFFFFF"/>
                    </a:solidFill>
                  </a:tcPr>
                </a:tc>
                <a:tc>
                  <a:txBody>
                    <a:bodyPr/>
                    <a:lstStyle/>
                    <a:p>
                      <a:r>
                        <a:rPr sz="938" b="0">
                          <a:solidFill>
                            <a:srgbClr val="172D3C"/>
                          </a:solidFill>
                          <a:latin typeface="Arial"/>
                          <a:ea typeface="Arial"/>
                          <a:cs typeface="Arial"/>
                        </a:rPr>
                        <a:t>58%</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2025-07</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92%</a:t>
                      </a:r>
                    </a:p>
                  </a:txBody>
                  <a:tcPr marL="28575" marR="28575" marT="7620" marB="7620">
                    <a:solidFill>
                      <a:srgbClr val="F0F5F6"/>
                    </a:solidFill>
                  </a:tcPr>
                </a:tc>
                <a:tc>
                  <a:txBody>
                    <a:bodyPr/>
                    <a:lstStyle/>
                    <a:p>
                      <a:r>
                        <a:rPr sz="938" b="0">
                          <a:solidFill>
                            <a:srgbClr val="172D3C"/>
                          </a:solidFill>
                          <a:latin typeface="Arial"/>
                          <a:ea typeface="Arial"/>
                          <a:cs typeface="Arial"/>
                        </a:rPr>
                        <a:t>82%</a:t>
                      </a:r>
                    </a:p>
                  </a:txBody>
                  <a:tcPr marL="28575" marR="28575" marT="7620" marB="7620">
                    <a:solidFill>
                      <a:srgbClr val="F0F5F6"/>
                    </a:solidFill>
                  </a:tcPr>
                </a:tc>
                <a:tc>
                  <a:txBody>
                    <a:bodyPr/>
                    <a:lstStyle/>
                    <a:p>
                      <a:r>
                        <a:rPr sz="938" b="0">
                          <a:solidFill>
                            <a:srgbClr val="172D3C"/>
                          </a:solidFill>
                          <a:latin typeface="Arial"/>
                          <a:ea typeface="Arial"/>
                          <a:cs typeface="Arial"/>
                        </a:rPr>
                        <a:t>76%</a:t>
                      </a:r>
                    </a:p>
                  </a:txBody>
                  <a:tcPr marL="28575" marR="28575" marT="7620" marB="7620">
                    <a:solidFill>
                      <a:srgbClr val="F0F5F6"/>
                    </a:solidFill>
                  </a:tcPr>
                </a:tc>
                <a:tc>
                  <a:txBody>
                    <a:bodyPr/>
                    <a:lstStyle/>
                    <a:p>
                      <a:r>
                        <a:rPr sz="938" b="0">
                          <a:solidFill>
                            <a:srgbClr val="172D3C"/>
                          </a:solidFill>
                          <a:latin typeface="Arial"/>
                          <a:ea typeface="Arial"/>
                          <a:cs typeface="Arial"/>
                        </a:rPr>
                        <a:t>71%</a:t>
                      </a:r>
                    </a:p>
                  </a:txBody>
                  <a:tcPr marL="28575" marR="28575" marT="7620" marB="7620">
                    <a:solidFill>
                      <a:srgbClr val="F0F5F6"/>
                    </a:solidFill>
                  </a:tcPr>
                </a:tc>
                <a:tc>
                  <a:txBody>
                    <a:bodyPr/>
                    <a:lstStyle/>
                    <a:p>
                      <a:r>
                        <a:rPr sz="938" b="0">
                          <a:solidFill>
                            <a:srgbClr val="172D3C"/>
                          </a:solidFill>
                          <a:latin typeface="Arial"/>
                          <a:ea typeface="Arial"/>
                          <a:cs typeface="Arial"/>
                        </a:rPr>
                        <a:t>66%</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2025-08</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90%</a:t>
                      </a:r>
                    </a:p>
                  </a:txBody>
                  <a:tcPr marL="28575" marR="28575" marT="7620" marB="7620">
                    <a:solidFill>
                      <a:srgbClr val="FFFFFF"/>
                    </a:solidFill>
                  </a:tcPr>
                </a:tc>
                <a:tc>
                  <a:txBody>
                    <a:bodyPr/>
                    <a:lstStyle/>
                    <a:p>
                      <a:r>
                        <a:rPr sz="938" b="0">
                          <a:solidFill>
                            <a:srgbClr val="172D3C"/>
                          </a:solidFill>
                          <a:latin typeface="Arial"/>
                          <a:ea typeface="Arial"/>
                          <a:cs typeface="Arial"/>
                        </a:rPr>
                        <a:t>87%</a:t>
                      </a:r>
                    </a:p>
                  </a:txBody>
                  <a:tcPr marL="28575" marR="28575" marT="7620" marB="7620">
                    <a:solidFill>
                      <a:srgbClr val="FFFFFF"/>
                    </a:solidFill>
                  </a:tcPr>
                </a:tc>
                <a:tc>
                  <a:txBody>
                    <a:bodyPr/>
                    <a:lstStyle/>
                    <a:p>
                      <a:r>
                        <a:rPr sz="938" b="0">
                          <a:solidFill>
                            <a:srgbClr val="172D3C"/>
                          </a:solidFill>
                          <a:latin typeface="Arial"/>
                          <a:ea typeface="Arial"/>
                          <a:cs typeface="Arial"/>
                        </a:rPr>
                        <a:t>83%</a:t>
                      </a:r>
                    </a:p>
                  </a:txBody>
                  <a:tcPr marL="28575" marR="28575" marT="7620" marB="7620">
                    <a:solidFill>
                      <a:srgbClr val="FFFFFF"/>
                    </a:solidFill>
                  </a:tcPr>
                </a:tc>
                <a:tc>
                  <a:txBody>
                    <a:bodyPr/>
                    <a:lstStyle/>
                    <a:p>
                      <a:r>
                        <a:rPr sz="938" b="0">
                          <a:solidFill>
                            <a:srgbClr val="172D3C"/>
                          </a:solidFill>
                          <a:latin typeface="Arial"/>
                          <a:ea typeface="Arial"/>
                          <a:cs typeface="Arial"/>
                        </a:rPr>
                        <a:t>78%</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2025-09</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89%</a:t>
                      </a:r>
                    </a:p>
                  </a:txBody>
                  <a:tcPr marL="28575" marR="28575" marT="7620" marB="7620">
                    <a:solidFill>
                      <a:srgbClr val="F0F5F6"/>
                    </a:solidFill>
                  </a:tcPr>
                </a:tc>
                <a:tc>
                  <a:txBody>
                    <a:bodyPr/>
                    <a:lstStyle/>
                    <a:p>
                      <a:r>
                        <a:rPr sz="938" b="0">
                          <a:solidFill>
                            <a:srgbClr val="172D3C"/>
                          </a:solidFill>
                          <a:latin typeface="Arial"/>
                          <a:ea typeface="Arial"/>
                          <a:cs typeface="Arial"/>
                        </a:rPr>
                        <a:t>82%</a:t>
                      </a:r>
                    </a:p>
                  </a:txBody>
                  <a:tcPr marL="28575" marR="28575" marT="7620" marB="7620">
                    <a:solidFill>
                      <a:srgbClr val="F0F5F6"/>
                    </a:solidFill>
                  </a:tcPr>
                </a:tc>
                <a:tc>
                  <a:txBody>
                    <a:bodyPr/>
                    <a:lstStyle/>
                    <a:p>
                      <a:r>
                        <a:rPr sz="938" b="0">
                          <a:solidFill>
                            <a:srgbClr val="172D3C"/>
                          </a:solidFill>
                          <a:latin typeface="Arial"/>
                          <a:ea typeface="Arial"/>
                          <a:cs typeface="Arial"/>
                        </a:rPr>
                        <a:t>76%</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2025-10</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89%</a:t>
                      </a:r>
                    </a:p>
                  </a:txBody>
                  <a:tcPr marL="28575" marR="28575" marT="7620" marB="7620">
                    <a:solidFill>
                      <a:srgbClr val="FFFFFF"/>
                    </a:solidFill>
                  </a:tcPr>
                </a:tc>
                <a:tc>
                  <a:txBody>
                    <a:bodyPr/>
                    <a:lstStyle/>
                    <a:p>
                      <a:r>
                        <a:rPr sz="938" b="0">
                          <a:solidFill>
                            <a:srgbClr val="172D3C"/>
                          </a:solidFill>
                          <a:latin typeface="Arial"/>
                          <a:ea typeface="Arial"/>
                          <a:cs typeface="Arial"/>
                        </a:rPr>
                        <a:t>84%</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r h="161925">
                <a:tc>
                  <a:txBody>
                    <a:bodyPr/>
                    <a:lstStyle/>
                    <a:p>
                      <a:r>
                        <a:rPr sz="938" b="0">
                          <a:solidFill>
                            <a:srgbClr val="172D3C"/>
                          </a:solidFill>
                          <a:latin typeface="Arial"/>
                          <a:ea typeface="Arial"/>
                          <a:cs typeface="Arial"/>
                        </a:rPr>
                        <a:t>2025-11</a:t>
                      </a:r>
                    </a:p>
                  </a:txBody>
                  <a:tcPr marL="28575" marR="28575" marT="7620" marB="7620">
                    <a:solidFill>
                      <a:srgbClr val="F0F5F6"/>
                    </a:solidFill>
                  </a:tcPr>
                </a:tc>
                <a:tc>
                  <a:txBody>
                    <a:bodyPr/>
                    <a:lstStyle/>
                    <a:p>
                      <a:r>
                        <a:rPr sz="938" b="0">
                          <a:solidFill>
                            <a:srgbClr val="172D3C"/>
                          </a:solidFill>
                          <a:latin typeface="Arial"/>
                          <a:ea typeface="Arial"/>
                          <a:cs typeface="Arial"/>
                        </a:rPr>
                        <a:t>100%</a:t>
                      </a:r>
                    </a:p>
                  </a:txBody>
                  <a:tcPr marL="28575" marR="28575" marT="7620" marB="7620">
                    <a:solidFill>
                      <a:srgbClr val="F0F5F6"/>
                    </a:solidFill>
                  </a:tcPr>
                </a:tc>
                <a:tc>
                  <a:txBody>
                    <a:bodyPr/>
                    <a:lstStyle/>
                    <a:p>
                      <a:r>
                        <a:rPr sz="938" b="0">
                          <a:solidFill>
                            <a:srgbClr val="172D3C"/>
                          </a:solidFill>
                          <a:latin typeface="Arial"/>
                          <a:ea typeface="Arial"/>
                          <a:cs typeface="Arial"/>
                        </a:rPr>
                        <a:t>89%</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c>
                  <a:txBody>
                    <a:bodyPr/>
                    <a:lstStyle/>
                    <a:p>
                      <a:r>
                        <a:rPr sz="938" b="0">
                          <a:solidFill>
                            <a:srgbClr val="172D3C"/>
                          </a:solidFill>
                          <a:latin typeface="Arial"/>
                          <a:ea typeface="Arial"/>
                          <a:cs typeface="Arial"/>
                        </a:rPr>
                        <a:t>—</a:t>
                      </a:r>
                    </a:p>
                  </a:txBody>
                  <a:tcPr marL="28575" marR="28575" marT="7620" marB="7620">
                    <a:solidFill>
                      <a:srgbClr val="F0F5F6"/>
                    </a:solidFill>
                  </a:tcPr>
                </a:tc>
              </a:tr>
              <a:tr h="161925">
                <a:tc>
                  <a:txBody>
                    <a:bodyPr/>
                    <a:lstStyle/>
                    <a:p>
                      <a:r>
                        <a:rPr sz="938" b="0">
                          <a:solidFill>
                            <a:srgbClr val="172D3C"/>
                          </a:solidFill>
                          <a:latin typeface="Arial"/>
                          <a:ea typeface="Arial"/>
                          <a:cs typeface="Arial"/>
                        </a:rPr>
                        <a:t>2025-12</a:t>
                      </a:r>
                    </a:p>
                  </a:txBody>
                  <a:tcPr marL="28575" marR="28575" marT="7620" marB="7620">
                    <a:solidFill>
                      <a:srgbClr val="FFFFFF"/>
                    </a:solidFill>
                  </a:tcPr>
                </a:tc>
                <a:tc>
                  <a:txBody>
                    <a:bodyPr/>
                    <a:lstStyle/>
                    <a:p>
                      <a:r>
                        <a:rPr sz="938" b="0">
                          <a:solidFill>
                            <a:srgbClr val="172D3C"/>
                          </a:solidFill>
                          <a:latin typeface="Arial"/>
                          <a:ea typeface="Arial"/>
                          <a:cs typeface="Arial"/>
                        </a:rPr>
                        <a:t>100%</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c>
                  <a:txBody>
                    <a:bodyPr/>
                    <a:lstStyle/>
                    <a:p>
                      <a:r>
                        <a:rPr sz="938" b="0">
                          <a:solidFill>
                            <a:srgbClr val="172D3C"/>
                          </a:solidFill>
                          <a:latin typeface="Arial"/>
                          <a:ea typeface="Arial"/>
                          <a:cs typeface="Arial"/>
                        </a:rPr>
                        <a:t>—</a:t>
                      </a:r>
                    </a:p>
                  </a:txBody>
                  <a:tcPr marL="28575" marR="28575" marT="7620" marB="76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6E3222E-27F3-4D08-BA95-B34422FF995E}"/>
              </a:ext>
            </a:extLst>
          </p:cNvPr>
          <p:cNvSpPr>
            <a:spLocks xmlns:a="http://schemas.openxmlformats.org/drawingml/2006/main" noGrp="1"/>
          </p:cNvSpPr>
          <p:nvPr/>
        </p:nvSpPr>
        <p:spPr>
          <a:xfrm xmlns:a="http://schemas.openxmlformats.org/drawingml/2006/main">
            <a:off x="609600" y="5819775"/>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425" b="0">
                <a:solidFill>
                  <a:srgbClr val="172D3C"/>
                </a:solidFill>
                <a:latin typeface="Arial"/>
                <a:ea typeface="Arial"/>
                <a:cs typeface="Arial"/>
              </a:defRPr>
            </a:defPPr>
            <a:lvl1pPr>
              <a:defRPr sz="1425" b="0">
                <a:solidFill>
                  <a:srgbClr val="172D3C"/>
                </a:solidFill>
                <a:latin typeface="Arial"/>
                <a:ea typeface="Arial"/>
                <a:cs typeface="Arial"/>
              </a:defRPr>
            </a:lvl1pPr>
            <a:lvl2pPr>
              <a:defRPr sz="1425" b="0">
                <a:solidFill>
                  <a:srgbClr val="172D3C"/>
                </a:solidFill>
                <a:latin typeface="Arial"/>
                <a:ea typeface="Arial"/>
                <a:cs typeface="Arial"/>
              </a:defRPr>
            </a:lvl2pPr>
            <a:lvl3pPr>
              <a:defRPr sz="1425" b="0">
                <a:solidFill>
                  <a:srgbClr val="172D3C"/>
                </a:solidFill>
                <a:latin typeface="Arial"/>
                <a:ea typeface="Arial"/>
                <a:cs typeface="Arial"/>
              </a:defRPr>
            </a:lvl3pPr>
            <a:lvl4pPr>
              <a:defRPr sz="1425" b="0">
                <a:solidFill>
                  <a:srgbClr val="172D3C"/>
                </a:solidFill>
                <a:latin typeface="Arial"/>
                <a:ea typeface="Arial"/>
                <a:cs typeface="Arial"/>
              </a:defRPr>
            </a:lvl4pPr>
            <a:lvl5pPr>
              <a:defRPr sz="1425" b="0">
                <a:solidFill>
                  <a:srgbClr val="172D3C"/>
                </a:solidFill>
                <a:latin typeface="Arial"/>
                <a:ea typeface="Arial"/>
                <a:cs typeface="Arial"/>
              </a:defRPr>
            </a:lvl5pPr>
            <a:lvl6pPr>
              <a:defRPr sz="1425" b="0">
                <a:solidFill>
                  <a:srgbClr val="172D3C"/>
                </a:solidFill>
                <a:latin typeface="Arial"/>
                <a:ea typeface="Arial"/>
                <a:cs typeface="Arial"/>
              </a:defRPr>
            </a:lvl6pPr>
            <a:lvl7pPr>
              <a:defRPr sz="1425" b="0">
                <a:solidFill>
                  <a:srgbClr val="172D3C"/>
                </a:solidFill>
                <a:latin typeface="Arial"/>
                <a:ea typeface="Arial"/>
                <a:cs typeface="Arial"/>
              </a:defRPr>
            </a:lvl7pPr>
            <a:lvl8pPr>
              <a:defRPr sz="1425" b="0">
                <a:solidFill>
                  <a:srgbClr val="172D3C"/>
                </a:solidFill>
                <a:latin typeface="Arial"/>
                <a:ea typeface="Arial"/>
                <a:cs typeface="Arial"/>
              </a:defRPr>
            </a:lvl8pPr>
            <a:lvl9pPr>
              <a:defRPr sz="1425" b="0">
                <a:solidFill>
                  <a:srgbClr val="172D3C"/>
                </a:solidFill>
                <a:latin typeface="Arial"/>
                <a:ea typeface="Arial"/>
                <a:cs typeface="Arial"/>
              </a:defRPr>
            </a:lvl9pPr>
          </a:lstStyle>
          <a:p xmlns:a="http://schemas.openxmlformats.org/drawingml/2006/main">
            <a:pPr>
              <a:defRPr sz="1425" b="0">
                <a:solidFill>
                  <a:srgbClr val="172D3C"/>
                </a:solidFill>
                <a:latin typeface="Arial"/>
                <a:ea typeface="Arial"/>
                <a:cs typeface="Arial"/>
              </a:defRPr>
            </a:pPr>
            <a:r>
              <a:rPr sz="1425" b="0">
                <a:solidFill>
                  <a:srgbClr val="172D3C"/>
                </a:solidFill>
                <a:latin typeface="Arial"/>
                <a:ea typeface="Arial"/>
                <a:cs typeface="Arial"/>
              </a:rPr>
              <a:t>Read across for one cohort over time, or down for different cohorts at the same age. Future ages stay missing.</a:t>
            </a:r>
          </a:p>
        </p:txBody>
      </p:sp>
    </p:spTree>
    <p:extLst>
      <p:ext uri="{BB962C8B-B14F-4D97-AF65-F5344CB8AC3E}">
        <p14:creationId xmlns:p14="http://schemas.microsoft.com/office/powerpoint/2010/main" val="15323043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02CC47E-4869-4250-8B4C-95E3565E107A}"/>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BB64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CEA0BD-47E0-4BB6-A96D-515DF6CAD948}"/>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Group decision 2: is improvement visible within groups?</a:t>
            </a:r>
          </a:p>
        </p:txBody>
      </p:sp>
      <p:sp>
        <p:nvSpPr>
          <p:cNvPr id="3" name="">
            <a:extLst xmlns:a="http://schemas.openxmlformats.org/drawingml/2006/main">
              <a:ext uri="{FF2B5EF4-FFF2-40B4-BE49-F238E27FC236}">
                <a16:creationId xmlns:a16="http://schemas.microsoft.com/office/drawing/2014/main" id="{EDCF4B01-8044-47D3-B389-48782F7FCE7A}"/>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BB6427"/>
                </a:solidFill>
                <a:latin typeface="Arial"/>
                <a:ea typeface="Arial"/>
                <a:cs typeface="Arial"/>
              </a:defRPr>
            </a:defPPr>
            <a:lvl1pPr>
              <a:defRPr sz="900" b="1">
                <a:solidFill>
                  <a:srgbClr val="BB6427"/>
                </a:solidFill>
                <a:latin typeface="Arial"/>
                <a:ea typeface="Arial"/>
                <a:cs typeface="Arial"/>
              </a:defRPr>
            </a:lvl1pPr>
            <a:lvl2pPr>
              <a:defRPr sz="900" b="1">
                <a:solidFill>
                  <a:srgbClr val="BB6427"/>
                </a:solidFill>
                <a:latin typeface="Arial"/>
                <a:ea typeface="Arial"/>
                <a:cs typeface="Arial"/>
              </a:defRPr>
            </a:lvl2pPr>
            <a:lvl3pPr>
              <a:defRPr sz="900" b="1">
                <a:solidFill>
                  <a:srgbClr val="BB6427"/>
                </a:solidFill>
                <a:latin typeface="Arial"/>
                <a:ea typeface="Arial"/>
                <a:cs typeface="Arial"/>
              </a:defRPr>
            </a:lvl3pPr>
            <a:lvl4pPr>
              <a:defRPr sz="900" b="1">
                <a:solidFill>
                  <a:srgbClr val="BB6427"/>
                </a:solidFill>
                <a:latin typeface="Arial"/>
                <a:ea typeface="Arial"/>
                <a:cs typeface="Arial"/>
              </a:defRPr>
            </a:lvl4pPr>
            <a:lvl5pPr>
              <a:defRPr sz="900" b="1">
                <a:solidFill>
                  <a:srgbClr val="BB6427"/>
                </a:solidFill>
                <a:latin typeface="Arial"/>
                <a:ea typeface="Arial"/>
                <a:cs typeface="Arial"/>
              </a:defRPr>
            </a:lvl5pPr>
            <a:lvl6pPr>
              <a:defRPr sz="900" b="1">
                <a:solidFill>
                  <a:srgbClr val="BB6427"/>
                </a:solidFill>
                <a:latin typeface="Arial"/>
                <a:ea typeface="Arial"/>
                <a:cs typeface="Arial"/>
              </a:defRPr>
            </a:lvl6pPr>
            <a:lvl7pPr>
              <a:defRPr sz="900" b="1">
                <a:solidFill>
                  <a:srgbClr val="BB6427"/>
                </a:solidFill>
                <a:latin typeface="Arial"/>
                <a:ea typeface="Arial"/>
                <a:cs typeface="Arial"/>
              </a:defRPr>
            </a:lvl7pPr>
            <a:lvl8pPr>
              <a:defRPr sz="900" b="1">
                <a:solidFill>
                  <a:srgbClr val="BB6427"/>
                </a:solidFill>
                <a:latin typeface="Arial"/>
                <a:ea typeface="Arial"/>
                <a:cs typeface="Arial"/>
              </a:defRPr>
            </a:lvl8pPr>
            <a:lvl9pPr>
              <a:defRPr sz="900" b="1">
                <a:solidFill>
                  <a:srgbClr val="BB6427"/>
                </a:solidFill>
                <a:latin typeface="Arial"/>
                <a:ea typeface="Arial"/>
                <a:cs typeface="Arial"/>
              </a:defRPr>
            </a:lvl9pPr>
          </a:lstStyle>
          <a:p xmlns:a="http://schemas.openxmlformats.org/drawingml/2006/main">
            <a:pPr>
              <a:defRPr sz="900" b="1">
                <a:solidFill>
                  <a:srgbClr val="BB6427"/>
                </a:solidFill>
                <a:latin typeface="Arial"/>
                <a:ea typeface="Arial"/>
                <a:cs typeface="Arial"/>
              </a:defRPr>
            </a:pPr>
            <a:r>
              <a:rPr sz="900" b="1">
                <a:solidFill>
                  <a:srgbClr val="BB6427"/>
                </a:solidFill>
                <a:latin typeface="Arial"/>
                <a:ea typeface="Arial"/>
                <a:cs typeface="Arial"/>
              </a:rPr>
              <a:t>GROUP DECISION</a:t>
            </a:r>
          </a:p>
        </p:txBody>
      </p:sp>
      <p:sp>
        <p:nvSpPr>
          <p:cNvPr id="4" name="">
            <a:extLst xmlns:a="http://schemas.openxmlformats.org/drawingml/2006/main">
              <a:ext uri="{FF2B5EF4-FFF2-40B4-BE49-F238E27FC236}">
                <a16:creationId xmlns:a16="http://schemas.microsoft.com/office/drawing/2014/main" id="{7D936A22-A655-45CA-9646-21550F0DB169}"/>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DC92712C-65F9-4183-A174-0AB341F4FD82}"/>
              </a:ext>
            </a:extLst>
          </p:cNvPr>
          <p:cNvSpPr>
            <a:spLocks xmlns:a="http://schemas.openxmlformats.org/drawingml/2006/main" noGrp="1"/>
          </p:cNvSpPr>
          <p:nvPr/>
        </p:nvSpPr>
        <p:spPr>
          <a:xfrm xmlns:a="http://schemas.openxmlformats.org/drawingml/2006/main">
            <a:off x="609600" y="13335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Figure 2. Same-age retention across all 24 joining cohorts</a:t>
            </a:r>
          </a:p>
        </p:txBody>
      </p:sp>
      <p:sp>
        <p:nvSpPr>
          <p:cNvPr id="6" name="">
            <a:extLst xmlns:a="http://schemas.openxmlformats.org/drawingml/2006/main">
              <a:ext uri="{FF2B5EF4-FFF2-40B4-BE49-F238E27FC236}">
                <a16:creationId xmlns:a16="http://schemas.microsoft.com/office/drawing/2014/main" id="{C0A72C37-887E-4D97-BA7D-E497C9E16055}"/>
              </a:ext>
            </a:extLst>
          </p:cNvPr>
          <p:cNvSpPr>
            <a:spLocks xmlns:a="http://schemas.openxmlformats.org/drawingml/2006/main" noGrp="1"/>
          </p:cNvSpPr>
          <p:nvPr/>
        </p:nvSpPr>
        <p:spPr>
          <a:xfrm xmlns:a="http://schemas.openxmlformats.org/drawingml/2006/main">
            <a:off x="7524750" y="1409700"/>
            <a:ext cx="123825" cy="85725"/>
          </a:xfrm>
          <a:prstGeom xmlns:a="http://schemas.openxmlformats.org/drawingml/2006/main" prst="rect">
            <a:avLst/>
          </a:prstGeom>
          <a:solidFill xmlns:a="http://schemas.openxmlformats.org/drawingml/2006/main">
            <a:srgbClr val="B4404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C3DD40-B8AC-43D2-9E3E-D655C764A597}"/>
              </a:ext>
            </a:extLst>
          </p:cNvPr>
          <p:cNvSpPr>
            <a:spLocks xmlns:a="http://schemas.openxmlformats.org/drawingml/2006/main" noGrp="1"/>
          </p:cNvSpPr>
          <p:nvPr/>
        </p:nvSpPr>
        <p:spPr>
          <a:xfrm xmlns:a="http://schemas.openxmlformats.org/drawingml/2006/main">
            <a:off x="7648575" y="1409700"/>
            <a:ext cx="123825" cy="85725"/>
          </a:xfrm>
          <a:prstGeom xmlns:a="http://schemas.openxmlformats.org/drawingml/2006/main" prst="rect">
            <a:avLst/>
          </a:prstGeom>
          <a:solidFill xmlns:a="http://schemas.openxmlformats.org/drawingml/2006/main">
            <a:srgbClr val="AE424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601DE7-3768-4BC7-BFEF-B3DA1694113E}"/>
              </a:ext>
            </a:extLst>
          </p:cNvPr>
          <p:cNvSpPr>
            <a:spLocks xmlns:a="http://schemas.openxmlformats.org/drawingml/2006/main" noGrp="1"/>
          </p:cNvSpPr>
          <p:nvPr/>
        </p:nvSpPr>
        <p:spPr>
          <a:xfrm xmlns:a="http://schemas.openxmlformats.org/drawingml/2006/main">
            <a:off x="7772400" y="1409700"/>
            <a:ext cx="123825" cy="85725"/>
          </a:xfrm>
          <a:prstGeom xmlns:a="http://schemas.openxmlformats.org/drawingml/2006/main" prst="rect">
            <a:avLst/>
          </a:prstGeom>
          <a:solidFill xmlns:a="http://schemas.openxmlformats.org/drawingml/2006/main">
            <a:srgbClr val="A8434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FC9EEDC-1FC5-4E18-9461-7C0FCA69C61E}"/>
              </a:ext>
            </a:extLst>
          </p:cNvPr>
          <p:cNvSpPr>
            <a:spLocks xmlns:a="http://schemas.openxmlformats.org/drawingml/2006/main" noGrp="1"/>
          </p:cNvSpPr>
          <p:nvPr/>
        </p:nvSpPr>
        <p:spPr>
          <a:xfrm xmlns:a="http://schemas.openxmlformats.org/drawingml/2006/main">
            <a:off x="7896225" y="1409700"/>
            <a:ext cx="123825" cy="85725"/>
          </a:xfrm>
          <a:prstGeom xmlns:a="http://schemas.openxmlformats.org/drawingml/2006/main" prst="rect">
            <a:avLst/>
          </a:prstGeom>
          <a:solidFill xmlns:a="http://schemas.openxmlformats.org/drawingml/2006/main">
            <a:srgbClr val="A3454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F2D1C3-8B22-4FCA-B036-1BF204AA62CC}"/>
              </a:ext>
            </a:extLst>
          </p:cNvPr>
          <p:cNvSpPr>
            <a:spLocks xmlns:a="http://schemas.openxmlformats.org/drawingml/2006/main" noGrp="1"/>
          </p:cNvSpPr>
          <p:nvPr/>
        </p:nvSpPr>
        <p:spPr>
          <a:xfrm xmlns:a="http://schemas.openxmlformats.org/drawingml/2006/main">
            <a:off x="8020050" y="1409700"/>
            <a:ext cx="123825" cy="85725"/>
          </a:xfrm>
          <a:prstGeom xmlns:a="http://schemas.openxmlformats.org/drawingml/2006/main" prst="rect">
            <a:avLst/>
          </a:prstGeom>
          <a:solidFill xmlns:a="http://schemas.openxmlformats.org/drawingml/2006/main">
            <a:srgbClr val="9D465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2476E7-A6D5-4F24-92A6-7BC2B6153C7E}"/>
              </a:ext>
            </a:extLst>
          </p:cNvPr>
          <p:cNvSpPr>
            <a:spLocks xmlns:a="http://schemas.openxmlformats.org/drawingml/2006/main" noGrp="1"/>
          </p:cNvSpPr>
          <p:nvPr/>
        </p:nvSpPr>
        <p:spPr>
          <a:xfrm xmlns:a="http://schemas.openxmlformats.org/drawingml/2006/main">
            <a:off x="8143875" y="1409700"/>
            <a:ext cx="123825" cy="85725"/>
          </a:xfrm>
          <a:prstGeom xmlns:a="http://schemas.openxmlformats.org/drawingml/2006/main" prst="rect">
            <a:avLst/>
          </a:prstGeom>
          <a:solidFill xmlns:a="http://schemas.openxmlformats.org/drawingml/2006/main">
            <a:srgbClr val="97485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8A2ACB-AF80-40E5-A5BB-8DF01FA31F2B}"/>
              </a:ext>
            </a:extLst>
          </p:cNvPr>
          <p:cNvSpPr>
            <a:spLocks xmlns:a="http://schemas.openxmlformats.org/drawingml/2006/main" noGrp="1"/>
          </p:cNvSpPr>
          <p:nvPr/>
        </p:nvSpPr>
        <p:spPr>
          <a:xfrm xmlns:a="http://schemas.openxmlformats.org/drawingml/2006/main">
            <a:off x="8267700" y="1409700"/>
            <a:ext cx="123825" cy="85725"/>
          </a:xfrm>
          <a:prstGeom xmlns:a="http://schemas.openxmlformats.org/drawingml/2006/main" prst="rect">
            <a:avLst/>
          </a:prstGeom>
          <a:solidFill xmlns:a="http://schemas.openxmlformats.org/drawingml/2006/main">
            <a:srgbClr val="91495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830BC6-9895-4F37-A5DE-9C033E1AD116}"/>
              </a:ext>
            </a:extLst>
          </p:cNvPr>
          <p:cNvSpPr>
            <a:spLocks xmlns:a="http://schemas.openxmlformats.org/drawingml/2006/main" noGrp="1"/>
          </p:cNvSpPr>
          <p:nvPr/>
        </p:nvSpPr>
        <p:spPr>
          <a:xfrm xmlns:a="http://schemas.openxmlformats.org/drawingml/2006/main">
            <a:off x="8391525" y="1409700"/>
            <a:ext cx="123825" cy="85725"/>
          </a:xfrm>
          <a:prstGeom xmlns:a="http://schemas.openxmlformats.org/drawingml/2006/main" prst="rect">
            <a:avLst/>
          </a:prstGeom>
          <a:solidFill xmlns:a="http://schemas.openxmlformats.org/drawingml/2006/main">
            <a:srgbClr val="8C4B6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5FAB98-E2D4-4484-878C-9C065D15EB3E}"/>
              </a:ext>
            </a:extLst>
          </p:cNvPr>
          <p:cNvSpPr>
            <a:spLocks xmlns:a="http://schemas.openxmlformats.org/drawingml/2006/main" noGrp="1"/>
          </p:cNvSpPr>
          <p:nvPr/>
        </p:nvSpPr>
        <p:spPr>
          <a:xfrm xmlns:a="http://schemas.openxmlformats.org/drawingml/2006/main">
            <a:off x="8515350" y="1409700"/>
            <a:ext cx="123825" cy="85725"/>
          </a:xfrm>
          <a:prstGeom xmlns:a="http://schemas.openxmlformats.org/drawingml/2006/main" prst="rect">
            <a:avLst/>
          </a:prstGeom>
          <a:solidFill xmlns:a="http://schemas.openxmlformats.org/drawingml/2006/main">
            <a:srgbClr val="864C6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675172B-97E5-49FC-9A9F-35CF6E5063FA}"/>
              </a:ext>
            </a:extLst>
          </p:cNvPr>
          <p:cNvSpPr>
            <a:spLocks xmlns:a="http://schemas.openxmlformats.org/drawingml/2006/main" noGrp="1"/>
          </p:cNvSpPr>
          <p:nvPr/>
        </p:nvSpPr>
        <p:spPr>
          <a:xfrm xmlns:a="http://schemas.openxmlformats.org/drawingml/2006/main">
            <a:off x="8639175" y="1409700"/>
            <a:ext cx="123825" cy="85725"/>
          </a:xfrm>
          <a:prstGeom xmlns:a="http://schemas.openxmlformats.org/drawingml/2006/main" prst="rect">
            <a:avLst/>
          </a:prstGeom>
          <a:solidFill xmlns:a="http://schemas.openxmlformats.org/drawingml/2006/main">
            <a:srgbClr val="804E6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773BB1B-EB27-437D-B442-3818220A6BC1}"/>
              </a:ext>
            </a:extLst>
          </p:cNvPr>
          <p:cNvSpPr>
            <a:spLocks xmlns:a="http://schemas.openxmlformats.org/drawingml/2006/main" noGrp="1"/>
          </p:cNvSpPr>
          <p:nvPr/>
        </p:nvSpPr>
        <p:spPr>
          <a:xfrm xmlns:a="http://schemas.openxmlformats.org/drawingml/2006/main">
            <a:off x="8763000" y="1409700"/>
            <a:ext cx="123825" cy="85725"/>
          </a:xfrm>
          <a:prstGeom xmlns:a="http://schemas.openxmlformats.org/drawingml/2006/main" prst="rect">
            <a:avLst/>
          </a:prstGeom>
          <a:solidFill xmlns:a="http://schemas.openxmlformats.org/drawingml/2006/main">
            <a:srgbClr val="7A4F7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8FEA8D1-E7D8-4B3D-9F4E-44455D458E49}"/>
              </a:ext>
            </a:extLst>
          </p:cNvPr>
          <p:cNvSpPr>
            <a:spLocks xmlns:a="http://schemas.openxmlformats.org/drawingml/2006/main" noGrp="1"/>
          </p:cNvSpPr>
          <p:nvPr/>
        </p:nvSpPr>
        <p:spPr>
          <a:xfrm xmlns:a="http://schemas.openxmlformats.org/drawingml/2006/main">
            <a:off x="8886825" y="1409700"/>
            <a:ext cx="123825" cy="85725"/>
          </a:xfrm>
          <a:prstGeom xmlns:a="http://schemas.openxmlformats.org/drawingml/2006/main" prst="rect">
            <a:avLst/>
          </a:prstGeom>
          <a:solidFill xmlns:a="http://schemas.openxmlformats.org/drawingml/2006/main">
            <a:srgbClr val="74517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770D6E8-F698-48A0-8642-4CFC7966DB4E}"/>
              </a:ext>
            </a:extLst>
          </p:cNvPr>
          <p:cNvSpPr>
            <a:spLocks xmlns:a="http://schemas.openxmlformats.org/drawingml/2006/main" noGrp="1"/>
          </p:cNvSpPr>
          <p:nvPr/>
        </p:nvSpPr>
        <p:spPr>
          <a:xfrm xmlns:a="http://schemas.openxmlformats.org/drawingml/2006/main">
            <a:off x="9010650" y="1409700"/>
            <a:ext cx="123825" cy="85725"/>
          </a:xfrm>
          <a:prstGeom xmlns:a="http://schemas.openxmlformats.org/drawingml/2006/main" prst="rect">
            <a:avLst/>
          </a:prstGeom>
          <a:solidFill xmlns:a="http://schemas.openxmlformats.org/drawingml/2006/main">
            <a:srgbClr val="6F527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3903D0E-D96A-4C9A-9D37-393ECD3CCC70}"/>
              </a:ext>
            </a:extLst>
          </p:cNvPr>
          <p:cNvSpPr>
            <a:spLocks xmlns:a="http://schemas.openxmlformats.org/drawingml/2006/main" noGrp="1"/>
          </p:cNvSpPr>
          <p:nvPr/>
        </p:nvSpPr>
        <p:spPr>
          <a:xfrm xmlns:a="http://schemas.openxmlformats.org/drawingml/2006/main">
            <a:off x="9134475" y="1409700"/>
            <a:ext cx="123825" cy="85725"/>
          </a:xfrm>
          <a:prstGeom xmlns:a="http://schemas.openxmlformats.org/drawingml/2006/main" prst="rect">
            <a:avLst/>
          </a:prstGeom>
          <a:solidFill xmlns:a="http://schemas.openxmlformats.org/drawingml/2006/main">
            <a:srgbClr val="69547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56DA6C9-E142-4A91-A1D5-AB9AE1A331FB}"/>
              </a:ext>
            </a:extLst>
          </p:cNvPr>
          <p:cNvSpPr>
            <a:spLocks xmlns:a="http://schemas.openxmlformats.org/drawingml/2006/main" noGrp="1"/>
          </p:cNvSpPr>
          <p:nvPr/>
        </p:nvSpPr>
        <p:spPr>
          <a:xfrm xmlns:a="http://schemas.openxmlformats.org/drawingml/2006/main">
            <a:off x="9258300" y="1409700"/>
            <a:ext cx="123825" cy="85725"/>
          </a:xfrm>
          <a:prstGeom xmlns:a="http://schemas.openxmlformats.org/drawingml/2006/main" prst="rect">
            <a:avLst/>
          </a:prstGeom>
          <a:solidFill xmlns:a="http://schemas.openxmlformats.org/drawingml/2006/main">
            <a:srgbClr val="63558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8CA7722-99C4-41F1-A2BD-0E291D7B7EE7}"/>
              </a:ext>
            </a:extLst>
          </p:cNvPr>
          <p:cNvSpPr>
            <a:spLocks xmlns:a="http://schemas.openxmlformats.org/drawingml/2006/main" noGrp="1"/>
          </p:cNvSpPr>
          <p:nvPr/>
        </p:nvSpPr>
        <p:spPr>
          <a:xfrm xmlns:a="http://schemas.openxmlformats.org/drawingml/2006/main">
            <a:off x="9382125" y="1409700"/>
            <a:ext cx="123825" cy="85725"/>
          </a:xfrm>
          <a:prstGeom xmlns:a="http://schemas.openxmlformats.org/drawingml/2006/main" prst="rect">
            <a:avLst/>
          </a:prstGeom>
          <a:solidFill xmlns:a="http://schemas.openxmlformats.org/drawingml/2006/main">
            <a:srgbClr val="5D578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A606E43-CEAA-470C-A20B-4C6E25B76A55}"/>
              </a:ext>
            </a:extLst>
          </p:cNvPr>
          <p:cNvSpPr>
            <a:spLocks xmlns:a="http://schemas.openxmlformats.org/drawingml/2006/main" noGrp="1"/>
          </p:cNvSpPr>
          <p:nvPr/>
        </p:nvSpPr>
        <p:spPr>
          <a:xfrm xmlns:a="http://schemas.openxmlformats.org/drawingml/2006/main">
            <a:off x="9505950" y="1409700"/>
            <a:ext cx="123825" cy="85725"/>
          </a:xfrm>
          <a:prstGeom xmlns:a="http://schemas.openxmlformats.org/drawingml/2006/main" prst="rect">
            <a:avLst/>
          </a:prstGeom>
          <a:solidFill xmlns:a="http://schemas.openxmlformats.org/drawingml/2006/main">
            <a:srgbClr val="57588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CEB3182-021E-45E9-99C4-747FF4BD2597}"/>
              </a:ext>
            </a:extLst>
          </p:cNvPr>
          <p:cNvSpPr>
            <a:spLocks xmlns:a="http://schemas.openxmlformats.org/drawingml/2006/main" noGrp="1"/>
          </p:cNvSpPr>
          <p:nvPr/>
        </p:nvSpPr>
        <p:spPr>
          <a:xfrm xmlns:a="http://schemas.openxmlformats.org/drawingml/2006/main">
            <a:off x="9629775" y="1409700"/>
            <a:ext cx="123825" cy="85725"/>
          </a:xfrm>
          <a:prstGeom xmlns:a="http://schemas.openxmlformats.org/drawingml/2006/main" prst="rect">
            <a:avLst/>
          </a:prstGeom>
          <a:solidFill xmlns:a="http://schemas.openxmlformats.org/drawingml/2006/main">
            <a:srgbClr val="525A9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BF9F096-B6DF-40B1-A95A-FFA9610284F3}"/>
              </a:ext>
            </a:extLst>
          </p:cNvPr>
          <p:cNvSpPr>
            <a:spLocks xmlns:a="http://schemas.openxmlformats.org/drawingml/2006/main" noGrp="1"/>
          </p:cNvSpPr>
          <p:nvPr/>
        </p:nvSpPr>
        <p:spPr>
          <a:xfrm xmlns:a="http://schemas.openxmlformats.org/drawingml/2006/main">
            <a:off x="9753600" y="1409700"/>
            <a:ext cx="123825" cy="85725"/>
          </a:xfrm>
          <a:prstGeom xmlns:a="http://schemas.openxmlformats.org/drawingml/2006/main" prst="rect">
            <a:avLst/>
          </a:prstGeom>
          <a:solidFill xmlns:a="http://schemas.openxmlformats.org/drawingml/2006/main">
            <a:srgbClr val="4C5B9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806DEF1-7B76-4D97-83D0-4DDE88552985}"/>
              </a:ext>
            </a:extLst>
          </p:cNvPr>
          <p:cNvSpPr>
            <a:spLocks xmlns:a="http://schemas.openxmlformats.org/drawingml/2006/main" noGrp="1"/>
          </p:cNvSpPr>
          <p:nvPr/>
        </p:nvSpPr>
        <p:spPr>
          <a:xfrm xmlns:a="http://schemas.openxmlformats.org/drawingml/2006/main">
            <a:off x="9877425" y="1409700"/>
            <a:ext cx="123825" cy="85725"/>
          </a:xfrm>
          <a:prstGeom xmlns:a="http://schemas.openxmlformats.org/drawingml/2006/main" prst="rect">
            <a:avLst/>
          </a:prstGeom>
          <a:solidFill xmlns:a="http://schemas.openxmlformats.org/drawingml/2006/main">
            <a:srgbClr val="465D9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46AB1F0-DF2C-4EAA-81C1-8B2F56541857}"/>
              </a:ext>
            </a:extLst>
          </p:cNvPr>
          <p:cNvSpPr>
            <a:spLocks xmlns:a="http://schemas.openxmlformats.org/drawingml/2006/main" noGrp="1"/>
          </p:cNvSpPr>
          <p:nvPr/>
        </p:nvSpPr>
        <p:spPr>
          <a:xfrm xmlns:a="http://schemas.openxmlformats.org/drawingml/2006/main">
            <a:off x="10001250" y="1409700"/>
            <a:ext cx="123825" cy="85725"/>
          </a:xfrm>
          <a:prstGeom xmlns:a="http://schemas.openxmlformats.org/drawingml/2006/main" prst="rect">
            <a:avLst/>
          </a:prstGeom>
          <a:solidFill xmlns:a="http://schemas.openxmlformats.org/drawingml/2006/main">
            <a:srgbClr val="405EA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D65201B-9250-45EB-BFA8-A48094125202}"/>
              </a:ext>
            </a:extLst>
          </p:cNvPr>
          <p:cNvSpPr>
            <a:spLocks xmlns:a="http://schemas.openxmlformats.org/drawingml/2006/main" noGrp="1"/>
          </p:cNvSpPr>
          <p:nvPr/>
        </p:nvSpPr>
        <p:spPr>
          <a:xfrm xmlns:a="http://schemas.openxmlformats.org/drawingml/2006/main">
            <a:off x="10125075" y="1409700"/>
            <a:ext cx="123825" cy="85725"/>
          </a:xfrm>
          <a:prstGeom xmlns:a="http://schemas.openxmlformats.org/drawingml/2006/main" prst="rect">
            <a:avLst/>
          </a:prstGeom>
          <a:solidFill xmlns:a="http://schemas.openxmlformats.org/drawingml/2006/main">
            <a:srgbClr val="3B60A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7B5965B-9ABF-4585-9B2E-F80E9872A9E3}"/>
              </a:ext>
            </a:extLst>
          </p:cNvPr>
          <p:cNvSpPr>
            <a:spLocks xmlns:a="http://schemas.openxmlformats.org/drawingml/2006/main" noGrp="1"/>
          </p:cNvSpPr>
          <p:nvPr/>
        </p:nvSpPr>
        <p:spPr>
          <a:xfrm xmlns:a="http://schemas.openxmlformats.org/drawingml/2006/main">
            <a:off x="10248900" y="1409700"/>
            <a:ext cx="123825" cy="85725"/>
          </a:xfrm>
          <a:prstGeom xmlns:a="http://schemas.openxmlformats.org/drawingml/2006/main" prst="rect">
            <a:avLst/>
          </a:prstGeom>
          <a:solidFill xmlns:a="http://schemas.openxmlformats.org/drawingml/2006/main">
            <a:srgbClr val="3561A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0C7FDC7-C3D8-45E5-B9E5-10A8AF9C0A71}"/>
              </a:ext>
            </a:extLst>
          </p:cNvPr>
          <p:cNvSpPr>
            <a:spLocks xmlns:a="http://schemas.openxmlformats.org/drawingml/2006/main" noGrp="1"/>
          </p:cNvSpPr>
          <p:nvPr/>
        </p:nvSpPr>
        <p:spPr>
          <a:xfrm xmlns:a="http://schemas.openxmlformats.org/drawingml/2006/main">
            <a:off x="10372725" y="1409700"/>
            <a:ext cx="123825" cy="85725"/>
          </a:xfrm>
          <a:prstGeom xmlns:a="http://schemas.openxmlformats.org/drawingml/2006/main" prst="rect">
            <a:avLst/>
          </a:prstGeom>
          <a:solidFill xmlns:a="http://schemas.openxmlformats.org/drawingml/2006/main">
            <a:srgbClr val="2F63A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C17BD6A-1727-4C22-8734-CBF626F41E14}"/>
              </a:ext>
            </a:extLst>
          </p:cNvPr>
          <p:cNvSpPr>
            <a:spLocks xmlns:a="http://schemas.openxmlformats.org/drawingml/2006/main" noGrp="1"/>
          </p:cNvSpPr>
          <p:nvPr/>
        </p:nvSpPr>
        <p:spPr>
          <a:xfrm xmlns:a="http://schemas.openxmlformats.org/drawingml/2006/main">
            <a:off x="7524750" y="15430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687780"/>
                </a:solidFill>
                <a:latin typeface="Arial"/>
                <a:ea typeface="Arial"/>
                <a:cs typeface="Arial"/>
              </a:defRPr>
            </a:defPPr>
            <a:lvl1pPr>
              <a:defRPr sz="975" b="0">
                <a:solidFill>
                  <a:srgbClr val="687780"/>
                </a:solidFill>
                <a:latin typeface="Arial"/>
                <a:ea typeface="Arial"/>
                <a:cs typeface="Arial"/>
              </a:defRPr>
            </a:lvl1pPr>
            <a:lvl2pPr>
              <a:defRPr sz="975" b="0">
                <a:solidFill>
                  <a:srgbClr val="687780"/>
                </a:solidFill>
                <a:latin typeface="Arial"/>
                <a:ea typeface="Arial"/>
                <a:cs typeface="Arial"/>
              </a:defRPr>
            </a:lvl2pPr>
            <a:lvl3pPr>
              <a:defRPr sz="975" b="0">
                <a:solidFill>
                  <a:srgbClr val="687780"/>
                </a:solidFill>
                <a:latin typeface="Arial"/>
                <a:ea typeface="Arial"/>
                <a:cs typeface="Arial"/>
              </a:defRPr>
            </a:lvl3pPr>
            <a:lvl4pPr>
              <a:defRPr sz="975" b="0">
                <a:solidFill>
                  <a:srgbClr val="687780"/>
                </a:solidFill>
                <a:latin typeface="Arial"/>
                <a:ea typeface="Arial"/>
                <a:cs typeface="Arial"/>
              </a:defRPr>
            </a:lvl4pPr>
            <a:lvl5pPr>
              <a:defRPr sz="975" b="0">
                <a:solidFill>
                  <a:srgbClr val="687780"/>
                </a:solidFill>
                <a:latin typeface="Arial"/>
                <a:ea typeface="Arial"/>
                <a:cs typeface="Arial"/>
              </a:defRPr>
            </a:lvl5pPr>
            <a:lvl6pPr>
              <a:defRPr sz="975" b="0">
                <a:solidFill>
                  <a:srgbClr val="687780"/>
                </a:solidFill>
                <a:latin typeface="Arial"/>
                <a:ea typeface="Arial"/>
                <a:cs typeface="Arial"/>
              </a:defRPr>
            </a:lvl6pPr>
            <a:lvl7pPr>
              <a:defRPr sz="975" b="0">
                <a:solidFill>
                  <a:srgbClr val="687780"/>
                </a:solidFill>
                <a:latin typeface="Arial"/>
                <a:ea typeface="Arial"/>
                <a:cs typeface="Arial"/>
              </a:defRPr>
            </a:lvl7pPr>
            <a:lvl8pPr>
              <a:defRPr sz="975" b="0">
                <a:solidFill>
                  <a:srgbClr val="687780"/>
                </a:solidFill>
                <a:latin typeface="Arial"/>
                <a:ea typeface="Arial"/>
                <a:cs typeface="Arial"/>
              </a:defRPr>
            </a:lvl8pPr>
            <a:lvl9pPr>
              <a:defRPr sz="975" b="0">
                <a:solidFill>
                  <a:srgbClr val="687780"/>
                </a:solidFill>
                <a:latin typeface="Arial"/>
                <a:ea typeface="Arial"/>
                <a:cs typeface="Arial"/>
              </a:defRPr>
            </a:lvl9pPr>
          </a:lstStyle>
          <a:p xmlns:a="http://schemas.openxmlformats.org/drawingml/2006/main">
            <a:pPr>
              <a:defRPr sz="975" b="0">
                <a:solidFill>
                  <a:srgbClr val="687780"/>
                </a:solidFill>
                <a:latin typeface="Arial"/>
                <a:ea typeface="Arial"/>
                <a:cs typeface="Arial"/>
              </a:defRPr>
            </a:pPr>
            <a:r>
              <a:rPr sz="975" b="0">
                <a:solidFill>
                  <a:srgbClr val="687780"/>
                </a:solidFill>
                <a:latin typeface="Arial"/>
                <a:ea typeface="Arial"/>
                <a:cs typeface="Arial"/>
              </a:rPr>
              <a:t>Older</a:t>
            </a:r>
          </a:p>
        </p:txBody>
      </p:sp>
      <p:sp>
        <p:nvSpPr>
          <p:cNvPr id="31" name="">
            <a:extLst xmlns:a="http://schemas.openxmlformats.org/drawingml/2006/main">
              <a:ext uri="{FF2B5EF4-FFF2-40B4-BE49-F238E27FC236}">
                <a16:creationId xmlns:a16="http://schemas.microsoft.com/office/drawing/2014/main" id="{BF3A6771-F3A4-4B01-854C-103ACD83C47E}"/>
              </a:ext>
            </a:extLst>
          </p:cNvPr>
          <p:cNvSpPr>
            <a:spLocks xmlns:a="http://schemas.openxmlformats.org/drawingml/2006/main" noGrp="1"/>
          </p:cNvSpPr>
          <p:nvPr/>
        </p:nvSpPr>
        <p:spPr>
          <a:xfrm xmlns:a="http://schemas.openxmlformats.org/drawingml/2006/main">
            <a:off x="9944100" y="15430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75" b="0">
                <a:solidFill>
                  <a:srgbClr val="687780"/>
                </a:solidFill>
                <a:latin typeface="Arial"/>
                <a:ea typeface="Arial"/>
                <a:cs typeface="Arial"/>
              </a:defRPr>
            </a:defPPr>
            <a:lvl1pPr>
              <a:defRPr sz="975" b="0">
                <a:solidFill>
                  <a:srgbClr val="687780"/>
                </a:solidFill>
                <a:latin typeface="Arial"/>
                <a:ea typeface="Arial"/>
                <a:cs typeface="Arial"/>
              </a:defRPr>
            </a:lvl1pPr>
            <a:lvl2pPr>
              <a:defRPr sz="975" b="0">
                <a:solidFill>
                  <a:srgbClr val="687780"/>
                </a:solidFill>
                <a:latin typeface="Arial"/>
                <a:ea typeface="Arial"/>
                <a:cs typeface="Arial"/>
              </a:defRPr>
            </a:lvl2pPr>
            <a:lvl3pPr>
              <a:defRPr sz="975" b="0">
                <a:solidFill>
                  <a:srgbClr val="687780"/>
                </a:solidFill>
                <a:latin typeface="Arial"/>
                <a:ea typeface="Arial"/>
                <a:cs typeface="Arial"/>
              </a:defRPr>
            </a:lvl3pPr>
            <a:lvl4pPr>
              <a:defRPr sz="975" b="0">
                <a:solidFill>
                  <a:srgbClr val="687780"/>
                </a:solidFill>
                <a:latin typeface="Arial"/>
                <a:ea typeface="Arial"/>
                <a:cs typeface="Arial"/>
              </a:defRPr>
            </a:lvl4pPr>
            <a:lvl5pPr>
              <a:defRPr sz="975" b="0">
                <a:solidFill>
                  <a:srgbClr val="687780"/>
                </a:solidFill>
                <a:latin typeface="Arial"/>
                <a:ea typeface="Arial"/>
                <a:cs typeface="Arial"/>
              </a:defRPr>
            </a:lvl5pPr>
            <a:lvl6pPr>
              <a:defRPr sz="975" b="0">
                <a:solidFill>
                  <a:srgbClr val="687780"/>
                </a:solidFill>
                <a:latin typeface="Arial"/>
                <a:ea typeface="Arial"/>
                <a:cs typeface="Arial"/>
              </a:defRPr>
            </a:lvl6pPr>
            <a:lvl7pPr>
              <a:defRPr sz="975" b="0">
                <a:solidFill>
                  <a:srgbClr val="687780"/>
                </a:solidFill>
                <a:latin typeface="Arial"/>
                <a:ea typeface="Arial"/>
                <a:cs typeface="Arial"/>
              </a:defRPr>
            </a:lvl7pPr>
            <a:lvl8pPr>
              <a:defRPr sz="975" b="0">
                <a:solidFill>
                  <a:srgbClr val="687780"/>
                </a:solidFill>
                <a:latin typeface="Arial"/>
                <a:ea typeface="Arial"/>
                <a:cs typeface="Arial"/>
              </a:defRPr>
            </a:lvl8pPr>
            <a:lvl9pPr>
              <a:defRPr sz="975" b="0">
                <a:solidFill>
                  <a:srgbClr val="687780"/>
                </a:solidFill>
                <a:latin typeface="Arial"/>
                <a:ea typeface="Arial"/>
                <a:cs typeface="Arial"/>
              </a:defRPr>
            </a:lvl9pPr>
          </a:lstStyle>
          <a:p xmlns:a="http://schemas.openxmlformats.org/drawingml/2006/main">
            <a:pPr>
              <a:defRPr sz="975" b="0">
                <a:solidFill>
                  <a:srgbClr val="687780"/>
                </a:solidFill>
                <a:latin typeface="Arial"/>
                <a:ea typeface="Arial"/>
                <a:cs typeface="Arial"/>
              </a:defRPr>
            </a:pPr>
            <a:r>
              <a:rPr sz="975" b="0">
                <a:solidFill>
                  <a:srgbClr val="687780"/>
                </a:solidFill>
                <a:latin typeface="Arial"/>
                <a:ea typeface="Arial"/>
                <a:cs typeface="Arial"/>
              </a:rPr>
              <a:t>Newer</a:t>
            </a:r>
          </a:p>
        </p:txBody>
      </p:sp>
      <p:graphicFrame>
        <p:nvGraphicFramePr>
          <p:cNvPr id="32" name="Chart">
            <a:extLst xmlns:a="http://schemas.openxmlformats.org/drawingml/2006/main">
              <a:ext uri="{FF2B5EF4-FFF2-40B4-BE49-F238E27FC236}">
                <a16:creationId xmlns:a16="http://schemas.microsoft.com/office/drawing/2014/main" id="{060BECA7-EB35-4DC1-983C-086EAFBCDAC5}"/>
              </a:ext>
            </a:extLst>
          </p:cNvPr>
          <p:cNvGraphicFramePr/>
          <p:nvPr/>
        </p:nvGraphicFramePr>
        <p:xfrm>
          <a:off xmlns:a="http://schemas.openxmlformats.org/drawingml/2006/main" x="609600" y="1781175"/>
          <a:ext xmlns:a="http://schemas.openxmlformats.org/drawingml/2006/main" cx="5353050" cy="1743075"/>
        </p:xfrm>
        <a:graphic xmlns:a="http://schemas.openxmlformats.org/drawingml/2006/main">
          <a:graphicData uri="http://schemas.openxmlformats.org/drawingml/2006/chart">
            <c:chart xmlns:r="http://schemas.openxmlformats.org/officeDocument/2006/relationships" xmlns:c="http://schemas.openxmlformats.org/drawingml/2006/chart" r:id="R7b122cae30004d32"/>
          </a:graphicData>
        </a:graphic>
      </p:graphicFrame>
      <p:graphicFrame>
        <p:nvGraphicFramePr>
          <p:cNvPr id="33" name="Chart">
            <a:extLst xmlns:a="http://schemas.openxmlformats.org/drawingml/2006/main">
              <a:ext uri="{FF2B5EF4-FFF2-40B4-BE49-F238E27FC236}">
                <a16:creationId xmlns:a16="http://schemas.microsoft.com/office/drawing/2014/main" id="{8417E572-82B7-41F5-B970-CB7CE8E05E0E}"/>
              </a:ext>
            </a:extLst>
          </p:cNvPr>
          <p:cNvGraphicFramePr/>
          <p:nvPr/>
        </p:nvGraphicFramePr>
        <p:xfrm>
          <a:off xmlns:a="http://schemas.openxmlformats.org/drawingml/2006/main" x="6229350" y="1781175"/>
          <a:ext xmlns:a="http://schemas.openxmlformats.org/drawingml/2006/main" cx="5353050" cy="1743075"/>
        </p:xfrm>
        <a:graphic xmlns:a="http://schemas.openxmlformats.org/drawingml/2006/main">
          <a:graphicData uri="http://schemas.openxmlformats.org/drawingml/2006/chart">
            <c:chart xmlns:r="http://schemas.openxmlformats.org/officeDocument/2006/relationships" xmlns:c="http://schemas.openxmlformats.org/drawingml/2006/chart" r:id="Reb2af82907a040df"/>
          </a:graphicData>
        </a:graphic>
      </p:graphicFrame>
      <p:graphicFrame>
        <p:nvGraphicFramePr>
          <p:cNvPr id="34" name="Chart">
            <a:extLst xmlns:a="http://schemas.openxmlformats.org/drawingml/2006/main">
              <a:ext uri="{FF2B5EF4-FFF2-40B4-BE49-F238E27FC236}">
                <a16:creationId xmlns:a16="http://schemas.microsoft.com/office/drawing/2014/main" id="{9EF3EF11-8FF6-4347-8E7D-585A18D41D61}"/>
              </a:ext>
            </a:extLst>
          </p:cNvPr>
          <p:cNvGraphicFramePr/>
          <p:nvPr/>
        </p:nvGraphicFramePr>
        <p:xfrm>
          <a:off xmlns:a="http://schemas.openxmlformats.org/drawingml/2006/main" x="609600" y="3562350"/>
          <a:ext xmlns:a="http://schemas.openxmlformats.org/drawingml/2006/main" cx="5353050" cy="1743075"/>
        </p:xfrm>
        <a:graphic xmlns:a="http://schemas.openxmlformats.org/drawingml/2006/main">
          <a:graphicData uri="http://schemas.openxmlformats.org/drawingml/2006/chart">
            <c:chart xmlns:r="http://schemas.openxmlformats.org/officeDocument/2006/relationships" xmlns:c="http://schemas.openxmlformats.org/drawingml/2006/chart" r:id="Rd6031c4e79a24489"/>
          </a:graphicData>
        </a:graphic>
      </p:graphicFrame>
      <p:graphicFrame>
        <p:nvGraphicFramePr>
          <p:cNvPr id="35" name="Chart">
            <a:extLst xmlns:a="http://schemas.openxmlformats.org/drawingml/2006/main">
              <a:ext uri="{FF2B5EF4-FFF2-40B4-BE49-F238E27FC236}">
                <a16:creationId xmlns:a16="http://schemas.microsoft.com/office/drawing/2014/main" id="{27F74E9D-56E0-467E-802A-8DD03049248C}"/>
              </a:ext>
            </a:extLst>
          </p:cNvPr>
          <p:cNvGraphicFramePr/>
          <p:nvPr/>
        </p:nvGraphicFramePr>
        <p:xfrm>
          <a:off xmlns:a="http://schemas.openxmlformats.org/drawingml/2006/main" x="6229350" y="3562350"/>
          <a:ext xmlns:a="http://schemas.openxmlformats.org/drawingml/2006/main" cx="5353050" cy="1743075"/>
        </p:xfrm>
        <a:graphic xmlns:a="http://schemas.openxmlformats.org/drawingml/2006/main">
          <a:graphicData uri="http://schemas.openxmlformats.org/drawingml/2006/chart">
            <c:chart xmlns:r="http://schemas.openxmlformats.org/officeDocument/2006/relationships" xmlns:c="http://schemas.openxmlformats.org/drawingml/2006/chart" r:id="R47982e60afe1420b"/>
          </a:graphicData>
        </a:graphic>
      </p:graphicFrame>
      <p:sp>
        <p:nvSpPr>
          <p:cNvPr id="36" name="">
            <a:extLst xmlns:a="http://schemas.openxmlformats.org/drawingml/2006/main">
              <a:ext uri="{FF2B5EF4-FFF2-40B4-BE49-F238E27FC236}">
                <a16:creationId xmlns:a16="http://schemas.microsoft.com/office/drawing/2014/main" id="{EB2DAFC4-422B-4338-AFA1-F3006652C8DA}"/>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FCF1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CBD40F6-A32F-40D1-8096-A1961DB06697}"/>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Do newer cohorts retain better at the same age? Is the progress broad or concentrated?</a:t>
            </a:r>
          </a:p>
        </p:txBody>
      </p:sp>
    </p:spTree>
    <p:extLst>
      <p:ext uri="{BB962C8B-B14F-4D97-AF65-F5344CB8AC3E}">
        <p14:creationId xmlns:p14="http://schemas.microsoft.com/office/powerpoint/2010/main" val="15315784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D7A91F-1409-425F-BEC2-0CFC5AB1DAAF}"/>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68778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162D38-B5B4-4994-A1A9-4C674EE71874}"/>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Joining cohorts accumulate into the company</a:t>
            </a:r>
          </a:p>
        </p:txBody>
      </p:sp>
      <p:sp>
        <p:nvSpPr>
          <p:cNvPr id="3" name="">
            <a:extLst xmlns:a="http://schemas.openxmlformats.org/drawingml/2006/main">
              <a:ext uri="{FF2B5EF4-FFF2-40B4-BE49-F238E27FC236}">
                <a16:creationId xmlns:a16="http://schemas.microsoft.com/office/drawing/2014/main" id="{A97B621C-34C0-42D8-9465-78839ED55BA9}"/>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687780"/>
                </a:solidFill>
                <a:latin typeface="Arial"/>
                <a:ea typeface="Arial"/>
                <a:cs typeface="Arial"/>
              </a:defRPr>
            </a:defPPr>
            <a:lvl1pPr>
              <a:defRPr sz="900" b="1">
                <a:solidFill>
                  <a:srgbClr val="687780"/>
                </a:solidFill>
                <a:latin typeface="Arial"/>
                <a:ea typeface="Arial"/>
                <a:cs typeface="Arial"/>
              </a:defRPr>
            </a:lvl1pPr>
            <a:lvl2pPr>
              <a:defRPr sz="900" b="1">
                <a:solidFill>
                  <a:srgbClr val="687780"/>
                </a:solidFill>
                <a:latin typeface="Arial"/>
                <a:ea typeface="Arial"/>
                <a:cs typeface="Arial"/>
              </a:defRPr>
            </a:lvl2pPr>
            <a:lvl3pPr>
              <a:defRPr sz="900" b="1">
                <a:solidFill>
                  <a:srgbClr val="687780"/>
                </a:solidFill>
                <a:latin typeface="Arial"/>
                <a:ea typeface="Arial"/>
                <a:cs typeface="Arial"/>
              </a:defRPr>
            </a:lvl3pPr>
            <a:lvl4pPr>
              <a:defRPr sz="900" b="1">
                <a:solidFill>
                  <a:srgbClr val="687780"/>
                </a:solidFill>
                <a:latin typeface="Arial"/>
                <a:ea typeface="Arial"/>
                <a:cs typeface="Arial"/>
              </a:defRPr>
            </a:lvl4pPr>
            <a:lvl5pPr>
              <a:defRPr sz="900" b="1">
                <a:solidFill>
                  <a:srgbClr val="687780"/>
                </a:solidFill>
                <a:latin typeface="Arial"/>
                <a:ea typeface="Arial"/>
                <a:cs typeface="Arial"/>
              </a:defRPr>
            </a:lvl5pPr>
            <a:lvl6pPr>
              <a:defRPr sz="900" b="1">
                <a:solidFill>
                  <a:srgbClr val="687780"/>
                </a:solidFill>
                <a:latin typeface="Arial"/>
                <a:ea typeface="Arial"/>
                <a:cs typeface="Arial"/>
              </a:defRPr>
            </a:lvl6pPr>
            <a:lvl7pPr>
              <a:defRPr sz="900" b="1">
                <a:solidFill>
                  <a:srgbClr val="687780"/>
                </a:solidFill>
                <a:latin typeface="Arial"/>
                <a:ea typeface="Arial"/>
                <a:cs typeface="Arial"/>
              </a:defRPr>
            </a:lvl7pPr>
            <a:lvl8pPr>
              <a:defRPr sz="900" b="1">
                <a:solidFill>
                  <a:srgbClr val="687780"/>
                </a:solidFill>
                <a:latin typeface="Arial"/>
                <a:ea typeface="Arial"/>
                <a:cs typeface="Arial"/>
              </a:defRPr>
            </a:lvl8pPr>
            <a:lvl9pPr>
              <a:defRPr sz="900" b="1">
                <a:solidFill>
                  <a:srgbClr val="687780"/>
                </a:solidFill>
                <a:latin typeface="Arial"/>
                <a:ea typeface="Arial"/>
                <a:cs typeface="Arial"/>
              </a:defRPr>
            </a:lvl9pPr>
          </a:lstStyle>
          <a:p xmlns:a="http://schemas.openxmlformats.org/drawingml/2006/main">
            <a:pPr>
              <a:defRPr sz="900" b="1">
                <a:solidFill>
                  <a:srgbClr val="687780"/>
                </a:solidFill>
                <a:latin typeface="Arial"/>
                <a:ea typeface="Arial"/>
                <a:cs typeface="Arial"/>
              </a:defRPr>
            </a:pPr>
            <a:r>
              <a:rPr sz="900" b="1">
                <a:solidFill>
                  <a:srgbClr val="687780"/>
                </a:solidFill>
                <a:latin typeface="Arial"/>
                <a:ea typeface="Arial"/>
                <a:cs typeface="Arial"/>
              </a:rPr>
              <a:t>EVIDENCE INTERPRETATION</a:t>
            </a:r>
          </a:p>
        </p:txBody>
      </p:sp>
      <p:sp>
        <p:nvSpPr>
          <p:cNvPr id="4" name="">
            <a:extLst xmlns:a="http://schemas.openxmlformats.org/drawingml/2006/main">
              <a:ext uri="{FF2B5EF4-FFF2-40B4-BE49-F238E27FC236}">
                <a16:creationId xmlns:a16="http://schemas.microsoft.com/office/drawing/2014/main" id="{B5C1F187-DE77-4CE5-AFC5-EE81DD8E8D63}"/>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40B11728-79D8-4D69-83DC-081E17858230}"/>
              </a:ext>
            </a:extLst>
          </p:cNvPr>
          <p:cNvSpPr>
            <a:spLocks xmlns:a="http://schemas.openxmlformats.org/drawingml/2006/main" noGrp="1"/>
          </p:cNvSpPr>
          <p:nvPr/>
        </p:nvSpPr>
        <p:spPr>
          <a:xfrm xmlns:a="http://schemas.openxmlformats.org/drawingml/2006/main">
            <a:off x="609600" y="13335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Figure 3. Retained subscribers by joining cohort and calendar month</a:t>
            </a:r>
          </a:p>
        </p:txBody>
      </p:sp>
      <p:graphicFrame>
        <p:nvGraphicFramePr>
          <p:cNvPr id="6" name="Chart">
            <a:extLst xmlns:a="http://schemas.openxmlformats.org/drawingml/2006/main">
              <a:ext uri="{FF2B5EF4-FFF2-40B4-BE49-F238E27FC236}">
                <a16:creationId xmlns:a16="http://schemas.microsoft.com/office/drawing/2014/main" id="{3D42B321-6896-4D5E-A9BE-AA7AA78C2488}"/>
              </a:ext>
            </a:extLst>
          </p:cNvPr>
          <p:cNvGraphicFramePr/>
          <p:nvPr/>
        </p:nvGraphicFramePr>
        <p:xfrm>
          <a:off xmlns:a="http://schemas.openxmlformats.org/drawingml/2006/main" x="609600" y="1619250"/>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e89f4e795fbf41e3"/>
          </a:graphicData>
        </a:graphic>
      </p:graphicFrame>
      <p:sp>
        <p:nvSpPr>
          <p:cNvPr id="7" name="">
            <a:extLst xmlns:a="http://schemas.openxmlformats.org/drawingml/2006/main">
              <a:ext uri="{FF2B5EF4-FFF2-40B4-BE49-F238E27FC236}">
                <a16:creationId xmlns:a16="http://schemas.microsoft.com/office/drawing/2014/main" id="{ADBE9F0B-E187-4228-95E9-301629857AEA}"/>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F1F3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F030AD-F0B4-4F16-91A0-846BDC84E168}"/>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Each band is one joining cohort. The height is the retained customer base, not cumulative acquisitions.</a:t>
            </a:r>
          </a:p>
        </p:txBody>
      </p:sp>
    </p:spTree>
    <p:extLst>
      <p:ext uri="{BB962C8B-B14F-4D97-AF65-F5344CB8AC3E}">
        <p14:creationId xmlns:p14="http://schemas.microsoft.com/office/powerpoint/2010/main" val="5368097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C918DF-E0F7-438A-9AAE-18C3D6195C70}"/>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BB64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419EE4D-F478-40EC-A94D-78854303729E}"/>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Group decision 3: is one month enough to decide?</a:t>
            </a:r>
          </a:p>
        </p:txBody>
      </p:sp>
      <p:sp>
        <p:nvSpPr>
          <p:cNvPr id="3" name="">
            <a:extLst xmlns:a="http://schemas.openxmlformats.org/drawingml/2006/main">
              <a:ext uri="{FF2B5EF4-FFF2-40B4-BE49-F238E27FC236}">
                <a16:creationId xmlns:a16="http://schemas.microsoft.com/office/drawing/2014/main" id="{C3F6310D-7850-489A-B4EE-C82E83812AD2}"/>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BB6427"/>
                </a:solidFill>
                <a:latin typeface="Arial"/>
                <a:ea typeface="Arial"/>
                <a:cs typeface="Arial"/>
              </a:defRPr>
            </a:defPPr>
            <a:lvl1pPr>
              <a:defRPr sz="900" b="1">
                <a:solidFill>
                  <a:srgbClr val="BB6427"/>
                </a:solidFill>
                <a:latin typeface="Arial"/>
                <a:ea typeface="Arial"/>
                <a:cs typeface="Arial"/>
              </a:defRPr>
            </a:lvl1pPr>
            <a:lvl2pPr>
              <a:defRPr sz="900" b="1">
                <a:solidFill>
                  <a:srgbClr val="BB6427"/>
                </a:solidFill>
                <a:latin typeface="Arial"/>
                <a:ea typeface="Arial"/>
                <a:cs typeface="Arial"/>
              </a:defRPr>
            </a:lvl2pPr>
            <a:lvl3pPr>
              <a:defRPr sz="900" b="1">
                <a:solidFill>
                  <a:srgbClr val="BB6427"/>
                </a:solidFill>
                <a:latin typeface="Arial"/>
                <a:ea typeface="Arial"/>
                <a:cs typeface="Arial"/>
              </a:defRPr>
            </a:lvl3pPr>
            <a:lvl4pPr>
              <a:defRPr sz="900" b="1">
                <a:solidFill>
                  <a:srgbClr val="BB6427"/>
                </a:solidFill>
                <a:latin typeface="Arial"/>
                <a:ea typeface="Arial"/>
                <a:cs typeface="Arial"/>
              </a:defRPr>
            </a:lvl4pPr>
            <a:lvl5pPr>
              <a:defRPr sz="900" b="1">
                <a:solidFill>
                  <a:srgbClr val="BB6427"/>
                </a:solidFill>
                <a:latin typeface="Arial"/>
                <a:ea typeface="Arial"/>
                <a:cs typeface="Arial"/>
              </a:defRPr>
            </a:lvl5pPr>
            <a:lvl6pPr>
              <a:defRPr sz="900" b="1">
                <a:solidFill>
                  <a:srgbClr val="BB6427"/>
                </a:solidFill>
                <a:latin typeface="Arial"/>
                <a:ea typeface="Arial"/>
                <a:cs typeface="Arial"/>
              </a:defRPr>
            </a:lvl6pPr>
            <a:lvl7pPr>
              <a:defRPr sz="900" b="1">
                <a:solidFill>
                  <a:srgbClr val="BB6427"/>
                </a:solidFill>
                <a:latin typeface="Arial"/>
                <a:ea typeface="Arial"/>
                <a:cs typeface="Arial"/>
              </a:defRPr>
            </a:lvl7pPr>
            <a:lvl8pPr>
              <a:defRPr sz="900" b="1">
                <a:solidFill>
                  <a:srgbClr val="BB6427"/>
                </a:solidFill>
                <a:latin typeface="Arial"/>
                <a:ea typeface="Arial"/>
                <a:cs typeface="Arial"/>
              </a:defRPr>
            </a:lvl8pPr>
            <a:lvl9pPr>
              <a:defRPr sz="900" b="1">
                <a:solidFill>
                  <a:srgbClr val="BB6427"/>
                </a:solidFill>
                <a:latin typeface="Arial"/>
                <a:ea typeface="Arial"/>
                <a:cs typeface="Arial"/>
              </a:defRPr>
            </a:lvl9pPr>
          </a:lstStyle>
          <a:p xmlns:a="http://schemas.openxmlformats.org/drawingml/2006/main">
            <a:pPr>
              <a:defRPr sz="900" b="1">
                <a:solidFill>
                  <a:srgbClr val="BB6427"/>
                </a:solidFill>
                <a:latin typeface="Arial"/>
                <a:ea typeface="Arial"/>
                <a:cs typeface="Arial"/>
              </a:defRPr>
            </a:pPr>
            <a:r>
              <a:rPr sz="900" b="1">
                <a:solidFill>
                  <a:srgbClr val="BB6427"/>
                </a:solidFill>
                <a:latin typeface="Arial"/>
                <a:ea typeface="Arial"/>
                <a:cs typeface="Arial"/>
              </a:rPr>
              <a:t>GROUP DECISION</a:t>
            </a:r>
          </a:p>
        </p:txBody>
      </p:sp>
      <p:sp>
        <p:nvSpPr>
          <p:cNvPr id="4" name="">
            <a:extLst xmlns:a="http://schemas.openxmlformats.org/drawingml/2006/main">
              <a:ext uri="{FF2B5EF4-FFF2-40B4-BE49-F238E27FC236}">
                <a16:creationId xmlns:a16="http://schemas.microsoft.com/office/drawing/2014/main" id="{9D3493FB-0F92-4364-B537-41F5ABD31854}"/>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A97DB72-6396-4A37-B038-3BF543A46DC5}"/>
              </a:ext>
            </a:extLst>
          </p:cNvPr>
          <p:cNvSpPr>
            <a:spLocks xmlns:a="http://schemas.openxmlformats.org/drawingml/2006/main" noGrp="1"/>
          </p:cNvSpPr>
          <p:nvPr/>
        </p:nvSpPr>
        <p:spPr>
          <a:xfrm xmlns:a="http://schemas.openxmlformats.org/drawingml/2006/main">
            <a:off x="609600" y="14954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75" b="0">
                <a:solidFill>
                  <a:srgbClr val="172D3C"/>
                </a:solidFill>
                <a:latin typeface="Arial"/>
                <a:ea typeface="Arial"/>
                <a:cs typeface="Arial"/>
              </a:defRPr>
            </a:defPPr>
            <a:lvl1pPr>
              <a:defRPr sz="1875" b="0">
                <a:solidFill>
                  <a:srgbClr val="172D3C"/>
                </a:solidFill>
                <a:latin typeface="Arial"/>
                <a:ea typeface="Arial"/>
                <a:cs typeface="Arial"/>
              </a:defRPr>
            </a:lvl1pPr>
            <a:lvl2pPr>
              <a:defRPr sz="1875" b="0">
                <a:solidFill>
                  <a:srgbClr val="172D3C"/>
                </a:solidFill>
                <a:latin typeface="Arial"/>
                <a:ea typeface="Arial"/>
                <a:cs typeface="Arial"/>
              </a:defRPr>
            </a:lvl2pPr>
            <a:lvl3pPr>
              <a:defRPr sz="1875" b="0">
                <a:solidFill>
                  <a:srgbClr val="172D3C"/>
                </a:solidFill>
                <a:latin typeface="Arial"/>
                <a:ea typeface="Arial"/>
                <a:cs typeface="Arial"/>
              </a:defRPr>
            </a:lvl3pPr>
            <a:lvl4pPr>
              <a:defRPr sz="1875" b="0">
                <a:solidFill>
                  <a:srgbClr val="172D3C"/>
                </a:solidFill>
                <a:latin typeface="Arial"/>
                <a:ea typeface="Arial"/>
                <a:cs typeface="Arial"/>
              </a:defRPr>
            </a:lvl4pPr>
            <a:lvl5pPr>
              <a:defRPr sz="1875" b="0">
                <a:solidFill>
                  <a:srgbClr val="172D3C"/>
                </a:solidFill>
                <a:latin typeface="Arial"/>
                <a:ea typeface="Arial"/>
                <a:cs typeface="Arial"/>
              </a:defRPr>
            </a:lvl5pPr>
            <a:lvl6pPr>
              <a:defRPr sz="1875" b="0">
                <a:solidFill>
                  <a:srgbClr val="172D3C"/>
                </a:solidFill>
                <a:latin typeface="Arial"/>
                <a:ea typeface="Arial"/>
                <a:cs typeface="Arial"/>
              </a:defRPr>
            </a:lvl6pPr>
            <a:lvl7pPr>
              <a:defRPr sz="1875" b="0">
                <a:solidFill>
                  <a:srgbClr val="172D3C"/>
                </a:solidFill>
                <a:latin typeface="Arial"/>
                <a:ea typeface="Arial"/>
                <a:cs typeface="Arial"/>
              </a:defRPr>
            </a:lvl7pPr>
            <a:lvl8pPr>
              <a:defRPr sz="1875" b="0">
                <a:solidFill>
                  <a:srgbClr val="172D3C"/>
                </a:solidFill>
                <a:latin typeface="Arial"/>
                <a:ea typeface="Arial"/>
                <a:cs typeface="Arial"/>
              </a:defRPr>
            </a:lvl8pPr>
            <a:lvl9pPr>
              <a:defRPr sz="1875" b="0">
                <a:solidFill>
                  <a:srgbClr val="172D3C"/>
                </a:solidFill>
                <a:latin typeface="Arial"/>
                <a:ea typeface="Arial"/>
                <a:cs typeface="Arial"/>
              </a:defRPr>
            </a:lvl9pPr>
          </a:lstStyle>
          <a:p xmlns:a="http://schemas.openxmlformats.org/drawingml/2006/main">
            <a:pPr>
              <a:defRPr sz="1875" b="0">
                <a:solidFill>
                  <a:srgbClr val="172D3C"/>
                </a:solidFill>
                <a:latin typeface="Arial"/>
                <a:ea typeface="Arial"/>
                <a:cs typeface="Arial"/>
              </a:defRPr>
            </a:pPr>
            <a:r>
              <a:rPr sz="1875" b="0">
                <a:solidFill>
                  <a:srgbClr val="172D3C"/>
                </a:solidFill>
                <a:latin typeface="Arial"/>
                <a:ea typeface="Arial"/>
                <a:cs typeface="Arial"/>
              </a:rPr>
              <a:t>Each campaign randomized 250 prospects to treatment and 250 to its own control. Follow-up lasts about one month.</a:t>
            </a:r>
          </a:p>
        </p:txBody>
      </p:sp>
      <p:sp>
        <p:nvSpPr>
          <p:cNvPr id="6" name="">
            <a:extLst xmlns:a="http://schemas.openxmlformats.org/drawingml/2006/main">
              <a:ext uri="{FF2B5EF4-FFF2-40B4-BE49-F238E27FC236}">
                <a16:creationId xmlns:a16="http://schemas.microsoft.com/office/drawing/2014/main" id="{F9EC8BA8-048D-46CA-9D72-9C9B64EAB491}"/>
              </a:ext>
            </a:extLst>
          </p:cNvPr>
          <p:cNvSpPr>
            <a:spLocks xmlns:a="http://schemas.openxmlformats.org/drawingml/2006/main" noGrp="1"/>
          </p:cNvSpPr>
          <p:nvPr/>
        </p:nvSpPr>
        <p:spPr>
          <a:xfrm xmlns:a="http://schemas.openxmlformats.org/drawingml/2006/main">
            <a:off x="609600" y="2143125"/>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Table 4. Experimental contribution after acquisition spending</a:t>
            </a:r>
          </a:p>
        </p:txBody>
      </p:sp>
      <p:graphicFrame>
        <p:nvGraphicFramePr>
          <p:cNvPr id="7" name="">
            <a:extLst xmlns:a="http://schemas.openxmlformats.org/drawingml/2006/main">
              <a:ext uri="{FF2B5EF4-FFF2-40B4-BE49-F238E27FC236}">
                <a16:creationId xmlns:a16="http://schemas.microsoft.com/office/drawing/2014/main" id="{032E6AE0-6F11-493B-ACEE-C6D553F80A10}"/>
              </a:ext>
            </a:extLst>
          </p:cNvPr>
          <p:cNvGraphicFramePr/>
          <p:nvPr/>
        </p:nvGraphicFramePr>
        <p:xfrm>
          <a:off xmlns:a="http://schemas.openxmlformats.org/drawingml/2006/main" x="609600" y="2381250"/>
          <a:ext xmlns:a="http://schemas.openxmlformats.org/drawingml/2006/main" cx="10972800" cy="1714500"/>
        </p:xfrm>
        <a:graphic xmlns:a="http://schemas.openxmlformats.org/drawingml/2006/main">
          <a:graphicData uri="http://schemas.openxmlformats.org/drawingml/2006/table">
            <a:tbl>
              <a:tblPr/>
              <a:tblGrid>
                <a:gridCol w="3429000"/>
                <a:gridCol w="1619250"/>
                <a:gridCol w="2857500"/>
                <a:gridCol w="3067050"/>
              </a:tblGrid>
              <a:tr h="571500">
                <a:tc>
                  <a:txBody>
                    <a:bodyPr/>
                    <a:lstStyle/>
                    <a:p>
                      <a:r>
                        <a:rPr sz="1350" b="1">
                          <a:solidFill>
                            <a:srgbClr val="FFFFFF"/>
                          </a:solidFill>
                          <a:latin typeface="Arial"/>
                          <a:ea typeface="Arial"/>
                          <a:cs typeface="Arial"/>
                        </a:rPr>
                        <a:t>Test</a:t>
                      </a:r>
                    </a:p>
                  </a:txBody>
                  <a:tcPr marL="91440" marR="91440" marT="45720" marB="45720">
                    <a:solidFill>
                      <a:srgbClr val="172D3C"/>
                    </a:solidFill>
                  </a:tcPr>
                </a:tc>
                <a:tc>
                  <a:txBody>
                    <a:bodyPr/>
                    <a:lstStyle/>
                    <a:p>
                      <a:r>
                        <a:rPr sz="1350" b="1">
                          <a:solidFill>
                            <a:srgbClr val="FFFFFF"/>
                          </a:solidFill>
                          <a:latin typeface="Arial"/>
                          <a:ea typeface="Arial"/>
                          <a:cs typeface="Arial"/>
                        </a:rPr>
                        <a:t>Follow-up</a:t>
                      </a:r>
                    </a:p>
                  </a:txBody>
                  <a:tcPr marL="91440" marR="91440" marT="45720" marB="45720">
                    <a:solidFill>
                      <a:srgbClr val="172D3C"/>
                    </a:solidFill>
                  </a:tcPr>
                </a:tc>
                <a:tc>
                  <a:txBody>
                    <a:bodyPr/>
                    <a:lstStyle/>
                    <a:p>
                      <a:r>
                        <a:rPr sz="1350" b="1">
                          <a:solidFill>
                            <a:srgbClr val="FFFFFF"/>
                          </a:solidFill>
                          <a:latin typeface="Arial"/>
                          <a:ea typeface="Arial"/>
                          <a:cs typeface="Arial"/>
                        </a:rPr>
                        <a:t>Incremental contribution after media / prospect</a:t>
                      </a:r>
                    </a:p>
                  </a:txBody>
                  <a:tcPr marL="91440" marR="91440" marT="45720" marB="45720">
                    <a:solidFill>
                      <a:srgbClr val="172D3C"/>
                    </a:solidFill>
                  </a:tcPr>
                </a:tc>
                <a:tc>
                  <a:txBody>
                    <a:bodyPr/>
                    <a:lstStyle/>
                    <a:p>
                      <a:r>
                        <a:rPr sz="1350" b="1">
                          <a:solidFill>
                            <a:srgbClr val="FFFFFF"/>
                          </a:solidFill>
                          <a:latin typeface="Arial"/>
                          <a:ea typeface="Arial"/>
                          <a:cs typeface="Arial"/>
                        </a:rPr>
                        <a:t>Approx. 95% interval</a:t>
                      </a:r>
                    </a:p>
                  </a:txBody>
                  <a:tcPr marL="91440" marR="91440" marT="45720" marB="45720">
                    <a:solidFill>
                      <a:srgbClr val="172D3C"/>
                    </a:solidFill>
                  </a:tcPr>
                </a:tc>
              </a:tr>
              <a:tr h="571500">
                <a:tc>
                  <a:txBody>
                    <a:bodyPr/>
                    <a:lstStyle/>
                    <a:p>
                      <a:r>
                        <a:rPr sz="1425" b="0">
                          <a:solidFill>
                            <a:srgbClr val="172D3C"/>
                          </a:solidFill>
                          <a:latin typeface="Arial"/>
                          <a:ea typeface="Arial"/>
                          <a:cs typeface="Arial"/>
                        </a:rPr>
                        <a:t>search / save time</a:t>
                      </a:r>
                    </a:p>
                  </a:txBody>
                  <a:tcPr marL="91440" marR="91440" marT="45720" marB="45720">
                    <a:solidFill>
                      <a:srgbClr val="F0F5F6"/>
                    </a:solidFill>
                  </a:tcPr>
                </a:tc>
                <a:tc>
                  <a:txBody>
                    <a:bodyPr/>
                    <a:lstStyle/>
                    <a:p>
                      <a:r>
                        <a:rPr sz="1425" b="0">
                          <a:solidFill>
                            <a:srgbClr val="172D3C"/>
                          </a:solidFill>
                          <a:latin typeface="Arial"/>
                          <a:ea typeface="Arial"/>
                          <a:cs typeface="Arial"/>
                        </a:rPr>
                        <a:t>31 days</a:t>
                      </a:r>
                    </a:p>
                  </a:txBody>
                  <a:tcPr marL="91440" marR="91440" marT="45720" marB="45720">
                    <a:solidFill>
                      <a:srgbClr val="F0F5F6"/>
                    </a:solidFill>
                  </a:tcPr>
                </a:tc>
                <a:tc>
                  <a:txBody>
                    <a:bodyPr/>
                    <a:lstStyle/>
                    <a:p>
                      <a:r>
                        <a:rPr sz="1425" b="0">
                          <a:solidFill>
                            <a:srgbClr val="172D3C"/>
                          </a:solidFill>
                          <a:latin typeface="Arial"/>
                          <a:ea typeface="Arial"/>
                          <a:cs typeface="Arial"/>
                        </a:rPr>
                        <a:t>$1.91</a:t>
                      </a:r>
                    </a:p>
                  </a:txBody>
                  <a:tcPr marL="91440" marR="91440" marT="45720" marB="45720">
                    <a:solidFill>
                      <a:srgbClr val="F0F5F6"/>
                    </a:solidFill>
                  </a:tcPr>
                </a:tc>
                <a:tc>
                  <a:txBody>
                    <a:bodyPr/>
                    <a:lstStyle/>
                    <a:p>
                      <a:r>
                        <a:rPr sz="1425" b="0">
                          <a:solidFill>
                            <a:srgbClr val="172D3C"/>
                          </a:solidFill>
                          <a:latin typeface="Arial"/>
                          <a:ea typeface="Arial"/>
                          <a:cs typeface="Arial"/>
                        </a:rPr>
                        <a:t>$0.03 to $3.78</a:t>
                      </a:r>
                    </a:p>
                  </a:txBody>
                  <a:tcPr marL="91440" marR="91440" marT="45720" marB="45720">
                    <a:solidFill>
                      <a:srgbClr val="F0F5F6"/>
                    </a:solidFill>
                  </a:tcPr>
                </a:tc>
              </a:tr>
              <a:tr h="571500">
                <a:tc>
                  <a:txBody>
                    <a:bodyPr/>
                    <a:lstStyle/>
                    <a:p>
                      <a:r>
                        <a:rPr sz="1425" b="0">
                          <a:solidFill>
                            <a:srgbClr val="172D3C"/>
                          </a:solidFill>
                          <a:latin typeface="Arial"/>
                          <a:ea typeface="Arial"/>
                          <a:cs typeface="Arial"/>
                        </a:rPr>
                        <a:t>partner / build skill</a:t>
                      </a:r>
                    </a:p>
                  </a:txBody>
                  <a:tcPr marL="91440" marR="91440" marT="45720" marB="45720">
                    <a:solidFill>
                      <a:srgbClr val="FFFFFF"/>
                    </a:solidFill>
                  </a:tcPr>
                </a:tc>
                <a:tc>
                  <a:txBody>
                    <a:bodyPr/>
                    <a:lstStyle/>
                    <a:p>
                      <a:r>
                        <a:rPr sz="1425" b="0">
                          <a:solidFill>
                            <a:srgbClr val="172D3C"/>
                          </a:solidFill>
                          <a:latin typeface="Arial"/>
                          <a:ea typeface="Arial"/>
                          <a:cs typeface="Arial"/>
                        </a:rPr>
                        <a:t>30 days</a:t>
                      </a:r>
                    </a:p>
                  </a:txBody>
                  <a:tcPr marL="91440" marR="91440" marT="45720" marB="45720">
                    <a:solidFill>
                      <a:srgbClr val="FFFFFF"/>
                    </a:solidFill>
                  </a:tcPr>
                </a:tc>
                <a:tc>
                  <a:txBody>
                    <a:bodyPr/>
                    <a:lstStyle/>
                    <a:p>
                      <a:r>
                        <a:rPr sz="1425" b="0">
                          <a:solidFill>
                            <a:srgbClr val="172D3C"/>
                          </a:solidFill>
                          <a:latin typeface="Arial"/>
                          <a:ea typeface="Arial"/>
                          <a:cs typeface="Arial"/>
                        </a:rPr>
                        <a:t>-$0.34</a:t>
                      </a:r>
                    </a:p>
                  </a:txBody>
                  <a:tcPr marL="91440" marR="91440" marT="45720" marB="45720">
                    <a:solidFill>
                      <a:srgbClr val="FFFFFF"/>
                    </a:solidFill>
                  </a:tcPr>
                </a:tc>
                <a:tc>
                  <a:txBody>
                    <a:bodyPr/>
                    <a:lstStyle/>
                    <a:p>
                      <a:r>
                        <a:rPr sz="1425" b="0">
                          <a:solidFill>
                            <a:srgbClr val="172D3C"/>
                          </a:solidFill>
                          <a:latin typeface="Arial"/>
                          <a:ea typeface="Arial"/>
                          <a:cs typeface="Arial"/>
                        </a:rPr>
                        <a:t>-$2.33 to $1.65</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6239904-9747-4630-A567-38019DDE2AC3}"/>
              </a:ext>
            </a:extLst>
          </p:cNvPr>
          <p:cNvSpPr>
            <a:spLocks xmlns:a="http://schemas.openxmlformats.org/drawingml/2006/main" noGrp="1"/>
          </p:cNvSpPr>
          <p:nvPr/>
        </p:nvSpPr>
        <p:spPr>
          <a:xfrm xmlns:a="http://schemas.openxmlformats.org/drawingml/2006/main">
            <a:off x="609600" y="43529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025" b="1">
                <a:solidFill>
                  <a:srgbClr val="BB6427"/>
                </a:solidFill>
                <a:latin typeface="Arial"/>
                <a:ea typeface="Arial"/>
                <a:cs typeface="Arial"/>
              </a:defRPr>
            </a:defPPr>
            <a:lvl1pPr>
              <a:defRPr sz="2025" b="1">
                <a:solidFill>
                  <a:srgbClr val="BB6427"/>
                </a:solidFill>
                <a:latin typeface="Arial"/>
                <a:ea typeface="Arial"/>
                <a:cs typeface="Arial"/>
              </a:defRPr>
            </a:lvl1pPr>
            <a:lvl2pPr>
              <a:defRPr sz="2025" b="1">
                <a:solidFill>
                  <a:srgbClr val="BB6427"/>
                </a:solidFill>
                <a:latin typeface="Arial"/>
                <a:ea typeface="Arial"/>
                <a:cs typeface="Arial"/>
              </a:defRPr>
            </a:lvl2pPr>
            <a:lvl3pPr>
              <a:defRPr sz="2025" b="1">
                <a:solidFill>
                  <a:srgbClr val="BB6427"/>
                </a:solidFill>
                <a:latin typeface="Arial"/>
                <a:ea typeface="Arial"/>
                <a:cs typeface="Arial"/>
              </a:defRPr>
            </a:lvl3pPr>
            <a:lvl4pPr>
              <a:defRPr sz="2025" b="1">
                <a:solidFill>
                  <a:srgbClr val="BB6427"/>
                </a:solidFill>
                <a:latin typeface="Arial"/>
                <a:ea typeface="Arial"/>
                <a:cs typeface="Arial"/>
              </a:defRPr>
            </a:lvl4pPr>
            <a:lvl5pPr>
              <a:defRPr sz="2025" b="1">
                <a:solidFill>
                  <a:srgbClr val="BB6427"/>
                </a:solidFill>
                <a:latin typeface="Arial"/>
                <a:ea typeface="Arial"/>
                <a:cs typeface="Arial"/>
              </a:defRPr>
            </a:lvl5pPr>
            <a:lvl6pPr>
              <a:defRPr sz="2025" b="1">
                <a:solidFill>
                  <a:srgbClr val="BB6427"/>
                </a:solidFill>
                <a:latin typeface="Arial"/>
                <a:ea typeface="Arial"/>
                <a:cs typeface="Arial"/>
              </a:defRPr>
            </a:lvl6pPr>
            <a:lvl7pPr>
              <a:defRPr sz="2025" b="1">
                <a:solidFill>
                  <a:srgbClr val="BB6427"/>
                </a:solidFill>
                <a:latin typeface="Arial"/>
                <a:ea typeface="Arial"/>
                <a:cs typeface="Arial"/>
              </a:defRPr>
            </a:lvl7pPr>
            <a:lvl8pPr>
              <a:defRPr sz="2025" b="1">
                <a:solidFill>
                  <a:srgbClr val="BB6427"/>
                </a:solidFill>
                <a:latin typeface="Arial"/>
                <a:ea typeface="Arial"/>
                <a:cs typeface="Arial"/>
              </a:defRPr>
            </a:lvl8pPr>
            <a:lvl9pPr>
              <a:defRPr sz="2025" b="1">
                <a:solidFill>
                  <a:srgbClr val="BB6427"/>
                </a:solidFill>
                <a:latin typeface="Arial"/>
                <a:ea typeface="Arial"/>
                <a:cs typeface="Arial"/>
              </a:defRPr>
            </a:lvl9pPr>
          </a:lstStyle>
          <a:p xmlns:a="http://schemas.openxmlformats.org/drawingml/2006/main">
            <a:pPr>
              <a:defRPr sz="2025" b="1">
                <a:solidFill>
                  <a:srgbClr val="BB6427"/>
                </a:solidFill>
                <a:latin typeface="Arial"/>
                <a:ea typeface="Arial"/>
                <a:cs typeface="Arial"/>
              </a:defRPr>
            </a:pPr>
            <a:r>
              <a:rPr sz="2025" b="1">
                <a:solidFill>
                  <a:srgbClr val="BB6427"/>
                </a:solidFill>
                <a:latin typeface="Arial"/>
                <a:ea typeface="Arial"/>
                <a:cs typeface="Arial"/>
              </a:rPr>
              <a:t>Would you scale, stop, or keep measuring? What evidence would change your decision?</a:t>
            </a:r>
          </a:p>
        </p:txBody>
      </p:sp>
      <p:sp>
        <p:nvSpPr>
          <p:cNvPr id="9" name="">
            <a:extLst xmlns:a="http://schemas.openxmlformats.org/drawingml/2006/main">
              <a:ext uri="{FF2B5EF4-FFF2-40B4-BE49-F238E27FC236}">
                <a16:creationId xmlns:a16="http://schemas.microsoft.com/office/drawing/2014/main" id="{ABB0744D-DE02-4227-8091-43697ABEF349}"/>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FCF1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B0586D-DB98-46B8-98C0-494CD5E3D654}"/>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Cohort payback takes months. Predicted customer LTV cannot replace longer experimental follow-up.</a:t>
            </a:r>
          </a:p>
        </p:txBody>
      </p:sp>
    </p:spTree>
    <p:extLst>
      <p:ext uri="{BB962C8B-B14F-4D97-AF65-F5344CB8AC3E}">
        <p14:creationId xmlns:p14="http://schemas.microsoft.com/office/powerpoint/2010/main" val="1046841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71067FA-C341-4BE5-A412-A0154A16DB4C}"/>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71BFC3-B588-439B-A572-AF0D3888870F}"/>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Model renewal and revenue before forecasting LTV</a:t>
            </a:r>
          </a:p>
        </p:txBody>
      </p:sp>
      <p:sp>
        <p:nvSpPr>
          <p:cNvPr id="3" name="">
            <a:extLst xmlns:a="http://schemas.openxmlformats.org/drawingml/2006/main">
              <a:ext uri="{FF2B5EF4-FFF2-40B4-BE49-F238E27FC236}">
                <a16:creationId xmlns:a16="http://schemas.microsoft.com/office/drawing/2014/main" id="{1EC218AA-4F52-4829-A8F7-08E1ACF7AE5E}"/>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3191B5"/>
                </a:solidFill>
                <a:latin typeface="Arial"/>
                <a:ea typeface="Arial"/>
                <a:cs typeface="Arial"/>
              </a:defRPr>
            </a:defPPr>
            <a:lvl1pPr>
              <a:defRPr sz="900" b="1">
                <a:solidFill>
                  <a:srgbClr val="3191B5"/>
                </a:solidFill>
                <a:latin typeface="Arial"/>
                <a:ea typeface="Arial"/>
                <a:cs typeface="Arial"/>
              </a:defRPr>
            </a:lvl1pPr>
            <a:lvl2pPr>
              <a:defRPr sz="900" b="1">
                <a:solidFill>
                  <a:srgbClr val="3191B5"/>
                </a:solidFill>
                <a:latin typeface="Arial"/>
                <a:ea typeface="Arial"/>
                <a:cs typeface="Arial"/>
              </a:defRPr>
            </a:lvl2pPr>
            <a:lvl3pPr>
              <a:defRPr sz="900" b="1">
                <a:solidFill>
                  <a:srgbClr val="3191B5"/>
                </a:solidFill>
                <a:latin typeface="Arial"/>
                <a:ea typeface="Arial"/>
                <a:cs typeface="Arial"/>
              </a:defRPr>
            </a:lvl3pPr>
            <a:lvl4pPr>
              <a:defRPr sz="900" b="1">
                <a:solidFill>
                  <a:srgbClr val="3191B5"/>
                </a:solidFill>
                <a:latin typeface="Arial"/>
                <a:ea typeface="Arial"/>
                <a:cs typeface="Arial"/>
              </a:defRPr>
            </a:lvl4pPr>
            <a:lvl5pPr>
              <a:defRPr sz="900" b="1">
                <a:solidFill>
                  <a:srgbClr val="3191B5"/>
                </a:solidFill>
                <a:latin typeface="Arial"/>
                <a:ea typeface="Arial"/>
                <a:cs typeface="Arial"/>
              </a:defRPr>
            </a:lvl5pPr>
            <a:lvl6pPr>
              <a:defRPr sz="900" b="1">
                <a:solidFill>
                  <a:srgbClr val="3191B5"/>
                </a:solidFill>
                <a:latin typeface="Arial"/>
                <a:ea typeface="Arial"/>
                <a:cs typeface="Arial"/>
              </a:defRPr>
            </a:lvl6pPr>
            <a:lvl7pPr>
              <a:defRPr sz="900" b="1">
                <a:solidFill>
                  <a:srgbClr val="3191B5"/>
                </a:solidFill>
                <a:latin typeface="Arial"/>
                <a:ea typeface="Arial"/>
                <a:cs typeface="Arial"/>
              </a:defRPr>
            </a:lvl7pPr>
            <a:lvl8pPr>
              <a:defRPr sz="900" b="1">
                <a:solidFill>
                  <a:srgbClr val="3191B5"/>
                </a:solidFill>
                <a:latin typeface="Arial"/>
                <a:ea typeface="Arial"/>
                <a:cs typeface="Arial"/>
              </a:defRPr>
            </a:lvl8pPr>
            <a:lvl9pPr>
              <a:defRPr sz="900" b="1">
                <a:solidFill>
                  <a:srgbClr val="3191B5"/>
                </a:solidFill>
                <a:latin typeface="Arial"/>
                <a:ea typeface="Arial"/>
                <a:cs typeface="Arial"/>
              </a:defRPr>
            </a:lvl9pPr>
          </a:lstStyle>
          <a:p xmlns:a="http://schemas.openxmlformats.org/drawingml/2006/main">
            <a:pPr>
              <a:defRPr sz="900" b="1">
                <a:solidFill>
                  <a:srgbClr val="3191B5"/>
                </a:solidFill>
                <a:latin typeface="Arial"/>
                <a:ea typeface="Arial"/>
                <a:cs typeface="Arial"/>
              </a:defRPr>
            </a:pPr>
            <a:r>
              <a:rPr sz="900" b="1">
                <a:solidFill>
                  <a:srgbClr val="3191B5"/>
                </a:solidFill>
                <a:latin typeface="Arial"/>
                <a:ea typeface="Arial"/>
                <a:cs typeface="Arial"/>
              </a:rPr>
              <a:t>CONCEPT</a:t>
            </a:r>
          </a:p>
        </p:txBody>
      </p:sp>
      <p:sp>
        <p:nvSpPr>
          <p:cNvPr id="4" name="">
            <a:extLst xmlns:a="http://schemas.openxmlformats.org/drawingml/2006/main">
              <a:ext uri="{FF2B5EF4-FFF2-40B4-BE49-F238E27FC236}">
                <a16:creationId xmlns:a16="http://schemas.microsoft.com/office/drawing/2014/main" id="{5D9DFE00-DA2D-4E7F-A46A-46C24F6C5390}"/>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9EEAB28-C8A1-41CA-8880-D2604A208ECA}"/>
              </a:ext>
            </a:extLst>
          </p:cNvPr>
          <p:cNvSpPr>
            <a:spLocks xmlns:a="http://schemas.openxmlformats.org/drawingml/2006/main" noGrp="1"/>
          </p:cNvSpPr>
          <p:nvPr/>
        </p:nvSpPr>
        <p:spPr>
          <a:xfrm xmlns:a="http://schemas.openxmlformats.org/drawingml/2006/main">
            <a:off x="609600" y="1685925"/>
            <a:ext cx="3429000" cy="2590800"/>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CC4336-6765-4574-AD9A-10D302F1749F}"/>
              </a:ext>
            </a:extLst>
          </p:cNvPr>
          <p:cNvSpPr>
            <a:spLocks xmlns:a="http://schemas.openxmlformats.org/drawingml/2006/main" noGrp="1"/>
          </p:cNvSpPr>
          <p:nvPr/>
        </p:nvSpPr>
        <p:spPr>
          <a:xfrm xmlns:a="http://schemas.openxmlformats.org/drawingml/2006/main">
            <a:off x="609600" y="1685925"/>
            <a:ext cx="47625" cy="259080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5B813EF-52A3-4C06-881C-4EAC149068A2}"/>
              </a:ext>
            </a:extLst>
          </p:cNvPr>
          <p:cNvSpPr>
            <a:spLocks xmlns:a="http://schemas.openxmlformats.org/drawingml/2006/main" noGrp="1"/>
          </p:cNvSpPr>
          <p:nvPr/>
        </p:nvSpPr>
        <p:spPr>
          <a:xfrm xmlns:a="http://schemas.openxmlformats.org/drawingml/2006/main">
            <a:off x="800100" y="18288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Retention model</a:t>
            </a:r>
          </a:p>
        </p:txBody>
      </p:sp>
      <p:sp>
        <p:nvSpPr>
          <p:cNvPr id="8" name="">
            <a:extLst xmlns:a="http://schemas.openxmlformats.org/drawingml/2006/main">
              <a:ext uri="{FF2B5EF4-FFF2-40B4-BE49-F238E27FC236}">
                <a16:creationId xmlns:a16="http://schemas.microsoft.com/office/drawing/2014/main" id="{DEF7BEE5-1550-4489-9C7A-9456CA7BE9D1}"/>
              </a:ext>
            </a:extLst>
          </p:cNvPr>
          <p:cNvSpPr>
            <a:spLocks xmlns:a="http://schemas.openxmlformats.org/drawingml/2006/main" noGrp="1"/>
          </p:cNvSpPr>
          <p:nvPr/>
        </p:nvSpPr>
        <p:spPr>
          <a:xfrm xmlns:a="http://schemas.openxmlformats.org/drawingml/2006/main">
            <a:off x="800100" y="2257425"/>
            <a:ext cx="30480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A hierarchical shifted Beta-Geometric model represents persistent differences in churn risk. Cohort and group information share strength where histories are short.</a:t>
            </a:r>
          </a:p>
        </p:txBody>
      </p:sp>
      <p:sp>
        <p:nvSpPr>
          <p:cNvPr id="9" name="">
            <a:extLst xmlns:a="http://schemas.openxmlformats.org/drawingml/2006/main">
              <a:ext uri="{FF2B5EF4-FFF2-40B4-BE49-F238E27FC236}">
                <a16:creationId xmlns:a16="http://schemas.microsoft.com/office/drawing/2014/main" id="{FCDB2464-4C54-483E-9C24-E9A8AAADF761}"/>
              </a:ext>
            </a:extLst>
          </p:cNvPr>
          <p:cNvSpPr>
            <a:spLocks xmlns:a="http://schemas.openxmlformats.org/drawingml/2006/main" noGrp="1"/>
          </p:cNvSpPr>
          <p:nvPr/>
        </p:nvSpPr>
        <p:spPr>
          <a:xfrm xmlns:a="http://schemas.openxmlformats.org/drawingml/2006/main">
            <a:off x="4381500" y="1685925"/>
            <a:ext cx="3429000" cy="2590800"/>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ACAA1A7-5275-4206-8403-2F93EE67A075}"/>
              </a:ext>
            </a:extLst>
          </p:cNvPr>
          <p:cNvSpPr>
            <a:spLocks xmlns:a="http://schemas.openxmlformats.org/drawingml/2006/main" noGrp="1"/>
          </p:cNvSpPr>
          <p:nvPr/>
        </p:nvSpPr>
        <p:spPr>
          <a:xfrm xmlns:a="http://schemas.openxmlformats.org/drawingml/2006/main">
            <a:off x="4381500" y="1685925"/>
            <a:ext cx="47625" cy="259080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7B5AE45-3598-4E41-AB2C-33A752095860}"/>
              </a:ext>
            </a:extLst>
          </p:cNvPr>
          <p:cNvSpPr>
            <a:spLocks xmlns:a="http://schemas.openxmlformats.org/drawingml/2006/main" noGrp="1"/>
          </p:cNvSpPr>
          <p:nvPr/>
        </p:nvSpPr>
        <p:spPr>
          <a:xfrm xmlns:a="http://schemas.openxmlformats.org/drawingml/2006/main">
            <a:off x="4572000" y="18288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Revenue model</a:t>
            </a:r>
          </a:p>
        </p:txBody>
      </p:sp>
      <p:sp>
        <p:nvSpPr>
          <p:cNvPr id="12" name="">
            <a:extLst xmlns:a="http://schemas.openxmlformats.org/drawingml/2006/main">
              <a:ext uri="{FF2B5EF4-FFF2-40B4-BE49-F238E27FC236}">
                <a16:creationId xmlns:a16="http://schemas.microsoft.com/office/drawing/2014/main" id="{3AB6B9D9-BFAC-4344-8DF2-74D4B42D296D}"/>
              </a:ext>
            </a:extLst>
          </p:cNvPr>
          <p:cNvSpPr>
            <a:spLocks xmlns:a="http://schemas.openxmlformats.org/drawingml/2006/main" noGrp="1"/>
          </p:cNvSpPr>
          <p:nvPr/>
        </p:nvSpPr>
        <p:spPr>
          <a:xfrm xmlns:a="http://schemas.openxmlformats.org/drawingml/2006/main">
            <a:off x="4572000" y="2257425"/>
            <a:ext cx="30480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A Gamma model describes positive revenue among retained customers. Combine this forecast with retention, variable costs and observed contribution.</a:t>
            </a:r>
          </a:p>
        </p:txBody>
      </p:sp>
      <p:sp>
        <p:nvSpPr>
          <p:cNvPr id="13" name="">
            <a:extLst xmlns:a="http://schemas.openxmlformats.org/drawingml/2006/main">
              <a:ext uri="{FF2B5EF4-FFF2-40B4-BE49-F238E27FC236}">
                <a16:creationId xmlns:a16="http://schemas.microsoft.com/office/drawing/2014/main" id="{DFF31B23-A267-41A5-9910-B314536539A8}"/>
              </a:ext>
            </a:extLst>
          </p:cNvPr>
          <p:cNvSpPr>
            <a:spLocks xmlns:a="http://schemas.openxmlformats.org/drawingml/2006/main" noGrp="1"/>
          </p:cNvSpPr>
          <p:nvPr/>
        </p:nvSpPr>
        <p:spPr>
          <a:xfrm xmlns:a="http://schemas.openxmlformats.org/drawingml/2006/main">
            <a:off x="8153400" y="1685925"/>
            <a:ext cx="3429000" cy="2590800"/>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D972564-E1C5-4FD5-B113-A1F482F62996}"/>
              </a:ext>
            </a:extLst>
          </p:cNvPr>
          <p:cNvSpPr>
            <a:spLocks xmlns:a="http://schemas.openxmlformats.org/drawingml/2006/main" noGrp="1"/>
          </p:cNvSpPr>
          <p:nvPr/>
        </p:nvSpPr>
        <p:spPr>
          <a:xfrm xmlns:a="http://schemas.openxmlformats.org/drawingml/2006/main">
            <a:off x="8153400" y="1685925"/>
            <a:ext cx="47625" cy="2590800"/>
          </a:xfrm>
          <a:prstGeom xmlns:a="http://schemas.openxmlformats.org/drawingml/2006/main" prst="rect">
            <a:avLst/>
          </a:prstGeom>
          <a:solidFill xmlns:a="http://schemas.openxmlformats.org/drawingml/2006/main">
            <a:srgbClr val="3191B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F7964F-5C2D-4029-A228-5FC3821AA473}"/>
              </a:ext>
            </a:extLst>
          </p:cNvPr>
          <p:cNvSpPr>
            <a:spLocks xmlns:a="http://schemas.openxmlformats.org/drawingml/2006/main" noGrp="1"/>
          </p:cNvSpPr>
          <p:nvPr/>
        </p:nvSpPr>
        <p:spPr>
          <a:xfrm xmlns:a="http://schemas.openxmlformats.org/drawingml/2006/main">
            <a:off x="8343900" y="18288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3191B5"/>
                </a:solidFill>
                <a:latin typeface="Arial"/>
                <a:ea typeface="Arial"/>
                <a:cs typeface="Arial"/>
              </a:defRPr>
            </a:defPPr>
            <a:lvl1pPr>
              <a:defRPr sz="1800" b="1">
                <a:solidFill>
                  <a:srgbClr val="3191B5"/>
                </a:solidFill>
                <a:latin typeface="Arial"/>
                <a:ea typeface="Arial"/>
                <a:cs typeface="Arial"/>
              </a:defRPr>
            </a:lvl1pPr>
            <a:lvl2pPr>
              <a:defRPr sz="1800" b="1">
                <a:solidFill>
                  <a:srgbClr val="3191B5"/>
                </a:solidFill>
                <a:latin typeface="Arial"/>
                <a:ea typeface="Arial"/>
                <a:cs typeface="Arial"/>
              </a:defRPr>
            </a:lvl2pPr>
            <a:lvl3pPr>
              <a:defRPr sz="1800" b="1">
                <a:solidFill>
                  <a:srgbClr val="3191B5"/>
                </a:solidFill>
                <a:latin typeface="Arial"/>
                <a:ea typeface="Arial"/>
                <a:cs typeface="Arial"/>
              </a:defRPr>
            </a:lvl3pPr>
            <a:lvl4pPr>
              <a:defRPr sz="1800" b="1">
                <a:solidFill>
                  <a:srgbClr val="3191B5"/>
                </a:solidFill>
                <a:latin typeface="Arial"/>
                <a:ea typeface="Arial"/>
                <a:cs typeface="Arial"/>
              </a:defRPr>
            </a:lvl4pPr>
            <a:lvl5pPr>
              <a:defRPr sz="1800" b="1">
                <a:solidFill>
                  <a:srgbClr val="3191B5"/>
                </a:solidFill>
                <a:latin typeface="Arial"/>
                <a:ea typeface="Arial"/>
                <a:cs typeface="Arial"/>
              </a:defRPr>
            </a:lvl5pPr>
            <a:lvl6pPr>
              <a:defRPr sz="1800" b="1">
                <a:solidFill>
                  <a:srgbClr val="3191B5"/>
                </a:solidFill>
                <a:latin typeface="Arial"/>
                <a:ea typeface="Arial"/>
                <a:cs typeface="Arial"/>
              </a:defRPr>
            </a:lvl6pPr>
            <a:lvl7pPr>
              <a:defRPr sz="1800" b="1">
                <a:solidFill>
                  <a:srgbClr val="3191B5"/>
                </a:solidFill>
                <a:latin typeface="Arial"/>
                <a:ea typeface="Arial"/>
                <a:cs typeface="Arial"/>
              </a:defRPr>
            </a:lvl7pPr>
            <a:lvl8pPr>
              <a:defRPr sz="1800" b="1">
                <a:solidFill>
                  <a:srgbClr val="3191B5"/>
                </a:solidFill>
                <a:latin typeface="Arial"/>
                <a:ea typeface="Arial"/>
                <a:cs typeface="Arial"/>
              </a:defRPr>
            </a:lvl8pPr>
            <a:lvl9pPr>
              <a:defRPr sz="1800" b="1">
                <a:solidFill>
                  <a:srgbClr val="3191B5"/>
                </a:solidFill>
                <a:latin typeface="Arial"/>
                <a:ea typeface="Arial"/>
                <a:cs typeface="Arial"/>
              </a:defRPr>
            </a:lvl9pPr>
          </a:lstStyle>
          <a:p xmlns:a="http://schemas.openxmlformats.org/drawingml/2006/main">
            <a:pPr>
              <a:defRPr sz="1800" b="1">
                <a:solidFill>
                  <a:srgbClr val="3191B5"/>
                </a:solidFill>
                <a:latin typeface="Arial"/>
                <a:ea typeface="Arial"/>
                <a:cs typeface="Arial"/>
              </a:defRPr>
            </a:pPr>
            <a:r>
              <a:rPr sz="1800" b="1">
                <a:solidFill>
                  <a:srgbClr val="3191B5"/>
                </a:solidFill>
                <a:latin typeface="Arial"/>
                <a:ea typeface="Arial"/>
                <a:cs typeface="Arial"/>
              </a:rPr>
              <a:t>Validation</a:t>
            </a:r>
          </a:p>
        </p:txBody>
      </p:sp>
      <p:sp>
        <p:nvSpPr>
          <p:cNvPr id="16" name="">
            <a:extLst xmlns:a="http://schemas.openxmlformats.org/drawingml/2006/main">
              <a:ext uri="{FF2B5EF4-FFF2-40B4-BE49-F238E27FC236}">
                <a16:creationId xmlns:a16="http://schemas.microsoft.com/office/drawing/2014/main" id="{28ADA67A-7BA9-499B-B93B-04E2B101E465}"/>
              </a:ext>
            </a:extLst>
          </p:cNvPr>
          <p:cNvSpPr>
            <a:spLocks xmlns:a="http://schemas.openxmlformats.org/drawingml/2006/main" noGrp="1"/>
          </p:cNvSpPr>
          <p:nvPr/>
        </p:nvSpPr>
        <p:spPr>
          <a:xfrm xmlns:a="http://schemas.openxmlformats.org/drawingml/2006/main">
            <a:off x="8343900" y="2257425"/>
            <a:ext cx="30480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00" b="0">
                <a:solidFill>
                  <a:srgbClr val="172D3C"/>
                </a:solidFill>
                <a:latin typeface="Arial"/>
                <a:ea typeface="Arial"/>
                <a:cs typeface="Arial"/>
              </a:defRPr>
            </a:defPPr>
            <a:lvl1pPr>
              <a:defRPr sz="1500" b="0">
                <a:solidFill>
                  <a:srgbClr val="172D3C"/>
                </a:solidFill>
                <a:latin typeface="Arial"/>
                <a:ea typeface="Arial"/>
                <a:cs typeface="Arial"/>
              </a:defRPr>
            </a:lvl1pPr>
            <a:lvl2pPr>
              <a:defRPr sz="1500" b="0">
                <a:solidFill>
                  <a:srgbClr val="172D3C"/>
                </a:solidFill>
                <a:latin typeface="Arial"/>
                <a:ea typeface="Arial"/>
                <a:cs typeface="Arial"/>
              </a:defRPr>
            </a:lvl2pPr>
            <a:lvl3pPr>
              <a:defRPr sz="1500" b="0">
                <a:solidFill>
                  <a:srgbClr val="172D3C"/>
                </a:solidFill>
                <a:latin typeface="Arial"/>
                <a:ea typeface="Arial"/>
                <a:cs typeface="Arial"/>
              </a:defRPr>
            </a:lvl3pPr>
            <a:lvl4pPr>
              <a:defRPr sz="1500" b="0">
                <a:solidFill>
                  <a:srgbClr val="172D3C"/>
                </a:solidFill>
                <a:latin typeface="Arial"/>
                <a:ea typeface="Arial"/>
                <a:cs typeface="Arial"/>
              </a:defRPr>
            </a:lvl4pPr>
            <a:lvl5pPr>
              <a:defRPr sz="1500" b="0">
                <a:solidFill>
                  <a:srgbClr val="172D3C"/>
                </a:solidFill>
                <a:latin typeface="Arial"/>
                <a:ea typeface="Arial"/>
                <a:cs typeface="Arial"/>
              </a:defRPr>
            </a:lvl5pPr>
            <a:lvl6pPr>
              <a:defRPr sz="1500" b="0">
                <a:solidFill>
                  <a:srgbClr val="172D3C"/>
                </a:solidFill>
                <a:latin typeface="Arial"/>
                <a:ea typeface="Arial"/>
                <a:cs typeface="Arial"/>
              </a:defRPr>
            </a:lvl6pPr>
            <a:lvl7pPr>
              <a:defRPr sz="1500" b="0">
                <a:solidFill>
                  <a:srgbClr val="172D3C"/>
                </a:solidFill>
                <a:latin typeface="Arial"/>
                <a:ea typeface="Arial"/>
                <a:cs typeface="Arial"/>
              </a:defRPr>
            </a:lvl7pPr>
            <a:lvl8pPr>
              <a:defRPr sz="1500" b="0">
                <a:solidFill>
                  <a:srgbClr val="172D3C"/>
                </a:solidFill>
                <a:latin typeface="Arial"/>
                <a:ea typeface="Arial"/>
                <a:cs typeface="Arial"/>
              </a:defRPr>
            </a:lvl8pPr>
            <a:lvl9pPr>
              <a:defRPr sz="1500" b="0">
                <a:solidFill>
                  <a:srgbClr val="172D3C"/>
                </a:solidFill>
                <a:latin typeface="Arial"/>
                <a:ea typeface="Arial"/>
                <a:cs typeface="Arial"/>
              </a:defRPr>
            </a:lvl9pPr>
          </a:lstStyle>
          <a:p xmlns:a="http://schemas.openxmlformats.org/drawingml/2006/main">
            <a:pPr>
              <a:defRPr sz="1500" b="0">
                <a:solidFill>
                  <a:srgbClr val="172D3C"/>
                </a:solidFill>
                <a:latin typeface="Arial"/>
                <a:ea typeface="Arial"/>
                <a:cs typeface="Arial"/>
              </a:defRPr>
            </a:pPr>
            <a:r>
              <a:rPr sz="1500" b="0">
                <a:solidFill>
                  <a:srgbClr val="172D3C"/>
                </a:solidFill>
                <a:latin typeface="Arial"/>
                <a:ea typeface="Arial"/>
                <a:cs typeface="Arial"/>
              </a:rPr>
              <a:t>Compare chronological holdout predictions with a simple baseline and an Orduz-style neural network. Keep uncertainty visible; a fitted curve is not a guarantee.</a:t>
            </a:r>
          </a:p>
        </p:txBody>
      </p:sp>
      <p:sp>
        <p:nvSpPr>
          <p:cNvPr id="17" name="">
            <a:extLst xmlns:a="http://schemas.openxmlformats.org/drawingml/2006/main">
              <a:ext uri="{FF2B5EF4-FFF2-40B4-BE49-F238E27FC236}">
                <a16:creationId xmlns:a16="http://schemas.microsoft.com/office/drawing/2014/main" id="{B0ACA5EB-1294-4C31-857E-EC3321AED1E8}"/>
              </a:ext>
            </a:extLst>
          </p:cNvPr>
          <p:cNvSpPr>
            <a:spLocks xmlns:a="http://schemas.openxmlformats.org/drawingml/2006/main" noGrp="1"/>
          </p:cNvSpPr>
          <p:nvPr/>
        </p:nvSpPr>
        <p:spPr>
          <a:xfrm xmlns:a="http://schemas.openxmlformats.org/drawingml/2006/main">
            <a:off x="609600" y="44386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800" b="1">
                <a:solidFill>
                  <a:srgbClr val="172D3C"/>
                </a:solidFill>
                <a:latin typeface="Arial"/>
                <a:ea typeface="Arial"/>
                <a:cs typeface="Arial"/>
              </a:defRPr>
            </a:defPPr>
            <a:lvl1pPr>
              <a:defRPr sz="1800" b="1">
                <a:solidFill>
                  <a:srgbClr val="172D3C"/>
                </a:solidFill>
                <a:latin typeface="Arial"/>
                <a:ea typeface="Arial"/>
                <a:cs typeface="Arial"/>
              </a:defRPr>
            </a:lvl1pPr>
            <a:lvl2pPr>
              <a:defRPr sz="1800" b="1">
                <a:solidFill>
                  <a:srgbClr val="172D3C"/>
                </a:solidFill>
                <a:latin typeface="Arial"/>
                <a:ea typeface="Arial"/>
                <a:cs typeface="Arial"/>
              </a:defRPr>
            </a:lvl2pPr>
            <a:lvl3pPr>
              <a:defRPr sz="1800" b="1">
                <a:solidFill>
                  <a:srgbClr val="172D3C"/>
                </a:solidFill>
                <a:latin typeface="Arial"/>
                <a:ea typeface="Arial"/>
                <a:cs typeface="Arial"/>
              </a:defRPr>
            </a:lvl3pPr>
            <a:lvl4pPr>
              <a:defRPr sz="1800" b="1">
                <a:solidFill>
                  <a:srgbClr val="172D3C"/>
                </a:solidFill>
                <a:latin typeface="Arial"/>
                <a:ea typeface="Arial"/>
                <a:cs typeface="Arial"/>
              </a:defRPr>
            </a:lvl4pPr>
            <a:lvl5pPr>
              <a:defRPr sz="1800" b="1">
                <a:solidFill>
                  <a:srgbClr val="172D3C"/>
                </a:solidFill>
                <a:latin typeface="Arial"/>
                <a:ea typeface="Arial"/>
                <a:cs typeface="Arial"/>
              </a:defRPr>
            </a:lvl5pPr>
            <a:lvl6pPr>
              <a:defRPr sz="1800" b="1">
                <a:solidFill>
                  <a:srgbClr val="172D3C"/>
                </a:solidFill>
                <a:latin typeface="Arial"/>
                <a:ea typeface="Arial"/>
                <a:cs typeface="Arial"/>
              </a:defRPr>
            </a:lvl6pPr>
            <a:lvl7pPr>
              <a:defRPr sz="1800" b="1">
                <a:solidFill>
                  <a:srgbClr val="172D3C"/>
                </a:solidFill>
                <a:latin typeface="Arial"/>
                <a:ea typeface="Arial"/>
                <a:cs typeface="Arial"/>
              </a:defRPr>
            </a:lvl7pPr>
            <a:lvl8pPr>
              <a:defRPr sz="1800" b="1">
                <a:solidFill>
                  <a:srgbClr val="172D3C"/>
                </a:solidFill>
                <a:latin typeface="Arial"/>
                <a:ea typeface="Arial"/>
                <a:cs typeface="Arial"/>
              </a:defRPr>
            </a:lvl8pPr>
            <a:lvl9pPr>
              <a:defRPr sz="1800" b="1">
                <a:solidFill>
                  <a:srgbClr val="172D3C"/>
                </a:solidFill>
                <a:latin typeface="Arial"/>
                <a:ea typeface="Arial"/>
                <a:cs typeface="Arial"/>
              </a:defRPr>
            </a:lvl9pPr>
          </a:lstStyle>
          <a:p xmlns:a="http://schemas.openxmlformats.org/drawingml/2006/main">
            <a:pPr>
              <a:defRPr sz="1800" b="1">
                <a:solidFill>
                  <a:srgbClr val="172D3C"/>
                </a:solidFill>
                <a:latin typeface="Arial"/>
                <a:ea typeface="Arial"/>
                <a:cs typeface="Arial"/>
              </a:defRPr>
            </a:pPr>
            <a:r>
              <a:rPr sz="1800" b="1">
                <a:solidFill>
                  <a:srgbClr val="172D3C"/>
                </a:solidFill>
                <a:latin typeface="Arial"/>
                <a:ea typeface="Arial"/>
                <a:cs typeface="Arial"/>
              </a:rPr>
              <a:t>Value the first 12 monthly receipts for every cohort. Net LTV subtracts CAC; cash payback tracks undiscounted recovery.</a:t>
            </a:r>
          </a:p>
        </p:txBody>
      </p:sp>
      <p:sp>
        <p:nvSpPr>
          <p:cNvPr id="18" name="">
            <a:extLst xmlns:a="http://schemas.openxmlformats.org/drawingml/2006/main">
              <a:ext uri="{FF2B5EF4-FFF2-40B4-BE49-F238E27FC236}">
                <a16:creationId xmlns:a16="http://schemas.microsoft.com/office/drawing/2014/main" id="{372D85B4-6D75-4F3F-9EF2-C02460094529}"/>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EDF5F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5F0FBCF-C778-4444-917C-406E9370A364}"/>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Run the locked NumPyro/JAX models on CPU with uv. Describe the model before showing its results.</a:t>
            </a:r>
          </a:p>
        </p:txBody>
      </p:sp>
    </p:spTree>
    <p:extLst>
      <p:ext uri="{BB962C8B-B14F-4D97-AF65-F5344CB8AC3E}">
        <p14:creationId xmlns:p14="http://schemas.microsoft.com/office/powerpoint/2010/main" val="14218346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2B282E-1B4B-48FB-892E-EAC6BBB1B16C}"/>
              </a:ext>
            </a:extLst>
          </p:cNvPr>
          <p:cNvSpPr>
            <a:spLocks xmlns:a="http://schemas.openxmlformats.org/drawingml/2006/main" noGrp="1"/>
          </p:cNvSpPr>
          <p:nvPr/>
        </p:nvSpPr>
        <p:spPr>
          <a:xfrm xmlns:a="http://schemas.openxmlformats.org/drawingml/2006/main">
            <a:off x="609600" y="352425"/>
            <a:ext cx="10972800" cy="19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44BDF1-4688-4706-B94C-353F73895E8F}"/>
              </a:ext>
            </a:extLst>
          </p:cNvPr>
          <p:cNvSpPr>
            <a:spLocks xmlns:a="http://schemas.openxmlformats.org/drawingml/2006/main" noGrp="1"/>
          </p:cNvSpPr>
          <p:nvPr/>
        </p:nvSpPr>
        <p:spPr>
          <a:xfrm xmlns:a="http://schemas.openxmlformats.org/drawingml/2006/main">
            <a:off x="609600" y="581025"/>
            <a:ext cx="109728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700" b="1">
                <a:solidFill>
                  <a:srgbClr val="172D3C"/>
                </a:solidFill>
                <a:latin typeface="Arial"/>
                <a:ea typeface="Arial"/>
                <a:cs typeface="Arial"/>
              </a:defRPr>
            </a:defPPr>
            <a:lvl1pPr>
              <a:defRPr sz="2700" b="1">
                <a:solidFill>
                  <a:srgbClr val="172D3C"/>
                </a:solidFill>
                <a:latin typeface="Arial"/>
                <a:ea typeface="Arial"/>
                <a:cs typeface="Arial"/>
              </a:defRPr>
            </a:lvl1pPr>
            <a:lvl2pPr>
              <a:defRPr sz="2700" b="1">
                <a:solidFill>
                  <a:srgbClr val="172D3C"/>
                </a:solidFill>
                <a:latin typeface="Arial"/>
                <a:ea typeface="Arial"/>
                <a:cs typeface="Arial"/>
              </a:defRPr>
            </a:lvl2pPr>
            <a:lvl3pPr>
              <a:defRPr sz="2700" b="1">
                <a:solidFill>
                  <a:srgbClr val="172D3C"/>
                </a:solidFill>
                <a:latin typeface="Arial"/>
                <a:ea typeface="Arial"/>
                <a:cs typeface="Arial"/>
              </a:defRPr>
            </a:lvl3pPr>
            <a:lvl4pPr>
              <a:defRPr sz="2700" b="1">
                <a:solidFill>
                  <a:srgbClr val="172D3C"/>
                </a:solidFill>
                <a:latin typeface="Arial"/>
                <a:ea typeface="Arial"/>
                <a:cs typeface="Arial"/>
              </a:defRPr>
            </a:lvl4pPr>
            <a:lvl5pPr>
              <a:defRPr sz="2700" b="1">
                <a:solidFill>
                  <a:srgbClr val="172D3C"/>
                </a:solidFill>
                <a:latin typeface="Arial"/>
                <a:ea typeface="Arial"/>
                <a:cs typeface="Arial"/>
              </a:defRPr>
            </a:lvl5pPr>
            <a:lvl6pPr>
              <a:defRPr sz="2700" b="1">
                <a:solidFill>
                  <a:srgbClr val="172D3C"/>
                </a:solidFill>
                <a:latin typeface="Arial"/>
                <a:ea typeface="Arial"/>
                <a:cs typeface="Arial"/>
              </a:defRPr>
            </a:lvl6pPr>
            <a:lvl7pPr>
              <a:defRPr sz="2700" b="1">
                <a:solidFill>
                  <a:srgbClr val="172D3C"/>
                </a:solidFill>
                <a:latin typeface="Arial"/>
                <a:ea typeface="Arial"/>
                <a:cs typeface="Arial"/>
              </a:defRPr>
            </a:lvl7pPr>
            <a:lvl8pPr>
              <a:defRPr sz="2700" b="1">
                <a:solidFill>
                  <a:srgbClr val="172D3C"/>
                </a:solidFill>
                <a:latin typeface="Arial"/>
                <a:ea typeface="Arial"/>
                <a:cs typeface="Arial"/>
              </a:defRPr>
            </a:lvl8pPr>
            <a:lvl9pPr>
              <a:defRPr sz="2700" b="1">
                <a:solidFill>
                  <a:srgbClr val="172D3C"/>
                </a:solidFill>
                <a:latin typeface="Arial"/>
                <a:ea typeface="Arial"/>
                <a:cs typeface="Arial"/>
              </a:defRPr>
            </a:lvl9pPr>
          </a:lstStyle>
          <a:p xmlns:a="http://schemas.openxmlformats.org/drawingml/2006/main">
            <a:pPr>
              <a:defRPr sz="2700" b="1">
                <a:solidFill>
                  <a:srgbClr val="172D3C"/>
                </a:solidFill>
                <a:latin typeface="Arial"/>
                <a:ea typeface="Arial"/>
                <a:cs typeface="Arial"/>
              </a:defRPr>
            </a:pPr>
            <a:r>
              <a:rPr sz="2700" b="1">
                <a:solidFill>
                  <a:srgbClr val="172D3C"/>
                </a:solidFill>
                <a:latin typeface="Arial"/>
                <a:ea typeface="Arial"/>
                <a:cs typeface="Arial"/>
              </a:rPr>
              <a:t>Hand your team a decision and a reproducible report</a:t>
            </a:r>
          </a:p>
        </p:txBody>
      </p:sp>
      <p:sp>
        <p:nvSpPr>
          <p:cNvPr id="3" name="">
            <a:extLst xmlns:a="http://schemas.openxmlformats.org/drawingml/2006/main">
              <a:ext uri="{FF2B5EF4-FFF2-40B4-BE49-F238E27FC236}">
                <a16:creationId xmlns:a16="http://schemas.microsoft.com/office/drawing/2014/main" id="{14F92677-FF30-4F9C-9863-0A2D3A8B93BD}"/>
              </a:ext>
            </a:extLst>
          </p:cNvPr>
          <p:cNvSpPr>
            <a:spLocks xmlns:a="http://schemas.openxmlformats.org/drawingml/2006/main" noGrp="1"/>
          </p:cNvSpPr>
          <p:nvPr/>
        </p:nvSpPr>
        <p:spPr>
          <a:xfrm xmlns:a="http://schemas.openxmlformats.org/drawingml/2006/main">
            <a:off x="609600" y="62388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1">
                <a:solidFill>
                  <a:srgbClr val="087F8C"/>
                </a:solidFill>
                <a:latin typeface="Arial"/>
                <a:ea typeface="Arial"/>
                <a:cs typeface="Arial"/>
              </a:defRPr>
            </a:defPPr>
            <a:lvl1pPr>
              <a:defRPr sz="900" b="1">
                <a:solidFill>
                  <a:srgbClr val="087F8C"/>
                </a:solidFill>
                <a:latin typeface="Arial"/>
                <a:ea typeface="Arial"/>
                <a:cs typeface="Arial"/>
              </a:defRPr>
            </a:lvl1pPr>
            <a:lvl2pPr>
              <a:defRPr sz="900" b="1">
                <a:solidFill>
                  <a:srgbClr val="087F8C"/>
                </a:solidFill>
                <a:latin typeface="Arial"/>
                <a:ea typeface="Arial"/>
                <a:cs typeface="Arial"/>
              </a:defRPr>
            </a:lvl2pPr>
            <a:lvl3pPr>
              <a:defRPr sz="900" b="1">
                <a:solidFill>
                  <a:srgbClr val="087F8C"/>
                </a:solidFill>
                <a:latin typeface="Arial"/>
                <a:ea typeface="Arial"/>
                <a:cs typeface="Arial"/>
              </a:defRPr>
            </a:lvl3pPr>
            <a:lvl4pPr>
              <a:defRPr sz="900" b="1">
                <a:solidFill>
                  <a:srgbClr val="087F8C"/>
                </a:solidFill>
                <a:latin typeface="Arial"/>
                <a:ea typeface="Arial"/>
                <a:cs typeface="Arial"/>
              </a:defRPr>
            </a:lvl4pPr>
            <a:lvl5pPr>
              <a:defRPr sz="900" b="1">
                <a:solidFill>
                  <a:srgbClr val="087F8C"/>
                </a:solidFill>
                <a:latin typeface="Arial"/>
                <a:ea typeface="Arial"/>
                <a:cs typeface="Arial"/>
              </a:defRPr>
            </a:lvl5pPr>
            <a:lvl6pPr>
              <a:defRPr sz="900" b="1">
                <a:solidFill>
                  <a:srgbClr val="087F8C"/>
                </a:solidFill>
                <a:latin typeface="Arial"/>
                <a:ea typeface="Arial"/>
                <a:cs typeface="Arial"/>
              </a:defRPr>
            </a:lvl6pPr>
            <a:lvl7pPr>
              <a:defRPr sz="900" b="1">
                <a:solidFill>
                  <a:srgbClr val="087F8C"/>
                </a:solidFill>
                <a:latin typeface="Arial"/>
                <a:ea typeface="Arial"/>
                <a:cs typeface="Arial"/>
              </a:defRPr>
            </a:lvl7pPr>
            <a:lvl8pPr>
              <a:defRPr sz="900" b="1">
                <a:solidFill>
                  <a:srgbClr val="087F8C"/>
                </a:solidFill>
                <a:latin typeface="Arial"/>
                <a:ea typeface="Arial"/>
                <a:cs typeface="Arial"/>
              </a:defRPr>
            </a:lvl8pPr>
            <a:lvl9pPr>
              <a:defRPr sz="900" b="1">
                <a:solidFill>
                  <a:srgbClr val="087F8C"/>
                </a:solidFill>
                <a:latin typeface="Arial"/>
                <a:ea typeface="Arial"/>
                <a:cs typeface="Arial"/>
              </a:defRPr>
            </a:lvl9pPr>
          </a:lstStyle>
          <a:p xmlns:a="http://schemas.openxmlformats.org/drawingml/2006/main">
            <a:pPr>
              <a:defRPr sz="900" b="1">
                <a:solidFill>
                  <a:srgbClr val="087F8C"/>
                </a:solidFill>
                <a:latin typeface="Arial"/>
                <a:ea typeface="Arial"/>
                <a:cs typeface="Arial"/>
              </a:defRPr>
            </a:pPr>
            <a:r>
              <a:rPr sz="900" b="1">
                <a:solidFill>
                  <a:srgbClr val="087F8C"/>
                </a:solidFill>
                <a:latin typeface="Arial"/>
                <a:ea typeface="Arial"/>
                <a:cs typeface="Arial"/>
              </a:rPr>
              <a:t>CASE APPLICATION</a:t>
            </a:r>
          </a:p>
        </p:txBody>
      </p:sp>
      <p:sp>
        <p:nvSpPr>
          <p:cNvPr id="4" name="">
            <a:extLst xmlns:a="http://schemas.openxmlformats.org/drawingml/2006/main">
              <a:ext uri="{FF2B5EF4-FFF2-40B4-BE49-F238E27FC236}">
                <a16:creationId xmlns:a16="http://schemas.microsoft.com/office/drawing/2014/main" id="{42D2B09B-CBDE-447E-940F-8CA9B55ADAED}"/>
              </a:ext>
            </a:extLst>
          </p:cNvPr>
          <p:cNvSpPr>
            <a:spLocks xmlns:a="http://schemas.openxmlformats.org/drawingml/2006/main" noGrp="1"/>
          </p:cNvSpPr>
          <p:nvPr/>
        </p:nvSpPr>
        <p:spPr>
          <a:xfrm xmlns:a="http://schemas.openxmlformats.org/drawingml/2006/main">
            <a:off x="11068050" y="6238875"/>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900" b="0">
                <a:solidFill>
                  <a:srgbClr val="687780"/>
                </a:solidFill>
                <a:latin typeface="Arial"/>
                <a:ea typeface="Arial"/>
                <a:cs typeface="Arial"/>
              </a:defRPr>
            </a:defPPr>
            <a:lvl1pPr>
              <a:defRPr sz="900" b="0">
                <a:solidFill>
                  <a:srgbClr val="687780"/>
                </a:solidFill>
                <a:latin typeface="Arial"/>
                <a:ea typeface="Arial"/>
                <a:cs typeface="Arial"/>
              </a:defRPr>
            </a:lvl1pPr>
            <a:lvl2pPr>
              <a:defRPr sz="900" b="0">
                <a:solidFill>
                  <a:srgbClr val="687780"/>
                </a:solidFill>
                <a:latin typeface="Arial"/>
                <a:ea typeface="Arial"/>
                <a:cs typeface="Arial"/>
              </a:defRPr>
            </a:lvl2pPr>
            <a:lvl3pPr>
              <a:defRPr sz="900" b="0">
                <a:solidFill>
                  <a:srgbClr val="687780"/>
                </a:solidFill>
                <a:latin typeface="Arial"/>
                <a:ea typeface="Arial"/>
                <a:cs typeface="Arial"/>
              </a:defRPr>
            </a:lvl3pPr>
            <a:lvl4pPr>
              <a:defRPr sz="900" b="0">
                <a:solidFill>
                  <a:srgbClr val="687780"/>
                </a:solidFill>
                <a:latin typeface="Arial"/>
                <a:ea typeface="Arial"/>
                <a:cs typeface="Arial"/>
              </a:defRPr>
            </a:lvl4pPr>
            <a:lvl5pPr>
              <a:defRPr sz="900" b="0">
                <a:solidFill>
                  <a:srgbClr val="687780"/>
                </a:solidFill>
                <a:latin typeface="Arial"/>
                <a:ea typeface="Arial"/>
                <a:cs typeface="Arial"/>
              </a:defRPr>
            </a:lvl5pPr>
            <a:lvl6pPr>
              <a:defRPr sz="900" b="0">
                <a:solidFill>
                  <a:srgbClr val="687780"/>
                </a:solidFill>
                <a:latin typeface="Arial"/>
                <a:ea typeface="Arial"/>
                <a:cs typeface="Arial"/>
              </a:defRPr>
            </a:lvl6pPr>
            <a:lvl7pPr>
              <a:defRPr sz="900" b="0">
                <a:solidFill>
                  <a:srgbClr val="687780"/>
                </a:solidFill>
                <a:latin typeface="Arial"/>
                <a:ea typeface="Arial"/>
                <a:cs typeface="Arial"/>
              </a:defRPr>
            </a:lvl7pPr>
            <a:lvl8pPr>
              <a:defRPr sz="900" b="0">
                <a:solidFill>
                  <a:srgbClr val="687780"/>
                </a:solidFill>
                <a:latin typeface="Arial"/>
                <a:ea typeface="Arial"/>
                <a:cs typeface="Arial"/>
              </a:defRPr>
            </a:lvl8pPr>
            <a:lvl9pPr>
              <a:defRPr sz="900" b="0">
                <a:solidFill>
                  <a:srgbClr val="687780"/>
                </a:solidFill>
                <a:latin typeface="Arial"/>
                <a:ea typeface="Arial"/>
                <a:cs typeface="Arial"/>
              </a:defRPr>
            </a:lvl9pPr>
          </a:lstStyle>
          <a:p xmlns:a="http://schemas.openxmlformats.org/drawingml/2006/main">
            <a:pPr>
              <a:defRPr sz="900" b="0">
                <a:solidFill>
                  <a:srgbClr val="687780"/>
                </a:solidFill>
                <a:latin typeface="Arial"/>
                <a:ea typeface="Arial"/>
                <a:cs typeface="Arial"/>
              </a:defRPr>
            </a:pPr>
            <a:r>
              <a:rPr sz="900" b="0">
                <a:solidFill>
                  <a:srgbClr val="687780"/>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1C2FE45-7EB5-43FB-A3CA-F0BDB42EBB10}"/>
              </a:ext>
            </a:extLst>
          </p:cNvPr>
          <p:cNvSpPr>
            <a:spLocks xmlns:a="http://schemas.openxmlformats.org/drawingml/2006/main" noGrp="1"/>
          </p:cNvSpPr>
          <p:nvPr/>
        </p:nvSpPr>
        <p:spPr>
          <a:xfrm xmlns:a="http://schemas.openxmlformats.org/drawingml/2006/main">
            <a:off x="609600" y="14954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2325" b="1">
                <a:solidFill>
                  <a:srgbClr val="087F8C"/>
                </a:solidFill>
                <a:latin typeface="Arial"/>
                <a:ea typeface="Arial"/>
                <a:cs typeface="Arial"/>
              </a:defRPr>
            </a:defPPr>
            <a:lvl1pPr>
              <a:defRPr sz="2325" b="1">
                <a:solidFill>
                  <a:srgbClr val="087F8C"/>
                </a:solidFill>
                <a:latin typeface="Arial"/>
                <a:ea typeface="Arial"/>
                <a:cs typeface="Arial"/>
              </a:defRPr>
            </a:lvl1pPr>
            <a:lvl2pPr>
              <a:defRPr sz="2325" b="1">
                <a:solidFill>
                  <a:srgbClr val="087F8C"/>
                </a:solidFill>
                <a:latin typeface="Arial"/>
                <a:ea typeface="Arial"/>
                <a:cs typeface="Arial"/>
              </a:defRPr>
            </a:lvl2pPr>
            <a:lvl3pPr>
              <a:defRPr sz="2325" b="1">
                <a:solidFill>
                  <a:srgbClr val="087F8C"/>
                </a:solidFill>
                <a:latin typeface="Arial"/>
                <a:ea typeface="Arial"/>
                <a:cs typeface="Arial"/>
              </a:defRPr>
            </a:lvl3pPr>
            <a:lvl4pPr>
              <a:defRPr sz="2325" b="1">
                <a:solidFill>
                  <a:srgbClr val="087F8C"/>
                </a:solidFill>
                <a:latin typeface="Arial"/>
                <a:ea typeface="Arial"/>
                <a:cs typeface="Arial"/>
              </a:defRPr>
            </a:lvl4pPr>
            <a:lvl5pPr>
              <a:defRPr sz="2325" b="1">
                <a:solidFill>
                  <a:srgbClr val="087F8C"/>
                </a:solidFill>
                <a:latin typeface="Arial"/>
                <a:ea typeface="Arial"/>
                <a:cs typeface="Arial"/>
              </a:defRPr>
            </a:lvl5pPr>
            <a:lvl6pPr>
              <a:defRPr sz="2325" b="1">
                <a:solidFill>
                  <a:srgbClr val="087F8C"/>
                </a:solidFill>
                <a:latin typeface="Arial"/>
                <a:ea typeface="Arial"/>
                <a:cs typeface="Arial"/>
              </a:defRPr>
            </a:lvl6pPr>
            <a:lvl7pPr>
              <a:defRPr sz="2325" b="1">
                <a:solidFill>
                  <a:srgbClr val="087F8C"/>
                </a:solidFill>
                <a:latin typeface="Arial"/>
                <a:ea typeface="Arial"/>
                <a:cs typeface="Arial"/>
              </a:defRPr>
            </a:lvl7pPr>
            <a:lvl8pPr>
              <a:defRPr sz="2325" b="1">
                <a:solidFill>
                  <a:srgbClr val="087F8C"/>
                </a:solidFill>
                <a:latin typeface="Arial"/>
                <a:ea typeface="Arial"/>
                <a:cs typeface="Arial"/>
              </a:defRPr>
            </a:lvl8pPr>
            <a:lvl9pPr>
              <a:defRPr sz="2325" b="1">
                <a:solidFill>
                  <a:srgbClr val="087F8C"/>
                </a:solidFill>
                <a:latin typeface="Arial"/>
                <a:ea typeface="Arial"/>
                <a:cs typeface="Arial"/>
              </a:defRPr>
            </a:lvl9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Are successive cohorts becoming more valuable relative to acquisition cost?</a:t>
            </a:r>
          </a:p>
        </p:txBody>
      </p:sp>
      <p:sp>
        <p:nvSpPr>
          <p:cNvPr id="6" name="">
            <a:extLst xmlns:a="http://schemas.openxmlformats.org/drawingml/2006/main">
              <a:ext uri="{FF2B5EF4-FFF2-40B4-BE49-F238E27FC236}">
                <a16:creationId xmlns:a16="http://schemas.microsoft.com/office/drawing/2014/main" id="{1CB1F1E5-B1A3-4487-A596-319659E924C4}"/>
              </a:ext>
            </a:extLst>
          </p:cNvPr>
          <p:cNvSpPr>
            <a:spLocks xmlns:a="http://schemas.openxmlformats.org/drawingml/2006/main" noGrp="1"/>
          </p:cNvSpPr>
          <p:nvPr/>
        </p:nvSpPr>
        <p:spPr>
          <a:xfrm xmlns:a="http://schemas.openxmlformats.org/drawingml/2006/main">
            <a:off x="609600" y="2143125"/>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050" b="0">
                <a:solidFill>
                  <a:srgbClr val="687780"/>
                </a:solidFill>
                <a:latin typeface="Arial"/>
                <a:ea typeface="Arial"/>
                <a:cs typeface="Arial"/>
              </a:defRPr>
            </a:defPPr>
            <a:lvl1pPr>
              <a:defRPr sz="1050" b="0">
                <a:solidFill>
                  <a:srgbClr val="687780"/>
                </a:solidFill>
                <a:latin typeface="Arial"/>
                <a:ea typeface="Arial"/>
                <a:cs typeface="Arial"/>
              </a:defRPr>
            </a:lvl1pPr>
            <a:lvl2pPr>
              <a:defRPr sz="1050" b="0">
                <a:solidFill>
                  <a:srgbClr val="687780"/>
                </a:solidFill>
                <a:latin typeface="Arial"/>
                <a:ea typeface="Arial"/>
                <a:cs typeface="Arial"/>
              </a:defRPr>
            </a:lvl2pPr>
            <a:lvl3pPr>
              <a:defRPr sz="1050" b="0">
                <a:solidFill>
                  <a:srgbClr val="687780"/>
                </a:solidFill>
                <a:latin typeface="Arial"/>
                <a:ea typeface="Arial"/>
                <a:cs typeface="Arial"/>
              </a:defRPr>
            </a:lvl3pPr>
            <a:lvl4pPr>
              <a:defRPr sz="1050" b="0">
                <a:solidFill>
                  <a:srgbClr val="687780"/>
                </a:solidFill>
                <a:latin typeface="Arial"/>
                <a:ea typeface="Arial"/>
                <a:cs typeface="Arial"/>
              </a:defRPr>
            </a:lvl4pPr>
            <a:lvl5pPr>
              <a:defRPr sz="1050" b="0">
                <a:solidFill>
                  <a:srgbClr val="687780"/>
                </a:solidFill>
                <a:latin typeface="Arial"/>
                <a:ea typeface="Arial"/>
                <a:cs typeface="Arial"/>
              </a:defRPr>
            </a:lvl5pPr>
            <a:lvl6pPr>
              <a:defRPr sz="1050" b="0">
                <a:solidFill>
                  <a:srgbClr val="687780"/>
                </a:solidFill>
                <a:latin typeface="Arial"/>
                <a:ea typeface="Arial"/>
                <a:cs typeface="Arial"/>
              </a:defRPr>
            </a:lvl6pPr>
            <a:lvl7pPr>
              <a:defRPr sz="1050" b="0">
                <a:solidFill>
                  <a:srgbClr val="687780"/>
                </a:solidFill>
                <a:latin typeface="Arial"/>
                <a:ea typeface="Arial"/>
                <a:cs typeface="Arial"/>
              </a:defRPr>
            </a:lvl7pPr>
            <a:lvl8pPr>
              <a:defRPr sz="1050" b="0">
                <a:solidFill>
                  <a:srgbClr val="687780"/>
                </a:solidFill>
                <a:latin typeface="Arial"/>
                <a:ea typeface="Arial"/>
                <a:cs typeface="Arial"/>
              </a:defRPr>
            </a:lvl8pPr>
            <a:lvl9pPr>
              <a:defRPr sz="1050" b="0">
                <a:solidFill>
                  <a:srgbClr val="687780"/>
                </a:solidFill>
                <a:latin typeface="Arial"/>
                <a:ea typeface="Arial"/>
                <a:cs typeface="Arial"/>
              </a:defRPr>
            </a:lvl9pPr>
          </a:lstStyle>
          <a:p xmlns:a="http://schemas.openxmlformats.org/drawingml/2006/main">
            <a:pPr>
              <a:defRPr sz="1050" b="0">
                <a:solidFill>
                  <a:srgbClr val="687780"/>
                </a:solidFill>
                <a:latin typeface="Arial"/>
                <a:ea typeface="Arial"/>
                <a:cs typeface="Arial"/>
              </a:defRPr>
            </a:pPr>
            <a:r>
              <a:rPr sz="1050" b="0">
                <a:solidFill>
                  <a:srgbClr val="687780"/>
                </a:solidFill>
                <a:latin typeface="Arial"/>
                <a:ea typeface="Arial"/>
                <a:cs typeface="Arial"/>
              </a:rPr>
              <a:t>Table 5. The executive handoff</a:t>
            </a:r>
          </a:p>
        </p:txBody>
      </p:sp>
      <p:graphicFrame>
        <p:nvGraphicFramePr>
          <p:cNvPr id="7" name="">
            <a:extLst xmlns:a="http://schemas.openxmlformats.org/drawingml/2006/main">
              <a:ext uri="{FF2B5EF4-FFF2-40B4-BE49-F238E27FC236}">
                <a16:creationId xmlns:a16="http://schemas.microsoft.com/office/drawing/2014/main" id="{790CBB9F-9A2E-4776-8E20-BC764FC81E70}"/>
              </a:ext>
            </a:extLst>
          </p:cNvPr>
          <p:cNvGraphicFramePr/>
          <p:nvPr/>
        </p:nvGraphicFramePr>
        <p:xfrm>
          <a:off xmlns:a="http://schemas.openxmlformats.org/drawingml/2006/main" x="609600" y="2362200"/>
          <a:ext xmlns:a="http://schemas.openxmlformats.org/drawingml/2006/main" cx="10972800" cy="2190750"/>
        </p:xfrm>
        <a:graphic xmlns:a="http://schemas.openxmlformats.org/drawingml/2006/main">
          <a:graphicData uri="http://schemas.openxmlformats.org/drawingml/2006/table">
            <a:tbl>
              <a:tblPr/>
              <a:tblGrid>
                <a:gridCol w="2952750"/>
                <a:gridCol w="8020050"/>
              </a:tblGrid>
              <a:tr h="438150">
                <a:tc>
                  <a:txBody>
                    <a:bodyPr/>
                    <a:lstStyle/>
                    <a:p>
                      <a:r>
                        <a:rPr sz="1350" b="1">
                          <a:solidFill>
                            <a:srgbClr val="FFFFFF"/>
                          </a:solidFill>
                          <a:latin typeface="Arial"/>
                          <a:ea typeface="Arial"/>
                          <a:cs typeface="Arial"/>
                        </a:rPr>
                        <a:t>Report component</a:t>
                      </a:r>
                    </a:p>
                  </a:txBody>
                  <a:tcPr marL="91440" marR="91440" marT="45720" marB="45720">
                    <a:solidFill>
                      <a:srgbClr val="172D3C"/>
                    </a:solidFill>
                  </a:tcPr>
                </a:tc>
                <a:tc>
                  <a:txBody>
                    <a:bodyPr/>
                    <a:lstStyle/>
                    <a:p>
                      <a:r>
                        <a:rPr sz="1350" b="1">
                          <a:solidFill>
                            <a:srgbClr val="FFFFFF"/>
                          </a:solidFill>
                          <a:latin typeface="Arial"/>
                          <a:ea typeface="Arial"/>
                          <a:cs typeface="Arial"/>
                        </a:rPr>
                        <a:t>What your team should receive</a:t>
                      </a:r>
                    </a:p>
                  </a:txBody>
                  <a:tcPr marL="91440" marR="91440" marT="45720" marB="45720">
                    <a:solidFill>
                      <a:srgbClr val="172D3C"/>
                    </a:solidFill>
                  </a:tcPr>
                </a:tc>
              </a:tr>
              <a:tr h="438150">
                <a:tc>
                  <a:txBody>
                    <a:bodyPr/>
                    <a:lstStyle/>
                    <a:p>
                      <a:r>
                        <a:rPr sz="1425" b="0">
                          <a:solidFill>
                            <a:srgbClr val="172D3C"/>
                          </a:solidFill>
                          <a:latin typeface="Arial"/>
                          <a:ea typeface="Arial"/>
                          <a:cs typeface="Arial"/>
                        </a:rPr>
                        <a:t>Executive summary</a:t>
                      </a:r>
                    </a:p>
                  </a:txBody>
                  <a:tcPr marL="91440" marR="91440" marT="45720" marB="45720">
                    <a:solidFill>
                      <a:srgbClr val="F0F5F6"/>
                    </a:solidFill>
                  </a:tcPr>
                </a:tc>
                <a:tc>
                  <a:txBody>
                    <a:bodyPr/>
                    <a:lstStyle/>
                    <a:p>
                      <a:r>
                        <a:rPr sz="1425" b="0">
                          <a:solidFill>
                            <a:srgbClr val="172D3C"/>
                          </a:solidFill>
                          <a:latin typeface="Arial"/>
                          <a:ea typeface="Arial"/>
                          <a:cs typeface="Arial"/>
                        </a:rPr>
                        <a:t>The business, a supported verdict, a proposed action and what would change it.</a:t>
                      </a:r>
                    </a:p>
                  </a:txBody>
                  <a:tcPr marL="91440" marR="91440" marT="45720" marB="45720">
                    <a:solidFill>
                      <a:srgbClr val="F0F5F6"/>
                    </a:solidFill>
                  </a:tcPr>
                </a:tc>
              </a:tr>
              <a:tr h="438150">
                <a:tc>
                  <a:txBody>
                    <a:bodyPr/>
                    <a:lstStyle/>
                    <a:p>
                      <a:r>
                        <a:rPr sz="1425" b="0">
                          <a:solidFill>
                            <a:srgbClr val="172D3C"/>
                          </a:solidFill>
                          <a:latin typeface="Arial"/>
                          <a:ea typeface="Arial"/>
                          <a:cs typeface="Arial"/>
                        </a:rPr>
                        <a:t>Observed and forecast evidence</a:t>
                      </a:r>
                    </a:p>
                  </a:txBody>
                  <a:tcPr marL="91440" marR="91440" marT="45720" marB="45720">
                    <a:solidFill>
                      <a:srgbClr val="FFFFFF"/>
                    </a:solidFill>
                  </a:tcPr>
                </a:tc>
                <a:tc>
                  <a:txBody>
                    <a:bodyPr/>
                    <a:lstStyle/>
                    <a:p>
                      <a:r>
                        <a:rPr sz="1425" b="0">
                          <a:solidFill>
                            <a:srgbClr val="172D3C"/>
                          </a:solidFill>
                          <a:latin typeface="Arial"/>
                          <a:ea typeface="Arial"/>
                          <a:cs typeface="Arial"/>
                        </a:rPr>
                        <a:t>Same-age retention, revenue, contribution, CAC and cash payback.</a:t>
                      </a:r>
                    </a:p>
                  </a:txBody>
                  <a:tcPr marL="91440" marR="91440" marT="45720" marB="45720">
                    <a:solidFill>
                      <a:srgbClr val="FFFFFF"/>
                    </a:solidFill>
                  </a:tcPr>
                </a:tc>
              </a:tr>
              <a:tr h="438150">
                <a:tc>
                  <a:txBody>
                    <a:bodyPr/>
                    <a:lstStyle/>
                    <a:p>
                      <a:r>
                        <a:rPr sz="1425" b="0">
                          <a:solidFill>
                            <a:srgbClr val="172D3C"/>
                          </a:solidFill>
                          <a:latin typeface="Arial"/>
                          <a:ea typeface="Arial"/>
                          <a:cs typeface="Arial"/>
                        </a:rPr>
                        <a:t>Model appendix</a:t>
                      </a:r>
                    </a:p>
                  </a:txBody>
                  <a:tcPr marL="91440" marR="91440" marT="45720" marB="45720">
                    <a:solidFill>
                      <a:srgbClr val="F0F5F6"/>
                    </a:solidFill>
                  </a:tcPr>
                </a:tc>
                <a:tc>
                  <a:txBody>
                    <a:bodyPr/>
                    <a:lstStyle/>
                    <a:p>
                      <a:r>
                        <a:rPr sz="1425" b="0">
                          <a:solidFill>
                            <a:srgbClr val="172D3C"/>
                          </a:solidFill>
                          <a:latin typeface="Arial"/>
                          <a:ea typeface="Arial"/>
                          <a:cs typeface="Arial"/>
                        </a:rPr>
                        <a:t>Model story, parameters, priors, uncertainty and chronological validation.</a:t>
                      </a:r>
                    </a:p>
                  </a:txBody>
                  <a:tcPr marL="91440" marR="91440" marT="45720" marB="45720">
                    <a:solidFill>
                      <a:srgbClr val="F0F5F6"/>
                    </a:solidFill>
                  </a:tcPr>
                </a:tc>
              </a:tr>
              <a:tr h="438150">
                <a:tc>
                  <a:txBody>
                    <a:bodyPr/>
                    <a:lstStyle/>
                    <a:p>
                      <a:r>
                        <a:rPr sz="1425" b="0">
                          <a:solidFill>
                            <a:srgbClr val="172D3C"/>
                          </a:solidFill>
                          <a:latin typeface="Arial"/>
                          <a:ea typeface="Arial"/>
                          <a:cs typeface="Arial"/>
                        </a:rPr>
                        <a:t>Data and reproducibility appendix</a:t>
                      </a:r>
                    </a:p>
                  </a:txBody>
                  <a:tcPr marL="91440" marR="91440" marT="45720" marB="45720">
                    <a:solidFill>
                      <a:srgbClr val="FFFFFF"/>
                    </a:solidFill>
                  </a:tcPr>
                </a:tc>
                <a:tc>
                  <a:txBody>
                    <a:bodyPr/>
                    <a:lstStyle/>
                    <a:p>
                      <a:r>
                        <a:rPr sz="1425" b="0">
                          <a:solidFill>
                            <a:srgbClr val="172D3C"/>
                          </a:solidFill>
                          <a:latin typeface="Arial"/>
                          <a:ea typeface="Arial"/>
                          <a:cs typeface="Arial"/>
                        </a:rPr>
                        <a:t>UCV tables, Archify key map and saved SQL; saved manifests accompany the report.</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1015D1D-CBA2-415D-869A-5BDB88DD8F80}"/>
              </a:ext>
            </a:extLst>
          </p:cNvPr>
          <p:cNvSpPr>
            <a:spLocks xmlns:a="http://schemas.openxmlformats.org/drawingml/2006/main" noGrp="1"/>
          </p:cNvSpPr>
          <p:nvPr/>
        </p:nvSpPr>
        <p:spPr>
          <a:xfrm xmlns:a="http://schemas.openxmlformats.org/drawingml/2006/main">
            <a:off x="609600" y="47625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725" b="1">
                <a:solidFill>
                  <a:srgbClr val="BB6427"/>
                </a:solidFill>
                <a:latin typeface="Arial"/>
                <a:ea typeface="Arial"/>
                <a:cs typeface="Arial"/>
              </a:defRPr>
            </a:defPPr>
            <a:lvl1pPr>
              <a:defRPr sz="1725" b="1">
                <a:solidFill>
                  <a:srgbClr val="BB6427"/>
                </a:solidFill>
                <a:latin typeface="Arial"/>
                <a:ea typeface="Arial"/>
                <a:cs typeface="Arial"/>
              </a:defRPr>
            </a:lvl1pPr>
            <a:lvl2pPr>
              <a:defRPr sz="1725" b="1">
                <a:solidFill>
                  <a:srgbClr val="BB6427"/>
                </a:solidFill>
                <a:latin typeface="Arial"/>
                <a:ea typeface="Arial"/>
                <a:cs typeface="Arial"/>
              </a:defRPr>
            </a:lvl2pPr>
            <a:lvl3pPr>
              <a:defRPr sz="1725" b="1">
                <a:solidFill>
                  <a:srgbClr val="BB6427"/>
                </a:solidFill>
                <a:latin typeface="Arial"/>
                <a:ea typeface="Arial"/>
                <a:cs typeface="Arial"/>
              </a:defRPr>
            </a:lvl3pPr>
            <a:lvl4pPr>
              <a:defRPr sz="1725" b="1">
                <a:solidFill>
                  <a:srgbClr val="BB6427"/>
                </a:solidFill>
                <a:latin typeface="Arial"/>
                <a:ea typeface="Arial"/>
                <a:cs typeface="Arial"/>
              </a:defRPr>
            </a:lvl4pPr>
            <a:lvl5pPr>
              <a:defRPr sz="1725" b="1">
                <a:solidFill>
                  <a:srgbClr val="BB6427"/>
                </a:solidFill>
                <a:latin typeface="Arial"/>
                <a:ea typeface="Arial"/>
                <a:cs typeface="Arial"/>
              </a:defRPr>
            </a:lvl5pPr>
            <a:lvl6pPr>
              <a:defRPr sz="1725" b="1">
                <a:solidFill>
                  <a:srgbClr val="BB6427"/>
                </a:solidFill>
                <a:latin typeface="Arial"/>
                <a:ea typeface="Arial"/>
                <a:cs typeface="Arial"/>
              </a:defRPr>
            </a:lvl6pPr>
            <a:lvl7pPr>
              <a:defRPr sz="1725" b="1">
                <a:solidFill>
                  <a:srgbClr val="BB6427"/>
                </a:solidFill>
                <a:latin typeface="Arial"/>
                <a:ea typeface="Arial"/>
                <a:cs typeface="Arial"/>
              </a:defRPr>
            </a:lvl7pPr>
            <a:lvl8pPr>
              <a:defRPr sz="1725" b="1">
                <a:solidFill>
                  <a:srgbClr val="BB6427"/>
                </a:solidFill>
                <a:latin typeface="Arial"/>
                <a:ea typeface="Arial"/>
                <a:cs typeface="Arial"/>
              </a:defRPr>
            </a:lvl8pPr>
            <a:lvl9pPr>
              <a:defRPr sz="1725" b="1">
                <a:solidFill>
                  <a:srgbClr val="BB6427"/>
                </a:solidFill>
                <a:latin typeface="Arial"/>
                <a:ea typeface="Arial"/>
                <a:cs typeface="Arial"/>
              </a:defRPr>
            </a:lvl9pPr>
          </a:lstStyle>
          <a:p xmlns:a="http://schemas.openxmlformats.org/drawingml/2006/main">
            <a:pPr>
              <a:defRPr sz="1725" b="1">
                <a:solidFill>
                  <a:srgbClr val="BB6427"/>
                </a:solidFill>
                <a:latin typeface="Arial"/>
                <a:ea typeface="Arial"/>
                <a:cs typeface="Arial"/>
              </a:defRPr>
            </a:pPr>
            <a:r>
              <a:rPr sz="1725" b="1">
                <a:solidFill>
                  <a:srgbClr val="BB6427"/>
                </a:solidFill>
                <a:latin typeface="Arial"/>
                <a:ea typeface="Arial"/>
                <a:cs typeface="Arial"/>
              </a:rPr>
              <a:t>Bonus challenge: forecast 2026 outcomes for these 24 cohorts with another CPU-capable model. Submit for instructor-held evaluation.</a:t>
            </a:r>
          </a:p>
        </p:txBody>
      </p:sp>
      <p:sp>
        <p:nvSpPr>
          <p:cNvPr id="9" name="">
            <a:extLst xmlns:a="http://schemas.openxmlformats.org/drawingml/2006/main">
              <a:ext uri="{FF2B5EF4-FFF2-40B4-BE49-F238E27FC236}">
                <a16:creationId xmlns:a16="http://schemas.microsoft.com/office/drawing/2014/main" id="{1D5CFDDA-9D9A-4F17-869D-EFF3F82A6193}"/>
              </a:ext>
            </a:extLst>
          </p:cNvPr>
          <p:cNvSpPr>
            <a:spLocks xmlns:a="http://schemas.openxmlformats.org/drawingml/2006/main" noGrp="1"/>
          </p:cNvSpPr>
          <p:nvPr/>
        </p:nvSpPr>
        <p:spPr>
          <a:xfrm xmlns:a="http://schemas.openxmlformats.org/drawingml/2006/main">
            <a:off x="609600" y="5467350"/>
            <a:ext cx="10972800" cy="600075"/>
          </a:xfrm>
          <a:prstGeom xmlns:a="http://schemas.openxmlformats.org/drawingml/2006/main" prst="rect">
            <a:avLst/>
          </a:prstGeom>
          <a:solidFill xmlns:a="http://schemas.openxmlformats.org/drawingml/2006/main">
            <a:srgbClr val="EAF4F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628EF9-5EB6-484A-B79D-F3041B8A24C1}"/>
              </a:ext>
            </a:extLst>
          </p:cNvPr>
          <p:cNvSpPr>
            <a:spLocks xmlns:a="http://schemas.openxmlformats.org/drawingml/2006/main" noGrp="1"/>
          </p:cNvSpPr>
          <p:nvPr/>
        </p:nvSpPr>
        <p:spPr>
          <a:xfrm xmlns:a="http://schemas.openxmlformats.org/drawingml/2006/main">
            <a:off x="790575" y="5534025"/>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defRPr sz="1575" b="1">
                <a:solidFill>
                  <a:srgbClr val="172D3C"/>
                </a:solidFill>
                <a:latin typeface="Arial"/>
                <a:ea typeface="Arial"/>
                <a:cs typeface="Arial"/>
              </a:defRPr>
            </a:defPPr>
            <a:lvl1pPr>
              <a:defRPr sz="1575" b="1">
                <a:solidFill>
                  <a:srgbClr val="172D3C"/>
                </a:solidFill>
                <a:latin typeface="Arial"/>
                <a:ea typeface="Arial"/>
                <a:cs typeface="Arial"/>
              </a:defRPr>
            </a:lvl1pPr>
            <a:lvl2pPr>
              <a:defRPr sz="1575" b="1">
                <a:solidFill>
                  <a:srgbClr val="172D3C"/>
                </a:solidFill>
                <a:latin typeface="Arial"/>
                <a:ea typeface="Arial"/>
                <a:cs typeface="Arial"/>
              </a:defRPr>
            </a:lvl2pPr>
            <a:lvl3pPr>
              <a:defRPr sz="1575" b="1">
                <a:solidFill>
                  <a:srgbClr val="172D3C"/>
                </a:solidFill>
                <a:latin typeface="Arial"/>
                <a:ea typeface="Arial"/>
                <a:cs typeface="Arial"/>
              </a:defRPr>
            </a:lvl3pPr>
            <a:lvl4pPr>
              <a:defRPr sz="1575" b="1">
                <a:solidFill>
                  <a:srgbClr val="172D3C"/>
                </a:solidFill>
                <a:latin typeface="Arial"/>
                <a:ea typeface="Arial"/>
                <a:cs typeface="Arial"/>
              </a:defRPr>
            </a:lvl4pPr>
            <a:lvl5pPr>
              <a:defRPr sz="1575" b="1">
                <a:solidFill>
                  <a:srgbClr val="172D3C"/>
                </a:solidFill>
                <a:latin typeface="Arial"/>
                <a:ea typeface="Arial"/>
                <a:cs typeface="Arial"/>
              </a:defRPr>
            </a:lvl5pPr>
            <a:lvl6pPr>
              <a:defRPr sz="1575" b="1">
                <a:solidFill>
                  <a:srgbClr val="172D3C"/>
                </a:solidFill>
                <a:latin typeface="Arial"/>
                <a:ea typeface="Arial"/>
                <a:cs typeface="Arial"/>
              </a:defRPr>
            </a:lvl6pPr>
            <a:lvl7pPr>
              <a:defRPr sz="1575" b="1">
                <a:solidFill>
                  <a:srgbClr val="172D3C"/>
                </a:solidFill>
                <a:latin typeface="Arial"/>
                <a:ea typeface="Arial"/>
                <a:cs typeface="Arial"/>
              </a:defRPr>
            </a:lvl7pPr>
            <a:lvl8pPr>
              <a:defRPr sz="1575" b="1">
                <a:solidFill>
                  <a:srgbClr val="172D3C"/>
                </a:solidFill>
                <a:latin typeface="Arial"/>
                <a:ea typeface="Arial"/>
                <a:cs typeface="Arial"/>
              </a:defRPr>
            </a:lvl8pPr>
            <a:lvl9pPr>
              <a:defRPr sz="1575" b="1">
                <a:solidFill>
                  <a:srgbClr val="172D3C"/>
                </a:solidFill>
                <a:latin typeface="Arial"/>
                <a:ea typeface="Arial"/>
                <a:cs typeface="Arial"/>
              </a:defRPr>
            </a:lvl9pPr>
          </a:lstStyle>
          <a:p xmlns:a="http://schemas.openxmlformats.org/drawingml/2006/main">
            <a:pPr>
              <a:defRPr sz="1575" b="1">
                <a:solidFill>
                  <a:srgbClr val="172D3C"/>
                </a:solidFill>
                <a:latin typeface="Arial"/>
                <a:ea typeface="Arial"/>
                <a:cs typeface="Arial"/>
              </a:defRPr>
            </a:pPr>
            <a:r>
              <a:rPr sz="1575" b="1">
                <a:solidFill>
                  <a:srgbClr val="172D3C"/>
                </a:solidFill>
                <a:latin typeface="Arial"/>
                <a:ea typeface="Arial"/>
                <a:cs typeface="Arial"/>
              </a:rPr>
              <a:t>Open with the business and decision; explain extrapolation early. Keep model details and reproducibility in the appendix.</a:t>
            </a:r>
          </a:p>
        </p:txBody>
      </p:sp>
    </p:spTree>
    <p:extLst>
      <p:ext uri="{BB962C8B-B14F-4D97-AF65-F5344CB8AC3E}">
        <p14:creationId xmlns:p14="http://schemas.microsoft.com/office/powerpoint/2010/main" val="550529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2026-10-29T16:53:17.4560000Z</dcterms:created>
  <dcterms:modified xsi:type="dcterms:W3CDTF">2026-10-29T16:53:17.4560000Z</dcterms:modified>
</coreProperties>
</file>