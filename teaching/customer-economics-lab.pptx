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5.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b555dac7cc6407d" /><Relationship Type="http://schemas.openxmlformats.org/officeDocument/2006/relationships/extended-properties" Target="/docProps/app.xml" Id="R59a184474d754b5b" /><Relationship Type="http://schemas.openxmlformats.org/officeDocument/2006/relationships/officeDocument" Target="/ppt/presentation.xml" Id="Raa27409a03164f31" /></Relationships>
</file>

<file path=ppt/presentation.xml><?xml version="1.0" encoding="utf-8"?>
<p:presentation xmlns:p="http://schemas.openxmlformats.org/presentationml/2006/main">
  <p:sldMasterIdLst>
    <p:sldMasterId xmlns:r="http://schemas.openxmlformats.org/officeDocument/2006/relationships" id="2147483648" r:id="R663f76719e4247db"/>
  </p:sldMasterIdLst>
  <p:notesMasterIdLst>
    <p:notesMasterId xmlns:r="http://schemas.openxmlformats.org/officeDocument/2006/relationships" r:id="R0920dc3666bc44c7"/>
  </p:notesMasterIdLst>
  <p:sldIdLst>
    <p:sldId xmlns:r="http://schemas.openxmlformats.org/officeDocument/2006/relationships" id="256" r:id="R2eed7ec3b5a0422f"/>
    <p:sldId xmlns:r="http://schemas.openxmlformats.org/officeDocument/2006/relationships" id="257" r:id="R04174adfb1ba459b"/>
    <p:sldId xmlns:r="http://schemas.openxmlformats.org/officeDocument/2006/relationships" id="258" r:id="Rc7840ad085d747ca"/>
    <p:sldId xmlns:r="http://schemas.openxmlformats.org/officeDocument/2006/relationships" id="259" r:id="Rfc53345cc3634aa1"/>
    <p:sldId xmlns:r="http://schemas.openxmlformats.org/officeDocument/2006/relationships" id="260" r:id="Rbea48e61206f458d"/>
    <p:sldId xmlns:r="http://schemas.openxmlformats.org/officeDocument/2006/relationships" id="261" r:id="R3765792863c44b38"/>
    <p:sldId xmlns:r="http://schemas.openxmlformats.org/officeDocument/2006/relationships" id="262" r:id="Rad63bae12e5a45d6"/>
    <p:sldId xmlns:r="http://schemas.openxmlformats.org/officeDocument/2006/relationships" id="263" r:id="R6b2316be45964f43"/>
    <p:sldId xmlns:r="http://schemas.openxmlformats.org/officeDocument/2006/relationships" id="264" r:id="R048d287151614d94"/>
    <p:sldId xmlns:r="http://schemas.openxmlformats.org/officeDocument/2006/relationships" id="265" r:id="R2510aa550433467e"/>
    <p:sldId xmlns:r="http://schemas.openxmlformats.org/officeDocument/2006/relationships" id="266" r:id="R381fabe9e7b1481e"/>
    <p:sldId xmlns:r="http://schemas.openxmlformats.org/officeDocument/2006/relationships" id="267" r:id="Rd1720e7b8d0e447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601dabdffb9405e" /><Relationship Type="http://schemas.openxmlformats.org/officeDocument/2006/relationships/slideMaster" Target="/ppt/slideMasters/slideMaster1.xml" Id="R663f76719e4247db" /><Relationship Type="http://schemas.openxmlformats.org/officeDocument/2006/relationships/notesMaster" Target="/ppt/notesMasters/notesMaster1.xml" Id="R0920dc3666bc44c7" /><Relationship Type="http://schemas.openxmlformats.org/officeDocument/2006/relationships/presProps" Target="/ppt/presProps.xml" Id="R2baaff1d627942af" /><Relationship Type="http://schemas.openxmlformats.org/officeDocument/2006/relationships/tableStyles" Target="/ppt/tableStyles.xml" Id="R0cb1d04e0a9f41f5" /><Relationship Type="http://schemas.openxmlformats.org/officeDocument/2006/relationships/slide" Target="/ppt/slides/slide1.xml" Id="R2eed7ec3b5a0422f" /><Relationship Type="http://schemas.openxmlformats.org/officeDocument/2006/relationships/slide" Target="/ppt/slides/slide2.xml" Id="R04174adfb1ba459b" /><Relationship Type="http://schemas.openxmlformats.org/officeDocument/2006/relationships/slide" Target="/ppt/slides/slide3.xml" Id="Rc7840ad085d747ca" /><Relationship Type="http://schemas.openxmlformats.org/officeDocument/2006/relationships/slide" Target="/ppt/slides/slide4.xml" Id="Rfc53345cc3634aa1" /><Relationship Type="http://schemas.openxmlformats.org/officeDocument/2006/relationships/slide" Target="/ppt/slides/slide5.xml" Id="Rbea48e61206f458d" /><Relationship Type="http://schemas.openxmlformats.org/officeDocument/2006/relationships/slide" Target="/ppt/slides/slide6.xml" Id="R3765792863c44b38" /><Relationship Type="http://schemas.openxmlformats.org/officeDocument/2006/relationships/slide" Target="/ppt/slides/slide7.xml" Id="Rad63bae12e5a45d6" /><Relationship Type="http://schemas.openxmlformats.org/officeDocument/2006/relationships/slide" Target="/ppt/slides/slide8.xml" Id="R6b2316be45964f43" /><Relationship Type="http://schemas.openxmlformats.org/officeDocument/2006/relationships/slide" Target="/ppt/slides/slide9.xml" Id="R048d287151614d94" /><Relationship Type="http://schemas.openxmlformats.org/officeDocument/2006/relationships/slide" Target="/ppt/slides/slide10.xml" Id="R2510aa550433467e" /><Relationship Type="http://schemas.openxmlformats.org/officeDocument/2006/relationships/slide" Target="/ppt/slides/slide11.xml" Id="R381fabe9e7b1481e" /><Relationship Type="http://schemas.openxmlformats.org/officeDocument/2006/relationships/slide" Target="/ppt/slides/slide12.xml" Id="Rd1720e7b8d0e447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25d4b95ab3847a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9e07358cc034b62" /><Relationship Type="http://schemas.openxmlformats.org/officeDocument/2006/relationships/notesMaster" Target="/ppt/notesMasters/notesMaster1.xml" Id="Rd19d12720ad24047" /></Relationships>
</file>

<file path=ppt/notesSlides/_rels/notesSlide2.xml.rels>&#65279;<?xml version="1.0" encoding="utf-8"?><Relationships xmlns="http://schemas.openxmlformats.org/package/2006/relationships"><Relationship Type="http://schemas.openxmlformats.org/officeDocument/2006/relationships/slide" Target="/ppt/slides/slide2.xml" Id="R35ddbc2921a346e8" /><Relationship Type="http://schemas.openxmlformats.org/officeDocument/2006/relationships/notesMaster" Target="/ppt/notesMasters/notesMaster1.xml" Id="R815dd04ceb404022" /></Relationships>
</file>

<file path=ppt/notesSlides/_rels/notesSlide3.xml.rels>&#65279;<?xml version="1.0" encoding="utf-8"?><Relationships xmlns="http://schemas.openxmlformats.org/package/2006/relationships"><Relationship Type="http://schemas.openxmlformats.org/officeDocument/2006/relationships/slide" Target="/ppt/slides/slide3.xml" Id="R33878482287d4c0b" /><Relationship Type="http://schemas.openxmlformats.org/officeDocument/2006/relationships/notesMaster" Target="/ppt/notesMasters/notesMaster1.xml" Id="Rc41035ce6ff04e48" /></Relationships>
</file>

<file path=ppt/notesSlides/_rels/notesSlide4.xml.rels>&#65279;<?xml version="1.0" encoding="utf-8"?><Relationships xmlns="http://schemas.openxmlformats.org/package/2006/relationships"><Relationship Type="http://schemas.openxmlformats.org/officeDocument/2006/relationships/slide" Target="/ppt/slides/slide4.xml" Id="Rc71139e190dd4999" /><Relationship Type="http://schemas.openxmlformats.org/officeDocument/2006/relationships/notesMaster" Target="/ppt/notesMasters/notesMaster1.xml" Id="Rf6b10643205d4e00" /></Relationships>
</file>

<file path=ppt/notesSlides/_rels/notesSlide5.xml.rels>&#65279;<?xml version="1.0" encoding="utf-8"?><Relationships xmlns="http://schemas.openxmlformats.org/package/2006/relationships"><Relationship Type="http://schemas.openxmlformats.org/officeDocument/2006/relationships/slide" Target="/ppt/slides/slide5.xml" Id="Rc27754bebbfa48b5" /><Relationship Type="http://schemas.openxmlformats.org/officeDocument/2006/relationships/notesMaster" Target="/ppt/notesMasters/notesMaster1.xml" Id="Ra32b45a3cfac468c" /></Relationships>
</file>

<file path=ppt/notesSlides/_rels/notesSlide6.xml.rels>&#65279;<?xml version="1.0" encoding="utf-8"?><Relationships xmlns="http://schemas.openxmlformats.org/package/2006/relationships"><Relationship Type="http://schemas.openxmlformats.org/officeDocument/2006/relationships/slide" Target="/ppt/slides/slide6.xml" Id="R680b9e4bc7c543f3" /><Relationship Type="http://schemas.openxmlformats.org/officeDocument/2006/relationships/notesMaster" Target="/ppt/notesMasters/notesMaster1.xml" Id="Rb5f39e5eb8814204" /></Relationships>
</file>

<file path=ppt/notesSlides/_rels/notesSlide7.xml.rels>&#65279;<?xml version="1.0" encoding="utf-8"?><Relationships xmlns="http://schemas.openxmlformats.org/package/2006/relationships"><Relationship Type="http://schemas.openxmlformats.org/officeDocument/2006/relationships/slide" Target="/ppt/slides/slide7.xml" Id="Rfbbf794e7e5342bd" /><Relationship Type="http://schemas.openxmlformats.org/officeDocument/2006/relationships/notesMaster" Target="/ppt/notesMasters/notesMaster1.xml" Id="R8d123609f55240de" /></Relationships>
</file>

<file path=ppt/notesSlides/_rels/notesSlide8.xml.rels>&#65279;<?xml version="1.0" encoding="utf-8"?><Relationships xmlns="http://schemas.openxmlformats.org/package/2006/relationships"><Relationship Type="http://schemas.openxmlformats.org/officeDocument/2006/relationships/slide" Target="/ppt/slides/slide8.xml" Id="Rddcf2bd4b59246ec" /><Relationship Type="http://schemas.openxmlformats.org/officeDocument/2006/relationships/notesMaster" Target="/ppt/notesMasters/notesMaster1.xml" Id="Rb0ce197e7318499c" /></Relationships>
</file>

<file path=ppt/notesSlides/_rels/notesSlide9.xml.rels>&#65279;<?xml version="1.0" encoding="utf-8"?><Relationships xmlns="http://schemas.openxmlformats.org/package/2006/relationships"><Relationship Type="http://schemas.openxmlformats.org/officeDocument/2006/relationships/slide" Target="/ppt/slides/slide9.xml" Id="R036e697d36304be7" /><Relationship Type="http://schemas.openxmlformats.org/officeDocument/2006/relationships/notesMaster" Target="/ppt/notesMasters/notesMaster1.xml" Id="R756673b96da24a5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7bd27317d2c4fb5" /><Relationship Type="http://schemas.openxmlformats.org/officeDocument/2006/relationships/notesMaster" Target="/ppt/notesMasters/notesMaster1.xml" Id="R645c46084cba49b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86f658bfcf148d0" /><Relationship Type="http://schemas.openxmlformats.org/officeDocument/2006/relationships/notesMaster" Target="/ppt/notesMasters/notesMaster1.xml" Id="R24dd2cd374ad438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57a944f7ec4488e" /><Relationship Type="http://schemas.openxmlformats.org/officeDocument/2006/relationships/notesMaster" Target="/ppt/notesMasters/notesMaster1.xml" Id="R4fb6e77a1d074d4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class: complete Python, Node, TeX and model smoke tests. This lab begins with eight raw CSVs, not a prejoined database. Keep one AI conversation and pause after each stage until the group says next.</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colors identify the teaching task. Labels repeat the color meaning so the deck does not rely on color perception alone.</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80-minute route: setup2; inspect/mapCSV12; customer reasoning10; SQL/cohorts16; charts10; experiment10; model12; report8. Dependencies must be installed before class. These are time budgets, not an invitation to skip a stage automatically.</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stage1. Open diagrams/source-systems.html and inspection.sql. The documented person_id is a clean joining key; there is no planted identity puzzle. A shared key does not erase grain, units or clock differences. Aggregate campaign spend before joining it to customer outcomes.</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Stage2 group decision, about3minutes. Stated need directly describes the intended onboarding objective, so it is the more defensible starting representation for this design. It does not prove everyone with the same need wants the identical experience, nor establish a causal benefit of tailored onboarding. The two conceptual maps are hypotheses. At stage4 inspect the actual six-month within-group variance; the advantage in this synthetic data is modest. Do not announce a predictive finding before constructing the SQL evidence.</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stage3. Inspect executed.sql and at least one named derived view. The return values are not sufficient: ask the AI to explain why it joins that grain and which assertions protect the money and eligible-person denominators.</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percentage uses the original acquired cohort as denominator. Contractual retention is derived from renewal status; it is not interchangeable with a product event or payment in a particular month. Age0 is the first paid month. Selected observed rows are displayed without interpolation.</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Saved SQL output: tables/cohort_totals.csv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Stage4 group decision, about3minutes. Every panel uses the same retained-share scale and age0–11 axis. Each curve is conditional on one joining cohort, channel and pre-acquisition need. July2025 ends at observed age5; missing future values are gaps, never zeros. All four age5 comparisons favor July2025 over January2024 in these synthetic data, which supports investigating within-group improvement rather than treating the whole aggregate difference as a mix change. This is descriptive, not a causal channel effect. The report separately contrasts retained people with retained revenue.</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Saved SQL output: tables/cohort_age_summary.csv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Stage4. All24 monthly joining cohorts appear. Exact SQL cohort layers sum to company totals. Blank pre-acquisition months are displayed as zero because those customers do not yet belong to the firm. This differs from a cohort triangle’s unobserved future ages. Inspect acquisition spending and contribution as separate company series.</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Saved SQL output: tables/company_month.csv</a:t>
            </a:r>
          </a:p>
          <a:p xmlns:a="http://schemas.openxmlformats.org/drawingml/2006/main">
            <a:r>
              <a:t>Saved SQL output: tables/company_totals.csv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Discuss4minutes at stage5. Partner/build_skill has the stronger incremental contribution-after-media point estimate; Search/save_time is near break-even. Recommend a bounded repeat pilot, preserving eligibility and the evaluation window, rather than claiming certain superiority or optimal scale. These are distinct tested populations. Inspect uncertainty and keep control conversions in the baseline. Do not use predicted buyerLTV as an experimental lifetime treatment effect.</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Saved SQL output: tables/experiment_effects.csv</a:t>
            </a:r>
          </a:p>
          <a:p xmlns:a="http://schemas.openxmlformats.org/drawingml/2006/main">
            <a:r>
              <a:t>Saved SQL output: tables/experiment_summary.csv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Stage6. Inspect forecast_curve.csv, cohort_valuation.csv and the held-out validation outputs. First receipt discount is1/(1.01), even though its age index is0. Read the model’s economics assumptions and parameter-uncertainty boundary in the generated report. Do not compare a 12-month forecast with a24-month realized total.</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Stage7. The group supplies final_verdict and recommended_action. The AI may help express the judgment but should not substitute an unsupported conclusion. The report records the learner choices hash and evidence hashes. Ask whether the recommendation follows from observed, predicted or experimental evidence, and name the uncertainty that could change it.</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41adde9a0fb48c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8150d18b3fd4d1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068412f65e3485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8d60a633aad417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00649873bd449e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3a278bdbdbe46c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A75515B-AC53-4105-B6F1-A5B98A1DE86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5A24368-D96D-4B26-9C7E-6281670979F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F95B157-173D-4785-9F4C-7CE98CEFB6C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4F09813-693C-47F8-AB39-DDF7198D564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C82DE5B-38D5-4F1F-8E51-D3E40E4CC87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D7BBC14-CC47-4837-853F-0A2167D08D1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A766480-B6DB-43BA-BA1C-A22BA8D1176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9737D02-FE2C-44C7-A7E0-74B34432CAF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8B710B2-1F62-4C92-8CD4-90CDB2FFD9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7004EF-BE7C-4C06-96C0-E33DAD2F1B3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ca26125fa9a46e9" /><Relationship Type="http://schemas.openxmlformats.org/officeDocument/2006/relationships/slideLayout" Target="/ppt/slideLayouts/slideLayout1.xml" Id="R3b9c728115504ff7" /><Relationship Type="http://schemas.openxmlformats.org/officeDocument/2006/relationships/slideLayout" Target="/ppt/slideLayouts/slideLayout2.xml" Id="R0c6a6e4659fc43f1" /><Relationship Type="http://schemas.openxmlformats.org/officeDocument/2006/relationships/slideLayout" Target="/ppt/slideLayouts/slideLayout3.xml" Id="R211a3cfd11eb4599" /><Relationship Type="http://schemas.openxmlformats.org/officeDocument/2006/relationships/slideLayout" Target="/ppt/slideLayouts/slideLayout4.xml" Id="R57f6b1e1f6e94e26" /><Relationship Type="http://schemas.openxmlformats.org/officeDocument/2006/relationships/slideLayout" Target="/ppt/slideLayouts/slideLayout5.xml" Id="R67d9c60e63a247f6" /><Relationship Type="http://schemas.openxmlformats.org/officeDocument/2006/relationships/slideLayout" Target="/ppt/slideLayouts/slideLayout6.xml" Id="R72e9b0be2a72425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b9c728115504ff7"/>
    <p:sldLayoutId xmlns:r="http://schemas.openxmlformats.org/officeDocument/2006/relationships" id="2147483650" r:id="R0c6a6e4659fc43f1"/>
    <p:sldLayoutId xmlns:r="http://schemas.openxmlformats.org/officeDocument/2006/relationships" id="2147483651" r:id="R211a3cfd11eb4599"/>
    <p:sldLayoutId xmlns:r="http://schemas.openxmlformats.org/officeDocument/2006/relationships" id="2147483652" r:id="R57f6b1e1f6e94e26"/>
    <p:sldLayoutId xmlns:r="http://schemas.openxmlformats.org/officeDocument/2006/relationships" id="2147483653" r:id="R67d9c60e63a247f6"/>
    <p:sldLayoutId xmlns:r="http://schemas.openxmlformats.org/officeDocument/2006/relationships" id="2147483654" r:id="R72e9b0be2a72425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96c405d13ad4285" /><Relationship Type="http://schemas.openxmlformats.org/officeDocument/2006/relationships/notesSlide" Target="/ppt/notesSlides/notesSlide1.xml" Id="R0c98ad98b3ae466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62296eb50024e6d" /><Relationship Type="http://schemas.openxmlformats.org/officeDocument/2006/relationships/notesSlide" Target="/ppt/notesSlides/notesSlide2.xml" Id="R22f5ac10bf43410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a1dd026906a4a7b" /><Relationship Type="http://schemas.openxmlformats.org/officeDocument/2006/relationships/notesSlide" Target="/ppt/notesSlides/notesSlide3.xml" Id="Rd76788fead6249a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57d6b63405d4b85" /><Relationship Type="http://schemas.openxmlformats.org/officeDocument/2006/relationships/notesSlide" Target="/ppt/notesSlides/notesSlide4.xml" Id="R3bc21ef9b66847c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1e15c5c9dfb430e" /><Relationship Type="http://schemas.openxmlformats.org/officeDocument/2006/relationships/notesSlide" Target="/ppt/notesSlides/notesSlide5.xml" Id="R901d7b492b0147b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410a4b836624a55" /><Relationship Type="http://schemas.openxmlformats.org/officeDocument/2006/relationships/notesSlide" Target="/ppt/notesSlides/notesSlide6.xml" Id="R5662311309ef4fa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f096d24ba33428e" /><Relationship Type="http://schemas.openxmlformats.org/officeDocument/2006/relationships/notesSlide" Target="/ppt/notesSlides/notesSlide7.xml" Id="R999e6842b7c44c2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59ebb8d90414b12" /><Relationship Type="http://schemas.openxmlformats.org/officeDocument/2006/relationships/chart" Target="/ppt/slides/charts/chart1.xml" Id="Rf39151a1b3d64592" /><Relationship Type="http://schemas.openxmlformats.org/officeDocument/2006/relationships/chart" Target="/ppt/slides/charts/chart2.xml" Id="Rc6de1baec5dc4143" /><Relationship Type="http://schemas.openxmlformats.org/officeDocument/2006/relationships/chart" Target="/ppt/slides/charts/chart3.xml" Id="Rb42be948e9704b7d" /><Relationship Type="http://schemas.openxmlformats.org/officeDocument/2006/relationships/chart" Target="/ppt/slides/charts/chart4.xml" Id="Rb9e316d0201d4bcc" /><Relationship Type="http://schemas.openxmlformats.org/officeDocument/2006/relationships/notesSlide" Target="/ppt/notesSlides/notesSlide8.xml" Id="Rbc1c9bf259b6422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aed00cdc92845a1" /><Relationship Type="http://schemas.openxmlformats.org/officeDocument/2006/relationships/chart" Target="/ppt/slides/charts/chart5.xml" Id="Rad8b27ee23e74669" /><Relationship Type="http://schemas.openxmlformats.org/officeDocument/2006/relationships/notesSlide" Target="/ppt/notesSlides/notesSlide9.xml" Id="R16e125cb2a6842f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f4f82421d09411c" /><Relationship Type="http://schemas.openxmlformats.org/officeDocument/2006/relationships/notesSlide" Target="/ppt/notesSlides/notesSlide10.xml" Id="Rce56692d58c7407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71011daaf2b4db7" /><Relationship Type="http://schemas.openxmlformats.org/officeDocument/2006/relationships/notesSlide" Target="/ppt/notesSlides/notesSlide11.xml" Id="Rb585e35323d0429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66b9ad10b824e72" /><Relationship Type="http://schemas.openxmlformats.org/officeDocument/2006/relationships/notesSlide" Target="/ppt/notesSlides/notesSlide12.xml" Id="R322824121fd7411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575" b="1">
                <a:solidFill>
                  <a:srgbClr val="172D3C"/>
                </a:solidFill>
                <a:latin typeface="Arial"/>
                <a:ea typeface="Arial"/>
                <a:cs typeface="Arial"/>
              </a:rPr>
              <a:t>search / save time</a:t>
            </a:r>
          </a:p>
        </c:rich>
      </c:tx>
      <c:overlay val="0"/>
      <c:txPr>
        <a:bodyPr xmlns:a="http://schemas.openxmlformats.org/drawingml/2006/main" anchorCtr="1"/>
        <a:lstStyle xmlns:a="http://schemas.openxmlformats.org/drawingml/2006/main"/>
        <a:p xmlns:a="http://schemas.openxmlformats.org/drawingml/2006/main">
          <a:pPr>
            <a:defRPr sz="1575" b="1">
              <a:solidFill>
                <a:srgbClr val="172D3C"/>
              </a:solidFill>
              <a:latin typeface="Arial"/>
              <a:ea typeface="Arial"/>
              <a:cs typeface="Arial"/>
            </a:defRPr>
          </a:pPr>
        </a:p>
      </c:txPr>
    </c:title>
    <c:plotArea>
      <c:lineChart>
        <c:grouping val="standard"/>
        <c:varyColors val="0"/>
        <c:ser>
          <c:idx val="0"/>
          <c:order val="0"/>
          <c:tx>
            <c:v>2024-01</c:v>
          </c:tx>
          <c:spPr>
            <a:ln xmlns:a="http://schemas.openxmlformats.org/drawingml/2006/main" w="19050">
              <a:solidFill>
                <a:srgbClr val="687780"/>
              </a:solidFill>
            </a:ln>
          </c:spPr>
          <c:marker>
            <c:symbol val="circle"/>
            <c:size val="4"/>
            <c:spPr>
              <a:solidFill xmlns:a="http://schemas.openxmlformats.org/drawingml/2006/main">
                <a:srgbClr val="687780"/>
              </a:solidFill>
            </c:spPr>
          </c:marker>
          <c:cat>
            <c:numRef>
              <c:f>'Chart Data'!$A$2:$A$13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Data'!$B$2:$B$13</c:f>
              <c:numCache>
                <c:formatCode>0%</c:formatCode>
                <c:ptCount val="12"/>
                <c:pt idx="0">
                  <c:v>1</c:v>
                </c:pt>
                <c:pt idx="1">
                  <c:v>0.673913043478</c:v>
                </c:pt>
                <c:pt idx="2">
                  <c:v>0.586956521739</c:v>
                </c:pt>
                <c:pt idx="3">
                  <c:v>0.521739130435</c:v>
                </c:pt>
                <c:pt idx="4">
                  <c:v>0.45652173913</c:v>
                </c:pt>
                <c:pt idx="5">
                  <c:v>0.434782608696</c:v>
                </c:pt>
                <c:pt idx="6">
                  <c:v>0.413043478261</c:v>
                </c:pt>
                <c:pt idx="7">
                  <c:v>0.391304347826</c:v>
                </c:pt>
                <c:pt idx="8">
                  <c:v>0.369565217391</c:v>
                </c:pt>
                <c:pt idx="9">
                  <c:v>0.347826086957</c:v>
                </c:pt>
                <c:pt idx="10">
                  <c:v>0.282608695652</c:v>
                </c:pt>
                <c:pt idx="11">
                  <c:v>0.260869565217</c:v>
                </c:pt>
              </c:numCache>
            </c:numRef>
          </c:val>
          <c:smooth val="0"/>
        </c:ser>
        <c:ser>
          <c:idx val="1"/>
          <c:order val="1"/>
          <c:tx>
            <c:v>2025-01</c:v>
          </c:tx>
          <c:spPr>
            <a:ln xmlns:a="http://schemas.openxmlformats.org/drawingml/2006/main" w="19050">
              <a:solidFill>
                <a:srgbClr val="B78431"/>
              </a:solidFill>
            </a:ln>
          </c:spPr>
          <c:marker>
            <c:symbol val="circle"/>
            <c:size val="4"/>
            <c:spPr>
              <a:solidFill xmlns:a="http://schemas.openxmlformats.org/drawingml/2006/main">
                <a:srgbClr val="B78431"/>
              </a:solidFill>
            </c:spPr>
          </c:marker>
          <c:cat>
            <c:numRef>
              <c:f>'Chart Data'!$C$2:$C$13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Data'!$D$2:$D$13</c:f>
              <c:numCache>
                <c:formatCode>0%</c:formatCode>
                <c:ptCount val="12"/>
                <c:pt idx="0">
                  <c:v>1</c:v>
                </c:pt>
                <c:pt idx="1">
                  <c:v>0.727272727273</c:v>
                </c:pt>
                <c:pt idx="2">
                  <c:v>0.636363636364</c:v>
                </c:pt>
                <c:pt idx="3">
                  <c:v>0.581818181818</c:v>
                </c:pt>
                <c:pt idx="4">
                  <c:v>0.563636363636</c:v>
                </c:pt>
                <c:pt idx="5">
                  <c:v>0.563636363636</c:v>
                </c:pt>
                <c:pt idx="6">
                  <c:v>0.527272727273</c:v>
                </c:pt>
                <c:pt idx="7">
                  <c:v>0.509090909091</c:v>
                </c:pt>
                <c:pt idx="8">
                  <c:v>0.472727272727</c:v>
                </c:pt>
                <c:pt idx="9">
                  <c:v>0.418181818182</c:v>
                </c:pt>
                <c:pt idx="10">
                  <c:v>0.4</c:v>
                </c:pt>
                <c:pt idx="11">
                  <c:v>0.381818181818</c:v>
                </c:pt>
              </c:numCache>
            </c:numRef>
          </c:val>
          <c:smooth val="0"/>
        </c:ser>
        <c:ser>
          <c:idx val="2"/>
          <c:order val="2"/>
          <c:tx>
            <c:v>2025-07</c:v>
          </c:tx>
          <c:spPr>
            <a:ln xmlns:a="http://schemas.openxmlformats.org/drawingml/2006/main" w="19050">
              <a:solidFill>
                <a:srgbClr val="087F8C"/>
              </a:solidFill>
            </a:ln>
          </c:spPr>
          <c:marker>
            <c:symbol val="circle"/>
            <c:size val="4"/>
            <c:spPr>
              <a:solidFill xmlns:a="http://schemas.openxmlformats.org/drawingml/2006/main">
                <a:srgbClr val="087F8C"/>
              </a:solidFill>
            </c:spPr>
          </c:marker>
          <c:cat>
            <c:numRef>
              <c:f>'Chart Data'!$E$2:$E$7</c:f>
              <c:numCache>
                <c:formatCode>0</c:formatCode>
                <c:ptCount val="6"/>
                <c:pt idx="0">
                  <c:v>0</c:v>
                </c:pt>
                <c:pt idx="1">
                  <c:v>1</c:v>
                </c:pt>
                <c:pt idx="2">
                  <c:v>2</c:v>
                </c:pt>
                <c:pt idx="3">
                  <c:v>3</c:v>
                </c:pt>
                <c:pt idx="4">
                  <c:v>4</c:v>
                </c:pt>
                <c:pt idx="5">
                  <c:v>5</c:v>
                </c:pt>
              </c:numCache>
            </c:numRef>
          </c:cat>
          <c:val>
            <c:numRef>
              <c:f>'Chart Data'!$F$2:$F$7</c:f>
              <c:numCache>
                <c:formatCode>0%</c:formatCode>
                <c:ptCount val="6"/>
                <c:pt idx="0">
                  <c:v>1</c:v>
                </c:pt>
                <c:pt idx="1">
                  <c:v>0.709677419355</c:v>
                </c:pt>
                <c:pt idx="2">
                  <c:v>0.645161290323</c:v>
                </c:pt>
                <c:pt idx="3">
                  <c:v>0.596774193548</c:v>
                </c:pt>
                <c:pt idx="4">
                  <c:v>0.564516129032</c:v>
                </c:pt>
                <c:pt idx="5">
                  <c:v>0.532258064516</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Age</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Retained</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50112"/>
        <c:crossBetween val="between"/>
        <c:majorUnit val="0.5"/>
      </c:valAx>
    </c:plotArea>
    <c:plotVisOnly val="1"/>
    <c:dispBlanksAs val="gap"/>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575" b="1">
                <a:solidFill>
                  <a:srgbClr val="172D3C"/>
                </a:solidFill>
                <a:latin typeface="Arial"/>
                <a:ea typeface="Arial"/>
                <a:cs typeface="Arial"/>
              </a:rPr>
              <a:t>search / build skill</a:t>
            </a:r>
          </a:p>
        </c:rich>
      </c:tx>
      <c:overlay val="0"/>
      <c:txPr>
        <a:bodyPr xmlns:a="http://schemas.openxmlformats.org/drawingml/2006/main" anchorCtr="1"/>
        <a:lstStyle xmlns:a="http://schemas.openxmlformats.org/drawingml/2006/main"/>
        <a:p xmlns:a="http://schemas.openxmlformats.org/drawingml/2006/main">
          <a:pPr>
            <a:defRPr sz="1575" b="1">
              <a:solidFill>
                <a:srgbClr val="172D3C"/>
              </a:solidFill>
              <a:latin typeface="Arial"/>
              <a:ea typeface="Arial"/>
              <a:cs typeface="Arial"/>
            </a:defRPr>
          </a:pPr>
        </a:p>
      </c:txPr>
    </c:title>
    <c:plotArea>
      <c:lineChart>
        <c:grouping val="standard"/>
        <c:varyColors val="0"/>
        <c:ser>
          <c:idx val="0"/>
          <c:order val="0"/>
          <c:tx>
            <c:v>2024-01</c:v>
          </c:tx>
          <c:spPr>
            <a:ln xmlns:a="http://schemas.openxmlformats.org/drawingml/2006/main" w="19050">
              <a:solidFill>
                <a:srgbClr val="687780"/>
              </a:solidFill>
            </a:ln>
          </c:spPr>
          <c:marker>
            <c:symbol val="circle"/>
            <c:size val="4"/>
            <c:spPr>
              <a:solidFill xmlns:a="http://schemas.openxmlformats.org/drawingml/2006/main">
                <a:srgbClr val="687780"/>
              </a:solidFill>
            </c:spPr>
          </c:marker>
          <c:cat>
            <c:numRef>
              <c:f>'Chart Data'!$A$2:$A$13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Data'!$B$2:$B$13</c:f>
              <c:numCache>
                <c:formatCode>0%</c:formatCode>
                <c:ptCount val="12"/>
                <c:pt idx="0">
                  <c:v>1</c:v>
                </c:pt>
                <c:pt idx="1">
                  <c:v>0.828571428571</c:v>
                </c:pt>
                <c:pt idx="2">
                  <c:v>0.742857142857</c:v>
                </c:pt>
                <c:pt idx="3">
                  <c:v>0.742857142857</c:v>
                </c:pt>
                <c:pt idx="4">
                  <c:v>0.742857142857</c:v>
                </c:pt>
                <c:pt idx="5">
                  <c:v>0.657142857143</c:v>
                </c:pt>
                <c:pt idx="6">
                  <c:v>0.657142857143</c:v>
                </c:pt>
                <c:pt idx="7">
                  <c:v>0.657142857143</c:v>
                </c:pt>
                <c:pt idx="8">
                  <c:v>0.657142857143</c:v>
                </c:pt>
                <c:pt idx="9">
                  <c:v>0.6</c:v>
                </c:pt>
                <c:pt idx="10">
                  <c:v>0.571428571429</c:v>
                </c:pt>
                <c:pt idx="11">
                  <c:v>0.571428571429</c:v>
                </c:pt>
              </c:numCache>
            </c:numRef>
          </c:val>
          <c:smooth val="0"/>
        </c:ser>
        <c:ser>
          <c:idx val="1"/>
          <c:order val="1"/>
          <c:tx>
            <c:v>2025-01</c:v>
          </c:tx>
          <c:spPr>
            <a:ln xmlns:a="http://schemas.openxmlformats.org/drawingml/2006/main" w="19050">
              <a:solidFill>
                <a:srgbClr val="B78431"/>
              </a:solidFill>
            </a:ln>
          </c:spPr>
          <c:marker>
            <c:symbol val="circle"/>
            <c:size val="4"/>
            <c:spPr>
              <a:solidFill xmlns:a="http://schemas.openxmlformats.org/drawingml/2006/main">
                <a:srgbClr val="B78431"/>
              </a:solidFill>
            </c:spPr>
          </c:marker>
          <c:cat>
            <c:numRef>
              <c:f>'Chart Data'!$C$2:$C$13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Data'!$D$2:$D$13</c:f>
              <c:numCache>
                <c:formatCode>0%</c:formatCode>
                <c:ptCount val="12"/>
                <c:pt idx="0">
                  <c:v>1</c:v>
                </c:pt>
                <c:pt idx="1">
                  <c:v>0.823529411765</c:v>
                </c:pt>
                <c:pt idx="2">
                  <c:v>0.78431372549</c:v>
                </c:pt>
                <c:pt idx="3">
                  <c:v>0.764705882353</c:v>
                </c:pt>
                <c:pt idx="4">
                  <c:v>0.764705882353</c:v>
                </c:pt>
                <c:pt idx="5">
                  <c:v>0.745098039216</c:v>
                </c:pt>
                <c:pt idx="6">
                  <c:v>0.725490196078</c:v>
                </c:pt>
                <c:pt idx="7">
                  <c:v>0.705882352941</c:v>
                </c:pt>
                <c:pt idx="8">
                  <c:v>0.686274509804</c:v>
                </c:pt>
                <c:pt idx="9">
                  <c:v>0.647058823529</c:v>
                </c:pt>
                <c:pt idx="10">
                  <c:v>0.607843137255</c:v>
                </c:pt>
                <c:pt idx="11">
                  <c:v>0.607843137255</c:v>
                </c:pt>
              </c:numCache>
            </c:numRef>
          </c:val>
          <c:smooth val="0"/>
        </c:ser>
        <c:ser>
          <c:idx val="2"/>
          <c:order val="2"/>
          <c:tx>
            <c:v>2025-07</c:v>
          </c:tx>
          <c:spPr>
            <a:ln xmlns:a="http://schemas.openxmlformats.org/drawingml/2006/main" w="19050">
              <a:solidFill>
                <a:srgbClr val="087F8C"/>
              </a:solidFill>
            </a:ln>
          </c:spPr>
          <c:marker>
            <c:symbol val="circle"/>
            <c:size val="4"/>
            <c:spPr>
              <a:solidFill xmlns:a="http://schemas.openxmlformats.org/drawingml/2006/main">
                <a:srgbClr val="087F8C"/>
              </a:solidFill>
            </c:spPr>
          </c:marker>
          <c:cat>
            <c:numRef>
              <c:f>'Chart Data'!$E$2:$E$7</c:f>
              <c:numCache>
                <c:formatCode>0</c:formatCode>
                <c:ptCount val="6"/>
                <c:pt idx="0">
                  <c:v>0</c:v>
                </c:pt>
                <c:pt idx="1">
                  <c:v>1</c:v>
                </c:pt>
                <c:pt idx="2">
                  <c:v>2</c:v>
                </c:pt>
                <c:pt idx="3">
                  <c:v>3</c:v>
                </c:pt>
                <c:pt idx="4">
                  <c:v>4</c:v>
                </c:pt>
                <c:pt idx="5">
                  <c:v>5</c:v>
                </c:pt>
              </c:numCache>
            </c:numRef>
          </c:cat>
          <c:val>
            <c:numRef>
              <c:f>'Chart Data'!$F$2:$F$7</c:f>
              <c:numCache>
                <c:formatCode>0%</c:formatCode>
                <c:ptCount val="6"/>
                <c:pt idx="0">
                  <c:v>1</c:v>
                </c:pt>
                <c:pt idx="1">
                  <c:v>0.881355932203</c:v>
                </c:pt>
                <c:pt idx="2">
                  <c:v>0.830508474576</c:v>
                </c:pt>
                <c:pt idx="3">
                  <c:v>0.796610169492</c:v>
                </c:pt>
                <c:pt idx="4">
                  <c:v>0.779661016949</c:v>
                </c:pt>
                <c:pt idx="5">
                  <c:v>0.779661016949</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Age</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Retained</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50112"/>
        <c:crossBetween val="between"/>
        <c:majorUnit val="0.5"/>
      </c:valAx>
    </c:plotArea>
    <c:plotVisOnly val="1"/>
    <c:dispBlanksAs val="gap"/>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575" b="1">
                <a:solidFill>
                  <a:srgbClr val="172D3C"/>
                </a:solidFill>
                <a:latin typeface="Arial"/>
                <a:ea typeface="Arial"/>
                <a:cs typeface="Arial"/>
              </a:rPr>
              <a:t>partner / save time</a:t>
            </a:r>
          </a:p>
        </c:rich>
      </c:tx>
      <c:overlay val="0"/>
      <c:txPr>
        <a:bodyPr xmlns:a="http://schemas.openxmlformats.org/drawingml/2006/main" anchorCtr="1"/>
        <a:lstStyle xmlns:a="http://schemas.openxmlformats.org/drawingml/2006/main"/>
        <a:p xmlns:a="http://schemas.openxmlformats.org/drawingml/2006/main">
          <a:pPr>
            <a:defRPr sz="1575" b="1">
              <a:solidFill>
                <a:srgbClr val="172D3C"/>
              </a:solidFill>
              <a:latin typeface="Arial"/>
              <a:ea typeface="Arial"/>
              <a:cs typeface="Arial"/>
            </a:defRPr>
          </a:pPr>
        </a:p>
      </c:txPr>
    </c:title>
    <c:plotArea>
      <c:lineChart>
        <c:grouping val="standard"/>
        <c:varyColors val="0"/>
        <c:ser>
          <c:idx val="0"/>
          <c:order val="0"/>
          <c:tx>
            <c:v>2024-01</c:v>
          </c:tx>
          <c:spPr>
            <a:ln xmlns:a="http://schemas.openxmlformats.org/drawingml/2006/main" w="19050">
              <a:solidFill>
                <a:srgbClr val="687780"/>
              </a:solidFill>
            </a:ln>
          </c:spPr>
          <c:marker>
            <c:symbol val="circle"/>
            <c:size val="4"/>
            <c:spPr>
              <a:solidFill xmlns:a="http://schemas.openxmlformats.org/drawingml/2006/main">
                <a:srgbClr val="687780"/>
              </a:solidFill>
            </c:spPr>
          </c:marker>
          <c:cat>
            <c:numRef>
              <c:f>'Chart Data'!$A$2:$A$13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Data'!$B$2:$B$13</c:f>
              <c:numCache>
                <c:formatCode>0%</c:formatCode>
                <c:ptCount val="12"/>
                <c:pt idx="0">
                  <c:v>1</c:v>
                </c:pt>
                <c:pt idx="1">
                  <c:v>0.78125</c:v>
                </c:pt>
                <c:pt idx="2">
                  <c:v>0.75</c:v>
                </c:pt>
                <c:pt idx="3">
                  <c:v>0.65625</c:v>
                </c:pt>
                <c:pt idx="4">
                  <c:v>0.59375</c:v>
                </c:pt>
                <c:pt idx="5">
                  <c:v>0.5625</c:v>
                </c:pt>
                <c:pt idx="6">
                  <c:v>0.46875</c:v>
                </c:pt>
                <c:pt idx="7">
                  <c:v>0.375</c:v>
                </c:pt>
                <c:pt idx="8">
                  <c:v>0.375</c:v>
                </c:pt>
                <c:pt idx="9">
                  <c:v>0.375</c:v>
                </c:pt>
                <c:pt idx="10">
                  <c:v>0.34375</c:v>
                </c:pt>
                <c:pt idx="11">
                  <c:v>0.3125</c:v>
                </c:pt>
              </c:numCache>
            </c:numRef>
          </c:val>
          <c:smooth val="0"/>
        </c:ser>
        <c:ser>
          <c:idx val="1"/>
          <c:order val="1"/>
          <c:tx>
            <c:v>2025-01</c:v>
          </c:tx>
          <c:spPr>
            <a:ln xmlns:a="http://schemas.openxmlformats.org/drawingml/2006/main" w="19050">
              <a:solidFill>
                <a:srgbClr val="B78431"/>
              </a:solidFill>
            </a:ln>
          </c:spPr>
          <c:marker>
            <c:symbol val="circle"/>
            <c:size val="4"/>
            <c:spPr>
              <a:solidFill xmlns:a="http://schemas.openxmlformats.org/drawingml/2006/main">
                <a:srgbClr val="B78431"/>
              </a:solidFill>
            </c:spPr>
          </c:marker>
          <c:cat>
            <c:numRef>
              <c:f>'Chart Data'!$C$2:$C$13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Data'!$D$2:$D$13</c:f>
              <c:numCache>
                <c:formatCode>0%</c:formatCode>
                <c:ptCount val="12"/>
                <c:pt idx="0">
                  <c:v>1</c:v>
                </c:pt>
                <c:pt idx="1">
                  <c:v>0.8</c:v>
                </c:pt>
                <c:pt idx="2">
                  <c:v>0.725</c:v>
                </c:pt>
                <c:pt idx="3">
                  <c:v>0.625</c:v>
                </c:pt>
                <c:pt idx="4">
                  <c:v>0.575</c:v>
                </c:pt>
                <c:pt idx="5">
                  <c:v>0.55</c:v>
                </c:pt>
                <c:pt idx="6">
                  <c:v>0.525</c:v>
                </c:pt>
                <c:pt idx="7">
                  <c:v>0.5</c:v>
                </c:pt>
                <c:pt idx="8">
                  <c:v>0.475</c:v>
                </c:pt>
                <c:pt idx="9">
                  <c:v>0.4</c:v>
                </c:pt>
                <c:pt idx="10">
                  <c:v>0.4</c:v>
                </c:pt>
                <c:pt idx="11">
                  <c:v>0.375</c:v>
                </c:pt>
              </c:numCache>
            </c:numRef>
          </c:val>
          <c:smooth val="0"/>
        </c:ser>
        <c:ser>
          <c:idx val="2"/>
          <c:order val="2"/>
          <c:tx>
            <c:v>2025-07</c:v>
          </c:tx>
          <c:spPr>
            <a:ln xmlns:a="http://schemas.openxmlformats.org/drawingml/2006/main" w="19050">
              <a:solidFill>
                <a:srgbClr val="087F8C"/>
              </a:solidFill>
            </a:ln>
          </c:spPr>
          <c:marker>
            <c:symbol val="circle"/>
            <c:size val="4"/>
            <c:spPr>
              <a:solidFill xmlns:a="http://schemas.openxmlformats.org/drawingml/2006/main">
                <a:srgbClr val="087F8C"/>
              </a:solidFill>
            </c:spPr>
          </c:marker>
          <c:cat>
            <c:numRef>
              <c:f>'Chart Data'!$E$2:$E$7</c:f>
              <c:numCache>
                <c:formatCode>0</c:formatCode>
                <c:ptCount val="6"/>
                <c:pt idx="0">
                  <c:v>0</c:v>
                </c:pt>
                <c:pt idx="1">
                  <c:v>1</c:v>
                </c:pt>
                <c:pt idx="2">
                  <c:v>2</c:v>
                </c:pt>
                <c:pt idx="3">
                  <c:v>3</c:v>
                </c:pt>
                <c:pt idx="4">
                  <c:v>4</c:v>
                </c:pt>
                <c:pt idx="5">
                  <c:v>5</c:v>
                </c:pt>
              </c:numCache>
            </c:numRef>
          </c:cat>
          <c:val>
            <c:numRef>
              <c:f>'Chart Data'!$F$2:$F$7</c:f>
              <c:numCache>
                <c:formatCode>0%</c:formatCode>
                <c:ptCount val="6"/>
                <c:pt idx="0">
                  <c:v>1</c:v>
                </c:pt>
                <c:pt idx="1">
                  <c:v>0.88</c:v>
                </c:pt>
                <c:pt idx="2">
                  <c:v>0.84</c:v>
                </c:pt>
                <c:pt idx="3">
                  <c:v>0.8</c:v>
                </c:pt>
                <c:pt idx="4">
                  <c:v>0.76</c:v>
                </c:pt>
                <c:pt idx="5">
                  <c:v>0.74</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Age</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Retained</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50112"/>
        <c:crossBetween val="between"/>
        <c:majorUnit val="0.5"/>
      </c:valAx>
    </c:plotArea>
    <c:plotVisOnly val="1"/>
    <c:dispBlanksAs val="gap"/>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575" b="1">
                <a:solidFill>
                  <a:srgbClr val="172D3C"/>
                </a:solidFill>
                <a:latin typeface="Arial"/>
                <a:ea typeface="Arial"/>
                <a:cs typeface="Arial"/>
              </a:rPr>
              <a:t>partner / build skill</a:t>
            </a:r>
          </a:p>
        </c:rich>
      </c:tx>
      <c:overlay val="0"/>
      <c:txPr>
        <a:bodyPr xmlns:a="http://schemas.openxmlformats.org/drawingml/2006/main" anchorCtr="1"/>
        <a:lstStyle xmlns:a="http://schemas.openxmlformats.org/drawingml/2006/main"/>
        <a:p xmlns:a="http://schemas.openxmlformats.org/drawingml/2006/main">
          <a:pPr>
            <a:defRPr sz="1575" b="1">
              <a:solidFill>
                <a:srgbClr val="172D3C"/>
              </a:solidFill>
              <a:latin typeface="Arial"/>
              <a:ea typeface="Arial"/>
              <a:cs typeface="Arial"/>
            </a:defRPr>
          </a:pPr>
        </a:p>
      </c:txPr>
    </c:title>
    <c:plotArea>
      <c:lineChart>
        <c:grouping val="standard"/>
        <c:varyColors val="0"/>
        <c:ser>
          <c:idx val="0"/>
          <c:order val="0"/>
          <c:tx>
            <c:v>2024-01</c:v>
          </c:tx>
          <c:spPr>
            <a:ln xmlns:a="http://schemas.openxmlformats.org/drawingml/2006/main" w="19050">
              <a:solidFill>
                <a:srgbClr val="687780"/>
              </a:solidFill>
            </a:ln>
          </c:spPr>
          <c:marker>
            <c:symbol val="circle"/>
            <c:size val="4"/>
            <c:spPr>
              <a:solidFill xmlns:a="http://schemas.openxmlformats.org/drawingml/2006/main">
                <a:srgbClr val="687780"/>
              </a:solidFill>
            </c:spPr>
          </c:marker>
          <c:cat>
            <c:numRef>
              <c:f>'Chart Data'!$A$2:$A$13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Data'!$B$2:$B$13</c:f>
              <c:numCache>
                <c:formatCode>0%</c:formatCode>
                <c:ptCount val="12"/>
                <c:pt idx="0">
                  <c:v>1</c:v>
                </c:pt>
                <c:pt idx="1">
                  <c:v>0.782608695652</c:v>
                </c:pt>
                <c:pt idx="2">
                  <c:v>0.782608695652</c:v>
                </c:pt>
                <c:pt idx="3">
                  <c:v>0.695652173913</c:v>
                </c:pt>
                <c:pt idx="4">
                  <c:v>0.695652173913</c:v>
                </c:pt>
                <c:pt idx="5">
                  <c:v>0.608695652174</c:v>
                </c:pt>
                <c:pt idx="6">
                  <c:v>0.565217391304</c:v>
                </c:pt>
                <c:pt idx="7">
                  <c:v>0.565217391304</c:v>
                </c:pt>
                <c:pt idx="8">
                  <c:v>0.521739130435</c:v>
                </c:pt>
                <c:pt idx="9">
                  <c:v>0.521739130435</c:v>
                </c:pt>
                <c:pt idx="10">
                  <c:v>0.478260869565</c:v>
                </c:pt>
                <c:pt idx="11">
                  <c:v>0.478260869565</c:v>
                </c:pt>
              </c:numCache>
            </c:numRef>
          </c:val>
          <c:smooth val="0"/>
        </c:ser>
        <c:ser>
          <c:idx val="1"/>
          <c:order val="1"/>
          <c:tx>
            <c:v>2025-01</c:v>
          </c:tx>
          <c:spPr>
            <a:ln xmlns:a="http://schemas.openxmlformats.org/drawingml/2006/main" w="19050">
              <a:solidFill>
                <a:srgbClr val="B78431"/>
              </a:solidFill>
            </a:ln>
          </c:spPr>
          <c:marker>
            <c:symbol val="circle"/>
            <c:size val="4"/>
            <c:spPr>
              <a:solidFill xmlns:a="http://schemas.openxmlformats.org/drawingml/2006/main">
                <a:srgbClr val="B78431"/>
              </a:solidFill>
            </c:spPr>
          </c:marker>
          <c:cat>
            <c:numRef>
              <c:f>'Chart Data'!$C$2:$C$13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Data'!$D$2:$D$13</c:f>
              <c:numCache>
                <c:formatCode>0%</c:formatCode>
                <c:ptCount val="12"/>
                <c:pt idx="0">
                  <c:v>1</c:v>
                </c:pt>
                <c:pt idx="1">
                  <c:v>0.805555555556</c:v>
                </c:pt>
                <c:pt idx="2">
                  <c:v>0.777777777778</c:v>
                </c:pt>
                <c:pt idx="3">
                  <c:v>0.777777777778</c:v>
                </c:pt>
                <c:pt idx="4">
                  <c:v>0.75</c:v>
                </c:pt>
                <c:pt idx="5">
                  <c:v>0.722222222222</c:v>
                </c:pt>
                <c:pt idx="6">
                  <c:v>0.722222222222</c:v>
                </c:pt>
                <c:pt idx="7">
                  <c:v>0.694444444444</c:v>
                </c:pt>
                <c:pt idx="8">
                  <c:v>0.666666666667</c:v>
                </c:pt>
                <c:pt idx="9">
                  <c:v>0.666666666667</c:v>
                </c:pt>
                <c:pt idx="10">
                  <c:v>0.638888888889</c:v>
                </c:pt>
                <c:pt idx="11">
                  <c:v>0.638888888889</c:v>
                </c:pt>
              </c:numCache>
            </c:numRef>
          </c:val>
          <c:smooth val="0"/>
        </c:ser>
        <c:ser>
          <c:idx val="2"/>
          <c:order val="2"/>
          <c:tx>
            <c:v>2025-07</c:v>
          </c:tx>
          <c:spPr>
            <a:ln xmlns:a="http://schemas.openxmlformats.org/drawingml/2006/main" w="19050">
              <a:solidFill>
                <a:srgbClr val="087F8C"/>
              </a:solidFill>
            </a:ln>
          </c:spPr>
          <c:marker>
            <c:symbol val="circle"/>
            <c:size val="4"/>
            <c:spPr>
              <a:solidFill xmlns:a="http://schemas.openxmlformats.org/drawingml/2006/main">
                <a:srgbClr val="087F8C"/>
              </a:solidFill>
            </c:spPr>
          </c:marker>
          <c:cat>
            <c:numRef>
              <c:f>'Chart Data'!$E$2:$E$7</c:f>
              <c:numCache>
                <c:formatCode>0</c:formatCode>
                <c:ptCount val="6"/>
                <c:pt idx="0">
                  <c:v>0</c:v>
                </c:pt>
                <c:pt idx="1">
                  <c:v>1</c:v>
                </c:pt>
                <c:pt idx="2">
                  <c:v>2</c:v>
                </c:pt>
                <c:pt idx="3">
                  <c:v>3</c:v>
                </c:pt>
                <c:pt idx="4">
                  <c:v>4</c:v>
                </c:pt>
                <c:pt idx="5">
                  <c:v>5</c:v>
                </c:pt>
              </c:numCache>
            </c:numRef>
          </c:cat>
          <c:val>
            <c:numRef>
              <c:f>'Chart Data'!$F$2:$F$7</c:f>
              <c:numCache>
                <c:formatCode>0%</c:formatCode>
                <c:ptCount val="6"/>
                <c:pt idx="0">
                  <c:v>1</c:v>
                </c:pt>
                <c:pt idx="1">
                  <c:v>0.88</c:v>
                </c:pt>
                <c:pt idx="2">
                  <c:v>0.84</c:v>
                </c:pt>
                <c:pt idx="3">
                  <c:v>0.84</c:v>
                </c:pt>
                <c:pt idx="4">
                  <c:v>0.76</c:v>
                </c:pt>
                <c:pt idx="5">
                  <c:v>0.74</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Age</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Retained</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50112"/>
        <c:crossBetween val="between"/>
        <c:majorUnit val="0.5"/>
      </c:valAx>
    </c:plotArea>
    <c:plotVisOnly val="1"/>
    <c:dispBlanksAs val="gap"/>
  </c:chart>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areaChart>
        <c:grouping val="stacked"/>
        <c:varyColors val="0"/>
        <c:ser>
          <c:idx val="0"/>
          <c:order val="0"/>
          <c:tx>
            <c:v>2024-01</c:v>
          </c:tx>
          <c:spPr>
            <a:solidFill xmlns:a="http://schemas.openxmlformats.org/drawingml/2006/main">
              <a:srgbClr val="364B6F"/>
            </a:solidFill>
            <a:ln xmlns:a="http://schemas.openxmlformats.org/drawingml/2006/main" w="3810">
              <a:solidFill>
                <a:srgbClr val="FFFFFF"/>
              </a:solidFill>
            </a:ln>
          </c:spPr>
          <c:cat>
            <c:strRef>
              <c:f>'Chart Data'!$A$2:$A$25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Data'!$B$2:$B$25</c:f>
              <c:numCache>
                <c:formatCode>#,##0</c:formatCode>
                <c:ptCount val="24"/>
                <c:pt idx="0">
                  <c:v>136</c:v>
                </c:pt>
                <c:pt idx="1">
                  <c:v>103</c:v>
                </c:pt>
                <c:pt idx="2">
                  <c:v>95</c:v>
                </c:pt>
                <c:pt idx="3">
                  <c:v>87</c:v>
                </c:pt>
                <c:pt idx="4">
                  <c:v>82</c:v>
                </c:pt>
                <c:pt idx="5">
                  <c:v>75</c:v>
                </c:pt>
                <c:pt idx="6">
                  <c:v>70</c:v>
                </c:pt>
                <c:pt idx="7">
                  <c:v>66</c:v>
                </c:pt>
                <c:pt idx="8">
                  <c:v>64</c:v>
                </c:pt>
                <c:pt idx="9">
                  <c:v>61</c:v>
                </c:pt>
                <c:pt idx="10">
                  <c:v>55</c:v>
                </c:pt>
                <c:pt idx="11">
                  <c:v>53</c:v>
                </c:pt>
                <c:pt idx="12">
                  <c:v>52</c:v>
                </c:pt>
                <c:pt idx="13">
                  <c:v>50</c:v>
                </c:pt>
                <c:pt idx="14">
                  <c:v>48</c:v>
                </c:pt>
                <c:pt idx="15">
                  <c:v>46</c:v>
                </c:pt>
                <c:pt idx="16">
                  <c:v>42</c:v>
                </c:pt>
                <c:pt idx="17">
                  <c:v>39</c:v>
                </c:pt>
                <c:pt idx="18">
                  <c:v>37</c:v>
                </c:pt>
                <c:pt idx="19">
                  <c:v>35</c:v>
                </c:pt>
                <c:pt idx="20">
                  <c:v>33</c:v>
                </c:pt>
                <c:pt idx="21">
                  <c:v>31</c:v>
                </c:pt>
                <c:pt idx="22">
                  <c:v>31</c:v>
                </c:pt>
                <c:pt idx="23">
                  <c:v>31</c:v>
                </c:pt>
              </c:numCache>
            </c:numRef>
          </c:val>
        </c:ser>
        <c:ser>
          <c:idx val="1"/>
          <c:order val="1"/>
          <c:tx>
            <c:v>2024-02</c:v>
          </c:tx>
          <c:spPr>
            <a:solidFill xmlns:a="http://schemas.openxmlformats.org/drawingml/2006/main">
              <a:srgbClr val="364F70"/>
            </a:solidFill>
            <a:ln xmlns:a="http://schemas.openxmlformats.org/drawingml/2006/main" w="3810">
              <a:solidFill>
                <a:srgbClr val="FFFFFF"/>
              </a:solidFill>
            </a:ln>
          </c:spPr>
          <c:cat>
            <c:strRef>
              <c:f>'Chart Data'!$C$2:$C$25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Data'!$D$2:$D$25</c:f>
              <c:numCache>
                <c:formatCode>#,##0</c:formatCode>
                <c:ptCount val="24"/>
                <c:pt idx="0">
                  <c:v>0</c:v>
                </c:pt>
                <c:pt idx="1">
                  <c:v>147</c:v>
                </c:pt>
                <c:pt idx="2">
                  <c:v>125</c:v>
                </c:pt>
                <c:pt idx="3">
                  <c:v>117</c:v>
                </c:pt>
                <c:pt idx="4">
                  <c:v>104</c:v>
                </c:pt>
                <c:pt idx="5">
                  <c:v>98</c:v>
                </c:pt>
                <c:pt idx="6">
                  <c:v>95</c:v>
                </c:pt>
                <c:pt idx="7">
                  <c:v>93</c:v>
                </c:pt>
                <c:pt idx="8">
                  <c:v>87</c:v>
                </c:pt>
                <c:pt idx="9">
                  <c:v>83</c:v>
                </c:pt>
                <c:pt idx="10">
                  <c:v>81</c:v>
                </c:pt>
                <c:pt idx="11">
                  <c:v>80</c:v>
                </c:pt>
                <c:pt idx="12">
                  <c:v>76</c:v>
                </c:pt>
                <c:pt idx="13">
                  <c:v>74</c:v>
                </c:pt>
                <c:pt idx="14">
                  <c:v>74</c:v>
                </c:pt>
                <c:pt idx="15">
                  <c:v>72</c:v>
                </c:pt>
                <c:pt idx="16">
                  <c:v>71</c:v>
                </c:pt>
                <c:pt idx="17">
                  <c:v>65</c:v>
                </c:pt>
                <c:pt idx="18">
                  <c:v>61</c:v>
                </c:pt>
                <c:pt idx="19">
                  <c:v>58</c:v>
                </c:pt>
                <c:pt idx="20">
                  <c:v>58</c:v>
                </c:pt>
                <c:pt idx="21">
                  <c:v>56</c:v>
                </c:pt>
                <c:pt idx="22">
                  <c:v>52</c:v>
                </c:pt>
                <c:pt idx="23">
                  <c:v>52</c:v>
                </c:pt>
              </c:numCache>
            </c:numRef>
          </c:val>
        </c:ser>
        <c:ser>
          <c:idx val="2"/>
          <c:order val="2"/>
          <c:tx>
            <c:v>2024-03</c:v>
          </c:tx>
          <c:spPr>
            <a:solidFill xmlns:a="http://schemas.openxmlformats.org/drawingml/2006/main">
              <a:srgbClr val="365471"/>
            </a:solidFill>
            <a:ln xmlns:a="http://schemas.openxmlformats.org/drawingml/2006/main" w="3810">
              <a:solidFill>
                <a:srgbClr val="FFFFFF"/>
              </a:solidFill>
            </a:ln>
          </c:spPr>
          <c:cat>
            <c:strRef>
              <c:f>'Chart Data'!$E$2:$E$25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Data'!$F$2:$F$25</c:f>
              <c:numCache>
                <c:formatCode>#,##0</c:formatCode>
                <c:ptCount val="24"/>
                <c:pt idx="0">
                  <c:v>0</c:v>
                </c:pt>
                <c:pt idx="1">
                  <c:v>0</c:v>
                </c:pt>
                <c:pt idx="2">
                  <c:v>150</c:v>
                </c:pt>
                <c:pt idx="3">
                  <c:v>121</c:v>
                </c:pt>
                <c:pt idx="4">
                  <c:v>108</c:v>
                </c:pt>
                <c:pt idx="5">
                  <c:v>99</c:v>
                </c:pt>
                <c:pt idx="6">
                  <c:v>97</c:v>
                </c:pt>
                <c:pt idx="7">
                  <c:v>93</c:v>
                </c:pt>
                <c:pt idx="8">
                  <c:v>89</c:v>
                </c:pt>
                <c:pt idx="9">
                  <c:v>88</c:v>
                </c:pt>
                <c:pt idx="10">
                  <c:v>82</c:v>
                </c:pt>
                <c:pt idx="11">
                  <c:v>74</c:v>
                </c:pt>
                <c:pt idx="12">
                  <c:v>68</c:v>
                </c:pt>
                <c:pt idx="13">
                  <c:v>62</c:v>
                </c:pt>
                <c:pt idx="14">
                  <c:v>60</c:v>
                </c:pt>
                <c:pt idx="15">
                  <c:v>58</c:v>
                </c:pt>
                <c:pt idx="16">
                  <c:v>57</c:v>
                </c:pt>
                <c:pt idx="17">
                  <c:v>54</c:v>
                </c:pt>
                <c:pt idx="18">
                  <c:v>53</c:v>
                </c:pt>
                <c:pt idx="19">
                  <c:v>50</c:v>
                </c:pt>
                <c:pt idx="20">
                  <c:v>48</c:v>
                </c:pt>
                <c:pt idx="21">
                  <c:v>46</c:v>
                </c:pt>
                <c:pt idx="22">
                  <c:v>45</c:v>
                </c:pt>
                <c:pt idx="23">
                  <c:v>42</c:v>
                </c:pt>
              </c:numCache>
            </c:numRef>
          </c:val>
        </c:ser>
        <c:ser>
          <c:idx val="3"/>
          <c:order val="3"/>
          <c:tx>
            <c:v>2024-04</c:v>
          </c:tx>
          <c:spPr>
            <a:solidFill xmlns:a="http://schemas.openxmlformats.org/drawingml/2006/main">
              <a:srgbClr val="365873"/>
            </a:solidFill>
            <a:ln xmlns:a="http://schemas.openxmlformats.org/drawingml/2006/main" w="3810">
              <a:solidFill>
                <a:srgbClr val="FFFFFF"/>
              </a:solidFill>
            </a:ln>
          </c:spPr>
          <c:cat>
            <c:strRef>
              <c:f>'Chart Data'!$G$2:$G$25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Data'!$H$2:$H$25</c:f>
              <c:numCache>
                <c:formatCode>#,##0</c:formatCode>
                <c:ptCount val="24"/>
                <c:pt idx="0">
                  <c:v>0</c:v>
                </c:pt>
                <c:pt idx="1">
                  <c:v>0</c:v>
                </c:pt>
                <c:pt idx="2">
                  <c:v>0</c:v>
                </c:pt>
                <c:pt idx="3">
                  <c:v>158</c:v>
                </c:pt>
                <c:pt idx="4">
                  <c:v>131</c:v>
                </c:pt>
                <c:pt idx="5">
                  <c:v>122</c:v>
                </c:pt>
                <c:pt idx="6">
                  <c:v>110</c:v>
                </c:pt>
                <c:pt idx="7">
                  <c:v>106</c:v>
                </c:pt>
                <c:pt idx="8">
                  <c:v>100</c:v>
                </c:pt>
                <c:pt idx="9">
                  <c:v>95</c:v>
                </c:pt>
                <c:pt idx="10">
                  <c:v>92</c:v>
                </c:pt>
                <c:pt idx="11">
                  <c:v>90</c:v>
                </c:pt>
                <c:pt idx="12">
                  <c:v>86</c:v>
                </c:pt>
                <c:pt idx="13">
                  <c:v>79</c:v>
                </c:pt>
                <c:pt idx="14">
                  <c:v>76</c:v>
                </c:pt>
                <c:pt idx="15">
                  <c:v>74</c:v>
                </c:pt>
                <c:pt idx="16">
                  <c:v>71</c:v>
                </c:pt>
                <c:pt idx="17">
                  <c:v>67</c:v>
                </c:pt>
                <c:pt idx="18">
                  <c:v>63</c:v>
                </c:pt>
                <c:pt idx="19">
                  <c:v>62</c:v>
                </c:pt>
                <c:pt idx="20">
                  <c:v>60</c:v>
                </c:pt>
                <c:pt idx="21">
                  <c:v>59</c:v>
                </c:pt>
                <c:pt idx="22">
                  <c:v>57</c:v>
                </c:pt>
                <c:pt idx="23">
                  <c:v>56</c:v>
                </c:pt>
              </c:numCache>
            </c:numRef>
          </c:val>
        </c:ser>
        <c:ser>
          <c:idx val="4"/>
          <c:order val="4"/>
          <c:tx>
            <c:v>2024-05</c:v>
          </c:tx>
          <c:spPr>
            <a:solidFill xmlns:a="http://schemas.openxmlformats.org/drawingml/2006/main">
              <a:srgbClr val="365C74"/>
            </a:solidFill>
            <a:ln xmlns:a="http://schemas.openxmlformats.org/drawingml/2006/main" w="3810">
              <a:solidFill>
                <a:srgbClr val="FFFFFF"/>
              </a:solidFill>
            </a:ln>
          </c:spPr>
          <c:cat>
            <c:strRef>
              <c:f>'Chart Data'!$I$2:$I$25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Data'!$J$2:$J$25</c:f>
              <c:numCache>
                <c:formatCode>#,##0</c:formatCode>
                <c:ptCount val="24"/>
                <c:pt idx="0">
                  <c:v>0</c:v>
                </c:pt>
                <c:pt idx="1">
                  <c:v>0</c:v>
                </c:pt>
                <c:pt idx="2">
                  <c:v>0</c:v>
                </c:pt>
                <c:pt idx="3">
                  <c:v>0</c:v>
                </c:pt>
                <c:pt idx="4">
                  <c:v>153</c:v>
                </c:pt>
                <c:pt idx="5">
                  <c:v>127</c:v>
                </c:pt>
                <c:pt idx="6">
                  <c:v>122</c:v>
                </c:pt>
                <c:pt idx="7">
                  <c:v>107</c:v>
                </c:pt>
                <c:pt idx="8">
                  <c:v>104</c:v>
                </c:pt>
                <c:pt idx="9">
                  <c:v>101</c:v>
                </c:pt>
                <c:pt idx="10">
                  <c:v>100</c:v>
                </c:pt>
                <c:pt idx="11">
                  <c:v>91</c:v>
                </c:pt>
                <c:pt idx="12">
                  <c:v>83</c:v>
                </c:pt>
                <c:pt idx="13">
                  <c:v>81</c:v>
                </c:pt>
                <c:pt idx="14">
                  <c:v>77</c:v>
                </c:pt>
                <c:pt idx="15">
                  <c:v>74</c:v>
                </c:pt>
                <c:pt idx="16">
                  <c:v>71</c:v>
                </c:pt>
                <c:pt idx="17">
                  <c:v>69</c:v>
                </c:pt>
                <c:pt idx="18">
                  <c:v>66</c:v>
                </c:pt>
                <c:pt idx="19">
                  <c:v>63</c:v>
                </c:pt>
                <c:pt idx="20">
                  <c:v>62</c:v>
                </c:pt>
                <c:pt idx="21">
                  <c:v>60</c:v>
                </c:pt>
                <c:pt idx="22">
                  <c:v>59</c:v>
                </c:pt>
                <c:pt idx="23">
                  <c:v>57</c:v>
                </c:pt>
              </c:numCache>
            </c:numRef>
          </c:val>
        </c:ser>
        <c:ser>
          <c:idx val="5"/>
          <c:order val="5"/>
          <c:tx>
            <c:v>2024-06</c:v>
          </c:tx>
          <c:spPr>
            <a:solidFill xmlns:a="http://schemas.openxmlformats.org/drawingml/2006/main">
              <a:srgbClr val="366175"/>
            </a:solidFill>
            <a:ln xmlns:a="http://schemas.openxmlformats.org/drawingml/2006/main" w="3810">
              <a:solidFill>
                <a:srgbClr val="FFFFFF"/>
              </a:solidFill>
            </a:ln>
          </c:spPr>
          <c:cat>
            <c:strRef>
              <c:f>'Chart Data'!$K$2:$K$25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Data'!$L$2:$L$25</c:f>
              <c:numCache>
                <c:formatCode>#,##0</c:formatCode>
                <c:ptCount val="24"/>
                <c:pt idx="0">
                  <c:v>0</c:v>
                </c:pt>
                <c:pt idx="1">
                  <c:v>0</c:v>
                </c:pt>
                <c:pt idx="2">
                  <c:v>0</c:v>
                </c:pt>
                <c:pt idx="3">
                  <c:v>0</c:v>
                </c:pt>
                <c:pt idx="4">
                  <c:v>0</c:v>
                </c:pt>
                <c:pt idx="5">
                  <c:v>149</c:v>
                </c:pt>
                <c:pt idx="6">
                  <c:v>113</c:v>
                </c:pt>
                <c:pt idx="7">
                  <c:v>105</c:v>
                </c:pt>
                <c:pt idx="8">
                  <c:v>97</c:v>
                </c:pt>
                <c:pt idx="9">
                  <c:v>93</c:v>
                </c:pt>
                <c:pt idx="10">
                  <c:v>87</c:v>
                </c:pt>
                <c:pt idx="11">
                  <c:v>86</c:v>
                </c:pt>
                <c:pt idx="12">
                  <c:v>81</c:v>
                </c:pt>
                <c:pt idx="13">
                  <c:v>77</c:v>
                </c:pt>
                <c:pt idx="14">
                  <c:v>73</c:v>
                </c:pt>
                <c:pt idx="15">
                  <c:v>71</c:v>
                </c:pt>
                <c:pt idx="16">
                  <c:v>67</c:v>
                </c:pt>
                <c:pt idx="17">
                  <c:v>66</c:v>
                </c:pt>
                <c:pt idx="18">
                  <c:v>58</c:v>
                </c:pt>
                <c:pt idx="19">
                  <c:v>55</c:v>
                </c:pt>
                <c:pt idx="20">
                  <c:v>52</c:v>
                </c:pt>
                <c:pt idx="21">
                  <c:v>50</c:v>
                </c:pt>
                <c:pt idx="22">
                  <c:v>48</c:v>
                </c:pt>
                <c:pt idx="23">
                  <c:v>47</c:v>
                </c:pt>
              </c:numCache>
            </c:numRef>
          </c:val>
        </c:ser>
        <c:ser>
          <c:idx val="6"/>
          <c:order val="6"/>
          <c:tx>
            <c:v>2024-07</c:v>
          </c:tx>
          <c:spPr>
            <a:solidFill xmlns:a="http://schemas.openxmlformats.org/drawingml/2006/main">
              <a:srgbClr val="376576"/>
            </a:solidFill>
            <a:ln xmlns:a="http://schemas.openxmlformats.org/drawingml/2006/main" w="3810">
              <a:solidFill>
                <a:srgbClr val="FFFFFF"/>
              </a:solidFill>
            </a:ln>
          </c:spPr>
          <c:cat>
            <c:strRef>
              <c:f>'Chart Data'!$M$2:$M$25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Data'!$N$2:$N$25</c:f>
              <c:numCache>
                <c:formatCode>#,##0</c:formatCode>
                <c:ptCount val="24"/>
                <c:pt idx="0">
                  <c:v>0</c:v>
                </c:pt>
                <c:pt idx="1">
                  <c:v>0</c:v>
                </c:pt>
                <c:pt idx="2">
                  <c:v>0</c:v>
                </c:pt>
                <c:pt idx="3">
                  <c:v>0</c:v>
                </c:pt>
                <c:pt idx="4">
                  <c:v>0</c:v>
                </c:pt>
                <c:pt idx="5">
                  <c:v>0</c:v>
                </c:pt>
                <c:pt idx="6">
                  <c:v>163</c:v>
                </c:pt>
                <c:pt idx="7">
                  <c:v>137</c:v>
                </c:pt>
                <c:pt idx="8">
                  <c:v>127</c:v>
                </c:pt>
                <c:pt idx="9">
                  <c:v>117</c:v>
                </c:pt>
                <c:pt idx="10">
                  <c:v>114</c:v>
                </c:pt>
                <c:pt idx="11">
                  <c:v>108</c:v>
                </c:pt>
                <c:pt idx="12">
                  <c:v>104</c:v>
                </c:pt>
                <c:pt idx="13">
                  <c:v>100</c:v>
                </c:pt>
                <c:pt idx="14">
                  <c:v>99</c:v>
                </c:pt>
                <c:pt idx="15">
                  <c:v>93</c:v>
                </c:pt>
                <c:pt idx="16">
                  <c:v>93</c:v>
                </c:pt>
                <c:pt idx="17">
                  <c:v>90</c:v>
                </c:pt>
                <c:pt idx="18">
                  <c:v>85</c:v>
                </c:pt>
                <c:pt idx="19">
                  <c:v>78</c:v>
                </c:pt>
                <c:pt idx="20">
                  <c:v>76</c:v>
                </c:pt>
                <c:pt idx="21">
                  <c:v>71</c:v>
                </c:pt>
                <c:pt idx="22">
                  <c:v>70</c:v>
                </c:pt>
                <c:pt idx="23">
                  <c:v>67</c:v>
                </c:pt>
              </c:numCache>
            </c:numRef>
          </c:val>
        </c:ser>
        <c:ser>
          <c:idx val="7"/>
          <c:order val="7"/>
          <c:tx>
            <c:v>2024-08</c:v>
          </c:tx>
          <c:spPr>
            <a:solidFill xmlns:a="http://schemas.openxmlformats.org/drawingml/2006/main">
              <a:srgbClr val="376978"/>
            </a:solidFill>
            <a:ln xmlns:a="http://schemas.openxmlformats.org/drawingml/2006/main" w="3810">
              <a:solidFill>
                <a:srgbClr val="FFFFFF"/>
              </a:solidFill>
            </a:ln>
          </c:spPr>
          <c:cat>
            <c:strRef>
              <c:f>'Chart Data'!$O$2:$O$25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Data'!$P$2:$P$25</c:f>
              <c:numCache>
                <c:formatCode>#,##0</c:formatCode>
                <c:ptCount val="24"/>
                <c:pt idx="0">
                  <c:v>0</c:v>
                </c:pt>
                <c:pt idx="1">
                  <c:v>0</c:v>
                </c:pt>
                <c:pt idx="2">
                  <c:v>0</c:v>
                </c:pt>
                <c:pt idx="3">
                  <c:v>0</c:v>
                </c:pt>
                <c:pt idx="4">
                  <c:v>0</c:v>
                </c:pt>
                <c:pt idx="5">
                  <c:v>0</c:v>
                </c:pt>
                <c:pt idx="6">
                  <c:v>0</c:v>
                </c:pt>
                <c:pt idx="7">
                  <c:v>169</c:v>
                </c:pt>
                <c:pt idx="8">
                  <c:v>134</c:v>
                </c:pt>
                <c:pt idx="9">
                  <c:v>126</c:v>
                </c:pt>
                <c:pt idx="10">
                  <c:v>116</c:v>
                </c:pt>
                <c:pt idx="11">
                  <c:v>113</c:v>
                </c:pt>
                <c:pt idx="12">
                  <c:v>107</c:v>
                </c:pt>
                <c:pt idx="13">
                  <c:v>102</c:v>
                </c:pt>
                <c:pt idx="14">
                  <c:v>99</c:v>
                </c:pt>
                <c:pt idx="15">
                  <c:v>94</c:v>
                </c:pt>
                <c:pt idx="16">
                  <c:v>85</c:v>
                </c:pt>
                <c:pt idx="17">
                  <c:v>81</c:v>
                </c:pt>
                <c:pt idx="18">
                  <c:v>78</c:v>
                </c:pt>
                <c:pt idx="19">
                  <c:v>75</c:v>
                </c:pt>
                <c:pt idx="20">
                  <c:v>71</c:v>
                </c:pt>
                <c:pt idx="21">
                  <c:v>70</c:v>
                </c:pt>
                <c:pt idx="22">
                  <c:v>67</c:v>
                </c:pt>
                <c:pt idx="23">
                  <c:v>66</c:v>
                </c:pt>
              </c:numCache>
            </c:numRef>
          </c:val>
        </c:ser>
        <c:ser>
          <c:idx val="8"/>
          <c:order val="8"/>
          <c:tx>
            <c:v>2024-09</c:v>
          </c:tx>
          <c:spPr>
            <a:solidFill xmlns:a="http://schemas.openxmlformats.org/drawingml/2006/main">
              <a:srgbClr val="376E79"/>
            </a:solidFill>
            <a:ln xmlns:a="http://schemas.openxmlformats.org/drawingml/2006/main" w="3810">
              <a:solidFill>
                <a:srgbClr val="FFFFFF"/>
              </a:solidFill>
            </a:ln>
          </c:spPr>
          <c:cat>
            <c:strRef>
              <c:f>'Chart Data'!$Q$2:$Q$25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Data'!$R$2:$R$25</c:f>
              <c:numCache>
                <c:formatCode>#,##0</c:formatCode>
                <c:ptCount val="24"/>
                <c:pt idx="0">
                  <c:v>0</c:v>
                </c:pt>
                <c:pt idx="1">
                  <c:v>0</c:v>
                </c:pt>
                <c:pt idx="2">
                  <c:v>0</c:v>
                </c:pt>
                <c:pt idx="3">
                  <c:v>0</c:v>
                </c:pt>
                <c:pt idx="4">
                  <c:v>0</c:v>
                </c:pt>
                <c:pt idx="5">
                  <c:v>0</c:v>
                </c:pt>
                <c:pt idx="6">
                  <c:v>0</c:v>
                </c:pt>
                <c:pt idx="7">
                  <c:v>0</c:v>
                </c:pt>
                <c:pt idx="8">
                  <c:v>173</c:v>
                </c:pt>
                <c:pt idx="9">
                  <c:v>138</c:v>
                </c:pt>
                <c:pt idx="10">
                  <c:v>132</c:v>
                </c:pt>
                <c:pt idx="11">
                  <c:v>124</c:v>
                </c:pt>
                <c:pt idx="12">
                  <c:v>122</c:v>
                </c:pt>
                <c:pt idx="13">
                  <c:v>118</c:v>
                </c:pt>
                <c:pt idx="14">
                  <c:v>111</c:v>
                </c:pt>
                <c:pt idx="15">
                  <c:v>105</c:v>
                </c:pt>
                <c:pt idx="16">
                  <c:v>102</c:v>
                </c:pt>
                <c:pt idx="17">
                  <c:v>97</c:v>
                </c:pt>
                <c:pt idx="18">
                  <c:v>95</c:v>
                </c:pt>
                <c:pt idx="19">
                  <c:v>92</c:v>
                </c:pt>
                <c:pt idx="20">
                  <c:v>91</c:v>
                </c:pt>
                <c:pt idx="21">
                  <c:v>88</c:v>
                </c:pt>
                <c:pt idx="22">
                  <c:v>86</c:v>
                </c:pt>
                <c:pt idx="23">
                  <c:v>83</c:v>
                </c:pt>
              </c:numCache>
            </c:numRef>
          </c:val>
        </c:ser>
        <c:ser>
          <c:idx val="9"/>
          <c:order val="9"/>
          <c:tx>
            <c:v>2024-10</c:v>
          </c:tx>
          <c:spPr>
            <a:solidFill xmlns:a="http://schemas.openxmlformats.org/drawingml/2006/main">
              <a:srgbClr val="37727A"/>
            </a:solidFill>
            <a:ln xmlns:a="http://schemas.openxmlformats.org/drawingml/2006/main" w="3810">
              <a:solidFill>
                <a:srgbClr val="FFFFFF"/>
              </a:solidFill>
            </a:ln>
          </c:spPr>
          <c:cat>
            <c:strRef>
              <c:f>'Chart Data'!$S$2:$S$25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Data'!$T$2:$T$25</c:f>
              <c:numCache>
                <c:formatCode>#,##0</c:formatCode>
                <c:ptCount val="24"/>
                <c:pt idx="0">
                  <c:v>0</c:v>
                </c:pt>
                <c:pt idx="1">
                  <c:v>0</c:v>
                </c:pt>
                <c:pt idx="2">
                  <c:v>0</c:v>
                </c:pt>
                <c:pt idx="3">
                  <c:v>0</c:v>
                </c:pt>
                <c:pt idx="4">
                  <c:v>0</c:v>
                </c:pt>
                <c:pt idx="5">
                  <c:v>0</c:v>
                </c:pt>
                <c:pt idx="6">
                  <c:v>0</c:v>
                </c:pt>
                <c:pt idx="7">
                  <c:v>0</c:v>
                </c:pt>
                <c:pt idx="8">
                  <c:v>0</c:v>
                </c:pt>
                <c:pt idx="9">
                  <c:v>184</c:v>
                </c:pt>
                <c:pt idx="10">
                  <c:v>150</c:v>
                </c:pt>
                <c:pt idx="11">
                  <c:v>136</c:v>
                </c:pt>
                <c:pt idx="12">
                  <c:v>131</c:v>
                </c:pt>
                <c:pt idx="13">
                  <c:v>129</c:v>
                </c:pt>
                <c:pt idx="14">
                  <c:v>124</c:v>
                </c:pt>
                <c:pt idx="15">
                  <c:v>118</c:v>
                </c:pt>
                <c:pt idx="16">
                  <c:v>112</c:v>
                </c:pt>
                <c:pt idx="17">
                  <c:v>104</c:v>
                </c:pt>
                <c:pt idx="18">
                  <c:v>101</c:v>
                </c:pt>
                <c:pt idx="19">
                  <c:v>99</c:v>
                </c:pt>
                <c:pt idx="20">
                  <c:v>95</c:v>
                </c:pt>
                <c:pt idx="21">
                  <c:v>94</c:v>
                </c:pt>
                <c:pt idx="22">
                  <c:v>87</c:v>
                </c:pt>
                <c:pt idx="23">
                  <c:v>85</c:v>
                </c:pt>
              </c:numCache>
            </c:numRef>
          </c:val>
        </c:ser>
        <c:ser>
          <c:idx val="10"/>
          <c:order val="10"/>
          <c:tx>
            <c:v>2024-11</c:v>
          </c:tx>
          <c:spPr>
            <a:solidFill xmlns:a="http://schemas.openxmlformats.org/drawingml/2006/main">
              <a:srgbClr val="37767B"/>
            </a:solidFill>
            <a:ln xmlns:a="http://schemas.openxmlformats.org/drawingml/2006/main" w="3810">
              <a:solidFill>
                <a:srgbClr val="FFFFFF"/>
              </a:solidFill>
            </a:ln>
          </c:spPr>
          <c:cat>
            <c:strRef>
              <c:f>'Chart Data'!$U$2:$U$25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Data'!$V$2:$V$25</c:f>
              <c:numCache>
                <c:formatCode>#,##0</c:formatCode>
                <c:ptCount val="24"/>
                <c:pt idx="0">
                  <c:v>0</c:v>
                </c:pt>
                <c:pt idx="1">
                  <c:v>0</c:v>
                </c:pt>
                <c:pt idx="2">
                  <c:v>0</c:v>
                </c:pt>
                <c:pt idx="3">
                  <c:v>0</c:v>
                </c:pt>
                <c:pt idx="4">
                  <c:v>0</c:v>
                </c:pt>
                <c:pt idx="5">
                  <c:v>0</c:v>
                </c:pt>
                <c:pt idx="6">
                  <c:v>0</c:v>
                </c:pt>
                <c:pt idx="7">
                  <c:v>0</c:v>
                </c:pt>
                <c:pt idx="8">
                  <c:v>0</c:v>
                </c:pt>
                <c:pt idx="9">
                  <c:v>0</c:v>
                </c:pt>
                <c:pt idx="10">
                  <c:v>182</c:v>
                </c:pt>
                <c:pt idx="11">
                  <c:v>148</c:v>
                </c:pt>
                <c:pt idx="12">
                  <c:v>143</c:v>
                </c:pt>
                <c:pt idx="13">
                  <c:v>131</c:v>
                </c:pt>
                <c:pt idx="14">
                  <c:v>126</c:v>
                </c:pt>
                <c:pt idx="15">
                  <c:v>121</c:v>
                </c:pt>
                <c:pt idx="16">
                  <c:v>119</c:v>
                </c:pt>
                <c:pt idx="17">
                  <c:v>113</c:v>
                </c:pt>
                <c:pt idx="18">
                  <c:v>109</c:v>
                </c:pt>
                <c:pt idx="19">
                  <c:v>104</c:v>
                </c:pt>
                <c:pt idx="20">
                  <c:v>100</c:v>
                </c:pt>
                <c:pt idx="21">
                  <c:v>99</c:v>
                </c:pt>
                <c:pt idx="22">
                  <c:v>91</c:v>
                </c:pt>
                <c:pt idx="23">
                  <c:v>89</c:v>
                </c:pt>
              </c:numCache>
            </c:numRef>
          </c:val>
        </c:ser>
        <c:ser>
          <c:idx val="11"/>
          <c:order val="11"/>
          <c:tx>
            <c:v>2024-12</c:v>
          </c:tx>
          <c:spPr>
            <a:solidFill xmlns:a="http://schemas.openxmlformats.org/drawingml/2006/main">
              <a:srgbClr val="377B7C"/>
            </a:solidFill>
            <a:ln xmlns:a="http://schemas.openxmlformats.org/drawingml/2006/main" w="3810">
              <a:solidFill>
                <a:srgbClr val="FFFFFF"/>
              </a:solidFill>
            </a:ln>
          </c:spPr>
          <c:cat>
            <c:strRef>
              <c:f>'Chart Data'!$W$2:$W$25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Data'!$X$2:$X$25</c:f>
              <c:numCache>
                <c:formatCode>#,##0</c:formatCode>
                <c:ptCount val="24"/>
                <c:pt idx="0">
                  <c:v>0</c:v>
                </c:pt>
                <c:pt idx="1">
                  <c:v>0</c:v>
                </c:pt>
                <c:pt idx="2">
                  <c:v>0</c:v>
                </c:pt>
                <c:pt idx="3">
                  <c:v>0</c:v>
                </c:pt>
                <c:pt idx="4">
                  <c:v>0</c:v>
                </c:pt>
                <c:pt idx="5">
                  <c:v>0</c:v>
                </c:pt>
                <c:pt idx="6">
                  <c:v>0</c:v>
                </c:pt>
                <c:pt idx="7">
                  <c:v>0</c:v>
                </c:pt>
                <c:pt idx="8">
                  <c:v>0</c:v>
                </c:pt>
                <c:pt idx="9">
                  <c:v>0</c:v>
                </c:pt>
                <c:pt idx="10">
                  <c:v>0</c:v>
                </c:pt>
                <c:pt idx="11">
                  <c:v>176</c:v>
                </c:pt>
                <c:pt idx="12">
                  <c:v>141</c:v>
                </c:pt>
                <c:pt idx="13">
                  <c:v>133</c:v>
                </c:pt>
                <c:pt idx="14">
                  <c:v>117</c:v>
                </c:pt>
                <c:pt idx="15">
                  <c:v>108</c:v>
                </c:pt>
                <c:pt idx="16">
                  <c:v>105</c:v>
                </c:pt>
                <c:pt idx="17">
                  <c:v>101</c:v>
                </c:pt>
                <c:pt idx="18">
                  <c:v>98</c:v>
                </c:pt>
                <c:pt idx="19">
                  <c:v>96</c:v>
                </c:pt>
                <c:pt idx="20">
                  <c:v>88</c:v>
                </c:pt>
                <c:pt idx="21">
                  <c:v>83</c:v>
                </c:pt>
                <c:pt idx="22">
                  <c:v>80</c:v>
                </c:pt>
                <c:pt idx="23">
                  <c:v>80</c:v>
                </c:pt>
              </c:numCache>
            </c:numRef>
          </c:val>
        </c:ser>
        <c:ser>
          <c:idx val="12"/>
          <c:order val="12"/>
          <c:tx>
            <c:v>2025-01</c:v>
          </c:tx>
          <c:spPr>
            <a:solidFill xmlns:a="http://schemas.openxmlformats.org/drawingml/2006/main">
              <a:srgbClr val="377F7E"/>
            </a:solidFill>
            <a:ln xmlns:a="http://schemas.openxmlformats.org/drawingml/2006/main" w="3810">
              <a:solidFill>
                <a:srgbClr val="FFFFFF"/>
              </a:solidFill>
            </a:ln>
          </c:spPr>
          <c:cat>
            <c:strRef>
              <c:f>'Chart Data'!$Y$2:$Y$25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Data'!$Z$2:$Z$25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182</c:v>
                </c:pt>
                <c:pt idx="13">
                  <c:v>143</c:v>
                </c:pt>
                <c:pt idx="14">
                  <c:v>132</c:v>
                </c:pt>
                <c:pt idx="15">
                  <c:v>124</c:v>
                </c:pt>
                <c:pt idx="16">
                  <c:v>120</c:v>
                </c:pt>
                <c:pt idx="17">
                  <c:v>117</c:v>
                </c:pt>
                <c:pt idx="18">
                  <c:v>113</c:v>
                </c:pt>
                <c:pt idx="19">
                  <c:v>109</c:v>
                </c:pt>
                <c:pt idx="20">
                  <c:v>104</c:v>
                </c:pt>
                <c:pt idx="21">
                  <c:v>96</c:v>
                </c:pt>
                <c:pt idx="22">
                  <c:v>92</c:v>
                </c:pt>
                <c:pt idx="23">
                  <c:v>90</c:v>
                </c:pt>
              </c:numCache>
            </c:numRef>
          </c:val>
        </c:ser>
        <c:ser>
          <c:idx val="13"/>
          <c:order val="13"/>
          <c:tx>
            <c:v>2025-02</c:v>
          </c:tx>
          <c:spPr>
            <a:solidFill xmlns:a="http://schemas.openxmlformats.org/drawingml/2006/main">
              <a:srgbClr val="37847F"/>
            </a:solidFill>
            <a:ln xmlns:a="http://schemas.openxmlformats.org/drawingml/2006/main" w="3810">
              <a:solidFill>
                <a:srgbClr val="FFFFFF"/>
              </a:solidFill>
            </a:ln>
          </c:spPr>
          <c:cat>
            <c:strRef>
              <c:f>'Chart Data'!$AA$2:$AA$25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Data'!$AB$2:$AB$25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185</c:v>
                </c:pt>
                <c:pt idx="14">
                  <c:v>163</c:v>
                </c:pt>
                <c:pt idx="15">
                  <c:v>157</c:v>
                </c:pt>
                <c:pt idx="16">
                  <c:v>142</c:v>
                </c:pt>
                <c:pt idx="17">
                  <c:v>136</c:v>
                </c:pt>
                <c:pt idx="18">
                  <c:v>130</c:v>
                </c:pt>
                <c:pt idx="19">
                  <c:v>123</c:v>
                </c:pt>
                <c:pt idx="20">
                  <c:v>116</c:v>
                </c:pt>
                <c:pt idx="21">
                  <c:v>115</c:v>
                </c:pt>
                <c:pt idx="22">
                  <c:v>107</c:v>
                </c:pt>
                <c:pt idx="23">
                  <c:v>102</c:v>
                </c:pt>
              </c:numCache>
            </c:numRef>
          </c:val>
        </c:ser>
        <c:ser>
          <c:idx val="14"/>
          <c:order val="14"/>
          <c:tx>
            <c:v>2025-03</c:v>
          </c:tx>
          <c:spPr>
            <a:solidFill xmlns:a="http://schemas.openxmlformats.org/drawingml/2006/main">
              <a:srgbClr val="378880"/>
            </a:solidFill>
            <a:ln xmlns:a="http://schemas.openxmlformats.org/drawingml/2006/main" w="3810">
              <a:solidFill>
                <a:srgbClr val="FFFFFF"/>
              </a:solidFill>
            </a:ln>
          </c:spPr>
          <c:cat>
            <c:strRef>
              <c:f>'Chart Data'!$AC$2:$AC$25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Data'!$AD$2:$AD$25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191</c:v>
                </c:pt>
                <c:pt idx="15">
                  <c:v>153</c:v>
                </c:pt>
                <c:pt idx="16">
                  <c:v>138</c:v>
                </c:pt>
                <c:pt idx="17">
                  <c:v>126</c:v>
                </c:pt>
                <c:pt idx="18">
                  <c:v>123</c:v>
                </c:pt>
                <c:pt idx="19">
                  <c:v>119</c:v>
                </c:pt>
                <c:pt idx="20">
                  <c:v>116</c:v>
                </c:pt>
                <c:pt idx="21">
                  <c:v>112</c:v>
                </c:pt>
                <c:pt idx="22">
                  <c:v>108</c:v>
                </c:pt>
                <c:pt idx="23">
                  <c:v>104</c:v>
                </c:pt>
              </c:numCache>
            </c:numRef>
          </c:val>
        </c:ser>
        <c:ser>
          <c:idx val="15"/>
          <c:order val="15"/>
          <c:tx>
            <c:v>2025-04</c:v>
          </c:tx>
          <c:spPr>
            <a:solidFill xmlns:a="http://schemas.openxmlformats.org/drawingml/2006/main">
              <a:srgbClr val="378C81"/>
            </a:solidFill>
            <a:ln xmlns:a="http://schemas.openxmlformats.org/drawingml/2006/main" w="3810">
              <a:solidFill>
                <a:srgbClr val="FFFFFF"/>
              </a:solidFill>
            </a:ln>
          </c:spPr>
          <c:cat>
            <c:strRef>
              <c:f>'Chart Data'!$AE$2:$AE$25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Data'!$AF$2:$AF$25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200</c:v>
                </c:pt>
                <c:pt idx="16">
                  <c:v>160</c:v>
                </c:pt>
                <c:pt idx="17">
                  <c:v>143</c:v>
                </c:pt>
                <c:pt idx="18">
                  <c:v>131</c:v>
                </c:pt>
                <c:pt idx="19">
                  <c:v>124</c:v>
                </c:pt>
                <c:pt idx="20">
                  <c:v>122</c:v>
                </c:pt>
                <c:pt idx="21">
                  <c:v>117</c:v>
                </c:pt>
                <c:pt idx="22">
                  <c:v>112</c:v>
                </c:pt>
                <c:pt idx="23">
                  <c:v>109</c:v>
                </c:pt>
              </c:numCache>
            </c:numRef>
          </c:val>
        </c:ser>
        <c:ser>
          <c:idx val="16"/>
          <c:order val="16"/>
          <c:tx>
            <c:v>2025-05</c:v>
          </c:tx>
          <c:spPr>
            <a:solidFill xmlns:a="http://schemas.openxmlformats.org/drawingml/2006/main">
              <a:srgbClr val="379182"/>
            </a:solidFill>
            <a:ln xmlns:a="http://schemas.openxmlformats.org/drawingml/2006/main" w="3810">
              <a:solidFill>
                <a:srgbClr val="FFFFFF"/>
              </a:solidFill>
            </a:ln>
          </c:spPr>
          <c:cat>
            <c:strRef>
              <c:f>'Chart Data'!$AG$2:$AG$25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Data'!$AH$2:$AH$25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285</c:v>
                </c:pt>
                <c:pt idx="17">
                  <c:v>222</c:v>
                </c:pt>
                <c:pt idx="18">
                  <c:v>204</c:v>
                </c:pt>
                <c:pt idx="19">
                  <c:v>189</c:v>
                </c:pt>
                <c:pt idx="20">
                  <c:v>181</c:v>
                </c:pt>
                <c:pt idx="21">
                  <c:v>170</c:v>
                </c:pt>
                <c:pt idx="22">
                  <c:v>163</c:v>
                </c:pt>
                <c:pt idx="23">
                  <c:v>157</c:v>
                </c:pt>
              </c:numCache>
            </c:numRef>
          </c:val>
        </c:ser>
        <c:ser>
          <c:idx val="17"/>
          <c:order val="17"/>
          <c:tx>
            <c:v>2025-06</c:v>
          </c:tx>
          <c:spPr>
            <a:solidFill xmlns:a="http://schemas.openxmlformats.org/drawingml/2006/main">
              <a:srgbClr val="379584"/>
            </a:solidFill>
            <a:ln xmlns:a="http://schemas.openxmlformats.org/drawingml/2006/main" w="3810">
              <a:solidFill>
                <a:srgbClr val="FFFFFF"/>
              </a:solidFill>
            </a:ln>
          </c:spPr>
          <c:cat>
            <c:strRef>
              <c:f>'Chart Data'!$AI$2:$AI$25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Data'!$AJ$2:$AJ$25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213</c:v>
                </c:pt>
                <c:pt idx="18">
                  <c:v>176</c:v>
                </c:pt>
                <c:pt idx="19">
                  <c:v>165</c:v>
                </c:pt>
                <c:pt idx="20">
                  <c:v>157</c:v>
                </c:pt>
                <c:pt idx="21">
                  <c:v>150</c:v>
                </c:pt>
                <c:pt idx="22">
                  <c:v>140</c:v>
                </c:pt>
                <c:pt idx="23">
                  <c:v>133</c:v>
                </c:pt>
              </c:numCache>
            </c:numRef>
          </c:val>
        </c:ser>
        <c:ser>
          <c:idx val="18"/>
          <c:order val="18"/>
          <c:tx>
            <c:v>2025-07</c:v>
          </c:tx>
          <c:spPr>
            <a:solidFill xmlns:a="http://schemas.openxmlformats.org/drawingml/2006/main">
              <a:srgbClr val="389985"/>
            </a:solidFill>
            <a:ln xmlns:a="http://schemas.openxmlformats.org/drawingml/2006/main" w="3810">
              <a:solidFill>
                <a:srgbClr val="FFFFFF"/>
              </a:solidFill>
            </a:ln>
          </c:spPr>
          <c:cat>
            <c:strRef>
              <c:f>'Chart Data'!$AK$2:$AK$25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Data'!$AL$2:$AL$25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221</c:v>
                </c:pt>
                <c:pt idx="19">
                  <c:v>184</c:v>
                </c:pt>
                <c:pt idx="20">
                  <c:v>173</c:v>
                </c:pt>
                <c:pt idx="21">
                  <c:v>166</c:v>
                </c:pt>
                <c:pt idx="22">
                  <c:v>157</c:v>
                </c:pt>
                <c:pt idx="23">
                  <c:v>153</c:v>
                </c:pt>
              </c:numCache>
            </c:numRef>
          </c:val>
        </c:ser>
        <c:ser>
          <c:idx val="19"/>
          <c:order val="19"/>
          <c:tx>
            <c:v>2025-08</c:v>
          </c:tx>
          <c:spPr>
            <a:solidFill xmlns:a="http://schemas.openxmlformats.org/drawingml/2006/main">
              <a:srgbClr val="389E86"/>
            </a:solidFill>
            <a:ln xmlns:a="http://schemas.openxmlformats.org/drawingml/2006/main" w="3810">
              <a:solidFill>
                <a:srgbClr val="FFFFFF"/>
              </a:solidFill>
            </a:ln>
          </c:spPr>
          <c:cat>
            <c:strRef>
              <c:f>'Chart Data'!$AM$2:$AM$25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Data'!$AN$2:$AN$25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216</c:v>
                </c:pt>
                <c:pt idx="20">
                  <c:v>178</c:v>
                </c:pt>
                <c:pt idx="21">
                  <c:v>165</c:v>
                </c:pt>
                <c:pt idx="22">
                  <c:v>159</c:v>
                </c:pt>
                <c:pt idx="23">
                  <c:v>155</c:v>
                </c:pt>
              </c:numCache>
            </c:numRef>
          </c:val>
        </c:ser>
        <c:ser>
          <c:idx val="20"/>
          <c:order val="20"/>
          <c:tx>
            <c:v>2025-09</c:v>
          </c:tx>
          <c:spPr>
            <a:solidFill xmlns:a="http://schemas.openxmlformats.org/drawingml/2006/main">
              <a:srgbClr val="38A287"/>
            </a:solidFill>
            <a:ln xmlns:a="http://schemas.openxmlformats.org/drawingml/2006/main" w="3810">
              <a:solidFill>
                <a:srgbClr val="FFFFFF"/>
              </a:solidFill>
            </a:ln>
          </c:spPr>
          <c:cat>
            <c:strRef>
              <c:f>'Chart Data'!$AO$2:$AO$25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Data'!$AP$2:$AP$25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300</c:v>
                </c:pt>
                <c:pt idx="21">
                  <c:v>243</c:v>
                </c:pt>
                <c:pt idx="22">
                  <c:v>230</c:v>
                </c:pt>
                <c:pt idx="23">
                  <c:v>211</c:v>
                </c:pt>
              </c:numCache>
            </c:numRef>
          </c:val>
        </c:ser>
        <c:ser>
          <c:idx val="21"/>
          <c:order val="21"/>
          <c:tx>
            <c:v>2025-10</c:v>
          </c:tx>
          <c:spPr>
            <a:solidFill xmlns:a="http://schemas.openxmlformats.org/drawingml/2006/main">
              <a:srgbClr val="38A689"/>
            </a:solidFill>
            <a:ln xmlns:a="http://schemas.openxmlformats.org/drawingml/2006/main" w="3810">
              <a:solidFill>
                <a:srgbClr val="FFFFFF"/>
              </a:solidFill>
            </a:ln>
          </c:spPr>
          <c:cat>
            <c:strRef>
              <c:f>'Chart Data'!$AQ$2:$AQ$25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Data'!$AR$2:$AR$25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216</c:v>
                </c:pt>
                <c:pt idx="22">
                  <c:v>184</c:v>
                </c:pt>
                <c:pt idx="23">
                  <c:v>176</c:v>
                </c:pt>
              </c:numCache>
            </c:numRef>
          </c:val>
        </c:ser>
        <c:ser>
          <c:idx val="22"/>
          <c:order val="22"/>
          <c:tx>
            <c:v>2025-11</c:v>
          </c:tx>
          <c:spPr>
            <a:solidFill xmlns:a="http://schemas.openxmlformats.org/drawingml/2006/main">
              <a:srgbClr val="38AB8A"/>
            </a:solidFill>
            <a:ln xmlns:a="http://schemas.openxmlformats.org/drawingml/2006/main" w="3810">
              <a:solidFill>
                <a:srgbClr val="FFFFFF"/>
              </a:solidFill>
            </a:ln>
          </c:spPr>
          <c:cat>
            <c:strRef>
              <c:f>'Chart Data'!$AS$2:$AS$25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Data'!$AT$2:$AT$25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231</c:v>
                </c:pt>
                <c:pt idx="23">
                  <c:v>194</c:v>
                </c:pt>
              </c:numCache>
            </c:numRef>
          </c:val>
        </c:ser>
        <c:ser>
          <c:idx val="23"/>
          <c:order val="23"/>
          <c:tx>
            <c:v>2025-12</c:v>
          </c:tx>
          <c:spPr>
            <a:solidFill xmlns:a="http://schemas.openxmlformats.org/drawingml/2006/main">
              <a:srgbClr val="38AF8B"/>
            </a:solidFill>
            <a:ln xmlns:a="http://schemas.openxmlformats.org/drawingml/2006/main" w="3810">
              <a:solidFill>
                <a:srgbClr val="FFFFFF"/>
              </a:solidFill>
            </a:ln>
          </c:spPr>
          <c:cat>
            <c:strRef>
              <c:f>'Chart Data'!$AU$2:$AU$25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Data'!$AV$2:$AV$25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237</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areaChart>
      <c:catAx>
        <c:axId val="48650112"/>
        <c:scaling>
          <c:orientation val="minMax"/>
        </c:scaling>
        <c:delete val="0"/>
        <c:axPos val="b"/>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Calendar month</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General"/>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125">
                <a:solidFill>
                  <a:srgbClr val="687780"/>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Retained subscribers</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125">
                <a:solidFill>
                  <a:srgbClr val="687780"/>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71EBFA8-A5C4-45B4-A312-1AF17940F207}"/>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B742CB7-FB87-4204-ADEB-C241FC1F1F1D}"/>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Customer economics lab</a:t>
            </a:r>
          </a:p>
        </p:txBody>
      </p:sp>
      <p:sp>
        <p:nvSpPr>
          <p:cNvPr id="3" name="">
            <a:extLst xmlns:a="http://schemas.openxmlformats.org/drawingml/2006/main">
              <a:ext uri="{FF2B5EF4-FFF2-40B4-BE49-F238E27FC236}">
                <a16:creationId xmlns:a16="http://schemas.microsoft.com/office/drawing/2014/main" id="{ABA4DDF4-5768-4C0E-B29A-645F13CA8015}"/>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087F8C"/>
                </a:solidFill>
                <a:latin typeface="Arial"/>
                <a:ea typeface="Arial"/>
                <a:cs typeface="Arial"/>
              </a:defRPr>
            </a:defPPr>
            <a:lvl1pPr>
              <a:defRPr sz="900" b="1">
                <a:solidFill>
                  <a:srgbClr val="087F8C"/>
                </a:solidFill>
                <a:latin typeface="Arial"/>
                <a:ea typeface="Arial"/>
                <a:cs typeface="Arial"/>
              </a:defRPr>
            </a:lvl1pPr>
            <a:lvl2pPr>
              <a:defRPr sz="900" b="1">
                <a:solidFill>
                  <a:srgbClr val="087F8C"/>
                </a:solidFill>
                <a:latin typeface="Arial"/>
                <a:ea typeface="Arial"/>
                <a:cs typeface="Arial"/>
              </a:defRPr>
            </a:lvl2pPr>
            <a:lvl3pPr>
              <a:defRPr sz="900" b="1">
                <a:solidFill>
                  <a:srgbClr val="087F8C"/>
                </a:solidFill>
                <a:latin typeface="Arial"/>
                <a:ea typeface="Arial"/>
                <a:cs typeface="Arial"/>
              </a:defRPr>
            </a:lvl3pPr>
            <a:lvl4pPr>
              <a:defRPr sz="900" b="1">
                <a:solidFill>
                  <a:srgbClr val="087F8C"/>
                </a:solidFill>
                <a:latin typeface="Arial"/>
                <a:ea typeface="Arial"/>
                <a:cs typeface="Arial"/>
              </a:defRPr>
            </a:lvl4pPr>
            <a:lvl5pPr>
              <a:defRPr sz="900" b="1">
                <a:solidFill>
                  <a:srgbClr val="087F8C"/>
                </a:solidFill>
                <a:latin typeface="Arial"/>
                <a:ea typeface="Arial"/>
                <a:cs typeface="Arial"/>
              </a:defRPr>
            </a:lvl5pPr>
            <a:lvl6pPr>
              <a:defRPr sz="900" b="1">
                <a:solidFill>
                  <a:srgbClr val="087F8C"/>
                </a:solidFill>
                <a:latin typeface="Arial"/>
                <a:ea typeface="Arial"/>
                <a:cs typeface="Arial"/>
              </a:defRPr>
            </a:lvl6pPr>
            <a:lvl7pPr>
              <a:defRPr sz="900" b="1">
                <a:solidFill>
                  <a:srgbClr val="087F8C"/>
                </a:solidFill>
                <a:latin typeface="Arial"/>
                <a:ea typeface="Arial"/>
                <a:cs typeface="Arial"/>
              </a:defRPr>
            </a:lvl7pPr>
            <a:lvl8pPr>
              <a:defRPr sz="900" b="1">
                <a:solidFill>
                  <a:srgbClr val="087F8C"/>
                </a:solidFill>
                <a:latin typeface="Arial"/>
                <a:ea typeface="Arial"/>
                <a:cs typeface="Arial"/>
              </a:defRPr>
            </a:lvl8pPr>
            <a:lvl9pPr>
              <a:defRPr sz="900" b="1">
                <a:solidFill>
                  <a:srgbClr val="087F8C"/>
                </a:solidFill>
                <a:latin typeface="Arial"/>
                <a:ea typeface="Arial"/>
                <a:cs typeface="Arial"/>
              </a:defRPr>
            </a:lvl9pPr>
          </a:lstStyle>
          <a:p xmlns:a="http://schemas.openxmlformats.org/drawingml/2006/main">
            <a:pPr>
              <a:defRPr sz="900" b="1">
                <a:solidFill>
                  <a:srgbClr val="087F8C"/>
                </a:solidFill>
                <a:latin typeface="Arial"/>
                <a:ea typeface="Arial"/>
                <a:cs typeface="Arial"/>
              </a:defRPr>
            </a:pPr>
            <a:r>
              <a:rPr sz="900" b="1">
                <a:solidFill>
                  <a:srgbClr val="087F8C"/>
                </a:solidFill>
                <a:latin typeface="Arial"/>
                <a:ea typeface="Arial"/>
                <a:cs typeface="Arial"/>
              </a:rPr>
              <a:t>AI + SQL · 80 MINUTES</a:t>
            </a:r>
          </a:p>
        </p:txBody>
      </p:sp>
      <p:sp>
        <p:nvSpPr>
          <p:cNvPr id="4" name="">
            <a:extLst xmlns:a="http://schemas.openxmlformats.org/drawingml/2006/main">
              <a:ext uri="{FF2B5EF4-FFF2-40B4-BE49-F238E27FC236}">
                <a16:creationId xmlns:a16="http://schemas.microsoft.com/office/drawing/2014/main" id="{E089B3E6-7B27-412B-B000-6A25267A5B3F}"/>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1</a:t>
            </a:r>
          </a:p>
        </p:txBody>
      </p:sp>
      <p:sp>
        <p:nvSpPr>
          <p:cNvPr id="5" name="">
            <a:extLst xmlns:a="http://schemas.openxmlformats.org/drawingml/2006/main">
              <a:ext uri="{FF2B5EF4-FFF2-40B4-BE49-F238E27FC236}">
                <a16:creationId xmlns:a16="http://schemas.microsoft.com/office/drawing/2014/main" id="{2DBE52EB-2C00-4902-8BEC-06AEB935DB89}"/>
              </a:ext>
            </a:extLst>
          </p:cNvPr>
          <p:cNvSpPr>
            <a:spLocks xmlns:a="http://schemas.openxmlformats.org/drawingml/2006/main" noGrp="1"/>
          </p:cNvSpPr>
          <p:nvPr/>
        </p:nvSpPr>
        <p:spPr>
          <a:xfrm xmlns:a="http://schemas.openxmlformats.org/drawingml/2006/main">
            <a:off x="609600" y="1571625"/>
            <a:ext cx="6191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3450" b="1">
                <a:solidFill>
                  <a:srgbClr val="172D3C"/>
                </a:solidFill>
                <a:latin typeface="Arial"/>
                <a:ea typeface="Arial"/>
                <a:cs typeface="Arial"/>
              </a:defRPr>
            </a:defPPr>
            <a:lvl1pPr>
              <a:defRPr sz="3450" b="1">
                <a:solidFill>
                  <a:srgbClr val="172D3C"/>
                </a:solidFill>
                <a:latin typeface="Arial"/>
                <a:ea typeface="Arial"/>
                <a:cs typeface="Arial"/>
              </a:defRPr>
            </a:lvl1pPr>
            <a:lvl2pPr>
              <a:defRPr sz="3450" b="1">
                <a:solidFill>
                  <a:srgbClr val="172D3C"/>
                </a:solidFill>
                <a:latin typeface="Arial"/>
                <a:ea typeface="Arial"/>
                <a:cs typeface="Arial"/>
              </a:defRPr>
            </a:lvl2pPr>
            <a:lvl3pPr>
              <a:defRPr sz="3450" b="1">
                <a:solidFill>
                  <a:srgbClr val="172D3C"/>
                </a:solidFill>
                <a:latin typeface="Arial"/>
                <a:ea typeface="Arial"/>
                <a:cs typeface="Arial"/>
              </a:defRPr>
            </a:lvl3pPr>
            <a:lvl4pPr>
              <a:defRPr sz="3450" b="1">
                <a:solidFill>
                  <a:srgbClr val="172D3C"/>
                </a:solidFill>
                <a:latin typeface="Arial"/>
                <a:ea typeface="Arial"/>
                <a:cs typeface="Arial"/>
              </a:defRPr>
            </a:lvl4pPr>
            <a:lvl5pPr>
              <a:defRPr sz="3450" b="1">
                <a:solidFill>
                  <a:srgbClr val="172D3C"/>
                </a:solidFill>
                <a:latin typeface="Arial"/>
                <a:ea typeface="Arial"/>
                <a:cs typeface="Arial"/>
              </a:defRPr>
            </a:lvl5pPr>
            <a:lvl6pPr>
              <a:defRPr sz="3450" b="1">
                <a:solidFill>
                  <a:srgbClr val="172D3C"/>
                </a:solidFill>
                <a:latin typeface="Arial"/>
                <a:ea typeface="Arial"/>
                <a:cs typeface="Arial"/>
              </a:defRPr>
            </a:lvl6pPr>
            <a:lvl7pPr>
              <a:defRPr sz="3450" b="1">
                <a:solidFill>
                  <a:srgbClr val="172D3C"/>
                </a:solidFill>
                <a:latin typeface="Arial"/>
                <a:ea typeface="Arial"/>
                <a:cs typeface="Arial"/>
              </a:defRPr>
            </a:lvl7pPr>
            <a:lvl8pPr>
              <a:defRPr sz="3450" b="1">
                <a:solidFill>
                  <a:srgbClr val="172D3C"/>
                </a:solidFill>
                <a:latin typeface="Arial"/>
                <a:ea typeface="Arial"/>
                <a:cs typeface="Arial"/>
              </a:defRPr>
            </a:lvl8pPr>
            <a:lvl9pPr>
              <a:defRPr sz="3450" b="1">
                <a:solidFill>
                  <a:srgbClr val="172D3C"/>
                </a:solidFill>
                <a:latin typeface="Arial"/>
                <a:ea typeface="Arial"/>
                <a:cs typeface="Arial"/>
              </a:defRPr>
            </a:lvl9pPr>
          </a:lstStyle>
          <a:p xmlns:a="http://schemas.openxmlformats.org/drawingml/2006/main">
            <a:pPr>
              <a:defRPr sz="3450" b="1">
                <a:solidFill>
                  <a:srgbClr val="172D3C"/>
                </a:solidFill>
                <a:latin typeface="Arial"/>
                <a:ea typeface="Arial"/>
                <a:cs typeface="Arial"/>
              </a:defRPr>
            </a:pPr>
            <a:r>
              <a:rPr sz="3450" b="1">
                <a:solidFill>
                  <a:srgbClr val="172D3C"/>
                </a:solidFill>
                <a:latin typeface="Arial"/>
                <a:ea typeface="Arial"/>
                <a:cs typeface="Arial"/>
              </a:rPr>
              <a:t>Are we moving in the right</a:t>
            </a:r>
          </a:p>
          <a:p xmlns:a="http://schemas.openxmlformats.org/drawingml/2006/main">
            <a:pPr>
              <a:defRPr sz="3450" b="1">
                <a:solidFill>
                  <a:srgbClr val="172D3C"/>
                </a:solidFill>
                <a:latin typeface="Arial"/>
                <a:ea typeface="Arial"/>
                <a:cs typeface="Arial"/>
              </a:defRPr>
            </a:pPr>
            <a:r>
              <a:rPr sz="3450" b="1">
                <a:solidFill>
                  <a:srgbClr val="172D3C"/>
                </a:solidFill>
                <a:latin typeface="Arial"/>
                <a:ea typeface="Arial"/>
                <a:cs typeface="Arial"/>
              </a:rPr>
              <a:t>direction as a company?</a:t>
            </a:r>
          </a:p>
        </p:txBody>
      </p:sp>
      <p:sp>
        <p:nvSpPr>
          <p:cNvPr id="6" name="">
            <a:extLst xmlns:a="http://schemas.openxmlformats.org/drawingml/2006/main">
              <a:ext uri="{FF2B5EF4-FFF2-40B4-BE49-F238E27FC236}">
                <a16:creationId xmlns:a16="http://schemas.microsoft.com/office/drawing/2014/main" id="{C237EF59-3313-454E-A088-ABF000A0D6A3}"/>
              </a:ext>
            </a:extLst>
          </p:cNvPr>
          <p:cNvSpPr>
            <a:spLocks xmlns:a="http://schemas.openxmlformats.org/drawingml/2006/main" noGrp="1"/>
          </p:cNvSpPr>
          <p:nvPr/>
        </p:nvSpPr>
        <p:spPr>
          <a:xfrm xmlns:a="http://schemas.openxmlformats.org/drawingml/2006/main">
            <a:off x="638175" y="3629025"/>
            <a:ext cx="5905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0">
                <a:solidFill>
                  <a:srgbClr val="172D3C"/>
                </a:solidFill>
                <a:latin typeface="Arial"/>
                <a:ea typeface="Arial"/>
                <a:cs typeface="Arial"/>
              </a:defRPr>
            </a:defPPr>
            <a:lvl1pPr>
              <a:defRPr sz="1800" b="0">
                <a:solidFill>
                  <a:srgbClr val="172D3C"/>
                </a:solidFill>
                <a:latin typeface="Arial"/>
                <a:ea typeface="Arial"/>
                <a:cs typeface="Arial"/>
              </a:defRPr>
            </a:lvl1pPr>
            <a:lvl2pPr>
              <a:defRPr sz="1800" b="0">
                <a:solidFill>
                  <a:srgbClr val="172D3C"/>
                </a:solidFill>
                <a:latin typeface="Arial"/>
                <a:ea typeface="Arial"/>
                <a:cs typeface="Arial"/>
              </a:defRPr>
            </a:lvl2pPr>
            <a:lvl3pPr>
              <a:defRPr sz="1800" b="0">
                <a:solidFill>
                  <a:srgbClr val="172D3C"/>
                </a:solidFill>
                <a:latin typeface="Arial"/>
                <a:ea typeface="Arial"/>
                <a:cs typeface="Arial"/>
              </a:defRPr>
            </a:lvl3pPr>
            <a:lvl4pPr>
              <a:defRPr sz="1800" b="0">
                <a:solidFill>
                  <a:srgbClr val="172D3C"/>
                </a:solidFill>
                <a:latin typeface="Arial"/>
                <a:ea typeface="Arial"/>
                <a:cs typeface="Arial"/>
              </a:defRPr>
            </a:lvl4pPr>
            <a:lvl5pPr>
              <a:defRPr sz="1800" b="0">
                <a:solidFill>
                  <a:srgbClr val="172D3C"/>
                </a:solidFill>
                <a:latin typeface="Arial"/>
                <a:ea typeface="Arial"/>
                <a:cs typeface="Arial"/>
              </a:defRPr>
            </a:lvl5pPr>
            <a:lvl6pPr>
              <a:defRPr sz="1800" b="0">
                <a:solidFill>
                  <a:srgbClr val="172D3C"/>
                </a:solidFill>
                <a:latin typeface="Arial"/>
                <a:ea typeface="Arial"/>
                <a:cs typeface="Arial"/>
              </a:defRPr>
            </a:lvl6pPr>
            <a:lvl7pPr>
              <a:defRPr sz="1800" b="0">
                <a:solidFill>
                  <a:srgbClr val="172D3C"/>
                </a:solidFill>
                <a:latin typeface="Arial"/>
                <a:ea typeface="Arial"/>
                <a:cs typeface="Arial"/>
              </a:defRPr>
            </a:lvl7pPr>
            <a:lvl8pPr>
              <a:defRPr sz="1800" b="0">
                <a:solidFill>
                  <a:srgbClr val="172D3C"/>
                </a:solidFill>
                <a:latin typeface="Arial"/>
                <a:ea typeface="Arial"/>
                <a:cs typeface="Arial"/>
              </a:defRPr>
            </a:lvl8pPr>
            <a:lvl9pPr>
              <a:defRPr sz="1800" b="0">
                <a:solidFill>
                  <a:srgbClr val="172D3C"/>
                </a:solidFill>
                <a:latin typeface="Arial"/>
                <a:ea typeface="Arial"/>
                <a:cs typeface="Arial"/>
              </a:defRPr>
            </a:lvl9pPr>
          </a:lstStyle>
          <a:p xmlns:a="http://schemas.openxmlformats.org/drawingml/2006/main">
            <a:pPr>
              <a:defRPr sz="1800" b="0">
                <a:solidFill>
                  <a:srgbClr val="172D3C"/>
                </a:solidFill>
                <a:latin typeface="Arial"/>
                <a:ea typeface="Arial"/>
                <a:cs typeface="Arial"/>
              </a:defRPr>
            </a:pPr>
            <a:r>
              <a:rPr sz="1800" b="0">
                <a:solidFill>
                  <a:srgbClr val="172D3C"/>
                </a:solidFill>
                <a:latin typeface="Arial"/>
                <a:ea typeface="Arial"/>
                <a:cs typeface="Arial"/>
              </a:rPr>
              <a:t>Connect separate CSV exports, inspect customer cohorts, and distinguish predicted value from incremental marketing effects.</a:t>
            </a:r>
          </a:p>
        </p:txBody>
      </p:sp>
      <p:sp>
        <p:nvSpPr>
          <p:cNvPr id="7" name="">
            <a:extLst xmlns:a="http://schemas.openxmlformats.org/drawingml/2006/main">
              <a:ext uri="{FF2B5EF4-FFF2-40B4-BE49-F238E27FC236}">
                <a16:creationId xmlns:a16="http://schemas.microsoft.com/office/drawing/2014/main" id="{A5F4D458-25AA-47CB-A6CB-C7D033A0DBC7}"/>
              </a:ext>
            </a:extLst>
          </p:cNvPr>
          <p:cNvSpPr>
            <a:spLocks xmlns:a="http://schemas.openxmlformats.org/drawingml/2006/main" noGrp="1"/>
          </p:cNvSpPr>
          <p:nvPr/>
        </p:nvSpPr>
        <p:spPr>
          <a:xfrm xmlns:a="http://schemas.openxmlformats.org/drawingml/2006/main">
            <a:off x="7334250" y="1562100"/>
            <a:ext cx="1952625" cy="733425"/>
          </a:xfrm>
          <a:prstGeom xmlns:a="http://schemas.openxmlformats.org/drawingml/2006/main" prst="rect">
            <a:avLst/>
          </a:prstGeom>
          <a:solidFill xmlns:a="http://schemas.openxmlformats.org/drawingml/2006/main">
            <a:srgbClr val="ECF3F7"/>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688D3B5-3B98-40B5-96E4-8023D3E9B732}"/>
              </a:ext>
            </a:extLst>
          </p:cNvPr>
          <p:cNvSpPr>
            <a:spLocks xmlns:a="http://schemas.openxmlformats.org/drawingml/2006/main" noGrp="1"/>
          </p:cNvSpPr>
          <p:nvPr/>
        </p:nvSpPr>
        <p:spPr>
          <a:xfrm xmlns:a="http://schemas.openxmlformats.org/drawingml/2006/main">
            <a:off x="7467600" y="1657350"/>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CRM</a:t>
            </a:r>
          </a:p>
        </p:txBody>
      </p:sp>
      <p:sp>
        <p:nvSpPr>
          <p:cNvPr id="9" name="">
            <a:extLst xmlns:a="http://schemas.openxmlformats.org/drawingml/2006/main">
              <a:ext uri="{FF2B5EF4-FFF2-40B4-BE49-F238E27FC236}">
                <a16:creationId xmlns:a16="http://schemas.microsoft.com/office/drawing/2014/main" id="{AF03E9BB-0FBD-4E22-9994-807523CEB2B5}"/>
              </a:ext>
            </a:extLst>
          </p:cNvPr>
          <p:cNvSpPr>
            <a:spLocks xmlns:a="http://schemas.openxmlformats.org/drawingml/2006/main" noGrp="1"/>
          </p:cNvSpPr>
          <p:nvPr/>
        </p:nvSpPr>
        <p:spPr>
          <a:xfrm xmlns:a="http://schemas.openxmlformats.org/drawingml/2006/main">
            <a:off x="9429750" y="1562100"/>
            <a:ext cx="1952625" cy="73342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40AF894-C3FE-48DD-B4EC-011C1E5EC70C}"/>
              </a:ext>
            </a:extLst>
          </p:cNvPr>
          <p:cNvSpPr>
            <a:spLocks xmlns:a="http://schemas.openxmlformats.org/drawingml/2006/main" noGrp="1"/>
          </p:cNvSpPr>
          <p:nvPr/>
        </p:nvSpPr>
        <p:spPr>
          <a:xfrm xmlns:a="http://schemas.openxmlformats.org/drawingml/2006/main">
            <a:off x="9563100" y="1657350"/>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Renewals</a:t>
            </a:r>
          </a:p>
        </p:txBody>
      </p:sp>
      <p:sp>
        <p:nvSpPr>
          <p:cNvPr id="11" name="">
            <a:extLst xmlns:a="http://schemas.openxmlformats.org/drawingml/2006/main">
              <a:ext uri="{FF2B5EF4-FFF2-40B4-BE49-F238E27FC236}">
                <a16:creationId xmlns:a16="http://schemas.microsoft.com/office/drawing/2014/main" id="{70C81519-7C6E-435A-9079-1EC8E409E26D}"/>
              </a:ext>
            </a:extLst>
          </p:cNvPr>
          <p:cNvSpPr>
            <a:spLocks xmlns:a="http://schemas.openxmlformats.org/drawingml/2006/main" noGrp="1"/>
          </p:cNvSpPr>
          <p:nvPr/>
        </p:nvSpPr>
        <p:spPr>
          <a:xfrm xmlns:a="http://schemas.openxmlformats.org/drawingml/2006/main">
            <a:off x="7334250" y="2466975"/>
            <a:ext cx="1952625" cy="733425"/>
          </a:xfrm>
          <a:prstGeom xmlns:a="http://schemas.openxmlformats.org/drawingml/2006/main" prst="rect">
            <a:avLst/>
          </a:prstGeom>
          <a:solidFill xmlns:a="http://schemas.openxmlformats.org/drawingml/2006/main">
            <a:srgbClr val="ECF3F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6267A6A-C74F-49C5-9C1E-D643E816B129}"/>
              </a:ext>
            </a:extLst>
          </p:cNvPr>
          <p:cNvSpPr>
            <a:spLocks xmlns:a="http://schemas.openxmlformats.org/drawingml/2006/main" noGrp="1"/>
          </p:cNvSpPr>
          <p:nvPr/>
        </p:nvSpPr>
        <p:spPr>
          <a:xfrm xmlns:a="http://schemas.openxmlformats.org/drawingml/2006/main">
            <a:off x="7467600" y="2562225"/>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Transactions</a:t>
            </a:r>
          </a:p>
        </p:txBody>
      </p:sp>
      <p:sp>
        <p:nvSpPr>
          <p:cNvPr id="13" name="">
            <a:extLst xmlns:a="http://schemas.openxmlformats.org/drawingml/2006/main">
              <a:ext uri="{FF2B5EF4-FFF2-40B4-BE49-F238E27FC236}">
                <a16:creationId xmlns:a16="http://schemas.microsoft.com/office/drawing/2014/main" id="{BAC2AA83-92BF-484B-988A-335D0583CCDF}"/>
              </a:ext>
            </a:extLst>
          </p:cNvPr>
          <p:cNvSpPr>
            <a:spLocks xmlns:a="http://schemas.openxmlformats.org/drawingml/2006/main" noGrp="1"/>
          </p:cNvSpPr>
          <p:nvPr/>
        </p:nvSpPr>
        <p:spPr>
          <a:xfrm xmlns:a="http://schemas.openxmlformats.org/drawingml/2006/main">
            <a:off x="9429750" y="2466975"/>
            <a:ext cx="1952625" cy="73342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904BC62-6DE0-4EF6-BBA1-13CE264674D7}"/>
              </a:ext>
            </a:extLst>
          </p:cNvPr>
          <p:cNvSpPr>
            <a:spLocks xmlns:a="http://schemas.openxmlformats.org/drawingml/2006/main" noGrp="1"/>
          </p:cNvSpPr>
          <p:nvPr/>
        </p:nvSpPr>
        <p:spPr>
          <a:xfrm xmlns:a="http://schemas.openxmlformats.org/drawingml/2006/main">
            <a:off x="9563100" y="2562225"/>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Product events</a:t>
            </a:r>
          </a:p>
        </p:txBody>
      </p:sp>
      <p:sp>
        <p:nvSpPr>
          <p:cNvPr id="15" name="">
            <a:extLst xmlns:a="http://schemas.openxmlformats.org/drawingml/2006/main">
              <a:ext uri="{FF2B5EF4-FFF2-40B4-BE49-F238E27FC236}">
                <a16:creationId xmlns:a16="http://schemas.microsoft.com/office/drawing/2014/main" id="{9723481C-7AC3-44B8-A821-430F6B2787AD}"/>
              </a:ext>
            </a:extLst>
          </p:cNvPr>
          <p:cNvSpPr>
            <a:spLocks xmlns:a="http://schemas.openxmlformats.org/drawingml/2006/main" noGrp="1"/>
          </p:cNvSpPr>
          <p:nvPr/>
        </p:nvSpPr>
        <p:spPr>
          <a:xfrm xmlns:a="http://schemas.openxmlformats.org/drawingml/2006/main">
            <a:off x="7334250" y="3371850"/>
            <a:ext cx="1952625" cy="733425"/>
          </a:xfrm>
          <a:prstGeom xmlns:a="http://schemas.openxmlformats.org/drawingml/2006/main" prst="rect">
            <a:avLst/>
          </a:prstGeom>
          <a:solidFill xmlns:a="http://schemas.openxmlformats.org/drawingml/2006/main">
            <a:srgbClr val="ECF3F7"/>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27B79D3-37D2-45CD-8F7B-BCAABB8F1431}"/>
              </a:ext>
            </a:extLst>
          </p:cNvPr>
          <p:cNvSpPr>
            <a:spLocks xmlns:a="http://schemas.openxmlformats.org/drawingml/2006/main" noGrp="1"/>
          </p:cNvSpPr>
          <p:nvPr/>
        </p:nvSpPr>
        <p:spPr>
          <a:xfrm xmlns:a="http://schemas.openxmlformats.org/drawingml/2006/main">
            <a:off x="7467600" y="3467100"/>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Feedback</a:t>
            </a:r>
          </a:p>
        </p:txBody>
      </p:sp>
      <p:sp>
        <p:nvSpPr>
          <p:cNvPr id="17" name="">
            <a:extLst xmlns:a="http://schemas.openxmlformats.org/drawingml/2006/main">
              <a:ext uri="{FF2B5EF4-FFF2-40B4-BE49-F238E27FC236}">
                <a16:creationId xmlns:a16="http://schemas.microsoft.com/office/drawing/2014/main" id="{CE98ABCA-D4A9-4D6A-A99C-A29B02D5C7F0}"/>
              </a:ext>
            </a:extLst>
          </p:cNvPr>
          <p:cNvSpPr>
            <a:spLocks xmlns:a="http://schemas.openxmlformats.org/drawingml/2006/main" noGrp="1"/>
          </p:cNvSpPr>
          <p:nvPr/>
        </p:nvSpPr>
        <p:spPr>
          <a:xfrm xmlns:a="http://schemas.openxmlformats.org/drawingml/2006/main">
            <a:off x="9429750" y="3371850"/>
            <a:ext cx="1952625" cy="73342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BEE758D-40DD-4FAD-986F-1E1DB8EE69EA}"/>
              </a:ext>
            </a:extLst>
          </p:cNvPr>
          <p:cNvSpPr>
            <a:spLocks xmlns:a="http://schemas.openxmlformats.org/drawingml/2006/main" noGrp="1"/>
          </p:cNvSpPr>
          <p:nvPr/>
        </p:nvSpPr>
        <p:spPr>
          <a:xfrm xmlns:a="http://schemas.openxmlformats.org/drawingml/2006/main">
            <a:off x="9563100" y="3467100"/>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Campaign spend</a:t>
            </a:r>
          </a:p>
        </p:txBody>
      </p:sp>
      <p:sp>
        <p:nvSpPr>
          <p:cNvPr id="19" name="">
            <a:extLst xmlns:a="http://schemas.openxmlformats.org/drawingml/2006/main">
              <a:ext uri="{FF2B5EF4-FFF2-40B4-BE49-F238E27FC236}">
                <a16:creationId xmlns:a16="http://schemas.microsoft.com/office/drawing/2014/main" id="{3025041D-72E4-436F-B383-9BBD89351091}"/>
              </a:ext>
            </a:extLst>
          </p:cNvPr>
          <p:cNvSpPr>
            <a:spLocks xmlns:a="http://schemas.openxmlformats.org/drawingml/2006/main" noGrp="1"/>
          </p:cNvSpPr>
          <p:nvPr/>
        </p:nvSpPr>
        <p:spPr>
          <a:xfrm xmlns:a="http://schemas.openxmlformats.org/drawingml/2006/main">
            <a:off x="7334250" y="4276725"/>
            <a:ext cx="1952625" cy="733425"/>
          </a:xfrm>
          <a:prstGeom xmlns:a="http://schemas.openxmlformats.org/drawingml/2006/main" prst="rect">
            <a:avLst/>
          </a:prstGeom>
          <a:solidFill xmlns:a="http://schemas.openxmlformats.org/drawingml/2006/main">
            <a:srgbClr val="ECF3F7"/>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5B85DA3-7DF9-4C8D-82A2-33868F2A889D}"/>
              </a:ext>
            </a:extLst>
          </p:cNvPr>
          <p:cNvSpPr>
            <a:spLocks xmlns:a="http://schemas.openxmlformats.org/drawingml/2006/main" noGrp="1"/>
          </p:cNvSpPr>
          <p:nvPr/>
        </p:nvSpPr>
        <p:spPr>
          <a:xfrm xmlns:a="http://schemas.openxmlformats.org/drawingml/2006/main">
            <a:off x="7467600" y="4371975"/>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Source credit</a:t>
            </a:r>
          </a:p>
        </p:txBody>
      </p:sp>
      <p:sp>
        <p:nvSpPr>
          <p:cNvPr id="21" name="">
            <a:extLst xmlns:a="http://schemas.openxmlformats.org/drawingml/2006/main">
              <a:ext uri="{FF2B5EF4-FFF2-40B4-BE49-F238E27FC236}">
                <a16:creationId xmlns:a16="http://schemas.microsoft.com/office/drawing/2014/main" id="{DD2DB42F-1555-469B-A499-A10A56428B20}"/>
              </a:ext>
            </a:extLst>
          </p:cNvPr>
          <p:cNvSpPr>
            <a:spLocks xmlns:a="http://schemas.openxmlformats.org/drawingml/2006/main" noGrp="1"/>
          </p:cNvSpPr>
          <p:nvPr/>
        </p:nvSpPr>
        <p:spPr>
          <a:xfrm xmlns:a="http://schemas.openxmlformats.org/drawingml/2006/main">
            <a:off x="9429750" y="4276725"/>
            <a:ext cx="1952625" cy="73342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5AF4032-A932-400B-B16E-B874DB90F967}"/>
              </a:ext>
            </a:extLst>
          </p:cNvPr>
          <p:cNvSpPr>
            <a:spLocks xmlns:a="http://schemas.openxmlformats.org/drawingml/2006/main" noGrp="1"/>
          </p:cNvSpPr>
          <p:nvPr/>
        </p:nvSpPr>
        <p:spPr>
          <a:xfrm xmlns:a="http://schemas.openxmlformats.org/drawingml/2006/main">
            <a:off x="9563100" y="4371975"/>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Assignments</a:t>
            </a:r>
          </a:p>
        </p:txBody>
      </p:sp>
    </p:spTree>
    <p:extLst>
      <p:ext uri="{BB962C8B-B14F-4D97-AF65-F5344CB8AC3E}">
        <p14:creationId xmlns:p14="http://schemas.microsoft.com/office/powerpoint/2010/main" val="132467629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8568697A-1779-4B3B-9A35-FBCD9DA4DC8C}"/>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D47E23F-6F9B-4E6A-BE12-D1841CBBA574}"/>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How to read the slide colors</a:t>
            </a:r>
          </a:p>
        </p:txBody>
      </p:sp>
      <p:sp>
        <p:nvSpPr>
          <p:cNvPr id="3" name="">
            <a:extLst xmlns:a="http://schemas.openxmlformats.org/drawingml/2006/main">
              <a:ext uri="{FF2B5EF4-FFF2-40B4-BE49-F238E27FC236}">
                <a16:creationId xmlns:a16="http://schemas.microsoft.com/office/drawing/2014/main" id="{48352917-0C41-4860-B012-F1267798B536}"/>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3191B5"/>
                </a:solidFill>
                <a:latin typeface="Arial"/>
                <a:ea typeface="Arial"/>
                <a:cs typeface="Arial"/>
              </a:defRPr>
            </a:defPPr>
            <a:lvl1pPr>
              <a:defRPr sz="900" b="1">
                <a:solidFill>
                  <a:srgbClr val="3191B5"/>
                </a:solidFill>
                <a:latin typeface="Arial"/>
                <a:ea typeface="Arial"/>
                <a:cs typeface="Arial"/>
              </a:defRPr>
            </a:lvl1pPr>
            <a:lvl2pPr>
              <a:defRPr sz="900" b="1">
                <a:solidFill>
                  <a:srgbClr val="3191B5"/>
                </a:solidFill>
                <a:latin typeface="Arial"/>
                <a:ea typeface="Arial"/>
                <a:cs typeface="Arial"/>
              </a:defRPr>
            </a:lvl2pPr>
            <a:lvl3pPr>
              <a:defRPr sz="900" b="1">
                <a:solidFill>
                  <a:srgbClr val="3191B5"/>
                </a:solidFill>
                <a:latin typeface="Arial"/>
                <a:ea typeface="Arial"/>
                <a:cs typeface="Arial"/>
              </a:defRPr>
            </a:lvl3pPr>
            <a:lvl4pPr>
              <a:defRPr sz="900" b="1">
                <a:solidFill>
                  <a:srgbClr val="3191B5"/>
                </a:solidFill>
                <a:latin typeface="Arial"/>
                <a:ea typeface="Arial"/>
                <a:cs typeface="Arial"/>
              </a:defRPr>
            </a:lvl4pPr>
            <a:lvl5pPr>
              <a:defRPr sz="900" b="1">
                <a:solidFill>
                  <a:srgbClr val="3191B5"/>
                </a:solidFill>
                <a:latin typeface="Arial"/>
                <a:ea typeface="Arial"/>
                <a:cs typeface="Arial"/>
              </a:defRPr>
            </a:lvl5pPr>
            <a:lvl6pPr>
              <a:defRPr sz="900" b="1">
                <a:solidFill>
                  <a:srgbClr val="3191B5"/>
                </a:solidFill>
                <a:latin typeface="Arial"/>
                <a:ea typeface="Arial"/>
                <a:cs typeface="Arial"/>
              </a:defRPr>
            </a:lvl6pPr>
            <a:lvl7pPr>
              <a:defRPr sz="900" b="1">
                <a:solidFill>
                  <a:srgbClr val="3191B5"/>
                </a:solidFill>
                <a:latin typeface="Arial"/>
                <a:ea typeface="Arial"/>
                <a:cs typeface="Arial"/>
              </a:defRPr>
            </a:lvl7pPr>
            <a:lvl8pPr>
              <a:defRPr sz="900" b="1">
                <a:solidFill>
                  <a:srgbClr val="3191B5"/>
                </a:solidFill>
                <a:latin typeface="Arial"/>
                <a:ea typeface="Arial"/>
                <a:cs typeface="Arial"/>
              </a:defRPr>
            </a:lvl8pPr>
            <a:lvl9pPr>
              <a:defRPr sz="900" b="1">
                <a:solidFill>
                  <a:srgbClr val="3191B5"/>
                </a:solidFill>
                <a:latin typeface="Arial"/>
                <a:ea typeface="Arial"/>
                <a:cs typeface="Arial"/>
              </a:defRPr>
            </a:lvl9pPr>
          </a:lstStyle>
          <a:p xmlns:a="http://schemas.openxmlformats.org/drawingml/2006/main">
            <a:pPr>
              <a:defRPr sz="900" b="1">
                <a:solidFill>
                  <a:srgbClr val="3191B5"/>
                </a:solidFill>
                <a:latin typeface="Arial"/>
                <a:ea typeface="Arial"/>
                <a:cs typeface="Arial"/>
              </a:defRPr>
            </a:pPr>
            <a:r>
              <a:rPr sz="900" b="1">
                <a:solidFill>
                  <a:srgbClr val="3191B5"/>
                </a:solidFill>
                <a:latin typeface="Arial"/>
                <a:ea typeface="Arial"/>
                <a:cs typeface="Arial"/>
              </a:rPr>
              <a:t>CONCEPT</a:t>
            </a:r>
          </a:p>
        </p:txBody>
      </p:sp>
      <p:sp>
        <p:nvSpPr>
          <p:cNvPr id="4" name="">
            <a:extLst xmlns:a="http://schemas.openxmlformats.org/drawingml/2006/main">
              <a:ext uri="{FF2B5EF4-FFF2-40B4-BE49-F238E27FC236}">
                <a16:creationId xmlns:a16="http://schemas.microsoft.com/office/drawing/2014/main" id="{7B8C6581-9DA8-4DBB-AF04-89B32FFDDB43}"/>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749965D5-165D-4C43-87EC-BAD92868B39E}"/>
              </a:ext>
            </a:extLst>
          </p:cNvPr>
          <p:cNvSpPr>
            <a:spLocks xmlns:a="http://schemas.openxmlformats.org/drawingml/2006/main" noGrp="1"/>
          </p:cNvSpPr>
          <p:nvPr/>
        </p:nvSpPr>
        <p:spPr>
          <a:xfrm xmlns:a="http://schemas.openxmlformats.org/drawingml/2006/main">
            <a:off x="609600" y="1638300"/>
            <a:ext cx="123825" cy="619125"/>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AFD8B25-41C1-4F8F-BFAF-D1F223169D75}"/>
              </a:ext>
            </a:extLst>
          </p:cNvPr>
          <p:cNvSpPr>
            <a:spLocks xmlns:a="http://schemas.openxmlformats.org/drawingml/2006/main" noGrp="1"/>
          </p:cNvSpPr>
          <p:nvPr/>
        </p:nvSpPr>
        <p:spPr>
          <a:xfrm xmlns:a="http://schemas.openxmlformats.org/drawingml/2006/main">
            <a:off x="942975" y="1647825"/>
            <a:ext cx="3143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75" b="1">
                <a:solidFill>
                  <a:srgbClr val="3191B5"/>
                </a:solidFill>
                <a:latin typeface="Arial"/>
                <a:ea typeface="Arial"/>
                <a:cs typeface="Arial"/>
              </a:defRPr>
            </a:defPPr>
            <a:lvl1pPr>
              <a:defRPr sz="1875" b="1">
                <a:solidFill>
                  <a:srgbClr val="3191B5"/>
                </a:solidFill>
                <a:latin typeface="Arial"/>
                <a:ea typeface="Arial"/>
                <a:cs typeface="Arial"/>
              </a:defRPr>
            </a:lvl1pPr>
            <a:lvl2pPr>
              <a:defRPr sz="1875" b="1">
                <a:solidFill>
                  <a:srgbClr val="3191B5"/>
                </a:solidFill>
                <a:latin typeface="Arial"/>
                <a:ea typeface="Arial"/>
                <a:cs typeface="Arial"/>
              </a:defRPr>
            </a:lvl2pPr>
            <a:lvl3pPr>
              <a:defRPr sz="1875" b="1">
                <a:solidFill>
                  <a:srgbClr val="3191B5"/>
                </a:solidFill>
                <a:latin typeface="Arial"/>
                <a:ea typeface="Arial"/>
                <a:cs typeface="Arial"/>
              </a:defRPr>
            </a:lvl3pPr>
            <a:lvl4pPr>
              <a:defRPr sz="1875" b="1">
                <a:solidFill>
                  <a:srgbClr val="3191B5"/>
                </a:solidFill>
                <a:latin typeface="Arial"/>
                <a:ea typeface="Arial"/>
                <a:cs typeface="Arial"/>
              </a:defRPr>
            </a:lvl4pPr>
            <a:lvl5pPr>
              <a:defRPr sz="1875" b="1">
                <a:solidFill>
                  <a:srgbClr val="3191B5"/>
                </a:solidFill>
                <a:latin typeface="Arial"/>
                <a:ea typeface="Arial"/>
                <a:cs typeface="Arial"/>
              </a:defRPr>
            </a:lvl5pPr>
            <a:lvl6pPr>
              <a:defRPr sz="1875" b="1">
                <a:solidFill>
                  <a:srgbClr val="3191B5"/>
                </a:solidFill>
                <a:latin typeface="Arial"/>
                <a:ea typeface="Arial"/>
                <a:cs typeface="Arial"/>
              </a:defRPr>
            </a:lvl6pPr>
            <a:lvl7pPr>
              <a:defRPr sz="1875" b="1">
                <a:solidFill>
                  <a:srgbClr val="3191B5"/>
                </a:solidFill>
                <a:latin typeface="Arial"/>
                <a:ea typeface="Arial"/>
                <a:cs typeface="Arial"/>
              </a:defRPr>
            </a:lvl7pPr>
            <a:lvl8pPr>
              <a:defRPr sz="1875" b="1">
                <a:solidFill>
                  <a:srgbClr val="3191B5"/>
                </a:solidFill>
                <a:latin typeface="Arial"/>
                <a:ea typeface="Arial"/>
                <a:cs typeface="Arial"/>
              </a:defRPr>
            </a:lvl8pPr>
            <a:lvl9pPr>
              <a:defRPr sz="1875" b="1">
                <a:solidFill>
                  <a:srgbClr val="3191B5"/>
                </a:solidFill>
                <a:latin typeface="Arial"/>
                <a:ea typeface="Arial"/>
                <a:cs typeface="Arial"/>
              </a:defRPr>
            </a:lvl9pPr>
          </a:lstStyle>
          <a:p xmlns:a="http://schemas.openxmlformats.org/drawingml/2006/main">
            <a:pPr>
              <a:defRPr sz="1875" b="1">
                <a:solidFill>
                  <a:srgbClr val="3191B5"/>
                </a:solidFill>
                <a:latin typeface="Arial"/>
                <a:ea typeface="Arial"/>
                <a:cs typeface="Arial"/>
              </a:defRPr>
            </a:pPr>
            <a:r>
              <a:rPr sz="1875" b="1">
                <a:solidFill>
                  <a:srgbClr val="3191B5"/>
                </a:solidFill>
                <a:latin typeface="Arial"/>
                <a:ea typeface="Arial"/>
                <a:cs typeface="Arial"/>
              </a:rPr>
              <a:t>Concept</a:t>
            </a:r>
          </a:p>
        </p:txBody>
      </p:sp>
      <p:sp>
        <p:nvSpPr>
          <p:cNvPr id="7" name="">
            <a:extLst xmlns:a="http://schemas.openxmlformats.org/drawingml/2006/main">
              <a:ext uri="{FF2B5EF4-FFF2-40B4-BE49-F238E27FC236}">
                <a16:creationId xmlns:a16="http://schemas.microsoft.com/office/drawing/2014/main" id="{015DE1E2-233B-40C2-94BC-D0DD547C5BD0}"/>
              </a:ext>
            </a:extLst>
          </p:cNvPr>
          <p:cNvSpPr>
            <a:spLocks xmlns:a="http://schemas.openxmlformats.org/drawingml/2006/main" noGrp="1"/>
          </p:cNvSpPr>
          <p:nvPr/>
        </p:nvSpPr>
        <p:spPr>
          <a:xfrm xmlns:a="http://schemas.openxmlformats.org/drawingml/2006/main">
            <a:off x="4257675" y="1647825"/>
            <a:ext cx="700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0">
                <a:solidFill>
                  <a:srgbClr val="172D3C"/>
                </a:solidFill>
                <a:latin typeface="Arial"/>
                <a:ea typeface="Arial"/>
                <a:cs typeface="Arial"/>
              </a:defRPr>
            </a:defPPr>
            <a:lvl1pPr>
              <a:defRPr sz="1575" b="0">
                <a:solidFill>
                  <a:srgbClr val="172D3C"/>
                </a:solidFill>
                <a:latin typeface="Arial"/>
                <a:ea typeface="Arial"/>
                <a:cs typeface="Arial"/>
              </a:defRPr>
            </a:lvl1pPr>
            <a:lvl2pPr>
              <a:defRPr sz="1575" b="0">
                <a:solidFill>
                  <a:srgbClr val="172D3C"/>
                </a:solidFill>
                <a:latin typeface="Arial"/>
                <a:ea typeface="Arial"/>
                <a:cs typeface="Arial"/>
              </a:defRPr>
            </a:lvl2pPr>
            <a:lvl3pPr>
              <a:defRPr sz="1575" b="0">
                <a:solidFill>
                  <a:srgbClr val="172D3C"/>
                </a:solidFill>
                <a:latin typeface="Arial"/>
                <a:ea typeface="Arial"/>
                <a:cs typeface="Arial"/>
              </a:defRPr>
            </a:lvl3pPr>
            <a:lvl4pPr>
              <a:defRPr sz="1575" b="0">
                <a:solidFill>
                  <a:srgbClr val="172D3C"/>
                </a:solidFill>
                <a:latin typeface="Arial"/>
                <a:ea typeface="Arial"/>
                <a:cs typeface="Arial"/>
              </a:defRPr>
            </a:lvl4pPr>
            <a:lvl5pPr>
              <a:defRPr sz="1575" b="0">
                <a:solidFill>
                  <a:srgbClr val="172D3C"/>
                </a:solidFill>
                <a:latin typeface="Arial"/>
                <a:ea typeface="Arial"/>
                <a:cs typeface="Arial"/>
              </a:defRPr>
            </a:lvl5pPr>
            <a:lvl6pPr>
              <a:defRPr sz="1575" b="0">
                <a:solidFill>
                  <a:srgbClr val="172D3C"/>
                </a:solidFill>
                <a:latin typeface="Arial"/>
                <a:ea typeface="Arial"/>
                <a:cs typeface="Arial"/>
              </a:defRPr>
            </a:lvl6pPr>
            <a:lvl7pPr>
              <a:defRPr sz="1575" b="0">
                <a:solidFill>
                  <a:srgbClr val="172D3C"/>
                </a:solidFill>
                <a:latin typeface="Arial"/>
                <a:ea typeface="Arial"/>
                <a:cs typeface="Arial"/>
              </a:defRPr>
            </a:lvl7pPr>
            <a:lvl8pPr>
              <a:defRPr sz="1575" b="0">
                <a:solidFill>
                  <a:srgbClr val="172D3C"/>
                </a:solidFill>
                <a:latin typeface="Arial"/>
                <a:ea typeface="Arial"/>
                <a:cs typeface="Arial"/>
              </a:defRPr>
            </a:lvl8pPr>
            <a:lvl9pPr>
              <a:defRPr sz="1575" b="0">
                <a:solidFill>
                  <a:srgbClr val="172D3C"/>
                </a:solidFill>
                <a:latin typeface="Arial"/>
                <a:ea typeface="Arial"/>
                <a:cs typeface="Arial"/>
              </a:defRPr>
            </a:lvl9pPr>
          </a:lstStyle>
          <a:p xmlns:a="http://schemas.openxmlformats.org/drawingml/2006/main">
            <a:pPr>
              <a:defRPr sz="1575" b="0">
                <a:solidFill>
                  <a:srgbClr val="172D3C"/>
                </a:solidFill>
                <a:latin typeface="Arial"/>
                <a:ea typeface="Arial"/>
                <a:cs typeface="Arial"/>
              </a:defRPr>
            </a:pPr>
            <a:r>
              <a:rPr sz="1575" b="0">
                <a:solidFill>
                  <a:srgbClr val="172D3C"/>
                </a:solidFill>
                <a:latin typeface="Arial"/>
                <a:ea typeface="Arial"/>
                <a:cs typeface="Arial"/>
              </a:rPr>
              <a:t>Definitions and distinctions to use when interpreting the data.</a:t>
            </a:r>
          </a:p>
        </p:txBody>
      </p:sp>
      <p:sp>
        <p:nvSpPr>
          <p:cNvPr id="8" name="">
            <a:extLst xmlns:a="http://schemas.openxmlformats.org/drawingml/2006/main">
              <a:ext uri="{FF2B5EF4-FFF2-40B4-BE49-F238E27FC236}">
                <a16:creationId xmlns:a16="http://schemas.microsoft.com/office/drawing/2014/main" id="{2C876570-F433-4279-8743-B4A1B8DBC961}"/>
              </a:ext>
            </a:extLst>
          </p:cNvPr>
          <p:cNvSpPr>
            <a:spLocks xmlns:a="http://schemas.openxmlformats.org/drawingml/2006/main" noGrp="1"/>
          </p:cNvSpPr>
          <p:nvPr/>
        </p:nvSpPr>
        <p:spPr>
          <a:xfrm xmlns:a="http://schemas.openxmlformats.org/drawingml/2006/main">
            <a:off x="609600" y="2476500"/>
            <a:ext cx="123825" cy="6191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8E10EA7-FDC6-4768-A8BC-2BA8F4CF6236}"/>
              </a:ext>
            </a:extLst>
          </p:cNvPr>
          <p:cNvSpPr>
            <a:spLocks xmlns:a="http://schemas.openxmlformats.org/drawingml/2006/main" noGrp="1"/>
          </p:cNvSpPr>
          <p:nvPr/>
        </p:nvSpPr>
        <p:spPr>
          <a:xfrm xmlns:a="http://schemas.openxmlformats.org/drawingml/2006/main">
            <a:off x="942975" y="2486025"/>
            <a:ext cx="3143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75" b="1">
                <a:solidFill>
                  <a:srgbClr val="087F8C"/>
                </a:solidFill>
                <a:latin typeface="Arial"/>
                <a:ea typeface="Arial"/>
                <a:cs typeface="Arial"/>
              </a:defRPr>
            </a:defPPr>
            <a:lvl1pPr>
              <a:defRPr sz="1875" b="1">
                <a:solidFill>
                  <a:srgbClr val="087F8C"/>
                </a:solidFill>
                <a:latin typeface="Arial"/>
                <a:ea typeface="Arial"/>
                <a:cs typeface="Arial"/>
              </a:defRPr>
            </a:lvl1pPr>
            <a:lvl2pPr>
              <a:defRPr sz="1875" b="1">
                <a:solidFill>
                  <a:srgbClr val="087F8C"/>
                </a:solidFill>
                <a:latin typeface="Arial"/>
                <a:ea typeface="Arial"/>
                <a:cs typeface="Arial"/>
              </a:defRPr>
            </a:lvl2pPr>
            <a:lvl3pPr>
              <a:defRPr sz="1875" b="1">
                <a:solidFill>
                  <a:srgbClr val="087F8C"/>
                </a:solidFill>
                <a:latin typeface="Arial"/>
                <a:ea typeface="Arial"/>
                <a:cs typeface="Arial"/>
              </a:defRPr>
            </a:lvl3pPr>
            <a:lvl4pPr>
              <a:defRPr sz="1875" b="1">
                <a:solidFill>
                  <a:srgbClr val="087F8C"/>
                </a:solidFill>
                <a:latin typeface="Arial"/>
                <a:ea typeface="Arial"/>
                <a:cs typeface="Arial"/>
              </a:defRPr>
            </a:lvl4pPr>
            <a:lvl5pPr>
              <a:defRPr sz="1875" b="1">
                <a:solidFill>
                  <a:srgbClr val="087F8C"/>
                </a:solidFill>
                <a:latin typeface="Arial"/>
                <a:ea typeface="Arial"/>
                <a:cs typeface="Arial"/>
              </a:defRPr>
            </a:lvl5pPr>
            <a:lvl6pPr>
              <a:defRPr sz="1875" b="1">
                <a:solidFill>
                  <a:srgbClr val="087F8C"/>
                </a:solidFill>
                <a:latin typeface="Arial"/>
                <a:ea typeface="Arial"/>
                <a:cs typeface="Arial"/>
              </a:defRPr>
            </a:lvl6pPr>
            <a:lvl7pPr>
              <a:defRPr sz="1875" b="1">
                <a:solidFill>
                  <a:srgbClr val="087F8C"/>
                </a:solidFill>
                <a:latin typeface="Arial"/>
                <a:ea typeface="Arial"/>
                <a:cs typeface="Arial"/>
              </a:defRPr>
            </a:lvl7pPr>
            <a:lvl8pPr>
              <a:defRPr sz="1875" b="1">
                <a:solidFill>
                  <a:srgbClr val="087F8C"/>
                </a:solidFill>
                <a:latin typeface="Arial"/>
                <a:ea typeface="Arial"/>
                <a:cs typeface="Arial"/>
              </a:defRPr>
            </a:lvl8pPr>
            <a:lvl9pPr>
              <a:defRPr sz="1875" b="1">
                <a:solidFill>
                  <a:srgbClr val="087F8C"/>
                </a:solidFill>
                <a:latin typeface="Arial"/>
                <a:ea typeface="Arial"/>
                <a:cs typeface="Arial"/>
              </a:defRPr>
            </a:lvl9pPr>
          </a:lstStyle>
          <a:p xmlns:a="http://schemas.openxmlformats.org/drawingml/2006/main">
            <a:pPr>
              <a:defRPr sz="1875" b="1">
                <a:solidFill>
                  <a:srgbClr val="087F8C"/>
                </a:solidFill>
                <a:latin typeface="Arial"/>
                <a:ea typeface="Arial"/>
                <a:cs typeface="Arial"/>
              </a:defRPr>
            </a:pPr>
            <a:r>
              <a:rPr sz="1875" b="1">
                <a:solidFill>
                  <a:srgbClr val="087F8C"/>
                </a:solidFill>
                <a:latin typeface="Arial"/>
                <a:ea typeface="Arial"/>
                <a:cs typeface="Arial"/>
              </a:rPr>
              <a:t>Case application</a:t>
            </a:r>
          </a:p>
        </p:txBody>
      </p:sp>
      <p:sp>
        <p:nvSpPr>
          <p:cNvPr id="10" name="">
            <a:extLst xmlns:a="http://schemas.openxmlformats.org/drawingml/2006/main">
              <a:ext uri="{FF2B5EF4-FFF2-40B4-BE49-F238E27FC236}">
                <a16:creationId xmlns:a16="http://schemas.microsoft.com/office/drawing/2014/main" id="{52F7F49F-3780-4314-924B-80BD3236D264}"/>
              </a:ext>
            </a:extLst>
          </p:cNvPr>
          <p:cNvSpPr>
            <a:spLocks xmlns:a="http://schemas.openxmlformats.org/drawingml/2006/main" noGrp="1"/>
          </p:cNvSpPr>
          <p:nvPr/>
        </p:nvSpPr>
        <p:spPr>
          <a:xfrm xmlns:a="http://schemas.openxmlformats.org/drawingml/2006/main">
            <a:off x="4257675" y="2486025"/>
            <a:ext cx="700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0">
                <a:solidFill>
                  <a:srgbClr val="172D3C"/>
                </a:solidFill>
                <a:latin typeface="Arial"/>
                <a:ea typeface="Arial"/>
                <a:cs typeface="Arial"/>
              </a:defRPr>
            </a:defPPr>
            <a:lvl1pPr>
              <a:defRPr sz="1575" b="0">
                <a:solidFill>
                  <a:srgbClr val="172D3C"/>
                </a:solidFill>
                <a:latin typeface="Arial"/>
                <a:ea typeface="Arial"/>
                <a:cs typeface="Arial"/>
              </a:defRPr>
            </a:lvl1pPr>
            <a:lvl2pPr>
              <a:defRPr sz="1575" b="0">
                <a:solidFill>
                  <a:srgbClr val="172D3C"/>
                </a:solidFill>
                <a:latin typeface="Arial"/>
                <a:ea typeface="Arial"/>
                <a:cs typeface="Arial"/>
              </a:defRPr>
            </a:lvl2pPr>
            <a:lvl3pPr>
              <a:defRPr sz="1575" b="0">
                <a:solidFill>
                  <a:srgbClr val="172D3C"/>
                </a:solidFill>
                <a:latin typeface="Arial"/>
                <a:ea typeface="Arial"/>
                <a:cs typeface="Arial"/>
              </a:defRPr>
            </a:lvl3pPr>
            <a:lvl4pPr>
              <a:defRPr sz="1575" b="0">
                <a:solidFill>
                  <a:srgbClr val="172D3C"/>
                </a:solidFill>
                <a:latin typeface="Arial"/>
                <a:ea typeface="Arial"/>
                <a:cs typeface="Arial"/>
              </a:defRPr>
            </a:lvl4pPr>
            <a:lvl5pPr>
              <a:defRPr sz="1575" b="0">
                <a:solidFill>
                  <a:srgbClr val="172D3C"/>
                </a:solidFill>
                <a:latin typeface="Arial"/>
                <a:ea typeface="Arial"/>
                <a:cs typeface="Arial"/>
              </a:defRPr>
            </a:lvl5pPr>
            <a:lvl6pPr>
              <a:defRPr sz="1575" b="0">
                <a:solidFill>
                  <a:srgbClr val="172D3C"/>
                </a:solidFill>
                <a:latin typeface="Arial"/>
                <a:ea typeface="Arial"/>
                <a:cs typeface="Arial"/>
              </a:defRPr>
            </a:lvl6pPr>
            <a:lvl7pPr>
              <a:defRPr sz="1575" b="0">
                <a:solidFill>
                  <a:srgbClr val="172D3C"/>
                </a:solidFill>
                <a:latin typeface="Arial"/>
                <a:ea typeface="Arial"/>
                <a:cs typeface="Arial"/>
              </a:defRPr>
            </a:lvl7pPr>
            <a:lvl8pPr>
              <a:defRPr sz="1575" b="0">
                <a:solidFill>
                  <a:srgbClr val="172D3C"/>
                </a:solidFill>
                <a:latin typeface="Arial"/>
                <a:ea typeface="Arial"/>
                <a:cs typeface="Arial"/>
              </a:defRPr>
            </a:lvl8pPr>
            <a:lvl9pPr>
              <a:defRPr sz="1575" b="0">
                <a:solidFill>
                  <a:srgbClr val="172D3C"/>
                </a:solidFill>
                <a:latin typeface="Arial"/>
                <a:ea typeface="Arial"/>
                <a:cs typeface="Arial"/>
              </a:defRPr>
            </a:lvl9pPr>
          </a:lstStyle>
          <a:p xmlns:a="http://schemas.openxmlformats.org/drawingml/2006/main">
            <a:pPr>
              <a:defRPr sz="1575" b="0">
                <a:solidFill>
                  <a:srgbClr val="172D3C"/>
                </a:solidFill>
                <a:latin typeface="Arial"/>
                <a:ea typeface="Arial"/>
                <a:cs typeface="Arial"/>
              </a:defRPr>
            </a:pPr>
            <a:r>
              <a:rPr sz="1575" b="0">
                <a:solidFill>
                  <a:srgbClr val="172D3C"/>
                </a:solidFill>
                <a:latin typeface="Arial"/>
                <a:ea typeface="Arial"/>
                <a:cs typeface="Arial"/>
              </a:rPr>
              <a:t>The fictional subscription business and its connected records.</a:t>
            </a:r>
          </a:p>
        </p:txBody>
      </p:sp>
      <p:sp>
        <p:nvSpPr>
          <p:cNvPr id="11" name="">
            <a:extLst xmlns:a="http://schemas.openxmlformats.org/drawingml/2006/main">
              <a:ext uri="{FF2B5EF4-FFF2-40B4-BE49-F238E27FC236}">
                <a16:creationId xmlns:a16="http://schemas.microsoft.com/office/drawing/2014/main" id="{64B2F969-6A39-4065-9BBE-E1C6215041E8}"/>
              </a:ext>
            </a:extLst>
          </p:cNvPr>
          <p:cNvSpPr>
            <a:spLocks xmlns:a="http://schemas.openxmlformats.org/drawingml/2006/main" noGrp="1"/>
          </p:cNvSpPr>
          <p:nvPr/>
        </p:nvSpPr>
        <p:spPr>
          <a:xfrm xmlns:a="http://schemas.openxmlformats.org/drawingml/2006/main">
            <a:off x="609600" y="3314700"/>
            <a:ext cx="123825" cy="619125"/>
          </a:xfrm>
          <a:prstGeom xmlns:a="http://schemas.openxmlformats.org/drawingml/2006/main" prst="rect">
            <a:avLst/>
          </a:prstGeom>
          <a:solidFill xmlns:a="http://schemas.openxmlformats.org/drawingml/2006/main">
            <a:srgbClr val="68778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52C8805-53A0-4F81-8DAE-E98EE20D3E1E}"/>
              </a:ext>
            </a:extLst>
          </p:cNvPr>
          <p:cNvSpPr>
            <a:spLocks xmlns:a="http://schemas.openxmlformats.org/drawingml/2006/main" noGrp="1"/>
          </p:cNvSpPr>
          <p:nvPr/>
        </p:nvSpPr>
        <p:spPr>
          <a:xfrm xmlns:a="http://schemas.openxmlformats.org/drawingml/2006/main">
            <a:off x="942975" y="3324225"/>
            <a:ext cx="3143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75" b="1">
                <a:solidFill>
                  <a:srgbClr val="687780"/>
                </a:solidFill>
                <a:latin typeface="Arial"/>
                <a:ea typeface="Arial"/>
                <a:cs typeface="Arial"/>
              </a:defRPr>
            </a:defPPr>
            <a:lvl1pPr>
              <a:defRPr sz="1875" b="1">
                <a:solidFill>
                  <a:srgbClr val="687780"/>
                </a:solidFill>
                <a:latin typeface="Arial"/>
                <a:ea typeface="Arial"/>
                <a:cs typeface="Arial"/>
              </a:defRPr>
            </a:lvl1pPr>
            <a:lvl2pPr>
              <a:defRPr sz="1875" b="1">
                <a:solidFill>
                  <a:srgbClr val="687780"/>
                </a:solidFill>
                <a:latin typeface="Arial"/>
                <a:ea typeface="Arial"/>
                <a:cs typeface="Arial"/>
              </a:defRPr>
            </a:lvl2pPr>
            <a:lvl3pPr>
              <a:defRPr sz="1875" b="1">
                <a:solidFill>
                  <a:srgbClr val="687780"/>
                </a:solidFill>
                <a:latin typeface="Arial"/>
                <a:ea typeface="Arial"/>
                <a:cs typeface="Arial"/>
              </a:defRPr>
            </a:lvl3pPr>
            <a:lvl4pPr>
              <a:defRPr sz="1875" b="1">
                <a:solidFill>
                  <a:srgbClr val="687780"/>
                </a:solidFill>
                <a:latin typeface="Arial"/>
                <a:ea typeface="Arial"/>
                <a:cs typeface="Arial"/>
              </a:defRPr>
            </a:lvl4pPr>
            <a:lvl5pPr>
              <a:defRPr sz="1875" b="1">
                <a:solidFill>
                  <a:srgbClr val="687780"/>
                </a:solidFill>
                <a:latin typeface="Arial"/>
                <a:ea typeface="Arial"/>
                <a:cs typeface="Arial"/>
              </a:defRPr>
            </a:lvl5pPr>
            <a:lvl6pPr>
              <a:defRPr sz="1875" b="1">
                <a:solidFill>
                  <a:srgbClr val="687780"/>
                </a:solidFill>
                <a:latin typeface="Arial"/>
                <a:ea typeface="Arial"/>
                <a:cs typeface="Arial"/>
              </a:defRPr>
            </a:lvl6pPr>
            <a:lvl7pPr>
              <a:defRPr sz="1875" b="1">
                <a:solidFill>
                  <a:srgbClr val="687780"/>
                </a:solidFill>
                <a:latin typeface="Arial"/>
                <a:ea typeface="Arial"/>
                <a:cs typeface="Arial"/>
              </a:defRPr>
            </a:lvl7pPr>
            <a:lvl8pPr>
              <a:defRPr sz="1875" b="1">
                <a:solidFill>
                  <a:srgbClr val="687780"/>
                </a:solidFill>
                <a:latin typeface="Arial"/>
                <a:ea typeface="Arial"/>
                <a:cs typeface="Arial"/>
              </a:defRPr>
            </a:lvl8pPr>
            <a:lvl9pPr>
              <a:defRPr sz="1875" b="1">
                <a:solidFill>
                  <a:srgbClr val="687780"/>
                </a:solidFill>
                <a:latin typeface="Arial"/>
                <a:ea typeface="Arial"/>
                <a:cs typeface="Arial"/>
              </a:defRPr>
            </a:lvl9pPr>
          </a:lstStyle>
          <a:p xmlns:a="http://schemas.openxmlformats.org/drawingml/2006/main">
            <a:pPr>
              <a:defRPr sz="1875" b="1">
                <a:solidFill>
                  <a:srgbClr val="687780"/>
                </a:solidFill>
                <a:latin typeface="Arial"/>
                <a:ea typeface="Arial"/>
                <a:cs typeface="Arial"/>
              </a:defRPr>
            </a:pPr>
            <a:r>
              <a:rPr sz="1875" b="1">
                <a:solidFill>
                  <a:srgbClr val="687780"/>
                </a:solidFill>
                <a:latin typeface="Arial"/>
                <a:ea typeface="Arial"/>
                <a:cs typeface="Arial"/>
              </a:rPr>
              <a:t>Evidence interpretation</a:t>
            </a:r>
          </a:p>
        </p:txBody>
      </p:sp>
      <p:sp>
        <p:nvSpPr>
          <p:cNvPr id="13" name="">
            <a:extLst xmlns:a="http://schemas.openxmlformats.org/drawingml/2006/main">
              <a:ext uri="{FF2B5EF4-FFF2-40B4-BE49-F238E27FC236}">
                <a16:creationId xmlns:a16="http://schemas.microsoft.com/office/drawing/2014/main" id="{DA6ADE2C-44CA-4980-898A-7E78D034C832}"/>
              </a:ext>
            </a:extLst>
          </p:cNvPr>
          <p:cNvSpPr>
            <a:spLocks xmlns:a="http://schemas.openxmlformats.org/drawingml/2006/main" noGrp="1"/>
          </p:cNvSpPr>
          <p:nvPr/>
        </p:nvSpPr>
        <p:spPr>
          <a:xfrm xmlns:a="http://schemas.openxmlformats.org/drawingml/2006/main">
            <a:off x="4257675" y="3324225"/>
            <a:ext cx="700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0">
                <a:solidFill>
                  <a:srgbClr val="172D3C"/>
                </a:solidFill>
                <a:latin typeface="Arial"/>
                <a:ea typeface="Arial"/>
                <a:cs typeface="Arial"/>
              </a:defRPr>
            </a:defPPr>
            <a:lvl1pPr>
              <a:defRPr sz="1575" b="0">
                <a:solidFill>
                  <a:srgbClr val="172D3C"/>
                </a:solidFill>
                <a:latin typeface="Arial"/>
                <a:ea typeface="Arial"/>
                <a:cs typeface="Arial"/>
              </a:defRPr>
            </a:lvl1pPr>
            <a:lvl2pPr>
              <a:defRPr sz="1575" b="0">
                <a:solidFill>
                  <a:srgbClr val="172D3C"/>
                </a:solidFill>
                <a:latin typeface="Arial"/>
                <a:ea typeface="Arial"/>
                <a:cs typeface="Arial"/>
              </a:defRPr>
            </a:lvl2pPr>
            <a:lvl3pPr>
              <a:defRPr sz="1575" b="0">
                <a:solidFill>
                  <a:srgbClr val="172D3C"/>
                </a:solidFill>
                <a:latin typeface="Arial"/>
                <a:ea typeface="Arial"/>
                <a:cs typeface="Arial"/>
              </a:defRPr>
            </a:lvl3pPr>
            <a:lvl4pPr>
              <a:defRPr sz="1575" b="0">
                <a:solidFill>
                  <a:srgbClr val="172D3C"/>
                </a:solidFill>
                <a:latin typeface="Arial"/>
                <a:ea typeface="Arial"/>
                <a:cs typeface="Arial"/>
              </a:defRPr>
            </a:lvl4pPr>
            <a:lvl5pPr>
              <a:defRPr sz="1575" b="0">
                <a:solidFill>
                  <a:srgbClr val="172D3C"/>
                </a:solidFill>
                <a:latin typeface="Arial"/>
                <a:ea typeface="Arial"/>
                <a:cs typeface="Arial"/>
              </a:defRPr>
            </a:lvl5pPr>
            <a:lvl6pPr>
              <a:defRPr sz="1575" b="0">
                <a:solidFill>
                  <a:srgbClr val="172D3C"/>
                </a:solidFill>
                <a:latin typeface="Arial"/>
                <a:ea typeface="Arial"/>
                <a:cs typeface="Arial"/>
              </a:defRPr>
            </a:lvl6pPr>
            <a:lvl7pPr>
              <a:defRPr sz="1575" b="0">
                <a:solidFill>
                  <a:srgbClr val="172D3C"/>
                </a:solidFill>
                <a:latin typeface="Arial"/>
                <a:ea typeface="Arial"/>
                <a:cs typeface="Arial"/>
              </a:defRPr>
            </a:lvl7pPr>
            <a:lvl8pPr>
              <a:defRPr sz="1575" b="0">
                <a:solidFill>
                  <a:srgbClr val="172D3C"/>
                </a:solidFill>
                <a:latin typeface="Arial"/>
                <a:ea typeface="Arial"/>
                <a:cs typeface="Arial"/>
              </a:defRPr>
            </a:lvl8pPr>
            <a:lvl9pPr>
              <a:defRPr sz="1575" b="0">
                <a:solidFill>
                  <a:srgbClr val="172D3C"/>
                </a:solidFill>
                <a:latin typeface="Arial"/>
                <a:ea typeface="Arial"/>
                <a:cs typeface="Arial"/>
              </a:defRPr>
            </a:lvl9pPr>
          </a:lstStyle>
          <a:p xmlns:a="http://schemas.openxmlformats.org/drawingml/2006/main">
            <a:pPr>
              <a:defRPr sz="1575" b="0">
                <a:solidFill>
                  <a:srgbClr val="172D3C"/>
                </a:solidFill>
                <a:latin typeface="Arial"/>
                <a:ea typeface="Arial"/>
                <a:cs typeface="Arial"/>
              </a:defRPr>
            </a:pPr>
            <a:r>
              <a:rPr sz="1575" b="0">
                <a:solidFill>
                  <a:srgbClr val="172D3C"/>
                </a:solidFill>
                <a:latin typeface="Arial"/>
                <a:ea typeface="Arial"/>
                <a:cs typeface="Arial"/>
              </a:rPr>
              <a:t>Observed results, predictions, and what each can establish.</a:t>
            </a:r>
          </a:p>
        </p:txBody>
      </p:sp>
      <p:sp>
        <p:nvSpPr>
          <p:cNvPr id="14" name="">
            <a:extLst xmlns:a="http://schemas.openxmlformats.org/drawingml/2006/main">
              <a:ext uri="{FF2B5EF4-FFF2-40B4-BE49-F238E27FC236}">
                <a16:creationId xmlns:a16="http://schemas.microsoft.com/office/drawing/2014/main" id="{A998B466-29AF-4AAC-8DB8-5F57855E711E}"/>
              </a:ext>
            </a:extLst>
          </p:cNvPr>
          <p:cNvSpPr>
            <a:spLocks xmlns:a="http://schemas.openxmlformats.org/drawingml/2006/main" noGrp="1"/>
          </p:cNvSpPr>
          <p:nvPr/>
        </p:nvSpPr>
        <p:spPr>
          <a:xfrm xmlns:a="http://schemas.openxmlformats.org/drawingml/2006/main">
            <a:off x="609600" y="4152900"/>
            <a:ext cx="123825" cy="619125"/>
          </a:xfrm>
          <a:prstGeom xmlns:a="http://schemas.openxmlformats.org/drawingml/2006/main" prst="rect">
            <a:avLst/>
          </a:prstGeom>
          <a:solidFill xmlns:a="http://schemas.openxmlformats.org/drawingml/2006/main">
            <a:srgbClr val="BB6427"/>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B57D06A-8A04-4C01-82B0-1AB9EB37342A}"/>
              </a:ext>
            </a:extLst>
          </p:cNvPr>
          <p:cNvSpPr>
            <a:spLocks xmlns:a="http://schemas.openxmlformats.org/drawingml/2006/main" noGrp="1"/>
          </p:cNvSpPr>
          <p:nvPr/>
        </p:nvSpPr>
        <p:spPr>
          <a:xfrm xmlns:a="http://schemas.openxmlformats.org/drawingml/2006/main">
            <a:off x="942975" y="4162425"/>
            <a:ext cx="3143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75" b="1">
                <a:solidFill>
                  <a:srgbClr val="BB6427"/>
                </a:solidFill>
                <a:latin typeface="Arial"/>
                <a:ea typeface="Arial"/>
                <a:cs typeface="Arial"/>
              </a:defRPr>
            </a:defPPr>
            <a:lvl1pPr>
              <a:defRPr sz="1875" b="1">
                <a:solidFill>
                  <a:srgbClr val="BB6427"/>
                </a:solidFill>
                <a:latin typeface="Arial"/>
                <a:ea typeface="Arial"/>
                <a:cs typeface="Arial"/>
              </a:defRPr>
            </a:lvl1pPr>
            <a:lvl2pPr>
              <a:defRPr sz="1875" b="1">
                <a:solidFill>
                  <a:srgbClr val="BB6427"/>
                </a:solidFill>
                <a:latin typeface="Arial"/>
                <a:ea typeface="Arial"/>
                <a:cs typeface="Arial"/>
              </a:defRPr>
            </a:lvl2pPr>
            <a:lvl3pPr>
              <a:defRPr sz="1875" b="1">
                <a:solidFill>
                  <a:srgbClr val="BB6427"/>
                </a:solidFill>
                <a:latin typeface="Arial"/>
                <a:ea typeface="Arial"/>
                <a:cs typeface="Arial"/>
              </a:defRPr>
            </a:lvl3pPr>
            <a:lvl4pPr>
              <a:defRPr sz="1875" b="1">
                <a:solidFill>
                  <a:srgbClr val="BB6427"/>
                </a:solidFill>
                <a:latin typeface="Arial"/>
                <a:ea typeface="Arial"/>
                <a:cs typeface="Arial"/>
              </a:defRPr>
            </a:lvl4pPr>
            <a:lvl5pPr>
              <a:defRPr sz="1875" b="1">
                <a:solidFill>
                  <a:srgbClr val="BB6427"/>
                </a:solidFill>
                <a:latin typeface="Arial"/>
                <a:ea typeface="Arial"/>
                <a:cs typeface="Arial"/>
              </a:defRPr>
            </a:lvl5pPr>
            <a:lvl6pPr>
              <a:defRPr sz="1875" b="1">
                <a:solidFill>
                  <a:srgbClr val="BB6427"/>
                </a:solidFill>
                <a:latin typeface="Arial"/>
                <a:ea typeface="Arial"/>
                <a:cs typeface="Arial"/>
              </a:defRPr>
            </a:lvl6pPr>
            <a:lvl7pPr>
              <a:defRPr sz="1875" b="1">
                <a:solidFill>
                  <a:srgbClr val="BB6427"/>
                </a:solidFill>
                <a:latin typeface="Arial"/>
                <a:ea typeface="Arial"/>
                <a:cs typeface="Arial"/>
              </a:defRPr>
            </a:lvl7pPr>
            <a:lvl8pPr>
              <a:defRPr sz="1875" b="1">
                <a:solidFill>
                  <a:srgbClr val="BB6427"/>
                </a:solidFill>
                <a:latin typeface="Arial"/>
                <a:ea typeface="Arial"/>
                <a:cs typeface="Arial"/>
              </a:defRPr>
            </a:lvl8pPr>
            <a:lvl9pPr>
              <a:defRPr sz="1875" b="1">
                <a:solidFill>
                  <a:srgbClr val="BB6427"/>
                </a:solidFill>
                <a:latin typeface="Arial"/>
                <a:ea typeface="Arial"/>
                <a:cs typeface="Arial"/>
              </a:defRPr>
            </a:lvl9pPr>
          </a:lstStyle>
          <a:p xmlns:a="http://schemas.openxmlformats.org/drawingml/2006/main">
            <a:pPr>
              <a:defRPr sz="1875" b="1">
                <a:solidFill>
                  <a:srgbClr val="BB6427"/>
                </a:solidFill>
                <a:latin typeface="Arial"/>
                <a:ea typeface="Arial"/>
                <a:cs typeface="Arial"/>
              </a:defRPr>
            </a:pPr>
            <a:r>
              <a:rPr sz="1875" b="1">
                <a:solidFill>
                  <a:srgbClr val="BB6427"/>
                </a:solidFill>
                <a:latin typeface="Arial"/>
                <a:ea typeface="Arial"/>
                <a:cs typeface="Arial"/>
              </a:rPr>
              <a:t>Group decision</a:t>
            </a:r>
          </a:p>
        </p:txBody>
      </p:sp>
      <p:sp>
        <p:nvSpPr>
          <p:cNvPr id="16" name="">
            <a:extLst xmlns:a="http://schemas.openxmlformats.org/drawingml/2006/main">
              <a:ext uri="{FF2B5EF4-FFF2-40B4-BE49-F238E27FC236}">
                <a16:creationId xmlns:a16="http://schemas.microsoft.com/office/drawing/2014/main" id="{A1EEE566-963E-40B7-B7EA-7DA6E31E405F}"/>
              </a:ext>
            </a:extLst>
          </p:cNvPr>
          <p:cNvSpPr>
            <a:spLocks xmlns:a="http://schemas.openxmlformats.org/drawingml/2006/main" noGrp="1"/>
          </p:cNvSpPr>
          <p:nvPr/>
        </p:nvSpPr>
        <p:spPr>
          <a:xfrm xmlns:a="http://schemas.openxmlformats.org/drawingml/2006/main">
            <a:off x="4257675" y="4162425"/>
            <a:ext cx="700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0">
                <a:solidFill>
                  <a:srgbClr val="172D3C"/>
                </a:solidFill>
                <a:latin typeface="Arial"/>
                <a:ea typeface="Arial"/>
                <a:cs typeface="Arial"/>
              </a:defRPr>
            </a:defPPr>
            <a:lvl1pPr>
              <a:defRPr sz="1575" b="0">
                <a:solidFill>
                  <a:srgbClr val="172D3C"/>
                </a:solidFill>
                <a:latin typeface="Arial"/>
                <a:ea typeface="Arial"/>
                <a:cs typeface="Arial"/>
              </a:defRPr>
            </a:lvl1pPr>
            <a:lvl2pPr>
              <a:defRPr sz="1575" b="0">
                <a:solidFill>
                  <a:srgbClr val="172D3C"/>
                </a:solidFill>
                <a:latin typeface="Arial"/>
                <a:ea typeface="Arial"/>
                <a:cs typeface="Arial"/>
              </a:defRPr>
            </a:lvl2pPr>
            <a:lvl3pPr>
              <a:defRPr sz="1575" b="0">
                <a:solidFill>
                  <a:srgbClr val="172D3C"/>
                </a:solidFill>
                <a:latin typeface="Arial"/>
                <a:ea typeface="Arial"/>
                <a:cs typeface="Arial"/>
              </a:defRPr>
            </a:lvl3pPr>
            <a:lvl4pPr>
              <a:defRPr sz="1575" b="0">
                <a:solidFill>
                  <a:srgbClr val="172D3C"/>
                </a:solidFill>
                <a:latin typeface="Arial"/>
                <a:ea typeface="Arial"/>
                <a:cs typeface="Arial"/>
              </a:defRPr>
            </a:lvl4pPr>
            <a:lvl5pPr>
              <a:defRPr sz="1575" b="0">
                <a:solidFill>
                  <a:srgbClr val="172D3C"/>
                </a:solidFill>
                <a:latin typeface="Arial"/>
                <a:ea typeface="Arial"/>
                <a:cs typeface="Arial"/>
              </a:defRPr>
            </a:lvl5pPr>
            <a:lvl6pPr>
              <a:defRPr sz="1575" b="0">
                <a:solidFill>
                  <a:srgbClr val="172D3C"/>
                </a:solidFill>
                <a:latin typeface="Arial"/>
                <a:ea typeface="Arial"/>
                <a:cs typeface="Arial"/>
              </a:defRPr>
            </a:lvl6pPr>
            <a:lvl7pPr>
              <a:defRPr sz="1575" b="0">
                <a:solidFill>
                  <a:srgbClr val="172D3C"/>
                </a:solidFill>
                <a:latin typeface="Arial"/>
                <a:ea typeface="Arial"/>
                <a:cs typeface="Arial"/>
              </a:defRPr>
            </a:lvl7pPr>
            <a:lvl8pPr>
              <a:defRPr sz="1575" b="0">
                <a:solidFill>
                  <a:srgbClr val="172D3C"/>
                </a:solidFill>
                <a:latin typeface="Arial"/>
                <a:ea typeface="Arial"/>
                <a:cs typeface="Arial"/>
              </a:defRPr>
            </a:lvl8pPr>
            <a:lvl9pPr>
              <a:defRPr sz="1575" b="0">
                <a:solidFill>
                  <a:srgbClr val="172D3C"/>
                </a:solidFill>
                <a:latin typeface="Arial"/>
                <a:ea typeface="Arial"/>
                <a:cs typeface="Arial"/>
              </a:defRPr>
            </a:lvl9pPr>
          </a:lstStyle>
          <a:p xmlns:a="http://schemas.openxmlformats.org/drawingml/2006/main">
            <a:pPr>
              <a:defRPr sz="1575" b="0">
                <a:solidFill>
                  <a:srgbClr val="172D3C"/>
                </a:solidFill>
                <a:latin typeface="Arial"/>
                <a:ea typeface="Arial"/>
                <a:cs typeface="Arial"/>
              </a:defRPr>
            </a:pPr>
            <a:r>
              <a:rPr sz="1575" b="0">
                <a:solidFill>
                  <a:srgbClr val="172D3C"/>
                </a:solidFill>
                <a:latin typeface="Arial"/>
                <a:ea typeface="Arial"/>
                <a:cs typeface="Arial"/>
              </a:rPr>
              <a:t>One focused judgment, discussed with your group.</a:t>
            </a:r>
          </a:p>
        </p:txBody>
      </p:sp>
    </p:spTree>
    <p:extLst>
      <p:ext uri="{BB962C8B-B14F-4D97-AF65-F5344CB8AC3E}">
        <p14:creationId xmlns:p14="http://schemas.microsoft.com/office/powerpoint/2010/main" val="60560001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5DF09BC-523B-43EB-8AF0-BF182815857C}"/>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87B8375-79C0-4AFE-BF88-1C8F4F4EA228}"/>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Three ideas guide the entire lab</a:t>
            </a:r>
          </a:p>
        </p:txBody>
      </p:sp>
      <p:sp>
        <p:nvSpPr>
          <p:cNvPr id="3" name="">
            <a:extLst xmlns:a="http://schemas.openxmlformats.org/drawingml/2006/main">
              <a:ext uri="{FF2B5EF4-FFF2-40B4-BE49-F238E27FC236}">
                <a16:creationId xmlns:a16="http://schemas.microsoft.com/office/drawing/2014/main" id="{A39BC651-E49E-49BA-ACDF-DB36228C4715}"/>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3191B5"/>
                </a:solidFill>
                <a:latin typeface="Arial"/>
                <a:ea typeface="Arial"/>
                <a:cs typeface="Arial"/>
              </a:defRPr>
            </a:defPPr>
            <a:lvl1pPr>
              <a:defRPr sz="900" b="1">
                <a:solidFill>
                  <a:srgbClr val="3191B5"/>
                </a:solidFill>
                <a:latin typeface="Arial"/>
                <a:ea typeface="Arial"/>
                <a:cs typeface="Arial"/>
              </a:defRPr>
            </a:lvl1pPr>
            <a:lvl2pPr>
              <a:defRPr sz="900" b="1">
                <a:solidFill>
                  <a:srgbClr val="3191B5"/>
                </a:solidFill>
                <a:latin typeface="Arial"/>
                <a:ea typeface="Arial"/>
                <a:cs typeface="Arial"/>
              </a:defRPr>
            </a:lvl2pPr>
            <a:lvl3pPr>
              <a:defRPr sz="900" b="1">
                <a:solidFill>
                  <a:srgbClr val="3191B5"/>
                </a:solidFill>
                <a:latin typeface="Arial"/>
                <a:ea typeface="Arial"/>
                <a:cs typeface="Arial"/>
              </a:defRPr>
            </a:lvl3pPr>
            <a:lvl4pPr>
              <a:defRPr sz="900" b="1">
                <a:solidFill>
                  <a:srgbClr val="3191B5"/>
                </a:solidFill>
                <a:latin typeface="Arial"/>
                <a:ea typeface="Arial"/>
                <a:cs typeface="Arial"/>
              </a:defRPr>
            </a:lvl4pPr>
            <a:lvl5pPr>
              <a:defRPr sz="900" b="1">
                <a:solidFill>
                  <a:srgbClr val="3191B5"/>
                </a:solidFill>
                <a:latin typeface="Arial"/>
                <a:ea typeface="Arial"/>
                <a:cs typeface="Arial"/>
              </a:defRPr>
            </a:lvl5pPr>
            <a:lvl6pPr>
              <a:defRPr sz="900" b="1">
                <a:solidFill>
                  <a:srgbClr val="3191B5"/>
                </a:solidFill>
                <a:latin typeface="Arial"/>
                <a:ea typeface="Arial"/>
                <a:cs typeface="Arial"/>
              </a:defRPr>
            </a:lvl6pPr>
            <a:lvl7pPr>
              <a:defRPr sz="900" b="1">
                <a:solidFill>
                  <a:srgbClr val="3191B5"/>
                </a:solidFill>
                <a:latin typeface="Arial"/>
                <a:ea typeface="Arial"/>
                <a:cs typeface="Arial"/>
              </a:defRPr>
            </a:lvl7pPr>
            <a:lvl8pPr>
              <a:defRPr sz="900" b="1">
                <a:solidFill>
                  <a:srgbClr val="3191B5"/>
                </a:solidFill>
                <a:latin typeface="Arial"/>
                <a:ea typeface="Arial"/>
                <a:cs typeface="Arial"/>
              </a:defRPr>
            </a:lvl8pPr>
            <a:lvl9pPr>
              <a:defRPr sz="900" b="1">
                <a:solidFill>
                  <a:srgbClr val="3191B5"/>
                </a:solidFill>
                <a:latin typeface="Arial"/>
                <a:ea typeface="Arial"/>
                <a:cs typeface="Arial"/>
              </a:defRPr>
            </a:lvl9pPr>
          </a:lstStyle>
          <a:p xmlns:a="http://schemas.openxmlformats.org/drawingml/2006/main">
            <a:pPr>
              <a:defRPr sz="900" b="1">
                <a:solidFill>
                  <a:srgbClr val="3191B5"/>
                </a:solidFill>
                <a:latin typeface="Arial"/>
                <a:ea typeface="Arial"/>
                <a:cs typeface="Arial"/>
              </a:defRPr>
            </a:pPr>
            <a:r>
              <a:rPr sz="900" b="1">
                <a:solidFill>
                  <a:srgbClr val="3191B5"/>
                </a:solidFill>
                <a:latin typeface="Arial"/>
                <a:ea typeface="Arial"/>
                <a:cs typeface="Arial"/>
              </a:rPr>
              <a:t>CONCEPT</a:t>
            </a:r>
          </a:p>
        </p:txBody>
      </p:sp>
      <p:sp>
        <p:nvSpPr>
          <p:cNvPr id="4" name="">
            <a:extLst xmlns:a="http://schemas.openxmlformats.org/drawingml/2006/main">
              <a:ext uri="{FF2B5EF4-FFF2-40B4-BE49-F238E27FC236}">
                <a16:creationId xmlns:a16="http://schemas.microsoft.com/office/drawing/2014/main" id="{25439148-F8C1-4D56-BA72-0047C0B882AD}"/>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3</a:t>
            </a:r>
          </a:p>
        </p:txBody>
      </p:sp>
      <p:sp>
        <p:nvSpPr>
          <p:cNvPr id="5" name="">
            <a:extLst xmlns:a="http://schemas.openxmlformats.org/drawingml/2006/main">
              <a:ext uri="{FF2B5EF4-FFF2-40B4-BE49-F238E27FC236}">
                <a16:creationId xmlns:a16="http://schemas.microsoft.com/office/drawing/2014/main" id="{CCE23514-0C31-4067-B87C-1E4453950039}"/>
              </a:ext>
            </a:extLst>
          </p:cNvPr>
          <p:cNvSpPr>
            <a:spLocks xmlns:a="http://schemas.openxmlformats.org/drawingml/2006/main" noGrp="1"/>
          </p:cNvSpPr>
          <p:nvPr/>
        </p:nvSpPr>
        <p:spPr>
          <a:xfrm xmlns:a="http://schemas.openxmlformats.org/drawingml/2006/main">
            <a:off x="609600" y="1666875"/>
            <a:ext cx="3419475" cy="2857500"/>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FA47F4C-6FED-4A08-8078-A6F3103FF3B8}"/>
              </a:ext>
            </a:extLst>
          </p:cNvPr>
          <p:cNvSpPr>
            <a:spLocks xmlns:a="http://schemas.openxmlformats.org/drawingml/2006/main" noGrp="1"/>
          </p:cNvSpPr>
          <p:nvPr/>
        </p:nvSpPr>
        <p:spPr>
          <a:xfrm xmlns:a="http://schemas.openxmlformats.org/drawingml/2006/main">
            <a:off x="609600" y="1666875"/>
            <a:ext cx="47625" cy="285750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E44CC9F-A8A2-4787-9228-907530DCAF26}"/>
              </a:ext>
            </a:extLst>
          </p:cNvPr>
          <p:cNvSpPr>
            <a:spLocks xmlns:a="http://schemas.openxmlformats.org/drawingml/2006/main" noGrp="1"/>
          </p:cNvSpPr>
          <p:nvPr/>
        </p:nvSpPr>
        <p:spPr>
          <a:xfrm xmlns:a="http://schemas.openxmlformats.org/drawingml/2006/main">
            <a:off x="800100" y="1809750"/>
            <a:ext cx="30384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1. Connected customer evidence</a:t>
            </a:r>
          </a:p>
        </p:txBody>
      </p:sp>
      <p:sp>
        <p:nvSpPr>
          <p:cNvPr id="8" name="">
            <a:extLst xmlns:a="http://schemas.openxmlformats.org/drawingml/2006/main">
              <a:ext uri="{FF2B5EF4-FFF2-40B4-BE49-F238E27FC236}">
                <a16:creationId xmlns:a16="http://schemas.microsoft.com/office/drawing/2014/main" id="{20A2C5A7-4FCC-44F8-9F99-53BE6327C974}"/>
              </a:ext>
            </a:extLst>
          </p:cNvPr>
          <p:cNvSpPr>
            <a:spLocks xmlns:a="http://schemas.openxmlformats.org/drawingml/2006/main" noGrp="1"/>
          </p:cNvSpPr>
          <p:nvPr/>
        </p:nvSpPr>
        <p:spPr>
          <a:xfrm xmlns:a="http://schemas.openxmlformats.org/drawingml/2006/main">
            <a:off x="800100" y="2238375"/>
            <a:ext cx="3038475"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A Universal Customer View connects identifiers, relationships, engagement and perceptions without confusing their meanings.</a:t>
            </a:r>
          </a:p>
        </p:txBody>
      </p:sp>
      <p:sp>
        <p:nvSpPr>
          <p:cNvPr id="9" name="">
            <a:extLst xmlns:a="http://schemas.openxmlformats.org/drawingml/2006/main">
              <a:ext uri="{FF2B5EF4-FFF2-40B4-BE49-F238E27FC236}">
                <a16:creationId xmlns:a16="http://schemas.microsoft.com/office/drawing/2014/main" id="{5E9BDE4F-5D85-48D7-8890-04AA0BF4780C}"/>
              </a:ext>
            </a:extLst>
          </p:cNvPr>
          <p:cNvSpPr>
            <a:spLocks xmlns:a="http://schemas.openxmlformats.org/drawingml/2006/main" noGrp="1"/>
          </p:cNvSpPr>
          <p:nvPr/>
        </p:nvSpPr>
        <p:spPr>
          <a:xfrm xmlns:a="http://schemas.openxmlformats.org/drawingml/2006/main">
            <a:off x="4381500" y="1666875"/>
            <a:ext cx="3419475" cy="2857500"/>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13E8AD0-8754-4383-A4E8-6777304A6E43}"/>
              </a:ext>
            </a:extLst>
          </p:cNvPr>
          <p:cNvSpPr>
            <a:spLocks xmlns:a="http://schemas.openxmlformats.org/drawingml/2006/main" noGrp="1"/>
          </p:cNvSpPr>
          <p:nvPr/>
        </p:nvSpPr>
        <p:spPr>
          <a:xfrm xmlns:a="http://schemas.openxmlformats.org/drawingml/2006/main">
            <a:off x="4381500" y="1666875"/>
            <a:ext cx="47625" cy="2857500"/>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F123D92-D1E2-421D-B613-E111453B0F6D}"/>
              </a:ext>
            </a:extLst>
          </p:cNvPr>
          <p:cNvSpPr>
            <a:spLocks xmlns:a="http://schemas.openxmlformats.org/drawingml/2006/main" noGrp="1"/>
          </p:cNvSpPr>
          <p:nvPr/>
        </p:nvSpPr>
        <p:spPr>
          <a:xfrm xmlns:a="http://schemas.openxmlformats.org/drawingml/2006/main">
            <a:off x="4572000" y="1809750"/>
            <a:ext cx="30384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2. Customer economics over time</a:t>
            </a:r>
          </a:p>
        </p:txBody>
      </p:sp>
      <p:sp>
        <p:nvSpPr>
          <p:cNvPr id="12" name="">
            <a:extLst xmlns:a="http://schemas.openxmlformats.org/drawingml/2006/main">
              <a:ext uri="{FF2B5EF4-FFF2-40B4-BE49-F238E27FC236}">
                <a16:creationId xmlns:a16="http://schemas.microsoft.com/office/drawing/2014/main" id="{A7B161B4-D054-46D4-84EF-13D2A61D2D84}"/>
              </a:ext>
            </a:extLst>
          </p:cNvPr>
          <p:cNvSpPr>
            <a:spLocks xmlns:a="http://schemas.openxmlformats.org/drawingml/2006/main" noGrp="1"/>
          </p:cNvSpPr>
          <p:nvPr/>
        </p:nvSpPr>
        <p:spPr>
          <a:xfrm xmlns:a="http://schemas.openxmlformats.org/drawingml/2006/main">
            <a:off x="4572000" y="2238375"/>
            <a:ext cx="3038475"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Joining cohorts distinguish customer age from calendar time. Retention, contribution and acquisition cost determine whether relationships create value.</a:t>
            </a:r>
          </a:p>
        </p:txBody>
      </p:sp>
      <p:sp>
        <p:nvSpPr>
          <p:cNvPr id="13" name="">
            <a:extLst xmlns:a="http://schemas.openxmlformats.org/drawingml/2006/main">
              <a:ext uri="{FF2B5EF4-FFF2-40B4-BE49-F238E27FC236}">
                <a16:creationId xmlns:a16="http://schemas.microsoft.com/office/drawing/2014/main" id="{54C2E587-2225-425C-A356-FDB48737B7CA}"/>
              </a:ext>
            </a:extLst>
          </p:cNvPr>
          <p:cNvSpPr>
            <a:spLocks xmlns:a="http://schemas.openxmlformats.org/drawingml/2006/main" noGrp="1"/>
          </p:cNvSpPr>
          <p:nvPr/>
        </p:nvSpPr>
        <p:spPr>
          <a:xfrm xmlns:a="http://schemas.openxmlformats.org/drawingml/2006/main">
            <a:off x="8153400" y="1666875"/>
            <a:ext cx="3429000" cy="2857500"/>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6722C4A-BAA8-4CF5-A4A5-410291E1DDF5}"/>
              </a:ext>
            </a:extLst>
          </p:cNvPr>
          <p:cNvSpPr>
            <a:spLocks xmlns:a="http://schemas.openxmlformats.org/drawingml/2006/main" noGrp="1"/>
          </p:cNvSpPr>
          <p:nvPr/>
        </p:nvSpPr>
        <p:spPr>
          <a:xfrm xmlns:a="http://schemas.openxmlformats.org/drawingml/2006/main">
            <a:off x="8153400" y="1666875"/>
            <a:ext cx="47625" cy="2857500"/>
          </a:xfrm>
          <a:prstGeom xmlns:a="http://schemas.openxmlformats.org/drawingml/2006/main" prst="rect">
            <a:avLst/>
          </a:prstGeom>
          <a:solidFill xmlns:a="http://schemas.openxmlformats.org/drawingml/2006/main">
            <a:srgbClr val="68778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9FC0CE1-7A72-42E8-9DF3-BDEE21148ECF}"/>
              </a:ext>
            </a:extLst>
          </p:cNvPr>
          <p:cNvSpPr>
            <a:spLocks xmlns:a="http://schemas.openxmlformats.org/drawingml/2006/main" noGrp="1"/>
          </p:cNvSpPr>
          <p:nvPr/>
        </p:nvSpPr>
        <p:spPr>
          <a:xfrm xmlns:a="http://schemas.openxmlformats.org/drawingml/2006/main">
            <a:off x="8343900" y="1809750"/>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687780"/>
                </a:solidFill>
                <a:latin typeface="Arial"/>
                <a:ea typeface="Arial"/>
                <a:cs typeface="Arial"/>
              </a:defRPr>
            </a:defPPr>
            <a:lvl1pPr>
              <a:defRPr sz="1800" b="1">
                <a:solidFill>
                  <a:srgbClr val="687780"/>
                </a:solidFill>
                <a:latin typeface="Arial"/>
                <a:ea typeface="Arial"/>
                <a:cs typeface="Arial"/>
              </a:defRPr>
            </a:lvl1pPr>
            <a:lvl2pPr>
              <a:defRPr sz="1800" b="1">
                <a:solidFill>
                  <a:srgbClr val="687780"/>
                </a:solidFill>
                <a:latin typeface="Arial"/>
                <a:ea typeface="Arial"/>
                <a:cs typeface="Arial"/>
              </a:defRPr>
            </a:lvl2pPr>
            <a:lvl3pPr>
              <a:defRPr sz="1800" b="1">
                <a:solidFill>
                  <a:srgbClr val="687780"/>
                </a:solidFill>
                <a:latin typeface="Arial"/>
                <a:ea typeface="Arial"/>
                <a:cs typeface="Arial"/>
              </a:defRPr>
            </a:lvl3pPr>
            <a:lvl4pPr>
              <a:defRPr sz="1800" b="1">
                <a:solidFill>
                  <a:srgbClr val="687780"/>
                </a:solidFill>
                <a:latin typeface="Arial"/>
                <a:ea typeface="Arial"/>
                <a:cs typeface="Arial"/>
              </a:defRPr>
            </a:lvl4pPr>
            <a:lvl5pPr>
              <a:defRPr sz="1800" b="1">
                <a:solidFill>
                  <a:srgbClr val="687780"/>
                </a:solidFill>
                <a:latin typeface="Arial"/>
                <a:ea typeface="Arial"/>
                <a:cs typeface="Arial"/>
              </a:defRPr>
            </a:lvl5pPr>
            <a:lvl6pPr>
              <a:defRPr sz="1800" b="1">
                <a:solidFill>
                  <a:srgbClr val="687780"/>
                </a:solidFill>
                <a:latin typeface="Arial"/>
                <a:ea typeface="Arial"/>
                <a:cs typeface="Arial"/>
              </a:defRPr>
            </a:lvl6pPr>
            <a:lvl7pPr>
              <a:defRPr sz="1800" b="1">
                <a:solidFill>
                  <a:srgbClr val="687780"/>
                </a:solidFill>
                <a:latin typeface="Arial"/>
                <a:ea typeface="Arial"/>
                <a:cs typeface="Arial"/>
              </a:defRPr>
            </a:lvl7pPr>
            <a:lvl8pPr>
              <a:defRPr sz="1800" b="1">
                <a:solidFill>
                  <a:srgbClr val="687780"/>
                </a:solidFill>
                <a:latin typeface="Arial"/>
                <a:ea typeface="Arial"/>
                <a:cs typeface="Arial"/>
              </a:defRPr>
            </a:lvl8pPr>
            <a:lvl9pPr>
              <a:defRPr sz="1800" b="1">
                <a:solidFill>
                  <a:srgbClr val="687780"/>
                </a:solidFill>
                <a:latin typeface="Arial"/>
                <a:ea typeface="Arial"/>
                <a:cs typeface="Arial"/>
              </a:defRPr>
            </a:lvl9pPr>
          </a:lstStyle>
          <a:p xmlns:a="http://schemas.openxmlformats.org/drawingml/2006/main">
            <a:pPr>
              <a:defRPr sz="1800" b="1">
                <a:solidFill>
                  <a:srgbClr val="687780"/>
                </a:solidFill>
                <a:latin typeface="Arial"/>
                <a:ea typeface="Arial"/>
                <a:cs typeface="Arial"/>
              </a:defRPr>
            </a:pPr>
            <a:r>
              <a:rPr sz="1800" b="1">
                <a:solidFill>
                  <a:srgbClr val="687780"/>
                </a:solidFill>
                <a:latin typeface="Arial"/>
                <a:ea typeface="Arial"/>
                <a:cs typeface="Arial"/>
              </a:rPr>
              <a:t>3. Incremental marketing value</a:t>
            </a:r>
          </a:p>
        </p:txBody>
      </p:sp>
      <p:sp>
        <p:nvSpPr>
          <p:cNvPr id="16" name="">
            <a:extLst xmlns:a="http://schemas.openxmlformats.org/drawingml/2006/main">
              <a:ext uri="{FF2B5EF4-FFF2-40B4-BE49-F238E27FC236}">
                <a16:creationId xmlns:a16="http://schemas.microsoft.com/office/drawing/2014/main" id="{8B2D03C5-D68C-4828-8785-8732A20DA174}"/>
              </a:ext>
            </a:extLst>
          </p:cNvPr>
          <p:cNvSpPr>
            <a:spLocks xmlns:a="http://schemas.openxmlformats.org/drawingml/2006/main" noGrp="1"/>
          </p:cNvSpPr>
          <p:nvPr/>
        </p:nvSpPr>
        <p:spPr>
          <a:xfrm xmlns:a="http://schemas.openxmlformats.org/drawingml/2006/main">
            <a:off x="8343900" y="2238375"/>
            <a:ext cx="3048000"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A randomized campaign comparison asks what changed because of the campaign. A high customer LTV alone cannot answer that question.</a:t>
            </a:r>
          </a:p>
        </p:txBody>
      </p:sp>
      <p:sp>
        <p:nvSpPr>
          <p:cNvPr id="17" name="">
            <a:extLst xmlns:a="http://schemas.openxmlformats.org/drawingml/2006/main">
              <a:ext uri="{FF2B5EF4-FFF2-40B4-BE49-F238E27FC236}">
                <a16:creationId xmlns:a16="http://schemas.microsoft.com/office/drawing/2014/main" id="{267E30EF-265C-4CB9-A7D1-E39D5CC9C0B5}"/>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055977D-FB4B-4B10-B9A1-1AE9BB542F59}"/>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AI proposes the work. Saved SQL, data checks, held-out outcomes and your judgment make the work reviewable.</a:t>
            </a:r>
          </a:p>
        </p:txBody>
      </p:sp>
    </p:spTree>
    <p:extLst>
      <p:ext uri="{BB962C8B-B14F-4D97-AF65-F5344CB8AC3E}">
        <p14:creationId xmlns:p14="http://schemas.microsoft.com/office/powerpoint/2010/main" val="51152816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35C5B6A-2E5C-4021-A0F7-FD5701A246AC}"/>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69FE4D9-6999-4E0E-B223-980D39754855}"/>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Eight exports describe different objects</a:t>
            </a:r>
          </a:p>
        </p:txBody>
      </p:sp>
      <p:sp>
        <p:nvSpPr>
          <p:cNvPr id="3" name="">
            <a:extLst xmlns:a="http://schemas.openxmlformats.org/drawingml/2006/main">
              <a:ext uri="{FF2B5EF4-FFF2-40B4-BE49-F238E27FC236}">
                <a16:creationId xmlns:a16="http://schemas.microsoft.com/office/drawing/2014/main" id="{E68F9887-5191-4247-AC70-D43711E3A48B}"/>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087F8C"/>
                </a:solidFill>
                <a:latin typeface="Arial"/>
                <a:ea typeface="Arial"/>
                <a:cs typeface="Arial"/>
              </a:defRPr>
            </a:defPPr>
            <a:lvl1pPr>
              <a:defRPr sz="900" b="1">
                <a:solidFill>
                  <a:srgbClr val="087F8C"/>
                </a:solidFill>
                <a:latin typeface="Arial"/>
                <a:ea typeface="Arial"/>
                <a:cs typeface="Arial"/>
              </a:defRPr>
            </a:lvl1pPr>
            <a:lvl2pPr>
              <a:defRPr sz="900" b="1">
                <a:solidFill>
                  <a:srgbClr val="087F8C"/>
                </a:solidFill>
                <a:latin typeface="Arial"/>
                <a:ea typeface="Arial"/>
                <a:cs typeface="Arial"/>
              </a:defRPr>
            </a:lvl2pPr>
            <a:lvl3pPr>
              <a:defRPr sz="900" b="1">
                <a:solidFill>
                  <a:srgbClr val="087F8C"/>
                </a:solidFill>
                <a:latin typeface="Arial"/>
                <a:ea typeface="Arial"/>
                <a:cs typeface="Arial"/>
              </a:defRPr>
            </a:lvl3pPr>
            <a:lvl4pPr>
              <a:defRPr sz="900" b="1">
                <a:solidFill>
                  <a:srgbClr val="087F8C"/>
                </a:solidFill>
                <a:latin typeface="Arial"/>
                <a:ea typeface="Arial"/>
                <a:cs typeface="Arial"/>
              </a:defRPr>
            </a:lvl4pPr>
            <a:lvl5pPr>
              <a:defRPr sz="900" b="1">
                <a:solidFill>
                  <a:srgbClr val="087F8C"/>
                </a:solidFill>
                <a:latin typeface="Arial"/>
                <a:ea typeface="Arial"/>
                <a:cs typeface="Arial"/>
              </a:defRPr>
            </a:lvl5pPr>
            <a:lvl6pPr>
              <a:defRPr sz="900" b="1">
                <a:solidFill>
                  <a:srgbClr val="087F8C"/>
                </a:solidFill>
                <a:latin typeface="Arial"/>
                <a:ea typeface="Arial"/>
                <a:cs typeface="Arial"/>
              </a:defRPr>
            </a:lvl6pPr>
            <a:lvl7pPr>
              <a:defRPr sz="900" b="1">
                <a:solidFill>
                  <a:srgbClr val="087F8C"/>
                </a:solidFill>
                <a:latin typeface="Arial"/>
                <a:ea typeface="Arial"/>
                <a:cs typeface="Arial"/>
              </a:defRPr>
            </a:lvl7pPr>
            <a:lvl8pPr>
              <a:defRPr sz="900" b="1">
                <a:solidFill>
                  <a:srgbClr val="087F8C"/>
                </a:solidFill>
                <a:latin typeface="Arial"/>
                <a:ea typeface="Arial"/>
                <a:cs typeface="Arial"/>
              </a:defRPr>
            </a:lvl8pPr>
            <a:lvl9pPr>
              <a:defRPr sz="900" b="1">
                <a:solidFill>
                  <a:srgbClr val="087F8C"/>
                </a:solidFill>
                <a:latin typeface="Arial"/>
                <a:ea typeface="Arial"/>
                <a:cs typeface="Arial"/>
              </a:defRPr>
            </a:lvl9pPr>
          </a:lstStyle>
          <a:p xmlns:a="http://schemas.openxmlformats.org/drawingml/2006/main">
            <a:pPr>
              <a:defRPr sz="900" b="1">
                <a:solidFill>
                  <a:srgbClr val="087F8C"/>
                </a:solidFill>
                <a:latin typeface="Arial"/>
                <a:ea typeface="Arial"/>
                <a:cs typeface="Arial"/>
              </a:defRPr>
            </a:pPr>
            <a:r>
              <a:rPr sz="900" b="1">
                <a:solidFill>
                  <a:srgbClr val="087F8C"/>
                </a:solidFill>
                <a:latin typeface="Arial"/>
                <a:ea typeface="Arial"/>
                <a:cs typeface="Arial"/>
              </a:rPr>
              <a:t>CASE APPLICATION</a:t>
            </a:r>
          </a:p>
        </p:txBody>
      </p:sp>
      <p:sp>
        <p:nvSpPr>
          <p:cNvPr id="4" name="">
            <a:extLst xmlns:a="http://schemas.openxmlformats.org/drawingml/2006/main">
              <a:ext uri="{FF2B5EF4-FFF2-40B4-BE49-F238E27FC236}">
                <a16:creationId xmlns:a16="http://schemas.microsoft.com/office/drawing/2014/main" id="{D478C090-E20F-422E-A42F-DBDB81A5AC6B}"/>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4</a:t>
            </a:r>
          </a:p>
        </p:txBody>
      </p:sp>
      <p:graphicFrame>
        <p:nvGraphicFramePr>
          <p:cNvPr id="5" name="">
            <a:extLst xmlns:a="http://schemas.openxmlformats.org/drawingml/2006/main">
              <a:ext uri="{FF2B5EF4-FFF2-40B4-BE49-F238E27FC236}">
                <a16:creationId xmlns:a16="http://schemas.microsoft.com/office/drawing/2014/main" id="{269CAFE6-49FB-4B77-A98C-8331E6F51313}"/>
              </a:ext>
            </a:extLst>
          </p:cNvPr>
          <p:cNvGraphicFramePr/>
          <p:nvPr/>
        </p:nvGraphicFramePr>
        <p:xfrm>
          <a:off xmlns:a="http://schemas.openxmlformats.org/drawingml/2006/main" x="609600" y="1543050"/>
          <a:ext xmlns:a="http://schemas.openxmlformats.org/drawingml/2006/main" cx="10972800" cy="3143250"/>
        </p:xfrm>
        <a:graphic xmlns:a="http://schemas.openxmlformats.org/drawingml/2006/main">
          <a:graphicData uri="http://schemas.openxmlformats.org/drawingml/2006/table">
            <a:tbl>
              <a:tblPr/>
              <a:tblGrid>
                <a:gridCol w="2819400"/>
                <a:gridCol w="3524250"/>
                <a:gridCol w="4629150"/>
              </a:tblGrid>
              <a:tr h="523875">
                <a:tc>
                  <a:txBody>
                    <a:bodyPr/>
                    <a:lstStyle/>
                    <a:p>
                      <a:r>
                        <a:rPr sz="1350" b="1">
                          <a:solidFill>
                            <a:srgbClr val="FFFFFF"/>
                          </a:solidFill>
                          <a:latin typeface="Arial"/>
                          <a:ea typeface="Arial"/>
                          <a:cs typeface="Arial"/>
                        </a:rPr>
                        <a:t>Source exports</a:t>
                      </a:r>
                    </a:p>
                  </a:txBody>
                  <a:tcPr marL="91440" marR="91440" marT="45720" marB="45720">
                    <a:solidFill>
                      <a:srgbClr val="172D3C"/>
                    </a:solidFill>
                  </a:tcPr>
                </a:tc>
                <a:tc>
                  <a:txBody>
                    <a:bodyPr/>
                    <a:lstStyle/>
                    <a:p>
                      <a:r>
                        <a:rPr sz="1350" b="1">
                          <a:solidFill>
                            <a:srgbClr val="FFFFFF"/>
                          </a:solidFill>
                          <a:latin typeface="Arial"/>
                          <a:ea typeface="Arial"/>
                          <a:cs typeface="Arial"/>
                        </a:rPr>
                        <a:t>One row represents</a:t>
                      </a:r>
                    </a:p>
                  </a:txBody>
                  <a:tcPr marL="91440" marR="91440" marT="45720" marB="45720">
                    <a:solidFill>
                      <a:srgbClr val="172D3C"/>
                    </a:solidFill>
                  </a:tcPr>
                </a:tc>
                <a:tc>
                  <a:txBody>
                    <a:bodyPr/>
                    <a:lstStyle/>
                    <a:p>
                      <a:r>
                        <a:rPr sz="1350" b="1">
                          <a:solidFill>
                            <a:srgbClr val="FFFFFF"/>
                          </a:solidFill>
                          <a:latin typeface="Arial"/>
                          <a:ea typeface="Arial"/>
                          <a:cs typeface="Arial"/>
                        </a:rPr>
                        <a:t>Question it helps answer</a:t>
                      </a:r>
                    </a:p>
                  </a:txBody>
                  <a:tcPr marL="91440" marR="91440" marT="45720" marB="45720">
                    <a:solidFill>
                      <a:srgbClr val="172D3C"/>
                    </a:solidFill>
                  </a:tcPr>
                </a:tc>
              </a:tr>
              <a:tr h="523875">
                <a:tc>
                  <a:txBody>
                    <a:bodyPr/>
                    <a:lstStyle/>
                    <a:p>
                      <a:r>
                        <a:rPr sz="1425" b="0">
                          <a:solidFill>
                            <a:srgbClr val="172D3C"/>
                          </a:solidFill>
                          <a:latin typeface="Arial"/>
                          <a:ea typeface="Arial"/>
                          <a:cs typeface="Arial"/>
                        </a:rPr>
                        <a:t>People</a:t>
                      </a:r>
                    </a:p>
                  </a:txBody>
                  <a:tcPr marL="91440" marR="91440" marT="45720" marB="45720">
                    <a:solidFill>
                      <a:srgbClr val="F0F5F6"/>
                    </a:solidFill>
                  </a:tcPr>
                </a:tc>
                <a:tc>
                  <a:txBody>
                    <a:bodyPr/>
                    <a:lstStyle/>
                    <a:p>
                      <a:r>
                        <a:rPr sz="1425" b="0">
                          <a:solidFill>
                            <a:srgbClr val="172D3C"/>
                          </a:solidFill>
                          <a:latin typeface="Arial"/>
                          <a:ea typeface="Arial"/>
                          <a:cs typeface="Arial"/>
                        </a:rPr>
                        <a:t>A person, including nonbuyers</a:t>
                      </a:r>
                    </a:p>
                  </a:txBody>
                  <a:tcPr marL="91440" marR="91440" marT="45720" marB="45720">
                    <a:solidFill>
                      <a:srgbClr val="F0F5F6"/>
                    </a:solidFill>
                  </a:tcPr>
                </a:tc>
                <a:tc>
                  <a:txBody>
                    <a:bodyPr/>
                    <a:lstStyle/>
                    <a:p>
                      <a:r>
                        <a:rPr sz="1425" b="0">
                          <a:solidFill>
                            <a:srgbClr val="172D3C"/>
                          </a:solidFill>
                          <a:latin typeface="Arial"/>
                          <a:ea typeface="Arial"/>
                          <a:cs typeface="Arial"/>
                        </a:rPr>
                        <a:t>Who is eligible and what need was stated?</a:t>
                      </a:r>
                    </a:p>
                  </a:txBody>
                  <a:tcPr marL="91440" marR="91440" marT="45720" marB="45720">
                    <a:solidFill>
                      <a:srgbClr val="F0F5F6"/>
                    </a:solidFill>
                  </a:tcPr>
                </a:tc>
              </a:tr>
              <a:tr h="523875">
                <a:tc>
                  <a:txBody>
                    <a:bodyPr/>
                    <a:lstStyle/>
                    <a:p>
                      <a:r>
                        <a:rPr sz="1425" b="0">
                          <a:solidFill>
                            <a:srgbClr val="172D3C"/>
                          </a:solidFill>
                          <a:latin typeface="Arial"/>
                          <a:ea typeface="Arial"/>
                          <a:cs typeface="Arial"/>
                        </a:rPr>
                        <a:t>Renewals / Transactions</a:t>
                      </a:r>
                    </a:p>
                  </a:txBody>
                  <a:tcPr marL="91440" marR="91440" marT="45720" marB="45720">
                    <a:solidFill>
                      <a:srgbClr val="FFFFFF"/>
                    </a:solidFill>
                  </a:tcPr>
                </a:tc>
                <a:tc>
                  <a:txBody>
                    <a:bodyPr/>
                    <a:lstStyle/>
                    <a:p>
                      <a:r>
                        <a:rPr sz="1425" b="0">
                          <a:solidFill>
                            <a:srgbClr val="172D3C"/>
                          </a:solidFill>
                          <a:latin typeface="Arial"/>
                          <a:ea typeface="Arial"/>
                          <a:cs typeface="Arial"/>
                        </a:rPr>
                        <a:t>A subscription period / a financial event</a:t>
                      </a:r>
                    </a:p>
                  </a:txBody>
                  <a:tcPr marL="91440" marR="91440" marT="45720" marB="45720">
                    <a:solidFill>
                      <a:srgbClr val="FFFFFF"/>
                    </a:solidFill>
                  </a:tcPr>
                </a:tc>
                <a:tc>
                  <a:txBody>
                    <a:bodyPr/>
                    <a:lstStyle/>
                    <a:p>
                      <a:r>
                        <a:rPr sz="1425" b="0">
                          <a:solidFill>
                            <a:srgbClr val="172D3C"/>
                          </a:solidFill>
                          <a:latin typeface="Arial"/>
                          <a:ea typeface="Arial"/>
                          <a:cs typeface="Arial"/>
                        </a:rPr>
                        <a:t>Who remains, who paid, and what was refunded?</a:t>
                      </a:r>
                    </a:p>
                  </a:txBody>
                  <a:tcPr marL="91440" marR="91440" marT="45720" marB="45720">
                    <a:solidFill>
                      <a:srgbClr val="FFFFFF"/>
                    </a:solidFill>
                  </a:tcPr>
                </a:tc>
              </a:tr>
              <a:tr h="523875">
                <a:tc>
                  <a:txBody>
                    <a:bodyPr/>
                    <a:lstStyle/>
                    <a:p>
                      <a:r>
                        <a:rPr sz="1425" b="0">
                          <a:solidFill>
                            <a:srgbClr val="172D3C"/>
                          </a:solidFill>
                          <a:latin typeface="Arial"/>
                          <a:ea typeface="Arial"/>
                          <a:cs typeface="Arial"/>
                        </a:rPr>
                        <a:t>Product events / Feedback</a:t>
                      </a:r>
                    </a:p>
                  </a:txBody>
                  <a:tcPr marL="91440" marR="91440" marT="45720" marB="45720">
                    <a:solidFill>
                      <a:srgbClr val="F0F5F6"/>
                    </a:solidFill>
                  </a:tcPr>
                </a:tc>
                <a:tc>
                  <a:txBody>
                    <a:bodyPr/>
                    <a:lstStyle/>
                    <a:p>
                      <a:r>
                        <a:rPr sz="1425" b="0">
                          <a:solidFill>
                            <a:srgbClr val="172D3C"/>
                          </a:solidFill>
                          <a:latin typeface="Arial"/>
                          <a:ea typeface="Arial"/>
                          <a:cs typeface="Arial"/>
                        </a:rPr>
                        <a:t>An interaction / a response</a:t>
                      </a:r>
                    </a:p>
                  </a:txBody>
                  <a:tcPr marL="91440" marR="91440" marT="45720" marB="45720">
                    <a:solidFill>
                      <a:srgbClr val="F0F5F6"/>
                    </a:solidFill>
                  </a:tcPr>
                </a:tc>
                <a:tc>
                  <a:txBody>
                    <a:bodyPr/>
                    <a:lstStyle/>
                    <a:p>
                      <a:r>
                        <a:rPr sz="1425" b="0">
                          <a:solidFill>
                            <a:srgbClr val="172D3C"/>
                          </a:solidFill>
                          <a:latin typeface="Arial"/>
                          <a:ea typeface="Arial"/>
                          <a:cs typeface="Arial"/>
                        </a:rPr>
                        <a:t>What happened and what was reported?</a:t>
                      </a:r>
                    </a:p>
                  </a:txBody>
                  <a:tcPr marL="91440" marR="91440" marT="45720" marB="45720">
                    <a:solidFill>
                      <a:srgbClr val="F0F5F6"/>
                    </a:solidFill>
                  </a:tcPr>
                </a:tc>
              </a:tr>
              <a:tr h="523875">
                <a:tc>
                  <a:txBody>
                    <a:bodyPr/>
                    <a:lstStyle/>
                    <a:p>
                      <a:r>
                        <a:rPr sz="1425" b="0">
                          <a:solidFill>
                            <a:srgbClr val="172D3C"/>
                          </a:solidFill>
                          <a:latin typeface="Arial"/>
                          <a:ea typeface="Arial"/>
                          <a:cs typeface="Arial"/>
                        </a:rPr>
                        <a:t>Spend / Source credit</a:t>
                      </a:r>
                    </a:p>
                  </a:txBody>
                  <a:tcPr marL="91440" marR="91440" marT="45720" marB="45720">
                    <a:solidFill>
                      <a:srgbClr val="FFFFFF"/>
                    </a:solidFill>
                  </a:tcPr>
                </a:tc>
                <a:tc>
                  <a:txBody>
                    <a:bodyPr/>
                    <a:lstStyle/>
                    <a:p>
                      <a:r>
                        <a:rPr sz="1425" b="0">
                          <a:solidFill>
                            <a:srgbClr val="172D3C"/>
                          </a:solidFill>
                          <a:latin typeface="Arial"/>
                          <a:ea typeface="Arial"/>
                          <a:cs typeface="Arial"/>
                        </a:rPr>
                        <a:t>A campaign date / an acquired person</a:t>
                      </a:r>
                    </a:p>
                  </a:txBody>
                  <a:tcPr marL="91440" marR="91440" marT="45720" marB="45720">
                    <a:solidFill>
                      <a:srgbClr val="FFFFFF"/>
                    </a:solidFill>
                  </a:tcPr>
                </a:tc>
                <a:tc>
                  <a:txBody>
                    <a:bodyPr/>
                    <a:lstStyle/>
                    <a:p>
                      <a:r>
                        <a:rPr sz="1425" b="0">
                          <a:solidFill>
                            <a:srgbClr val="172D3C"/>
                          </a:solidFill>
                          <a:latin typeface="Arial"/>
                          <a:ea typeface="Arial"/>
                          <a:cs typeface="Arial"/>
                        </a:rPr>
                        <a:t>What did acquisition cost, and who received credit?</a:t>
                      </a:r>
                    </a:p>
                  </a:txBody>
                  <a:tcPr marL="91440" marR="91440" marT="45720" marB="45720">
                    <a:solidFill>
                      <a:srgbClr val="FFFFFF"/>
                    </a:solidFill>
                  </a:tcPr>
                </a:tc>
              </a:tr>
              <a:tr h="523875">
                <a:tc>
                  <a:txBody>
                    <a:bodyPr/>
                    <a:lstStyle/>
                    <a:p>
                      <a:r>
                        <a:rPr sz="1425" b="0">
                          <a:solidFill>
                            <a:srgbClr val="172D3C"/>
                          </a:solidFill>
                          <a:latin typeface="Arial"/>
                          <a:ea typeface="Arial"/>
                          <a:cs typeface="Arial"/>
                        </a:rPr>
                        <a:t>Assignments</a:t>
                      </a:r>
                    </a:p>
                  </a:txBody>
                  <a:tcPr marL="91440" marR="91440" marT="45720" marB="45720">
                    <a:solidFill>
                      <a:srgbClr val="F0F5F6"/>
                    </a:solidFill>
                  </a:tcPr>
                </a:tc>
                <a:tc>
                  <a:txBody>
                    <a:bodyPr/>
                    <a:lstStyle/>
                    <a:p>
                      <a:r>
                        <a:rPr sz="1425" b="0">
                          <a:solidFill>
                            <a:srgbClr val="172D3C"/>
                          </a:solidFill>
                          <a:latin typeface="Arial"/>
                          <a:ea typeface="Arial"/>
                          <a:cs typeface="Arial"/>
                        </a:rPr>
                        <a:t>An eligible person in an experiment</a:t>
                      </a:r>
                    </a:p>
                  </a:txBody>
                  <a:tcPr marL="91440" marR="91440" marT="45720" marB="45720">
                    <a:solidFill>
                      <a:srgbClr val="F0F5F6"/>
                    </a:solidFill>
                  </a:tcPr>
                </a:tc>
                <a:tc>
                  <a:txBody>
                    <a:bodyPr/>
                    <a:lstStyle/>
                    <a:p>
                      <a:r>
                        <a:rPr sz="1425" b="0">
                          <a:solidFill>
                            <a:srgbClr val="172D3C"/>
                          </a:solidFill>
                          <a:latin typeface="Arial"/>
                          <a:ea typeface="Arial"/>
                          <a:cs typeface="Arial"/>
                        </a:rPr>
                        <a:t>What was assigned, including for nonbuyers?</a:t>
                      </a:r>
                    </a:p>
                  </a:txBody>
                  <a:tcPr marL="91440" marR="91440" marT="45720" marB="45720">
                    <a:solidFill>
                      <a:srgbClr val="F0F5F6"/>
                    </a:solidFill>
                  </a:tcPr>
                </a:tc>
              </a:tr>
            </a:tbl>
          </a:graphicData>
        </a:graphic>
      </p:graphicFrame>
      <p:sp>
        <p:nvSpPr>
          <p:cNvPr id="6" name="">
            <a:extLst xmlns:a="http://schemas.openxmlformats.org/drawingml/2006/main">
              <a:ext uri="{FF2B5EF4-FFF2-40B4-BE49-F238E27FC236}">
                <a16:creationId xmlns:a16="http://schemas.microsoft.com/office/drawing/2014/main" id="{1CFB5EE7-50AF-46F5-9498-DF2979F8B961}"/>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58F538A-9538-46BF-AEE8-7EC32E533F38}"/>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Ask AI to inspect the files, identify their grains, and draw the system before it joins them.</a:t>
            </a:r>
          </a:p>
        </p:txBody>
      </p:sp>
    </p:spTree>
    <p:extLst>
      <p:ext uri="{BB962C8B-B14F-4D97-AF65-F5344CB8AC3E}">
        <p14:creationId xmlns:p14="http://schemas.microsoft.com/office/powerpoint/2010/main" val="163523550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245394C-B157-4AA3-96CB-807C3ACE6C15}"/>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BB6427"/>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76DD04C-6F02-4CCC-A3FF-09CFE88447EB}"/>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Group decision 1: who needs which onboarding route?</a:t>
            </a:r>
          </a:p>
        </p:txBody>
      </p:sp>
      <p:sp>
        <p:nvSpPr>
          <p:cNvPr id="3" name="">
            <a:extLst xmlns:a="http://schemas.openxmlformats.org/drawingml/2006/main">
              <a:ext uri="{FF2B5EF4-FFF2-40B4-BE49-F238E27FC236}">
                <a16:creationId xmlns:a16="http://schemas.microsoft.com/office/drawing/2014/main" id="{9156715B-B7E6-4B84-A9D8-208C26B496F9}"/>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BB6427"/>
                </a:solidFill>
                <a:latin typeface="Arial"/>
                <a:ea typeface="Arial"/>
                <a:cs typeface="Arial"/>
              </a:defRPr>
            </a:defPPr>
            <a:lvl1pPr>
              <a:defRPr sz="900" b="1">
                <a:solidFill>
                  <a:srgbClr val="BB6427"/>
                </a:solidFill>
                <a:latin typeface="Arial"/>
                <a:ea typeface="Arial"/>
                <a:cs typeface="Arial"/>
              </a:defRPr>
            </a:lvl1pPr>
            <a:lvl2pPr>
              <a:defRPr sz="900" b="1">
                <a:solidFill>
                  <a:srgbClr val="BB6427"/>
                </a:solidFill>
                <a:latin typeface="Arial"/>
                <a:ea typeface="Arial"/>
                <a:cs typeface="Arial"/>
              </a:defRPr>
            </a:lvl2pPr>
            <a:lvl3pPr>
              <a:defRPr sz="900" b="1">
                <a:solidFill>
                  <a:srgbClr val="BB6427"/>
                </a:solidFill>
                <a:latin typeface="Arial"/>
                <a:ea typeface="Arial"/>
                <a:cs typeface="Arial"/>
              </a:defRPr>
            </a:lvl3pPr>
            <a:lvl4pPr>
              <a:defRPr sz="900" b="1">
                <a:solidFill>
                  <a:srgbClr val="BB6427"/>
                </a:solidFill>
                <a:latin typeface="Arial"/>
                <a:ea typeface="Arial"/>
                <a:cs typeface="Arial"/>
              </a:defRPr>
            </a:lvl4pPr>
            <a:lvl5pPr>
              <a:defRPr sz="900" b="1">
                <a:solidFill>
                  <a:srgbClr val="BB6427"/>
                </a:solidFill>
                <a:latin typeface="Arial"/>
                <a:ea typeface="Arial"/>
                <a:cs typeface="Arial"/>
              </a:defRPr>
            </a:lvl5pPr>
            <a:lvl6pPr>
              <a:defRPr sz="900" b="1">
                <a:solidFill>
                  <a:srgbClr val="BB6427"/>
                </a:solidFill>
                <a:latin typeface="Arial"/>
                <a:ea typeface="Arial"/>
                <a:cs typeface="Arial"/>
              </a:defRPr>
            </a:lvl6pPr>
            <a:lvl7pPr>
              <a:defRPr sz="900" b="1">
                <a:solidFill>
                  <a:srgbClr val="BB6427"/>
                </a:solidFill>
                <a:latin typeface="Arial"/>
                <a:ea typeface="Arial"/>
                <a:cs typeface="Arial"/>
              </a:defRPr>
            </a:lvl7pPr>
            <a:lvl8pPr>
              <a:defRPr sz="900" b="1">
                <a:solidFill>
                  <a:srgbClr val="BB6427"/>
                </a:solidFill>
                <a:latin typeface="Arial"/>
                <a:ea typeface="Arial"/>
                <a:cs typeface="Arial"/>
              </a:defRPr>
            </a:lvl8pPr>
            <a:lvl9pPr>
              <a:defRPr sz="900" b="1">
                <a:solidFill>
                  <a:srgbClr val="BB6427"/>
                </a:solidFill>
                <a:latin typeface="Arial"/>
                <a:ea typeface="Arial"/>
                <a:cs typeface="Arial"/>
              </a:defRPr>
            </a:lvl9pPr>
          </a:lstStyle>
          <a:p xmlns:a="http://schemas.openxmlformats.org/drawingml/2006/main">
            <a:pPr>
              <a:defRPr sz="900" b="1">
                <a:solidFill>
                  <a:srgbClr val="BB6427"/>
                </a:solidFill>
                <a:latin typeface="Arial"/>
                <a:ea typeface="Arial"/>
                <a:cs typeface="Arial"/>
              </a:defRPr>
            </a:pPr>
            <a:r>
              <a:rPr sz="900" b="1">
                <a:solidFill>
                  <a:srgbClr val="BB6427"/>
                </a:solidFill>
                <a:latin typeface="Arial"/>
                <a:ea typeface="Arial"/>
                <a:cs typeface="Arial"/>
              </a:rPr>
              <a:t>GROUP DECISION</a:t>
            </a:r>
          </a:p>
        </p:txBody>
      </p:sp>
      <p:sp>
        <p:nvSpPr>
          <p:cNvPr id="4" name="">
            <a:extLst xmlns:a="http://schemas.openxmlformats.org/drawingml/2006/main">
              <a:ext uri="{FF2B5EF4-FFF2-40B4-BE49-F238E27FC236}">
                <a16:creationId xmlns:a16="http://schemas.microsoft.com/office/drawing/2014/main" id="{59E61EDE-11F3-4E0A-9B8B-ECA90B02AB0F}"/>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5</a:t>
            </a:r>
          </a:p>
        </p:txBody>
      </p:sp>
      <p:sp>
        <p:nvSpPr>
          <p:cNvPr id="5" name="">
            <a:extLst xmlns:a="http://schemas.openxmlformats.org/drawingml/2006/main">
              <a:ext uri="{FF2B5EF4-FFF2-40B4-BE49-F238E27FC236}">
                <a16:creationId xmlns:a16="http://schemas.microsoft.com/office/drawing/2014/main" id="{8C968F81-7002-4767-8A10-0CB39350B32B}"/>
              </a:ext>
            </a:extLst>
          </p:cNvPr>
          <p:cNvSpPr>
            <a:spLocks xmlns:a="http://schemas.openxmlformats.org/drawingml/2006/main" noGrp="1"/>
          </p:cNvSpPr>
          <p:nvPr/>
        </p:nvSpPr>
        <p:spPr>
          <a:xfrm xmlns:a="http://schemas.openxmlformats.org/drawingml/2006/main">
            <a:off x="609600" y="14954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950" b="0">
                <a:solidFill>
                  <a:srgbClr val="172D3C"/>
                </a:solidFill>
                <a:latin typeface="Arial"/>
                <a:ea typeface="Arial"/>
                <a:cs typeface="Arial"/>
              </a:defRPr>
            </a:defPPr>
            <a:lvl1pPr>
              <a:defRPr sz="1950" b="0">
                <a:solidFill>
                  <a:srgbClr val="172D3C"/>
                </a:solidFill>
                <a:latin typeface="Arial"/>
                <a:ea typeface="Arial"/>
                <a:cs typeface="Arial"/>
              </a:defRPr>
            </a:lvl1pPr>
            <a:lvl2pPr>
              <a:defRPr sz="1950" b="0">
                <a:solidFill>
                  <a:srgbClr val="172D3C"/>
                </a:solidFill>
                <a:latin typeface="Arial"/>
                <a:ea typeface="Arial"/>
                <a:cs typeface="Arial"/>
              </a:defRPr>
            </a:lvl2pPr>
            <a:lvl3pPr>
              <a:defRPr sz="1950" b="0">
                <a:solidFill>
                  <a:srgbClr val="172D3C"/>
                </a:solidFill>
                <a:latin typeface="Arial"/>
                <a:ea typeface="Arial"/>
                <a:cs typeface="Arial"/>
              </a:defRPr>
            </a:lvl3pPr>
            <a:lvl4pPr>
              <a:defRPr sz="1950" b="0">
                <a:solidFill>
                  <a:srgbClr val="172D3C"/>
                </a:solidFill>
                <a:latin typeface="Arial"/>
                <a:ea typeface="Arial"/>
                <a:cs typeface="Arial"/>
              </a:defRPr>
            </a:lvl4pPr>
            <a:lvl5pPr>
              <a:defRPr sz="1950" b="0">
                <a:solidFill>
                  <a:srgbClr val="172D3C"/>
                </a:solidFill>
                <a:latin typeface="Arial"/>
                <a:ea typeface="Arial"/>
                <a:cs typeface="Arial"/>
              </a:defRPr>
            </a:lvl5pPr>
            <a:lvl6pPr>
              <a:defRPr sz="1950" b="0">
                <a:solidFill>
                  <a:srgbClr val="172D3C"/>
                </a:solidFill>
                <a:latin typeface="Arial"/>
                <a:ea typeface="Arial"/>
                <a:cs typeface="Arial"/>
              </a:defRPr>
            </a:lvl6pPr>
            <a:lvl7pPr>
              <a:defRPr sz="1950" b="0">
                <a:solidFill>
                  <a:srgbClr val="172D3C"/>
                </a:solidFill>
                <a:latin typeface="Arial"/>
                <a:ea typeface="Arial"/>
                <a:cs typeface="Arial"/>
              </a:defRPr>
            </a:lvl7pPr>
            <a:lvl8pPr>
              <a:defRPr sz="1950" b="0">
                <a:solidFill>
                  <a:srgbClr val="172D3C"/>
                </a:solidFill>
                <a:latin typeface="Arial"/>
                <a:ea typeface="Arial"/>
                <a:cs typeface="Arial"/>
              </a:defRPr>
            </a:lvl8pPr>
            <a:lvl9pPr>
              <a:defRPr sz="1950" b="0">
                <a:solidFill>
                  <a:srgbClr val="172D3C"/>
                </a:solidFill>
                <a:latin typeface="Arial"/>
                <a:ea typeface="Arial"/>
                <a:cs typeface="Arial"/>
              </a:defRPr>
            </a:lvl9pPr>
          </a:lstStyle>
          <a:p xmlns:a="http://schemas.openxmlformats.org/drawingml/2006/main">
            <a:pPr>
              <a:defRPr sz="1950" b="0">
                <a:solidFill>
                  <a:srgbClr val="172D3C"/>
                </a:solidFill>
                <a:latin typeface="Arial"/>
                <a:ea typeface="Arial"/>
                <a:cs typeface="Arial"/>
              </a:defRPr>
            </a:pPr>
            <a:r>
              <a:rPr sz="1950" b="0">
                <a:solidFill>
                  <a:srgbClr val="172D3C"/>
                </a:solidFill>
                <a:latin typeface="Arial"/>
                <a:ea typeface="Arial"/>
                <a:cs typeface="Arial"/>
              </a:rPr>
              <a:t>Product can offer two routes: a fast first result or guided practice. Which existing grouping should inform this design?</a:t>
            </a:r>
          </a:p>
        </p:txBody>
      </p:sp>
      <p:graphicFrame>
        <p:nvGraphicFramePr>
          <p:cNvPr id="6" name="">
            <a:extLst xmlns:a="http://schemas.openxmlformats.org/drawingml/2006/main">
              <a:ext uri="{FF2B5EF4-FFF2-40B4-BE49-F238E27FC236}">
                <a16:creationId xmlns:a16="http://schemas.microsoft.com/office/drawing/2014/main" id="{586E5889-13D0-48B0-BFAC-2941D092EDD9}"/>
              </a:ext>
            </a:extLst>
          </p:cNvPr>
          <p:cNvGraphicFramePr/>
          <p:nvPr/>
        </p:nvGraphicFramePr>
        <p:xfrm>
          <a:off xmlns:a="http://schemas.openxmlformats.org/drawingml/2006/main" x="609600" y="2505075"/>
          <a:ext xmlns:a="http://schemas.openxmlformats.org/drawingml/2006/main" cx="10972800" cy="1638300"/>
        </p:xfrm>
        <a:graphic xmlns:a="http://schemas.openxmlformats.org/drawingml/2006/main">
          <a:graphicData uri="http://schemas.openxmlformats.org/drawingml/2006/table">
            <a:tbl>
              <a:tblPr/>
              <a:tblGrid>
                <a:gridCol w="2857500"/>
                <a:gridCol w="3667125"/>
                <a:gridCol w="4448175"/>
              </a:tblGrid>
              <a:tr h="546100">
                <a:tc>
                  <a:txBody>
                    <a:bodyPr/>
                    <a:lstStyle/>
                    <a:p>
                      <a:r>
                        <a:rPr sz="1350" b="1">
                          <a:solidFill>
                            <a:srgbClr val="FFFFFF"/>
                          </a:solidFill>
                          <a:latin typeface="Arial"/>
                          <a:ea typeface="Arial"/>
                          <a:cs typeface="Arial"/>
                        </a:rPr>
                        <a:t>Grouping</a:t>
                      </a:r>
                    </a:p>
                  </a:txBody>
                  <a:tcPr marL="91440" marR="91440" marT="45720" marB="45720">
                    <a:solidFill>
                      <a:srgbClr val="172D3C"/>
                    </a:solidFill>
                  </a:tcPr>
                </a:tc>
                <a:tc>
                  <a:txBody>
                    <a:bodyPr/>
                    <a:lstStyle/>
                    <a:p>
                      <a:r>
                        <a:rPr sz="1350" b="1">
                          <a:solidFill>
                            <a:srgbClr val="FFFFFF"/>
                          </a:solidFill>
                          <a:latin typeface="Arial"/>
                          <a:ea typeface="Arial"/>
                          <a:cs typeface="Arial"/>
                        </a:rPr>
                        <a:t>Two recorded groups</a:t>
                      </a:r>
                    </a:p>
                  </a:txBody>
                  <a:tcPr marL="91440" marR="91440" marT="45720" marB="45720">
                    <a:solidFill>
                      <a:srgbClr val="172D3C"/>
                    </a:solidFill>
                  </a:tcPr>
                </a:tc>
                <a:tc>
                  <a:txBody>
                    <a:bodyPr/>
                    <a:lstStyle/>
                    <a:p>
                      <a:r>
                        <a:rPr sz="1350" b="1">
                          <a:solidFill>
                            <a:srgbClr val="FFFFFF"/>
                          </a:solidFill>
                          <a:latin typeface="Arial"/>
                          <a:ea typeface="Arial"/>
                          <a:cs typeface="Arial"/>
                        </a:rPr>
                        <a:t>What the field describes</a:t>
                      </a:r>
                    </a:p>
                  </a:txBody>
                  <a:tcPr marL="91440" marR="91440" marT="45720" marB="45720">
                    <a:solidFill>
                      <a:srgbClr val="172D3C"/>
                    </a:solidFill>
                  </a:tcPr>
                </a:tc>
              </a:tr>
              <a:tr h="546100">
                <a:tc>
                  <a:txBody>
                    <a:bodyPr/>
                    <a:lstStyle/>
                    <a:p>
                      <a:r>
                        <a:rPr sz="1425" b="0">
                          <a:solidFill>
                            <a:srgbClr val="172D3C"/>
                          </a:solidFill>
                          <a:latin typeface="Arial"/>
                          <a:ea typeface="Arial"/>
                          <a:cs typeface="Arial"/>
                        </a:rPr>
                        <a:t>Age band</a:t>
                      </a:r>
                    </a:p>
                  </a:txBody>
                  <a:tcPr marL="91440" marR="91440" marT="45720" marB="45720">
                    <a:solidFill>
                      <a:srgbClr val="F0F5F6"/>
                    </a:solidFill>
                  </a:tcPr>
                </a:tc>
                <a:tc>
                  <a:txBody>
                    <a:bodyPr/>
                    <a:lstStyle/>
                    <a:p>
                      <a:r>
                        <a:rPr sz="1425" b="0">
                          <a:solidFill>
                            <a:srgbClr val="172D3C"/>
                          </a:solidFill>
                          <a:latin typeface="Arial"/>
                          <a:ea typeface="Arial"/>
                          <a:cs typeface="Arial"/>
                        </a:rPr>
                        <a:t>18–34 / 35+</a:t>
                      </a:r>
                    </a:p>
                  </a:txBody>
                  <a:tcPr marL="91440" marR="91440" marT="45720" marB="45720">
                    <a:solidFill>
                      <a:srgbClr val="F0F5F6"/>
                    </a:solidFill>
                  </a:tcPr>
                </a:tc>
                <a:tc>
                  <a:txBody>
                    <a:bodyPr/>
                    <a:lstStyle/>
                    <a:p>
                      <a:r>
                        <a:rPr sz="1425" b="0">
                          <a:solidFill>
                            <a:srgbClr val="172D3C"/>
                          </a:solidFill>
                          <a:latin typeface="Arial"/>
                          <a:ea typeface="Arial"/>
                          <a:cs typeface="Arial"/>
                        </a:rPr>
                        <a:t>A demographic characteristic.</a:t>
                      </a:r>
                    </a:p>
                  </a:txBody>
                  <a:tcPr marL="91440" marR="91440" marT="45720" marB="45720">
                    <a:solidFill>
                      <a:srgbClr val="F0F5F6"/>
                    </a:solidFill>
                  </a:tcPr>
                </a:tc>
              </a:tr>
              <a:tr h="546100">
                <a:tc>
                  <a:txBody>
                    <a:bodyPr/>
                    <a:lstStyle/>
                    <a:p>
                      <a:r>
                        <a:rPr sz="1425" b="0">
                          <a:solidFill>
                            <a:srgbClr val="172D3C"/>
                          </a:solidFill>
                          <a:latin typeface="Arial"/>
                          <a:ea typeface="Arial"/>
                          <a:cs typeface="Arial"/>
                        </a:rPr>
                        <a:t>Stated need</a:t>
                      </a:r>
                    </a:p>
                  </a:txBody>
                  <a:tcPr marL="91440" marR="91440" marT="45720" marB="45720">
                    <a:solidFill>
                      <a:srgbClr val="FFFFFF"/>
                    </a:solidFill>
                  </a:tcPr>
                </a:tc>
                <a:tc>
                  <a:txBody>
                    <a:bodyPr/>
                    <a:lstStyle/>
                    <a:p>
                      <a:r>
                        <a:rPr sz="1425" b="0">
                          <a:solidFill>
                            <a:srgbClr val="172D3C"/>
                          </a:solidFill>
                          <a:latin typeface="Arial"/>
                          <a:ea typeface="Arial"/>
                          <a:cs typeface="Arial"/>
                        </a:rPr>
                        <a:t>Save time / Build skill</a:t>
                      </a:r>
                    </a:p>
                  </a:txBody>
                  <a:tcPr marL="91440" marR="91440" marT="45720" marB="45720">
                    <a:solidFill>
                      <a:srgbClr val="FFFFFF"/>
                    </a:solidFill>
                  </a:tcPr>
                </a:tc>
                <a:tc>
                  <a:txBody>
                    <a:bodyPr/>
                    <a:lstStyle/>
                    <a:p>
                      <a:r>
                        <a:rPr sz="1425" b="0">
                          <a:solidFill>
                            <a:srgbClr val="172D3C"/>
                          </a:solidFill>
                          <a:latin typeface="Arial"/>
                          <a:ea typeface="Arial"/>
                          <a:cs typeface="Arial"/>
                        </a:rPr>
                        <a:t>The goal stated before acquisition.</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378BA159-29D0-4205-9580-F63025374042}"/>
              </a:ext>
            </a:extLst>
          </p:cNvPr>
          <p:cNvSpPr>
            <a:spLocks xmlns:a="http://schemas.openxmlformats.org/drawingml/2006/main" noGrp="1"/>
          </p:cNvSpPr>
          <p:nvPr/>
        </p:nvSpPr>
        <p:spPr>
          <a:xfrm xmlns:a="http://schemas.openxmlformats.org/drawingml/2006/main">
            <a:off x="609600" y="4457700"/>
            <a:ext cx="109728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025" b="1">
                <a:solidFill>
                  <a:srgbClr val="BB6427"/>
                </a:solidFill>
                <a:latin typeface="Arial"/>
                <a:ea typeface="Arial"/>
                <a:cs typeface="Arial"/>
              </a:defRPr>
            </a:defPPr>
            <a:lvl1pPr>
              <a:defRPr sz="2025" b="1">
                <a:solidFill>
                  <a:srgbClr val="BB6427"/>
                </a:solidFill>
                <a:latin typeface="Arial"/>
                <a:ea typeface="Arial"/>
                <a:cs typeface="Arial"/>
              </a:defRPr>
            </a:lvl1pPr>
            <a:lvl2pPr>
              <a:defRPr sz="2025" b="1">
                <a:solidFill>
                  <a:srgbClr val="BB6427"/>
                </a:solidFill>
                <a:latin typeface="Arial"/>
                <a:ea typeface="Arial"/>
                <a:cs typeface="Arial"/>
              </a:defRPr>
            </a:lvl2pPr>
            <a:lvl3pPr>
              <a:defRPr sz="2025" b="1">
                <a:solidFill>
                  <a:srgbClr val="BB6427"/>
                </a:solidFill>
                <a:latin typeface="Arial"/>
                <a:ea typeface="Arial"/>
                <a:cs typeface="Arial"/>
              </a:defRPr>
            </a:lvl3pPr>
            <a:lvl4pPr>
              <a:defRPr sz="2025" b="1">
                <a:solidFill>
                  <a:srgbClr val="BB6427"/>
                </a:solidFill>
                <a:latin typeface="Arial"/>
                <a:ea typeface="Arial"/>
                <a:cs typeface="Arial"/>
              </a:defRPr>
            </a:lvl4pPr>
            <a:lvl5pPr>
              <a:defRPr sz="2025" b="1">
                <a:solidFill>
                  <a:srgbClr val="BB6427"/>
                </a:solidFill>
                <a:latin typeface="Arial"/>
                <a:ea typeface="Arial"/>
                <a:cs typeface="Arial"/>
              </a:defRPr>
            </a:lvl5pPr>
            <a:lvl6pPr>
              <a:defRPr sz="2025" b="1">
                <a:solidFill>
                  <a:srgbClr val="BB6427"/>
                </a:solidFill>
                <a:latin typeface="Arial"/>
                <a:ea typeface="Arial"/>
                <a:cs typeface="Arial"/>
              </a:defRPr>
            </a:lvl6pPr>
            <a:lvl7pPr>
              <a:defRPr sz="2025" b="1">
                <a:solidFill>
                  <a:srgbClr val="BB6427"/>
                </a:solidFill>
                <a:latin typeface="Arial"/>
                <a:ea typeface="Arial"/>
                <a:cs typeface="Arial"/>
              </a:defRPr>
            </a:lvl7pPr>
            <a:lvl8pPr>
              <a:defRPr sz="2025" b="1">
                <a:solidFill>
                  <a:srgbClr val="BB6427"/>
                </a:solidFill>
                <a:latin typeface="Arial"/>
                <a:ea typeface="Arial"/>
                <a:cs typeface="Arial"/>
              </a:defRPr>
            </a:lvl8pPr>
            <a:lvl9pPr>
              <a:defRPr sz="2025" b="1">
                <a:solidFill>
                  <a:srgbClr val="BB6427"/>
                </a:solidFill>
                <a:latin typeface="Arial"/>
                <a:ea typeface="Arial"/>
                <a:cs typeface="Arial"/>
              </a:defRPr>
            </a:lvl9pPr>
          </a:lstStyle>
          <a:p xmlns:a="http://schemas.openxmlformats.org/drawingml/2006/main">
            <a:pPr>
              <a:defRPr sz="2025" b="1">
                <a:solidFill>
                  <a:srgbClr val="BB6427"/>
                </a:solidFill>
                <a:latin typeface="Arial"/>
                <a:ea typeface="Arial"/>
                <a:cs typeface="Arial"/>
              </a:defRPr>
            </a:pPr>
            <a:r>
              <a:rPr sz="2025" b="1">
                <a:solidFill>
                  <a:srgbClr val="BB6427"/>
                </a:solidFill>
                <a:latin typeface="Arial"/>
                <a:ea typeface="Arial"/>
                <a:cs typeface="Arial"/>
              </a:rPr>
              <a:t>Choose one grouping and explain why it is relevant to this onboarding objective.</a:t>
            </a:r>
          </a:p>
        </p:txBody>
      </p:sp>
      <p:sp>
        <p:nvSpPr>
          <p:cNvPr id="8" name="">
            <a:extLst xmlns:a="http://schemas.openxmlformats.org/drawingml/2006/main">
              <a:ext uri="{FF2B5EF4-FFF2-40B4-BE49-F238E27FC236}">
                <a16:creationId xmlns:a16="http://schemas.microsoft.com/office/drawing/2014/main" id="{281A72FD-B36C-4B9E-981E-79ACD4F229BB}"/>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FCF1E7"/>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A901FDB-133C-4E14-8C66-36CE1605BD76}"/>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Use the conceptual journey maps to propose the routes. Later, use the SQL results to test whether the grouping explains value.</a:t>
            </a:r>
          </a:p>
        </p:txBody>
      </p:sp>
    </p:spTree>
    <p:extLst>
      <p:ext uri="{BB962C8B-B14F-4D97-AF65-F5344CB8AC3E}">
        <p14:creationId xmlns:p14="http://schemas.microsoft.com/office/powerpoint/2010/main" val="67980740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D9B58A4C-4890-4656-9E89-643E83CDF618}"/>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45BBF37-480A-4BD2-A5FB-EA658272DCD3}"/>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Turn the connected view into a reproducible query</a:t>
            </a:r>
          </a:p>
        </p:txBody>
      </p:sp>
      <p:sp>
        <p:nvSpPr>
          <p:cNvPr id="3" name="">
            <a:extLst xmlns:a="http://schemas.openxmlformats.org/drawingml/2006/main">
              <a:ext uri="{FF2B5EF4-FFF2-40B4-BE49-F238E27FC236}">
                <a16:creationId xmlns:a16="http://schemas.microsoft.com/office/drawing/2014/main" id="{E3D14CB2-C911-469E-BC6D-C9AE3158DA25}"/>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3191B5"/>
                </a:solidFill>
                <a:latin typeface="Arial"/>
                <a:ea typeface="Arial"/>
                <a:cs typeface="Arial"/>
              </a:defRPr>
            </a:defPPr>
            <a:lvl1pPr>
              <a:defRPr sz="900" b="1">
                <a:solidFill>
                  <a:srgbClr val="3191B5"/>
                </a:solidFill>
                <a:latin typeface="Arial"/>
                <a:ea typeface="Arial"/>
                <a:cs typeface="Arial"/>
              </a:defRPr>
            </a:lvl1pPr>
            <a:lvl2pPr>
              <a:defRPr sz="900" b="1">
                <a:solidFill>
                  <a:srgbClr val="3191B5"/>
                </a:solidFill>
                <a:latin typeface="Arial"/>
                <a:ea typeface="Arial"/>
                <a:cs typeface="Arial"/>
              </a:defRPr>
            </a:lvl2pPr>
            <a:lvl3pPr>
              <a:defRPr sz="900" b="1">
                <a:solidFill>
                  <a:srgbClr val="3191B5"/>
                </a:solidFill>
                <a:latin typeface="Arial"/>
                <a:ea typeface="Arial"/>
                <a:cs typeface="Arial"/>
              </a:defRPr>
            </a:lvl3pPr>
            <a:lvl4pPr>
              <a:defRPr sz="900" b="1">
                <a:solidFill>
                  <a:srgbClr val="3191B5"/>
                </a:solidFill>
                <a:latin typeface="Arial"/>
                <a:ea typeface="Arial"/>
                <a:cs typeface="Arial"/>
              </a:defRPr>
            </a:lvl4pPr>
            <a:lvl5pPr>
              <a:defRPr sz="900" b="1">
                <a:solidFill>
                  <a:srgbClr val="3191B5"/>
                </a:solidFill>
                <a:latin typeface="Arial"/>
                <a:ea typeface="Arial"/>
                <a:cs typeface="Arial"/>
              </a:defRPr>
            </a:lvl5pPr>
            <a:lvl6pPr>
              <a:defRPr sz="900" b="1">
                <a:solidFill>
                  <a:srgbClr val="3191B5"/>
                </a:solidFill>
                <a:latin typeface="Arial"/>
                <a:ea typeface="Arial"/>
                <a:cs typeface="Arial"/>
              </a:defRPr>
            </a:lvl6pPr>
            <a:lvl7pPr>
              <a:defRPr sz="900" b="1">
                <a:solidFill>
                  <a:srgbClr val="3191B5"/>
                </a:solidFill>
                <a:latin typeface="Arial"/>
                <a:ea typeface="Arial"/>
                <a:cs typeface="Arial"/>
              </a:defRPr>
            </a:lvl7pPr>
            <a:lvl8pPr>
              <a:defRPr sz="900" b="1">
                <a:solidFill>
                  <a:srgbClr val="3191B5"/>
                </a:solidFill>
                <a:latin typeface="Arial"/>
                <a:ea typeface="Arial"/>
                <a:cs typeface="Arial"/>
              </a:defRPr>
            </a:lvl8pPr>
            <a:lvl9pPr>
              <a:defRPr sz="900" b="1">
                <a:solidFill>
                  <a:srgbClr val="3191B5"/>
                </a:solidFill>
                <a:latin typeface="Arial"/>
                <a:ea typeface="Arial"/>
                <a:cs typeface="Arial"/>
              </a:defRPr>
            </a:lvl9pPr>
          </a:lstStyle>
          <a:p xmlns:a="http://schemas.openxmlformats.org/drawingml/2006/main">
            <a:pPr>
              <a:defRPr sz="900" b="1">
                <a:solidFill>
                  <a:srgbClr val="3191B5"/>
                </a:solidFill>
                <a:latin typeface="Arial"/>
                <a:ea typeface="Arial"/>
                <a:cs typeface="Arial"/>
              </a:defRPr>
            </a:pPr>
            <a:r>
              <a:rPr sz="900" b="1">
                <a:solidFill>
                  <a:srgbClr val="3191B5"/>
                </a:solidFill>
                <a:latin typeface="Arial"/>
                <a:ea typeface="Arial"/>
                <a:cs typeface="Arial"/>
              </a:rPr>
              <a:t>CONCEPT</a:t>
            </a:r>
          </a:p>
        </p:txBody>
      </p:sp>
      <p:sp>
        <p:nvSpPr>
          <p:cNvPr id="4" name="">
            <a:extLst xmlns:a="http://schemas.openxmlformats.org/drawingml/2006/main">
              <a:ext uri="{FF2B5EF4-FFF2-40B4-BE49-F238E27FC236}">
                <a16:creationId xmlns:a16="http://schemas.microsoft.com/office/drawing/2014/main" id="{E95AC85A-F01F-404D-A557-8D3B19DB2F29}"/>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6</a:t>
            </a:r>
          </a:p>
        </p:txBody>
      </p:sp>
      <p:sp>
        <p:nvSpPr>
          <p:cNvPr id="5" name="">
            <a:extLst xmlns:a="http://schemas.openxmlformats.org/drawingml/2006/main">
              <a:ext uri="{FF2B5EF4-FFF2-40B4-BE49-F238E27FC236}">
                <a16:creationId xmlns:a16="http://schemas.microsoft.com/office/drawing/2014/main" id="{8D1FF8AE-F33B-4E95-996F-475A4AE5EB18}"/>
              </a:ext>
            </a:extLst>
          </p:cNvPr>
          <p:cNvSpPr>
            <a:spLocks xmlns:a="http://schemas.openxmlformats.org/drawingml/2006/main" noGrp="1"/>
          </p:cNvSpPr>
          <p:nvPr/>
        </p:nvSpPr>
        <p:spPr>
          <a:xfrm xmlns:a="http://schemas.openxmlformats.org/drawingml/2006/main">
            <a:off x="609600" y="1657350"/>
            <a:ext cx="2609850" cy="200977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1CF466C-128A-472C-A140-C7C67E075900}"/>
              </a:ext>
            </a:extLst>
          </p:cNvPr>
          <p:cNvSpPr>
            <a:spLocks xmlns:a="http://schemas.openxmlformats.org/drawingml/2006/main" noGrp="1"/>
          </p:cNvSpPr>
          <p:nvPr/>
        </p:nvSpPr>
        <p:spPr>
          <a:xfrm xmlns:a="http://schemas.openxmlformats.org/drawingml/2006/main">
            <a:off x="609600" y="1657350"/>
            <a:ext cx="47625" cy="2009775"/>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C4AAE15-121E-465A-A208-986D0D2C01F4}"/>
              </a:ext>
            </a:extLst>
          </p:cNvPr>
          <p:cNvSpPr>
            <a:spLocks xmlns:a="http://schemas.openxmlformats.org/drawingml/2006/main" noGrp="1"/>
          </p:cNvSpPr>
          <p:nvPr/>
        </p:nvSpPr>
        <p:spPr>
          <a:xfrm xmlns:a="http://schemas.openxmlformats.org/drawingml/2006/main">
            <a:off x="800100" y="1800225"/>
            <a:ext cx="2228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Inspect raw views</a:t>
            </a:r>
          </a:p>
        </p:txBody>
      </p:sp>
      <p:sp>
        <p:nvSpPr>
          <p:cNvPr id="8" name="">
            <a:extLst xmlns:a="http://schemas.openxmlformats.org/drawingml/2006/main">
              <a:ext uri="{FF2B5EF4-FFF2-40B4-BE49-F238E27FC236}">
                <a16:creationId xmlns:a16="http://schemas.microsoft.com/office/drawing/2014/main" id="{34BBB546-20B7-405F-9B15-1A8CA037FAE2}"/>
              </a:ext>
            </a:extLst>
          </p:cNvPr>
          <p:cNvSpPr>
            <a:spLocks xmlns:a="http://schemas.openxmlformats.org/drawingml/2006/main" noGrp="1"/>
          </p:cNvSpPr>
          <p:nvPr/>
        </p:nvSpPr>
        <p:spPr>
          <a:xfrm xmlns:a="http://schemas.openxmlformats.org/drawingml/2006/main">
            <a:off x="800100" y="2228850"/>
            <a:ext cx="222885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Keep source columns</a:t>
            </a:r>
          </a:p>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and row meanings.</a:t>
            </a:r>
          </a:p>
        </p:txBody>
      </p:sp>
      <p:sp>
        <p:nvSpPr>
          <p:cNvPr id="9" name="">
            <a:extLst xmlns:a="http://schemas.openxmlformats.org/drawingml/2006/main">
              <a:ext uri="{FF2B5EF4-FFF2-40B4-BE49-F238E27FC236}">
                <a16:creationId xmlns:a16="http://schemas.microsoft.com/office/drawing/2014/main" id="{B9DB4076-8103-449F-BEB4-D11FE68CFA67}"/>
              </a:ext>
            </a:extLst>
          </p:cNvPr>
          <p:cNvSpPr>
            <a:spLocks xmlns:a="http://schemas.openxmlformats.org/drawingml/2006/main" noGrp="1"/>
          </p:cNvSpPr>
          <p:nvPr/>
        </p:nvSpPr>
        <p:spPr>
          <a:xfrm xmlns:a="http://schemas.openxmlformats.org/drawingml/2006/main">
            <a:off x="3257550" y="2514600"/>
            <a:ext cx="152400" cy="228600"/>
          </a:xfrm>
          <a:prstGeom xmlns:a="http://schemas.openxmlformats.org/drawingml/2006/main" prst="rightArrow">
            <a:avLst/>
          </a:prstGeom>
          <a:solidFill xmlns:a="http://schemas.openxmlformats.org/drawingml/2006/main">
            <a:srgbClr val="68778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02A891A-FD0F-4260-8288-BDFAAE0C57F6}"/>
              </a:ext>
            </a:extLst>
          </p:cNvPr>
          <p:cNvSpPr>
            <a:spLocks xmlns:a="http://schemas.openxmlformats.org/drawingml/2006/main" noGrp="1"/>
          </p:cNvSpPr>
          <p:nvPr/>
        </p:nvSpPr>
        <p:spPr>
          <a:xfrm xmlns:a="http://schemas.openxmlformats.org/drawingml/2006/main">
            <a:off x="3400425" y="1657350"/>
            <a:ext cx="2609850" cy="200977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9770077-5A32-4347-AD1B-5E9B1C7AC6E8}"/>
              </a:ext>
            </a:extLst>
          </p:cNvPr>
          <p:cNvSpPr>
            <a:spLocks xmlns:a="http://schemas.openxmlformats.org/drawingml/2006/main" noGrp="1"/>
          </p:cNvSpPr>
          <p:nvPr/>
        </p:nvSpPr>
        <p:spPr>
          <a:xfrm xmlns:a="http://schemas.openxmlformats.org/drawingml/2006/main">
            <a:off x="3400425" y="1657350"/>
            <a:ext cx="47625" cy="200977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54773A9-FA05-417D-B3ED-C62FBCEFFF87}"/>
              </a:ext>
            </a:extLst>
          </p:cNvPr>
          <p:cNvSpPr>
            <a:spLocks xmlns:a="http://schemas.openxmlformats.org/drawingml/2006/main" noGrp="1"/>
          </p:cNvSpPr>
          <p:nvPr/>
        </p:nvSpPr>
        <p:spPr>
          <a:xfrm xmlns:a="http://schemas.openxmlformats.org/drawingml/2006/main">
            <a:off x="3590925" y="1800225"/>
            <a:ext cx="2228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Define the customer clock</a:t>
            </a:r>
          </a:p>
        </p:txBody>
      </p:sp>
      <p:sp>
        <p:nvSpPr>
          <p:cNvPr id="13" name="">
            <a:extLst xmlns:a="http://schemas.openxmlformats.org/drawingml/2006/main">
              <a:ext uri="{FF2B5EF4-FFF2-40B4-BE49-F238E27FC236}">
                <a16:creationId xmlns:a16="http://schemas.microsoft.com/office/drawing/2014/main" id="{773EEFA4-7EBD-4246-8A73-189720DE1256}"/>
              </a:ext>
            </a:extLst>
          </p:cNvPr>
          <p:cNvSpPr>
            <a:spLocks xmlns:a="http://schemas.openxmlformats.org/drawingml/2006/main" noGrp="1"/>
          </p:cNvSpPr>
          <p:nvPr/>
        </p:nvSpPr>
        <p:spPr>
          <a:xfrm xmlns:a="http://schemas.openxmlformats.org/drawingml/2006/main">
            <a:off x="3590925" y="2228850"/>
            <a:ext cx="222885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First paid month sets</a:t>
            </a:r>
          </a:p>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cohort age index 0.</a:t>
            </a:r>
          </a:p>
        </p:txBody>
      </p:sp>
      <p:sp>
        <p:nvSpPr>
          <p:cNvPr id="14" name="">
            <a:extLst xmlns:a="http://schemas.openxmlformats.org/drawingml/2006/main">
              <a:ext uri="{FF2B5EF4-FFF2-40B4-BE49-F238E27FC236}">
                <a16:creationId xmlns:a16="http://schemas.microsoft.com/office/drawing/2014/main" id="{35C460D1-19F6-4B39-BB47-EAFD9ED9C71E}"/>
              </a:ext>
            </a:extLst>
          </p:cNvPr>
          <p:cNvSpPr>
            <a:spLocks xmlns:a="http://schemas.openxmlformats.org/drawingml/2006/main" noGrp="1"/>
          </p:cNvSpPr>
          <p:nvPr/>
        </p:nvSpPr>
        <p:spPr>
          <a:xfrm xmlns:a="http://schemas.openxmlformats.org/drawingml/2006/main">
            <a:off x="6048375" y="2514600"/>
            <a:ext cx="152400" cy="228600"/>
          </a:xfrm>
          <a:prstGeom xmlns:a="http://schemas.openxmlformats.org/drawingml/2006/main" prst="rightArrow">
            <a:avLst/>
          </a:prstGeom>
          <a:solidFill xmlns:a="http://schemas.openxmlformats.org/drawingml/2006/main">
            <a:srgbClr val="68778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0643190A-E781-45EC-8D7D-945AD49837E5}"/>
              </a:ext>
            </a:extLst>
          </p:cNvPr>
          <p:cNvSpPr>
            <a:spLocks xmlns:a="http://schemas.openxmlformats.org/drawingml/2006/main" noGrp="1"/>
          </p:cNvSpPr>
          <p:nvPr/>
        </p:nvSpPr>
        <p:spPr>
          <a:xfrm xmlns:a="http://schemas.openxmlformats.org/drawingml/2006/main">
            <a:off x="6191250" y="1657350"/>
            <a:ext cx="2609850" cy="200977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3894F50-4E67-4B03-B33E-792296DDC20F}"/>
              </a:ext>
            </a:extLst>
          </p:cNvPr>
          <p:cNvSpPr>
            <a:spLocks xmlns:a="http://schemas.openxmlformats.org/drawingml/2006/main" noGrp="1"/>
          </p:cNvSpPr>
          <p:nvPr/>
        </p:nvSpPr>
        <p:spPr>
          <a:xfrm xmlns:a="http://schemas.openxmlformats.org/drawingml/2006/main">
            <a:off x="6191250" y="1657350"/>
            <a:ext cx="47625" cy="2009775"/>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89171A7-22C7-45AE-AA5C-33D00F0D712A}"/>
              </a:ext>
            </a:extLst>
          </p:cNvPr>
          <p:cNvSpPr>
            <a:spLocks xmlns:a="http://schemas.openxmlformats.org/drawingml/2006/main" noGrp="1"/>
          </p:cNvSpPr>
          <p:nvPr/>
        </p:nvSpPr>
        <p:spPr>
          <a:xfrm xmlns:a="http://schemas.openxmlformats.org/drawingml/2006/main">
            <a:off x="6381750" y="1800225"/>
            <a:ext cx="2228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Build SQL outputs</a:t>
            </a:r>
          </a:p>
        </p:txBody>
      </p:sp>
      <p:sp>
        <p:nvSpPr>
          <p:cNvPr id="18" name="">
            <a:extLst xmlns:a="http://schemas.openxmlformats.org/drawingml/2006/main">
              <a:ext uri="{FF2B5EF4-FFF2-40B4-BE49-F238E27FC236}">
                <a16:creationId xmlns:a16="http://schemas.microsoft.com/office/drawing/2014/main" id="{5C13C6BF-34D1-4D1C-810D-6A70C93B1E2B}"/>
              </a:ext>
            </a:extLst>
          </p:cNvPr>
          <p:cNvSpPr>
            <a:spLocks xmlns:a="http://schemas.openxmlformats.org/drawingml/2006/main" noGrp="1"/>
          </p:cNvSpPr>
          <p:nvPr/>
        </p:nvSpPr>
        <p:spPr>
          <a:xfrm xmlns:a="http://schemas.openxmlformats.org/drawingml/2006/main">
            <a:off x="6381750" y="2228850"/>
            <a:ext cx="222885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Save the exact SQL</a:t>
            </a:r>
          </a:p>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and ordered results.</a:t>
            </a:r>
          </a:p>
        </p:txBody>
      </p:sp>
      <p:sp>
        <p:nvSpPr>
          <p:cNvPr id="19" name="">
            <a:extLst xmlns:a="http://schemas.openxmlformats.org/drawingml/2006/main">
              <a:ext uri="{FF2B5EF4-FFF2-40B4-BE49-F238E27FC236}">
                <a16:creationId xmlns:a16="http://schemas.microsoft.com/office/drawing/2014/main" id="{5C3E2D4E-939C-465D-B810-6EE1B170A534}"/>
              </a:ext>
            </a:extLst>
          </p:cNvPr>
          <p:cNvSpPr>
            <a:spLocks xmlns:a="http://schemas.openxmlformats.org/drawingml/2006/main" noGrp="1"/>
          </p:cNvSpPr>
          <p:nvPr/>
        </p:nvSpPr>
        <p:spPr>
          <a:xfrm xmlns:a="http://schemas.openxmlformats.org/drawingml/2006/main">
            <a:off x="8839200" y="2514600"/>
            <a:ext cx="152400" cy="228600"/>
          </a:xfrm>
          <a:prstGeom xmlns:a="http://schemas.openxmlformats.org/drawingml/2006/main" prst="rightArrow">
            <a:avLst/>
          </a:prstGeom>
          <a:solidFill xmlns:a="http://schemas.openxmlformats.org/drawingml/2006/main">
            <a:srgbClr val="68778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3FE8BB15-EF3A-4089-B53E-50AC2BBC7352}"/>
              </a:ext>
            </a:extLst>
          </p:cNvPr>
          <p:cNvSpPr>
            <a:spLocks xmlns:a="http://schemas.openxmlformats.org/drawingml/2006/main" noGrp="1"/>
          </p:cNvSpPr>
          <p:nvPr/>
        </p:nvSpPr>
        <p:spPr>
          <a:xfrm xmlns:a="http://schemas.openxmlformats.org/drawingml/2006/main">
            <a:off x="8982075" y="1657350"/>
            <a:ext cx="2609850" cy="200977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AEEB5C4-9229-42B0-8025-E3C3D04A0C56}"/>
              </a:ext>
            </a:extLst>
          </p:cNvPr>
          <p:cNvSpPr>
            <a:spLocks xmlns:a="http://schemas.openxmlformats.org/drawingml/2006/main" noGrp="1"/>
          </p:cNvSpPr>
          <p:nvPr/>
        </p:nvSpPr>
        <p:spPr>
          <a:xfrm xmlns:a="http://schemas.openxmlformats.org/drawingml/2006/main">
            <a:off x="8982075" y="1657350"/>
            <a:ext cx="47625" cy="200977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CECD9AC9-4186-4E77-AE81-8A6C5F79B415}"/>
              </a:ext>
            </a:extLst>
          </p:cNvPr>
          <p:cNvSpPr>
            <a:spLocks xmlns:a="http://schemas.openxmlformats.org/drawingml/2006/main" noGrp="1"/>
          </p:cNvSpPr>
          <p:nvPr/>
        </p:nvSpPr>
        <p:spPr>
          <a:xfrm xmlns:a="http://schemas.openxmlformats.org/drawingml/2006/main">
            <a:off x="9172575" y="1800225"/>
            <a:ext cx="2228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Reconcile the totals</a:t>
            </a:r>
          </a:p>
        </p:txBody>
      </p:sp>
      <p:sp>
        <p:nvSpPr>
          <p:cNvPr id="23" name="">
            <a:extLst xmlns:a="http://schemas.openxmlformats.org/drawingml/2006/main">
              <a:ext uri="{FF2B5EF4-FFF2-40B4-BE49-F238E27FC236}">
                <a16:creationId xmlns:a16="http://schemas.microsoft.com/office/drawing/2014/main" id="{992DD0F3-F117-4F9A-BE21-E17BD162F48A}"/>
              </a:ext>
            </a:extLst>
          </p:cNvPr>
          <p:cNvSpPr>
            <a:spLocks xmlns:a="http://schemas.openxmlformats.org/drawingml/2006/main" noGrp="1"/>
          </p:cNvSpPr>
          <p:nvPr/>
        </p:nvSpPr>
        <p:spPr>
          <a:xfrm xmlns:a="http://schemas.openxmlformats.org/drawingml/2006/main">
            <a:off x="9172575" y="2228850"/>
            <a:ext cx="222885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No duplicate money;</a:t>
            </a:r>
          </a:p>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no missing controls.</a:t>
            </a:r>
          </a:p>
        </p:txBody>
      </p:sp>
      <p:sp>
        <p:nvSpPr>
          <p:cNvPr id="24" name="">
            <a:extLst xmlns:a="http://schemas.openxmlformats.org/drawingml/2006/main">
              <a:ext uri="{FF2B5EF4-FFF2-40B4-BE49-F238E27FC236}">
                <a16:creationId xmlns:a16="http://schemas.microsoft.com/office/drawing/2014/main" id="{643D976F-732A-4D2D-A1F5-7DEDAB6F3A8A}"/>
              </a:ext>
            </a:extLst>
          </p:cNvPr>
          <p:cNvSpPr>
            <a:spLocks xmlns:a="http://schemas.openxmlformats.org/drawingml/2006/main" noGrp="1"/>
          </p:cNvSpPr>
          <p:nvPr/>
        </p:nvSpPr>
        <p:spPr>
          <a:xfrm xmlns:a="http://schemas.openxmlformats.org/drawingml/2006/main">
            <a:off x="609600" y="4057650"/>
            <a:ext cx="238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650" b="1">
                <a:solidFill>
                  <a:srgbClr val="3191B5"/>
                </a:solidFill>
                <a:latin typeface="Arial"/>
                <a:ea typeface="Arial"/>
                <a:cs typeface="Arial"/>
              </a:defRPr>
            </a:defPPr>
            <a:lvl1pPr>
              <a:defRPr sz="1650" b="1">
                <a:solidFill>
                  <a:srgbClr val="3191B5"/>
                </a:solidFill>
                <a:latin typeface="Arial"/>
                <a:ea typeface="Arial"/>
                <a:cs typeface="Arial"/>
              </a:defRPr>
            </a:lvl1pPr>
            <a:lvl2pPr>
              <a:defRPr sz="1650" b="1">
                <a:solidFill>
                  <a:srgbClr val="3191B5"/>
                </a:solidFill>
                <a:latin typeface="Arial"/>
                <a:ea typeface="Arial"/>
                <a:cs typeface="Arial"/>
              </a:defRPr>
            </a:lvl2pPr>
            <a:lvl3pPr>
              <a:defRPr sz="1650" b="1">
                <a:solidFill>
                  <a:srgbClr val="3191B5"/>
                </a:solidFill>
                <a:latin typeface="Arial"/>
                <a:ea typeface="Arial"/>
                <a:cs typeface="Arial"/>
              </a:defRPr>
            </a:lvl3pPr>
            <a:lvl4pPr>
              <a:defRPr sz="1650" b="1">
                <a:solidFill>
                  <a:srgbClr val="3191B5"/>
                </a:solidFill>
                <a:latin typeface="Arial"/>
                <a:ea typeface="Arial"/>
                <a:cs typeface="Arial"/>
              </a:defRPr>
            </a:lvl4pPr>
            <a:lvl5pPr>
              <a:defRPr sz="1650" b="1">
                <a:solidFill>
                  <a:srgbClr val="3191B5"/>
                </a:solidFill>
                <a:latin typeface="Arial"/>
                <a:ea typeface="Arial"/>
                <a:cs typeface="Arial"/>
              </a:defRPr>
            </a:lvl5pPr>
            <a:lvl6pPr>
              <a:defRPr sz="1650" b="1">
                <a:solidFill>
                  <a:srgbClr val="3191B5"/>
                </a:solidFill>
                <a:latin typeface="Arial"/>
                <a:ea typeface="Arial"/>
                <a:cs typeface="Arial"/>
              </a:defRPr>
            </a:lvl6pPr>
            <a:lvl7pPr>
              <a:defRPr sz="1650" b="1">
                <a:solidFill>
                  <a:srgbClr val="3191B5"/>
                </a:solidFill>
                <a:latin typeface="Arial"/>
                <a:ea typeface="Arial"/>
                <a:cs typeface="Arial"/>
              </a:defRPr>
            </a:lvl7pPr>
            <a:lvl8pPr>
              <a:defRPr sz="1650" b="1">
                <a:solidFill>
                  <a:srgbClr val="3191B5"/>
                </a:solidFill>
                <a:latin typeface="Arial"/>
                <a:ea typeface="Arial"/>
                <a:cs typeface="Arial"/>
              </a:defRPr>
            </a:lvl8pPr>
            <a:lvl9pPr>
              <a:defRPr sz="1650" b="1">
                <a:solidFill>
                  <a:srgbClr val="3191B5"/>
                </a:solidFill>
                <a:latin typeface="Arial"/>
                <a:ea typeface="Arial"/>
                <a:cs typeface="Arial"/>
              </a:defRPr>
            </a:lvl9pPr>
          </a:lstStyle>
          <a:p xmlns:a="http://schemas.openxmlformats.org/drawingml/2006/main">
            <a:pPr>
              <a:defRPr sz="1650" b="1">
                <a:solidFill>
                  <a:srgbClr val="3191B5"/>
                </a:solidFill>
                <a:latin typeface="Arial"/>
                <a:ea typeface="Arial"/>
                <a:cs typeface="Arial"/>
              </a:defRPr>
            </a:pPr>
            <a:r>
              <a:rPr sz="1650" b="1">
                <a:solidFill>
                  <a:srgbClr val="3191B5"/>
                </a:solidFill>
                <a:latin typeface="Arial"/>
                <a:ea typeface="Arial"/>
                <a:cs typeface="Arial"/>
              </a:rPr>
              <a:t>Prompt to try</a:t>
            </a:r>
          </a:p>
        </p:txBody>
      </p:sp>
      <p:sp>
        <p:nvSpPr>
          <p:cNvPr id="25" name="">
            <a:extLst xmlns:a="http://schemas.openxmlformats.org/drawingml/2006/main">
              <a:ext uri="{FF2B5EF4-FFF2-40B4-BE49-F238E27FC236}">
                <a16:creationId xmlns:a16="http://schemas.microsoft.com/office/drawing/2014/main" id="{29BB5A55-29E2-4EF8-9E78-C70C0C09046E}"/>
              </a:ext>
            </a:extLst>
          </p:cNvPr>
          <p:cNvSpPr>
            <a:spLocks xmlns:a="http://schemas.openxmlformats.org/drawingml/2006/main" noGrp="1"/>
          </p:cNvSpPr>
          <p:nvPr/>
        </p:nvSpPr>
        <p:spPr>
          <a:xfrm xmlns:a="http://schemas.openxmlformats.org/drawingml/2006/main">
            <a:off x="609600" y="4467225"/>
            <a:ext cx="109728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0">
                <a:solidFill>
                  <a:srgbClr val="172D3C"/>
                </a:solidFill>
                <a:latin typeface="Arial"/>
                <a:ea typeface="Arial"/>
                <a:cs typeface="Arial"/>
              </a:defRPr>
            </a:defPPr>
            <a:lvl1pPr>
              <a:defRPr sz="1800" b="0">
                <a:solidFill>
                  <a:srgbClr val="172D3C"/>
                </a:solidFill>
                <a:latin typeface="Arial"/>
                <a:ea typeface="Arial"/>
                <a:cs typeface="Arial"/>
              </a:defRPr>
            </a:lvl1pPr>
            <a:lvl2pPr>
              <a:defRPr sz="1800" b="0">
                <a:solidFill>
                  <a:srgbClr val="172D3C"/>
                </a:solidFill>
                <a:latin typeface="Arial"/>
                <a:ea typeface="Arial"/>
                <a:cs typeface="Arial"/>
              </a:defRPr>
            </a:lvl2pPr>
            <a:lvl3pPr>
              <a:defRPr sz="1800" b="0">
                <a:solidFill>
                  <a:srgbClr val="172D3C"/>
                </a:solidFill>
                <a:latin typeface="Arial"/>
                <a:ea typeface="Arial"/>
                <a:cs typeface="Arial"/>
              </a:defRPr>
            </a:lvl3pPr>
            <a:lvl4pPr>
              <a:defRPr sz="1800" b="0">
                <a:solidFill>
                  <a:srgbClr val="172D3C"/>
                </a:solidFill>
                <a:latin typeface="Arial"/>
                <a:ea typeface="Arial"/>
                <a:cs typeface="Arial"/>
              </a:defRPr>
            </a:lvl4pPr>
            <a:lvl5pPr>
              <a:defRPr sz="1800" b="0">
                <a:solidFill>
                  <a:srgbClr val="172D3C"/>
                </a:solidFill>
                <a:latin typeface="Arial"/>
                <a:ea typeface="Arial"/>
                <a:cs typeface="Arial"/>
              </a:defRPr>
            </a:lvl5pPr>
            <a:lvl6pPr>
              <a:defRPr sz="1800" b="0">
                <a:solidFill>
                  <a:srgbClr val="172D3C"/>
                </a:solidFill>
                <a:latin typeface="Arial"/>
                <a:ea typeface="Arial"/>
                <a:cs typeface="Arial"/>
              </a:defRPr>
            </a:lvl6pPr>
            <a:lvl7pPr>
              <a:defRPr sz="1800" b="0">
                <a:solidFill>
                  <a:srgbClr val="172D3C"/>
                </a:solidFill>
                <a:latin typeface="Arial"/>
                <a:ea typeface="Arial"/>
                <a:cs typeface="Arial"/>
              </a:defRPr>
            </a:lvl7pPr>
            <a:lvl8pPr>
              <a:defRPr sz="1800" b="0">
                <a:solidFill>
                  <a:srgbClr val="172D3C"/>
                </a:solidFill>
                <a:latin typeface="Arial"/>
                <a:ea typeface="Arial"/>
                <a:cs typeface="Arial"/>
              </a:defRPr>
            </a:lvl8pPr>
            <a:lvl9pPr>
              <a:defRPr sz="1800" b="0">
                <a:solidFill>
                  <a:srgbClr val="172D3C"/>
                </a:solidFill>
                <a:latin typeface="Arial"/>
                <a:ea typeface="Arial"/>
                <a:cs typeface="Arial"/>
              </a:defRPr>
            </a:lvl9pPr>
          </a:lstStyle>
          <a:p xmlns:a="http://schemas.openxmlformats.org/drawingml/2006/main">
            <a:pPr>
              <a:defRPr sz="1800" b="0">
                <a:solidFill>
                  <a:srgbClr val="172D3C"/>
                </a:solidFill>
                <a:latin typeface="Arial"/>
                <a:ea typeface="Arial"/>
                <a:cs typeface="Arial"/>
              </a:defRPr>
            </a:pPr>
            <a:r>
              <a:rPr sz="1800" b="0">
                <a:solidFill>
                  <a:srgbClr val="172D3C"/>
                </a:solidFill>
                <a:latin typeface="Arial"/>
                <a:ea typeface="Arial"/>
                <a:cs typeface="Arial"/>
              </a:rPr>
              <a:t>“Show the SQL that calculates retained customers and contribution by joining month and customer age. Explain the denominator and preserve unobserved future ages as missing.”</a:t>
            </a:r>
          </a:p>
        </p:txBody>
      </p:sp>
      <p:sp>
        <p:nvSpPr>
          <p:cNvPr id="26" name="">
            <a:extLst xmlns:a="http://schemas.openxmlformats.org/drawingml/2006/main">
              <a:ext uri="{FF2B5EF4-FFF2-40B4-BE49-F238E27FC236}">
                <a16:creationId xmlns:a16="http://schemas.microsoft.com/office/drawing/2014/main" id="{AFF65CD4-3C5C-46DA-A73A-30B300DA49E5}"/>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E11517B-E857-481E-9E0B-E1197F5695D3}"/>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A SQL script makes a calculation inspectable; the data definitions determine whether it answers the right question.</a:t>
            </a:r>
          </a:p>
        </p:txBody>
      </p:sp>
    </p:spTree>
    <p:extLst>
      <p:ext uri="{BB962C8B-B14F-4D97-AF65-F5344CB8AC3E}">
        <p14:creationId xmlns:p14="http://schemas.microsoft.com/office/powerpoint/2010/main" val="179130016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4560AF-3550-45EE-85D0-D8DA718EB00C}"/>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68778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7F0B8C9-BAC2-49FD-85F1-8B834A61DD46}"/>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A cohort follows the same original customers</a:t>
            </a:r>
          </a:p>
        </p:txBody>
      </p:sp>
      <p:sp>
        <p:nvSpPr>
          <p:cNvPr id="3" name="">
            <a:extLst xmlns:a="http://schemas.openxmlformats.org/drawingml/2006/main">
              <a:ext uri="{FF2B5EF4-FFF2-40B4-BE49-F238E27FC236}">
                <a16:creationId xmlns:a16="http://schemas.microsoft.com/office/drawing/2014/main" id="{24B2DB8B-24C9-4615-8DB5-CD54A647B45F}"/>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687780"/>
                </a:solidFill>
                <a:latin typeface="Arial"/>
                <a:ea typeface="Arial"/>
                <a:cs typeface="Arial"/>
              </a:defRPr>
            </a:defPPr>
            <a:lvl1pPr>
              <a:defRPr sz="900" b="1">
                <a:solidFill>
                  <a:srgbClr val="687780"/>
                </a:solidFill>
                <a:latin typeface="Arial"/>
                <a:ea typeface="Arial"/>
                <a:cs typeface="Arial"/>
              </a:defRPr>
            </a:lvl1pPr>
            <a:lvl2pPr>
              <a:defRPr sz="900" b="1">
                <a:solidFill>
                  <a:srgbClr val="687780"/>
                </a:solidFill>
                <a:latin typeface="Arial"/>
                <a:ea typeface="Arial"/>
                <a:cs typeface="Arial"/>
              </a:defRPr>
            </a:lvl2pPr>
            <a:lvl3pPr>
              <a:defRPr sz="900" b="1">
                <a:solidFill>
                  <a:srgbClr val="687780"/>
                </a:solidFill>
                <a:latin typeface="Arial"/>
                <a:ea typeface="Arial"/>
                <a:cs typeface="Arial"/>
              </a:defRPr>
            </a:lvl3pPr>
            <a:lvl4pPr>
              <a:defRPr sz="900" b="1">
                <a:solidFill>
                  <a:srgbClr val="687780"/>
                </a:solidFill>
                <a:latin typeface="Arial"/>
                <a:ea typeface="Arial"/>
                <a:cs typeface="Arial"/>
              </a:defRPr>
            </a:lvl4pPr>
            <a:lvl5pPr>
              <a:defRPr sz="900" b="1">
                <a:solidFill>
                  <a:srgbClr val="687780"/>
                </a:solidFill>
                <a:latin typeface="Arial"/>
                <a:ea typeface="Arial"/>
                <a:cs typeface="Arial"/>
              </a:defRPr>
            </a:lvl5pPr>
            <a:lvl6pPr>
              <a:defRPr sz="900" b="1">
                <a:solidFill>
                  <a:srgbClr val="687780"/>
                </a:solidFill>
                <a:latin typeface="Arial"/>
                <a:ea typeface="Arial"/>
                <a:cs typeface="Arial"/>
              </a:defRPr>
            </a:lvl6pPr>
            <a:lvl7pPr>
              <a:defRPr sz="900" b="1">
                <a:solidFill>
                  <a:srgbClr val="687780"/>
                </a:solidFill>
                <a:latin typeface="Arial"/>
                <a:ea typeface="Arial"/>
                <a:cs typeface="Arial"/>
              </a:defRPr>
            </a:lvl7pPr>
            <a:lvl8pPr>
              <a:defRPr sz="900" b="1">
                <a:solidFill>
                  <a:srgbClr val="687780"/>
                </a:solidFill>
                <a:latin typeface="Arial"/>
                <a:ea typeface="Arial"/>
                <a:cs typeface="Arial"/>
              </a:defRPr>
            </a:lvl8pPr>
            <a:lvl9pPr>
              <a:defRPr sz="900" b="1">
                <a:solidFill>
                  <a:srgbClr val="687780"/>
                </a:solidFill>
                <a:latin typeface="Arial"/>
                <a:ea typeface="Arial"/>
                <a:cs typeface="Arial"/>
              </a:defRPr>
            </a:lvl9pPr>
          </a:lstStyle>
          <a:p xmlns:a="http://schemas.openxmlformats.org/drawingml/2006/main">
            <a:pPr>
              <a:defRPr sz="900" b="1">
                <a:solidFill>
                  <a:srgbClr val="687780"/>
                </a:solidFill>
                <a:latin typeface="Arial"/>
                <a:ea typeface="Arial"/>
                <a:cs typeface="Arial"/>
              </a:defRPr>
            </a:pPr>
            <a:r>
              <a:rPr sz="900" b="1">
                <a:solidFill>
                  <a:srgbClr val="687780"/>
                </a:solidFill>
                <a:latin typeface="Arial"/>
                <a:ea typeface="Arial"/>
                <a:cs typeface="Arial"/>
              </a:rPr>
              <a:t>EVIDENCE INTERPRETATION</a:t>
            </a:r>
          </a:p>
        </p:txBody>
      </p:sp>
      <p:sp>
        <p:nvSpPr>
          <p:cNvPr id="4" name="">
            <a:extLst xmlns:a="http://schemas.openxmlformats.org/drawingml/2006/main">
              <a:ext uri="{FF2B5EF4-FFF2-40B4-BE49-F238E27FC236}">
                <a16:creationId xmlns:a16="http://schemas.microsoft.com/office/drawing/2014/main" id="{4AB0030E-2623-4639-A490-A2AC09F21E8B}"/>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7</a:t>
            </a:r>
          </a:p>
        </p:txBody>
      </p:sp>
      <p:graphicFrame>
        <p:nvGraphicFramePr>
          <p:cNvPr id="5" name="">
            <a:extLst xmlns:a="http://schemas.openxmlformats.org/drawingml/2006/main">
              <a:ext uri="{FF2B5EF4-FFF2-40B4-BE49-F238E27FC236}">
                <a16:creationId xmlns:a16="http://schemas.microsoft.com/office/drawing/2014/main" id="{767DAA71-C437-4E82-827C-96A230825B0C}"/>
              </a:ext>
            </a:extLst>
          </p:cNvPr>
          <p:cNvGraphicFramePr/>
          <p:nvPr/>
        </p:nvGraphicFramePr>
        <p:xfrm>
          <a:off xmlns:a="http://schemas.openxmlformats.org/drawingml/2006/main" x="609600" y="1685925"/>
          <a:ext xmlns:a="http://schemas.openxmlformats.org/drawingml/2006/main" cx="10972800" cy="2476500"/>
        </p:xfrm>
        <a:graphic xmlns:a="http://schemas.openxmlformats.org/drawingml/2006/main">
          <a:graphicData uri="http://schemas.openxmlformats.org/drawingml/2006/table">
            <a:tbl>
              <a:tblPr/>
              <a:tblGrid>
                <a:gridCol w="2686050"/>
                <a:gridCol w="1381125"/>
                <a:gridCol w="1381125"/>
                <a:gridCol w="1381125"/>
                <a:gridCol w="1381125"/>
                <a:gridCol w="1381125"/>
                <a:gridCol w="1381125"/>
              </a:tblGrid>
              <a:tr h="495300">
                <a:tc>
                  <a:txBody>
                    <a:bodyPr/>
                    <a:lstStyle/>
                    <a:p>
                      <a:r>
                        <a:rPr sz="1350" b="1">
                          <a:solidFill>
                            <a:srgbClr val="FFFFFF"/>
                          </a:solidFill>
                          <a:latin typeface="Arial"/>
                          <a:ea typeface="Arial"/>
                          <a:cs typeface="Arial"/>
                        </a:rPr>
                        <a:t>Joining cohort</a:t>
                      </a:r>
                    </a:p>
                  </a:txBody>
                  <a:tcPr marL="91440" marR="91440" marT="45720" marB="45720">
                    <a:solidFill>
                      <a:srgbClr val="172D3C"/>
                    </a:solidFill>
                  </a:tcPr>
                </a:tc>
                <a:tc>
                  <a:txBody>
                    <a:bodyPr/>
                    <a:lstStyle/>
                    <a:p>
                      <a:r>
                        <a:rPr sz="1350" b="1">
                          <a:solidFill>
                            <a:srgbClr val="FFFFFF"/>
                          </a:solidFill>
                          <a:latin typeface="Arial"/>
                          <a:ea typeface="Arial"/>
                          <a:cs typeface="Arial"/>
                        </a:rPr>
                        <a:t>Age 0</a:t>
                      </a:r>
                    </a:p>
                  </a:txBody>
                  <a:tcPr marL="91440" marR="91440" marT="45720" marB="45720">
                    <a:solidFill>
                      <a:srgbClr val="172D3C"/>
                    </a:solidFill>
                  </a:tcPr>
                </a:tc>
                <a:tc>
                  <a:txBody>
                    <a:bodyPr/>
                    <a:lstStyle/>
                    <a:p>
                      <a:r>
                        <a:rPr sz="1350" b="1">
                          <a:solidFill>
                            <a:srgbClr val="FFFFFF"/>
                          </a:solidFill>
                          <a:latin typeface="Arial"/>
                          <a:ea typeface="Arial"/>
                          <a:cs typeface="Arial"/>
                        </a:rPr>
                        <a:t>Age 1</a:t>
                      </a:r>
                    </a:p>
                  </a:txBody>
                  <a:tcPr marL="91440" marR="91440" marT="45720" marB="45720">
                    <a:solidFill>
                      <a:srgbClr val="172D3C"/>
                    </a:solidFill>
                  </a:tcPr>
                </a:tc>
                <a:tc>
                  <a:txBody>
                    <a:bodyPr/>
                    <a:lstStyle/>
                    <a:p>
                      <a:r>
                        <a:rPr sz="1350" b="1">
                          <a:solidFill>
                            <a:srgbClr val="FFFFFF"/>
                          </a:solidFill>
                          <a:latin typeface="Arial"/>
                          <a:ea typeface="Arial"/>
                          <a:cs typeface="Arial"/>
                        </a:rPr>
                        <a:t>Age 2</a:t>
                      </a:r>
                    </a:p>
                  </a:txBody>
                  <a:tcPr marL="91440" marR="91440" marT="45720" marB="45720">
                    <a:solidFill>
                      <a:srgbClr val="172D3C"/>
                    </a:solidFill>
                  </a:tcPr>
                </a:tc>
                <a:tc>
                  <a:txBody>
                    <a:bodyPr/>
                    <a:lstStyle/>
                    <a:p>
                      <a:r>
                        <a:rPr sz="1350" b="1">
                          <a:solidFill>
                            <a:srgbClr val="FFFFFF"/>
                          </a:solidFill>
                          <a:latin typeface="Arial"/>
                          <a:ea typeface="Arial"/>
                          <a:cs typeface="Arial"/>
                        </a:rPr>
                        <a:t>Age 3</a:t>
                      </a:r>
                    </a:p>
                  </a:txBody>
                  <a:tcPr marL="91440" marR="91440" marT="45720" marB="45720">
                    <a:solidFill>
                      <a:srgbClr val="172D3C"/>
                    </a:solidFill>
                  </a:tcPr>
                </a:tc>
                <a:tc>
                  <a:txBody>
                    <a:bodyPr/>
                    <a:lstStyle/>
                    <a:p>
                      <a:r>
                        <a:rPr sz="1350" b="1">
                          <a:solidFill>
                            <a:srgbClr val="FFFFFF"/>
                          </a:solidFill>
                          <a:latin typeface="Arial"/>
                          <a:ea typeface="Arial"/>
                          <a:cs typeface="Arial"/>
                        </a:rPr>
                        <a:t>Age 4</a:t>
                      </a:r>
                    </a:p>
                  </a:txBody>
                  <a:tcPr marL="91440" marR="91440" marT="45720" marB="45720">
                    <a:solidFill>
                      <a:srgbClr val="172D3C"/>
                    </a:solidFill>
                  </a:tcPr>
                </a:tc>
                <a:tc>
                  <a:txBody>
                    <a:bodyPr/>
                    <a:lstStyle/>
                    <a:p>
                      <a:r>
                        <a:rPr sz="1350" b="1">
                          <a:solidFill>
                            <a:srgbClr val="FFFFFF"/>
                          </a:solidFill>
                          <a:latin typeface="Arial"/>
                          <a:ea typeface="Arial"/>
                          <a:cs typeface="Arial"/>
                        </a:rPr>
                        <a:t>Age 5</a:t>
                      </a:r>
                    </a:p>
                  </a:txBody>
                  <a:tcPr marL="91440" marR="91440" marT="45720" marB="45720">
                    <a:solidFill>
                      <a:srgbClr val="172D3C"/>
                    </a:solidFill>
                  </a:tcPr>
                </a:tc>
              </a:tr>
              <a:tr h="495300">
                <a:tc>
                  <a:txBody>
                    <a:bodyPr/>
                    <a:lstStyle/>
                    <a:p>
                      <a:r>
                        <a:rPr sz="1425" b="0">
                          <a:solidFill>
                            <a:srgbClr val="172D3C"/>
                          </a:solidFill>
                          <a:latin typeface="Arial"/>
                          <a:ea typeface="Arial"/>
                          <a:cs typeface="Arial"/>
                        </a:rPr>
                        <a:t>2024-01</a:t>
                      </a:r>
                    </a:p>
                  </a:txBody>
                  <a:tcPr marL="91440" marR="91440" marT="45720" marB="45720">
                    <a:solidFill>
                      <a:srgbClr val="F0F5F6"/>
                    </a:solidFill>
                  </a:tcPr>
                </a:tc>
                <a:tc>
                  <a:txBody>
                    <a:bodyPr/>
                    <a:lstStyle/>
                    <a:p>
                      <a:r>
                        <a:rPr sz="1425" b="0">
                          <a:solidFill>
                            <a:srgbClr val="172D3C"/>
                          </a:solidFill>
                          <a:latin typeface="Arial"/>
                          <a:ea typeface="Arial"/>
                          <a:cs typeface="Arial"/>
                        </a:rPr>
                        <a:t>100%</a:t>
                      </a:r>
                    </a:p>
                  </a:txBody>
                  <a:tcPr marL="91440" marR="91440" marT="45720" marB="45720">
                    <a:solidFill>
                      <a:srgbClr val="F0F5F6"/>
                    </a:solidFill>
                  </a:tcPr>
                </a:tc>
                <a:tc>
                  <a:txBody>
                    <a:bodyPr/>
                    <a:lstStyle/>
                    <a:p>
                      <a:r>
                        <a:rPr sz="1425" b="0">
                          <a:solidFill>
                            <a:srgbClr val="172D3C"/>
                          </a:solidFill>
                          <a:latin typeface="Arial"/>
                          <a:ea typeface="Arial"/>
                          <a:cs typeface="Arial"/>
                        </a:rPr>
                        <a:t>76%</a:t>
                      </a:r>
                    </a:p>
                  </a:txBody>
                  <a:tcPr marL="91440" marR="91440" marT="45720" marB="45720">
                    <a:solidFill>
                      <a:srgbClr val="F0F5F6"/>
                    </a:solidFill>
                  </a:tcPr>
                </a:tc>
                <a:tc>
                  <a:txBody>
                    <a:bodyPr/>
                    <a:lstStyle/>
                    <a:p>
                      <a:r>
                        <a:rPr sz="1425" b="0">
                          <a:solidFill>
                            <a:srgbClr val="172D3C"/>
                          </a:solidFill>
                          <a:latin typeface="Arial"/>
                          <a:ea typeface="Arial"/>
                          <a:cs typeface="Arial"/>
                        </a:rPr>
                        <a:t>70%</a:t>
                      </a:r>
                    </a:p>
                  </a:txBody>
                  <a:tcPr marL="91440" marR="91440" marT="45720" marB="45720">
                    <a:solidFill>
                      <a:srgbClr val="F0F5F6"/>
                    </a:solidFill>
                  </a:tcPr>
                </a:tc>
                <a:tc>
                  <a:txBody>
                    <a:bodyPr/>
                    <a:lstStyle/>
                    <a:p>
                      <a:r>
                        <a:rPr sz="1425" b="0">
                          <a:solidFill>
                            <a:srgbClr val="172D3C"/>
                          </a:solidFill>
                          <a:latin typeface="Arial"/>
                          <a:ea typeface="Arial"/>
                          <a:cs typeface="Arial"/>
                        </a:rPr>
                        <a:t>64%</a:t>
                      </a:r>
                    </a:p>
                  </a:txBody>
                  <a:tcPr marL="91440" marR="91440" marT="45720" marB="45720">
                    <a:solidFill>
                      <a:srgbClr val="F0F5F6"/>
                    </a:solidFill>
                  </a:tcPr>
                </a:tc>
                <a:tc>
                  <a:txBody>
                    <a:bodyPr/>
                    <a:lstStyle/>
                    <a:p>
                      <a:r>
                        <a:rPr sz="1425" b="0">
                          <a:solidFill>
                            <a:srgbClr val="172D3C"/>
                          </a:solidFill>
                          <a:latin typeface="Arial"/>
                          <a:ea typeface="Arial"/>
                          <a:cs typeface="Arial"/>
                        </a:rPr>
                        <a:t>60%</a:t>
                      </a:r>
                    </a:p>
                  </a:txBody>
                  <a:tcPr marL="91440" marR="91440" marT="45720" marB="45720">
                    <a:solidFill>
                      <a:srgbClr val="F0F5F6"/>
                    </a:solidFill>
                  </a:tcPr>
                </a:tc>
                <a:tc>
                  <a:txBody>
                    <a:bodyPr/>
                    <a:lstStyle/>
                    <a:p>
                      <a:r>
                        <a:rPr sz="1425" b="0">
                          <a:solidFill>
                            <a:srgbClr val="172D3C"/>
                          </a:solidFill>
                          <a:latin typeface="Arial"/>
                          <a:ea typeface="Arial"/>
                          <a:cs typeface="Arial"/>
                        </a:rPr>
                        <a:t>55%</a:t>
                      </a:r>
                    </a:p>
                  </a:txBody>
                  <a:tcPr marL="91440" marR="91440" marT="45720" marB="45720">
                    <a:solidFill>
                      <a:srgbClr val="F0F5F6"/>
                    </a:solidFill>
                  </a:tcPr>
                </a:tc>
              </a:tr>
              <a:tr h="495300">
                <a:tc>
                  <a:txBody>
                    <a:bodyPr/>
                    <a:lstStyle/>
                    <a:p>
                      <a:r>
                        <a:rPr sz="1425" b="0">
                          <a:solidFill>
                            <a:srgbClr val="172D3C"/>
                          </a:solidFill>
                          <a:latin typeface="Arial"/>
                          <a:ea typeface="Arial"/>
                          <a:cs typeface="Arial"/>
                        </a:rPr>
                        <a:t>2024-10</a:t>
                      </a:r>
                    </a:p>
                  </a:txBody>
                  <a:tcPr marL="91440" marR="91440" marT="45720" marB="45720">
                    <a:solidFill>
                      <a:srgbClr val="FFFFFF"/>
                    </a:solidFill>
                  </a:tcPr>
                </a:tc>
                <a:tc>
                  <a:txBody>
                    <a:bodyPr/>
                    <a:lstStyle/>
                    <a:p>
                      <a:r>
                        <a:rPr sz="1425" b="0">
                          <a:solidFill>
                            <a:srgbClr val="172D3C"/>
                          </a:solidFill>
                          <a:latin typeface="Arial"/>
                          <a:ea typeface="Arial"/>
                          <a:cs typeface="Arial"/>
                        </a:rPr>
                        <a:t>100%</a:t>
                      </a:r>
                    </a:p>
                  </a:txBody>
                  <a:tcPr marL="91440" marR="91440" marT="45720" marB="45720">
                    <a:solidFill>
                      <a:srgbClr val="FFFFFF"/>
                    </a:solidFill>
                  </a:tcPr>
                </a:tc>
                <a:tc>
                  <a:txBody>
                    <a:bodyPr/>
                    <a:lstStyle/>
                    <a:p>
                      <a:r>
                        <a:rPr sz="1425" b="0">
                          <a:solidFill>
                            <a:srgbClr val="172D3C"/>
                          </a:solidFill>
                          <a:latin typeface="Arial"/>
                          <a:ea typeface="Arial"/>
                          <a:cs typeface="Arial"/>
                        </a:rPr>
                        <a:t>82%</a:t>
                      </a:r>
                    </a:p>
                  </a:txBody>
                  <a:tcPr marL="91440" marR="91440" marT="45720" marB="45720">
                    <a:solidFill>
                      <a:srgbClr val="FFFFFF"/>
                    </a:solidFill>
                  </a:tcPr>
                </a:tc>
                <a:tc>
                  <a:txBody>
                    <a:bodyPr/>
                    <a:lstStyle/>
                    <a:p>
                      <a:r>
                        <a:rPr sz="1425" b="0">
                          <a:solidFill>
                            <a:srgbClr val="172D3C"/>
                          </a:solidFill>
                          <a:latin typeface="Arial"/>
                          <a:ea typeface="Arial"/>
                          <a:cs typeface="Arial"/>
                        </a:rPr>
                        <a:t>74%</a:t>
                      </a:r>
                    </a:p>
                  </a:txBody>
                  <a:tcPr marL="91440" marR="91440" marT="45720" marB="45720">
                    <a:solidFill>
                      <a:srgbClr val="FFFFFF"/>
                    </a:solidFill>
                  </a:tcPr>
                </a:tc>
                <a:tc>
                  <a:txBody>
                    <a:bodyPr/>
                    <a:lstStyle/>
                    <a:p>
                      <a:r>
                        <a:rPr sz="1425" b="0">
                          <a:solidFill>
                            <a:srgbClr val="172D3C"/>
                          </a:solidFill>
                          <a:latin typeface="Arial"/>
                          <a:ea typeface="Arial"/>
                          <a:cs typeface="Arial"/>
                        </a:rPr>
                        <a:t>71%</a:t>
                      </a:r>
                    </a:p>
                  </a:txBody>
                  <a:tcPr marL="91440" marR="91440" marT="45720" marB="45720">
                    <a:solidFill>
                      <a:srgbClr val="FFFFFF"/>
                    </a:solidFill>
                  </a:tcPr>
                </a:tc>
                <a:tc>
                  <a:txBody>
                    <a:bodyPr/>
                    <a:lstStyle/>
                    <a:p>
                      <a:r>
                        <a:rPr sz="1425" b="0">
                          <a:solidFill>
                            <a:srgbClr val="172D3C"/>
                          </a:solidFill>
                          <a:latin typeface="Arial"/>
                          <a:ea typeface="Arial"/>
                          <a:cs typeface="Arial"/>
                        </a:rPr>
                        <a:t>70%</a:t>
                      </a:r>
                    </a:p>
                  </a:txBody>
                  <a:tcPr marL="91440" marR="91440" marT="45720" marB="45720">
                    <a:solidFill>
                      <a:srgbClr val="FFFFFF"/>
                    </a:solidFill>
                  </a:tcPr>
                </a:tc>
                <a:tc>
                  <a:txBody>
                    <a:bodyPr/>
                    <a:lstStyle/>
                    <a:p>
                      <a:r>
                        <a:rPr sz="1425" b="0">
                          <a:solidFill>
                            <a:srgbClr val="172D3C"/>
                          </a:solidFill>
                          <a:latin typeface="Arial"/>
                          <a:ea typeface="Arial"/>
                          <a:cs typeface="Arial"/>
                        </a:rPr>
                        <a:t>67%</a:t>
                      </a:r>
                    </a:p>
                  </a:txBody>
                  <a:tcPr marL="91440" marR="91440" marT="45720" marB="45720">
                    <a:solidFill>
                      <a:srgbClr val="FFFFFF"/>
                    </a:solidFill>
                  </a:tcPr>
                </a:tc>
              </a:tr>
              <a:tr h="495300">
                <a:tc>
                  <a:txBody>
                    <a:bodyPr/>
                    <a:lstStyle/>
                    <a:p>
                      <a:r>
                        <a:rPr sz="1425" b="0">
                          <a:solidFill>
                            <a:srgbClr val="172D3C"/>
                          </a:solidFill>
                          <a:latin typeface="Arial"/>
                          <a:ea typeface="Arial"/>
                          <a:cs typeface="Arial"/>
                        </a:rPr>
                        <a:t>2025-07</a:t>
                      </a:r>
                    </a:p>
                  </a:txBody>
                  <a:tcPr marL="91440" marR="91440" marT="45720" marB="45720">
                    <a:solidFill>
                      <a:srgbClr val="F0F5F6"/>
                    </a:solidFill>
                  </a:tcPr>
                </a:tc>
                <a:tc>
                  <a:txBody>
                    <a:bodyPr/>
                    <a:lstStyle/>
                    <a:p>
                      <a:r>
                        <a:rPr sz="1425" b="0">
                          <a:solidFill>
                            <a:srgbClr val="172D3C"/>
                          </a:solidFill>
                          <a:latin typeface="Arial"/>
                          <a:ea typeface="Arial"/>
                          <a:cs typeface="Arial"/>
                        </a:rPr>
                        <a:t>100%</a:t>
                      </a:r>
                    </a:p>
                  </a:txBody>
                  <a:tcPr marL="91440" marR="91440" marT="45720" marB="45720">
                    <a:solidFill>
                      <a:srgbClr val="F0F5F6"/>
                    </a:solidFill>
                  </a:tcPr>
                </a:tc>
                <a:tc>
                  <a:txBody>
                    <a:bodyPr/>
                    <a:lstStyle/>
                    <a:p>
                      <a:r>
                        <a:rPr sz="1425" b="0">
                          <a:solidFill>
                            <a:srgbClr val="172D3C"/>
                          </a:solidFill>
                          <a:latin typeface="Arial"/>
                          <a:ea typeface="Arial"/>
                          <a:cs typeface="Arial"/>
                        </a:rPr>
                        <a:t>83%</a:t>
                      </a:r>
                    </a:p>
                  </a:txBody>
                  <a:tcPr marL="91440" marR="91440" marT="45720" marB="45720">
                    <a:solidFill>
                      <a:srgbClr val="F0F5F6"/>
                    </a:solidFill>
                  </a:tcPr>
                </a:tc>
                <a:tc>
                  <a:txBody>
                    <a:bodyPr/>
                    <a:lstStyle/>
                    <a:p>
                      <a:r>
                        <a:rPr sz="1425" b="0">
                          <a:solidFill>
                            <a:srgbClr val="172D3C"/>
                          </a:solidFill>
                          <a:latin typeface="Arial"/>
                          <a:ea typeface="Arial"/>
                          <a:cs typeface="Arial"/>
                        </a:rPr>
                        <a:t>78%</a:t>
                      </a:r>
                    </a:p>
                  </a:txBody>
                  <a:tcPr marL="91440" marR="91440" marT="45720" marB="45720">
                    <a:solidFill>
                      <a:srgbClr val="F0F5F6"/>
                    </a:solidFill>
                  </a:tcPr>
                </a:tc>
                <a:tc>
                  <a:txBody>
                    <a:bodyPr/>
                    <a:lstStyle/>
                    <a:p>
                      <a:r>
                        <a:rPr sz="1425" b="0">
                          <a:solidFill>
                            <a:srgbClr val="172D3C"/>
                          </a:solidFill>
                          <a:latin typeface="Arial"/>
                          <a:ea typeface="Arial"/>
                          <a:cs typeface="Arial"/>
                        </a:rPr>
                        <a:t>75%</a:t>
                      </a:r>
                    </a:p>
                  </a:txBody>
                  <a:tcPr marL="91440" marR="91440" marT="45720" marB="45720">
                    <a:solidFill>
                      <a:srgbClr val="F0F5F6"/>
                    </a:solidFill>
                  </a:tcPr>
                </a:tc>
                <a:tc>
                  <a:txBody>
                    <a:bodyPr/>
                    <a:lstStyle/>
                    <a:p>
                      <a:r>
                        <a:rPr sz="1425" b="0">
                          <a:solidFill>
                            <a:srgbClr val="172D3C"/>
                          </a:solidFill>
                          <a:latin typeface="Arial"/>
                          <a:ea typeface="Arial"/>
                          <a:cs typeface="Arial"/>
                        </a:rPr>
                        <a:t>71%</a:t>
                      </a:r>
                    </a:p>
                  </a:txBody>
                  <a:tcPr marL="91440" marR="91440" marT="45720" marB="45720">
                    <a:solidFill>
                      <a:srgbClr val="F0F5F6"/>
                    </a:solidFill>
                  </a:tcPr>
                </a:tc>
                <a:tc>
                  <a:txBody>
                    <a:bodyPr/>
                    <a:lstStyle/>
                    <a:p>
                      <a:r>
                        <a:rPr sz="1425" b="0">
                          <a:solidFill>
                            <a:srgbClr val="172D3C"/>
                          </a:solidFill>
                          <a:latin typeface="Arial"/>
                          <a:ea typeface="Arial"/>
                          <a:cs typeface="Arial"/>
                        </a:rPr>
                        <a:t>69%</a:t>
                      </a:r>
                    </a:p>
                  </a:txBody>
                  <a:tcPr marL="91440" marR="91440" marT="45720" marB="45720">
                    <a:solidFill>
                      <a:srgbClr val="F0F5F6"/>
                    </a:solidFill>
                  </a:tcPr>
                </a:tc>
              </a:tr>
              <a:tr h="495300">
                <a:tc>
                  <a:txBody>
                    <a:bodyPr/>
                    <a:lstStyle/>
                    <a:p>
                      <a:r>
                        <a:rPr sz="1425" b="0">
                          <a:solidFill>
                            <a:srgbClr val="172D3C"/>
                          </a:solidFill>
                          <a:latin typeface="Arial"/>
                          <a:ea typeface="Arial"/>
                          <a:cs typeface="Arial"/>
                        </a:rPr>
                        <a:t>2025-12</a:t>
                      </a:r>
                    </a:p>
                  </a:txBody>
                  <a:tcPr marL="91440" marR="91440" marT="45720" marB="45720">
                    <a:solidFill>
                      <a:srgbClr val="FFFFFF"/>
                    </a:solidFill>
                  </a:tcPr>
                </a:tc>
                <a:tc>
                  <a:txBody>
                    <a:bodyPr/>
                    <a:lstStyle/>
                    <a:p>
                      <a:r>
                        <a:rPr sz="1425" b="0">
                          <a:solidFill>
                            <a:srgbClr val="172D3C"/>
                          </a:solidFill>
                          <a:latin typeface="Arial"/>
                          <a:ea typeface="Arial"/>
                          <a:cs typeface="Arial"/>
                        </a:rPr>
                        <a:t>100%</a:t>
                      </a:r>
                    </a:p>
                  </a:txBody>
                  <a:tcPr marL="91440" marR="91440" marT="45720" marB="45720">
                    <a:solidFill>
                      <a:srgbClr val="FFFFFF"/>
                    </a:solidFill>
                  </a:tcPr>
                </a:tc>
                <a:tc>
                  <a:txBody>
                    <a:bodyPr/>
                    <a:lstStyle/>
                    <a:p>
                      <a:r>
                        <a:rPr sz="1425" b="0">
                          <a:solidFill>
                            <a:srgbClr val="172D3C"/>
                          </a:solidFill>
                          <a:latin typeface="Arial"/>
                          <a:ea typeface="Arial"/>
                          <a:cs typeface="Arial"/>
                        </a:rPr>
                        <a:t>—</a:t>
                      </a:r>
                    </a:p>
                  </a:txBody>
                  <a:tcPr marL="91440" marR="91440" marT="45720" marB="45720">
                    <a:solidFill>
                      <a:srgbClr val="FFFFFF"/>
                    </a:solidFill>
                  </a:tcPr>
                </a:tc>
                <a:tc>
                  <a:txBody>
                    <a:bodyPr/>
                    <a:lstStyle/>
                    <a:p>
                      <a:r>
                        <a:rPr sz="1425" b="0">
                          <a:solidFill>
                            <a:srgbClr val="172D3C"/>
                          </a:solidFill>
                          <a:latin typeface="Arial"/>
                          <a:ea typeface="Arial"/>
                          <a:cs typeface="Arial"/>
                        </a:rPr>
                        <a:t>—</a:t>
                      </a:r>
                    </a:p>
                  </a:txBody>
                  <a:tcPr marL="91440" marR="91440" marT="45720" marB="45720">
                    <a:solidFill>
                      <a:srgbClr val="FFFFFF"/>
                    </a:solidFill>
                  </a:tcPr>
                </a:tc>
                <a:tc>
                  <a:txBody>
                    <a:bodyPr/>
                    <a:lstStyle/>
                    <a:p>
                      <a:r>
                        <a:rPr sz="1425" b="0">
                          <a:solidFill>
                            <a:srgbClr val="172D3C"/>
                          </a:solidFill>
                          <a:latin typeface="Arial"/>
                          <a:ea typeface="Arial"/>
                          <a:cs typeface="Arial"/>
                        </a:rPr>
                        <a:t>—</a:t>
                      </a:r>
                    </a:p>
                  </a:txBody>
                  <a:tcPr marL="91440" marR="91440" marT="45720" marB="45720">
                    <a:solidFill>
                      <a:srgbClr val="FFFFFF"/>
                    </a:solidFill>
                  </a:tcPr>
                </a:tc>
                <a:tc>
                  <a:txBody>
                    <a:bodyPr/>
                    <a:lstStyle/>
                    <a:p>
                      <a:r>
                        <a:rPr sz="1425" b="0">
                          <a:solidFill>
                            <a:srgbClr val="172D3C"/>
                          </a:solidFill>
                          <a:latin typeface="Arial"/>
                          <a:ea typeface="Arial"/>
                          <a:cs typeface="Arial"/>
                        </a:rPr>
                        <a:t>—</a:t>
                      </a:r>
                    </a:p>
                  </a:txBody>
                  <a:tcPr marL="91440" marR="91440" marT="45720" marB="45720">
                    <a:solidFill>
                      <a:srgbClr val="FFFFFF"/>
                    </a:solidFill>
                  </a:tcPr>
                </a:tc>
                <a:tc>
                  <a:txBody>
                    <a:bodyPr/>
                    <a:lstStyle/>
                    <a:p>
                      <a:r>
                        <a:rPr sz="1425" b="0">
                          <a:solidFill>
                            <a:srgbClr val="172D3C"/>
                          </a:solidFill>
                          <a:latin typeface="Arial"/>
                          <a:ea typeface="Arial"/>
                          <a:cs typeface="Arial"/>
                        </a:rPr>
                        <a:t>—</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6824528F-D737-4640-A1DA-4D1719E54CE6}"/>
              </a:ext>
            </a:extLst>
          </p:cNvPr>
          <p:cNvSpPr>
            <a:spLocks xmlns:a="http://schemas.openxmlformats.org/drawingml/2006/main" noGrp="1"/>
          </p:cNvSpPr>
          <p:nvPr/>
        </p:nvSpPr>
        <p:spPr>
          <a:xfrm xmlns:a="http://schemas.openxmlformats.org/drawingml/2006/main">
            <a:off x="609600" y="4467225"/>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950" b="0">
                <a:solidFill>
                  <a:srgbClr val="172D3C"/>
                </a:solidFill>
                <a:latin typeface="Arial"/>
                <a:ea typeface="Arial"/>
                <a:cs typeface="Arial"/>
              </a:defRPr>
            </a:defPPr>
            <a:lvl1pPr>
              <a:defRPr sz="1950" b="0">
                <a:solidFill>
                  <a:srgbClr val="172D3C"/>
                </a:solidFill>
                <a:latin typeface="Arial"/>
                <a:ea typeface="Arial"/>
                <a:cs typeface="Arial"/>
              </a:defRPr>
            </a:lvl1pPr>
            <a:lvl2pPr>
              <a:defRPr sz="1950" b="0">
                <a:solidFill>
                  <a:srgbClr val="172D3C"/>
                </a:solidFill>
                <a:latin typeface="Arial"/>
                <a:ea typeface="Arial"/>
                <a:cs typeface="Arial"/>
              </a:defRPr>
            </a:lvl2pPr>
            <a:lvl3pPr>
              <a:defRPr sz="1950" b="0">
                <a:solidFill>
                  <a:srgbClr val="172D3C"/>
                </a:solidFill>
                <a:latin typeface="Arial"/>
                <a:ea typeface="Arial"/>
                <a:cs typeface="Arial"/>
              </a:defRPr>
            </a:lvl3pPr>
            <a:lvl4pPr>
              <a:defRPr sz="1950" b="0">
                <a:solidFill>
                  <a:srgbClr val="172D3C"/>
                </a:solidFill>
                <a:latin typeface="Arial"/>
                <a:ea typeface="Arial"/>
                <a:cs typeface="Arial"/>
              </a:defRPr>
            </a:lvl4pPr>
            <a:lvl5pPr>
              <a:defRPr sz="1950" b="0">
                <a:solidFill>
                  <a:srgbClr val="172D3C"/>
                </a:solidFill>
                <a:latin typeface="Arial"/>
                <a:ea typeface="Arial"/>
                <a:cs typeface="Arial"/>
              </a:defRPr>
            </a:lvl5pPr>
            <a:lvl6pPr>
              <a:defRPr sz="1950" b="0">
                <a:solidFill>
                  <a:srgbClr val="172D3C"/>
                </a:solidFill>
                <a:latin typeface="Arial"/>
                <a:ea typeface="Arial"/>
                <a:cs typeface="Arial"/>
              </a:defRPr>
            </a:lvl6pPr>
            <a:lvl7pPr>
              <a:defRPr sz="1950" b="0">
                <a:solidFill>
                  <a:srgbClr val="172D3C"/>
                </a:solidFill>
                <a:latin typeface="Arial"/>
                <a:ea typeface="Arial"/>
                <a:cs typeface="Arial"/>
              </a:defRPr>
            </a:lvl7pPr>
            <a:lvl8pPr>
              <a:defRPr sz="1950" b="0">
                <a:solidFill>
                  <a:srgbClr val="172D3C"/>
                </a:solidFill>
                <a:latin typeface="Arial"/>
                <a:ea typeface="Arial"/>
                <a:cs typeface="Arial"/>
              </a:defRPr>
            </a:lvl8pPr>
            <a:lvl9pPr>
              <a:defRPr sz="1950" b="0">
                <a:solidFill>
                  <a:srgbClr val="172D3C"/>
                </a:solidFill>
                <a:latin typeface="Arial"/>
                <a:ea typeface="Arial"/>
                <a:cs typeface="Arial"/>
              </a:defRPr>
            </a:lvl9pPr>
          </a:lstStyle>
          <a:p xmlns:a="http://schemas.openxmlformats.org/drawingml/2006/main">
            <a:pPr>
              <a:defRPr sz="1950" b="0">
                <a:solidFill>
                  <a:srgbClr val="172D3C"/>
                </a:solidFill>
                <a:latin typeface="Arial"/>
                <a:ea typeface="Arial"/>
                <a:cs typeface="Arial"/>
              </a:defRPr>
            </a:pPr>
            <a:r>
              <a:rPr sz="1950" b="0">
                <a:solidFill>
                  <a:srgbClr val="172D3C"/>
                </a:solidFill>
                <a:latin typeface="Arial"/>
                <a:ea typeface="Arial"/>
                <a:cs typeface="Arial"/>
              </a:rPr>
              <a:t>Across: follow one joining cohort. Down: compare different cohorts at the same customer age.</a:t>
            </a:r>
          </a:p>
        </p:txBody>
      </p:sp>
      <p:sp>
        <p:nvSpPr>
          <p:cNvPr id="7" name="">
            <a:extLst xmlns:a="http://schemas.openxmlformats.org/drawingml/2006/main">
              <a:ext uri="{FF2B5EF4-FFF2-40B4-BE49-F238E27FC236}">
                <a16:creationId xmlns:a16="http://schemas.microsoft.com/office/drawing/2014/main" id="{A17412D7-1FBB-4468-A869-5F999E96CF8E}"/>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EF21985-05C4-4A5F-B561-3A7C22316BF8}"/>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A blank is not zero. The newest cohort has not had time to reach later ages.</a:t>
            </a:r>
          </a:p>
        </p:txBody>
      </p:sp>
    </p:spTree>
    <p:extLst>
      <p:ext uri="{BB962C8B-B14F-4D97-AF65-F5344CB8AC3E}">
        <p14:creationId xmlns:p14="http://schemas.microsoft.com/office/powerpoint/2010/main" val="34938308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07052FE-5851-4936-B1F0-652C7C6BAEF9}"/>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BB6427"/>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54D387D-1AC5-4DB4-95F6-5E23E2714EFF}"/>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Group decision 2: is improvement visible within groups?</a:t>
            </a:r>
          </a:p>
        </p:txBody>
      </p:sp>
      <p:sp>
        <p:nvSpPr>
          <p:cNvPr id="3" name="">
            <a:extLst xmlns:a="http://schemas.openxmlformats.org/drawingml/2006/main">
              <a:ext uri="{FF2B5EF4-FFF2-40B4-BE49-F238E27FC236}">
                <a16:creationId xmlns:a16="http://schemas.microsoft.com/office/drawing/2014/main" id="{FAC7FCB6-9846-457B-A681-7FC551649F37}"/>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BB6427"/>
                </a:solidFill>
                <a:latin typeface="Arial"/>
                <a:ea typeface="Arial"/>
                <a:cs typeface="Arial"/>
              </a:defRPr>
            </a:defPPr>
            <a:lvl1pPr>
              <a:defRPr sz="900" b="1">
                <a:solidFill>
                  <a:srgbClr val="BB6427"/>
                </a:solidFill>
                <a:latin typeface="Arial"/>
                <a:ea typeface="Arial"/>
                <a:cs typeface="Arial"/>
              </a:defRPr>
            </a:lvl1pPr>
            <a:lvl2pPr>
              <a:defRPr sz="900" b="1">
                <a:solidFill>
                  <a:srgbClr val="BB6427"/>
                </a:solidFill>
                <a:latin typeface="Arial"/>
                <a:ea typeface="Arial"/>
                <a:cs typeface="Arial"/>
              </a:defRPr>
            </a:lvl2pPr>
            <a:lvl3pPr>
              <a:defRPr sz="900" b="1">
                <a:solidFill>
                  <a:srgbClr val="BB6427"/>
                </a:solidFill>
                <a:latin typeface="Arial"/>
                <a:ea typeface="Arial"/>
                <a:cs typeface="Arial"/>
              </a:defRPr>
            </a:lvl3pPr>
            <a:lvl4pPr>
              <a:defRPr sz="900" b="1">
                <a:solidFill>
                  <a:srgbClr val="BB6427"/>
                </a:solidFill>
                <a:latin typeface="Arial"/>
                <a:ea typeface="Arial"/>
                <a:cs typeface="Arial"/>
              </a:defRPr>
            </a:lvl4pPr>
            <a:lvl5pPr>
              <a:defRPr sz="900" b="1">
                <a:solidFill>
                  <a:srgbClr val="BB6427"/>
                </a:solidFill>
                <a:latin typeface="Arial"/>
                <a:ea typeface="Arial"/>
                <a:cs typeface="Arial"/>
              </a:defRPr>
            </a:lvl5pPr>
            <a:lvl6pPr>
              <a:defRPr sz="900" b="1">
                <a:solidFill>
                  <a:srgbClr val="BB6427"/>
                </a:solidFill>
                <a:latin typeface="Arial"/>
                <a:ea typeface="Arial"/>
                <a:cs typeface="Arial"/>
              </a:defRPr>
            </a:lvl6pPr>
            <a:lvl7pPr>
              <a:defRPr sz="900" b="1">
                <a:solidFill>
                  <a:srgbClr val="BB6427"/>
                </a:solidFill>
                <a:latin typeface="Arial"/>
                <a:ea typeface="Arial"/>
                <a:cs typeface="Arial"/>
              </a:defRPr>
            </a:lvl7pPr>
            <a:lvl8pPr>
              <a:defRPr sz="900" b="1">
                <a:solidFill>
                  <a:srgbClr val="BB6427"/>
                </a:solidFill>
                <a:latin typeface="Arial"/>
                <a:ea typeface="Arial"/>
                <a:cs typeface="Arial"/>
              </a:defRPr>
            </a:lvl8pPr>
            <a:lvl9pPr>
              <a:defRPr sz="900" b="1">
                <a:solidFill>
                  <a:srgbClr val="BB6427"/>
                </a:solidFill>
                <a:latin typeface="Arial"/>
                <a:ea typeface="Arial"/>
                <a:cs typeface="Arial"/>
              </a:defRPr>
            </a:lvl9pPr>
          </a:lstStyle>
          <a:p xmlns:a="http://schemas.openxmlformats.org/drawingml/2006/main">
            <a:pPr>
              <a:defRPr sz="900" b="1">
                <a:solidFill>
                  <a:srgbClr val="BB6427"/>
                </a:solidFill>
                <a:latin typeface="Arial"/>
                <a:ea typeface="Arial"/>
                <a:cs typeface="Arial"/>
              </a:defRPr>
            </a:pPr>
            <a:r>
              <a:rPr sz="900" b="1">
                <a:solidFill>
                  <a:srgbClr val="BB6427"/>
                </a:solidFill>
                <a:latin typeface="Arial"/>
                <a:ea typeface="Arial"/>
                <a:cs typeface="Arial"/>
              </a:rPr>
              <a:t>GROUP DECISION</a:t>
            </a:r>
          </a:p>
        </p:txBody>
      </p:sp>
      <p:sp>
        <p:nvSpPr>
          <p:cNvPr id="4" name="">
            <a:extLst xmlns:a="http://schemas.openxmlformats.org/drawingml/2006/main">
              <a:ext uri="{FF2B5EF4-FFF2-40B4-BE49-F238E27FC236}">
                <a16:creationId xmlns:a16="http://schemas.microsoft.com/office/drawing/2014/main" id="{AE6140D8-EBF3-4C1F-AD8E-A95DCC619A62}"/>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8</a:t>
            </a:r>
          </a:p>
        </p:txBody>
      </p:sp>
      <p:sp>
        <p:nvSpPr>
          <p:cNvPr id="5" name="">
            <a:extLst xmlns:a="http://schemas.openxmlformats.org/drawingml/2006/main">
              <a:ext uri="{FF2B5EF4-FFF2-40B4-BE49-F238E27FC236}">
                <a16:creationId xmlns:a16="http://schemas.microsoft.com/office/drawing/2014/main" id="{8ED792AF-0599-4DFF-83D6-605083808F21}"/>
              </a:ext>
            </a:extLst>
          </p:cNvPr>
          <p:cNvSpPr>
            <a:spLocks xmlns:a="http://schemas.openxmlformats.org/drawingml/2006/main" noGrp="1"/>
          </p:cNvSpPr>
          <p:nvPr/>
        </p:nvSpPr>
        <p:spPr>
          <a:xfrm xmlns:a="http://schemas.openxmlformats.org/drawingml/2006/main">
            <a:off x="2381250" y="1438275"/>
            <a:ext cx="333375" cy="38100"/>
          </a:xfrm>
          <a:prstGeom xmlns:a="http://schemas.openxmlformats.org/drawingml/2006/main" prst="rect">
            <a:avLst/>
          </a:prstGeom>
          <a:solidFill xmlns:a="http://schemas.openxmlformats.org/drawingml/2006/main">
            <a:srgbClr val="68778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1E856C3-A9F8-43B3-8B3C-2934905B68D3}"/>
              </a:ext>
            </a:extLst>
          </p:cNvPr>
          <p:cNvSpPr>
            <a:spLocks xmlns:a="http://schemas.openxmlformats.org/drawingml/2006/main" noGrp="1"/>
          </p:cNvSpPr>
          <p:nvPr/>
        </p:nvSpPr>
        <p:spPr>
          <a:xfrm xmlns:a="http://schemas.openxmlformats.org/drawingml/2006/main">
            <a:off x="2800350" y="1304925"/>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425" b="1">
                <a:solidFill>
                  <a:srgbClr val="687780"/>
                </a:solidFill>
                <a:latin typeface="Arial"/>
                <a:ea typeface="Arial"/>
                <a:cs typeface="Arial"/>
              </a:defRPr>
            </a:defPPr>
            <a:lvl1pPr>
              <a:defRPr sz="1425" b="1">
                <a:solidFill>
                  <a:srgbClr val="687780"/>
                </a:solidFill>
                <a:latin typeface="Arial"/>
                <a:ea typeface="Arial"/>
                <a:cs typeface="Arial"/>
              </a:defRPr>
            </a:lvl1pPr>
            <a:lvl2pPr>
              <a:defRPr sz="1425" b="1">
                <a:solidFill>
                  <a:srgbClr val="687780"/>
                </a:solidFill>
                <a:latin typeface="Arial"/>
                <a:ea typeface="Arial"/>
                <a:cs typeface="Arial"/>
              </a:defRPr>
            </a:lvl2pPr>
            <a:lvl3pPr>
              <a:defRPr sz="1425" b="1">
                <a:solidFill>
                  <a:srgbClr val="687780"/>
                </a:solidFill>
                <a:latin typeface="Arial"/>
                <a:ea typeface="Arial"/>
                <a:cs typeface="Arial"/>
              </a:defRPr>
            </a:lvl3pPr>
            <a:lvl4pPr>
              <a:defRPr sz="1425" b="1">
                <a:solidFill>
                  <a:srgbClr val="687780"/>
                </a:solidFill>
                <a:latin typeface="Arial"/>
                <a:ea typeface="Arial"/>
                <a:cs typeface="Arial"/>
              </a:defRPr>
            </a:lvl4pPr>
            <a:lvl5pPr>
              <a:defRPr sz="1425" b="1">
                <a:solidFill>
                  <a:srgbClr val="687780"/>
                </a:solidFill>
                <a:latin typeface="Arial"/>
                <a:ea typeface="Arial"/>
                <a:cs typeface="Arial"/>
              </a:defRPr>
            </a:lvl5pPr>
            <a:lvl6pPr>
              <a:defRPr sz="1425" b="1">
                <a:solidFill>
                  <a:srgbClr val="687780"/>
                </a:solidFill>
                <a:latin typeface="Arial"/>
                <a:ea typeface="Arial"/>
                <a:cs typeface="Arial"/>
              </a:defRPr>
            </a:lvl6pPr>
            <a:lvl7pPr>
              <a:defRPr sz="1425" b="1">
                <a:solidFill>
                  <a:srgbClr val="687780"/>
                </a:solidFill>
                <a:latin typeface="Arial"/>
                <a:ea typeface="Arial"/>
                <a:cs typeface="Arial"/>
              </a:defRPr>
            </a:lvl7pPr>
            <a:lvl8pPr>
              <a:defRPr sz="1425" b="1">
                <a:solidFill>
                  <a:srgbClr val="687780"/>
                </a:solidFill>
                <a:latin typeface="Arial"/>
                <a:ea typeface="Arial"/>
                <a:cs typeface="Arial"/>
              </a:defRPr>
            </a:lvl8pPr>
            <a:lvl9pPr>
              <a:defRPr sz="1425" b="1">
                <a:solidFill>
                  <a:srgbClr val="687780"/>
                </a:solidFill>
                <a:latin typeface="Arial"/>
                <a:ea typeface="Arial"/>
                <a:cs typeface="Arial"/>
              </a:defRPr>
            </a:lvl9pPr>
          </a:lstStyle>
          <a:p xmlns:a="http://schemas.openxmlformats.org/drawingml/2006/main">
            <a:pPr>
              <a:defRPr sz="1425" b="1">
                <a:solidFill>
                  <a:srgbClr val="687780"/>
                </a:solidFill>
                <a:latin typeface="Arial"/>
                <a:ea typeface="Arial"/>
                <a:cs typeface="Arial"/>
              </a:defRPr>
            </a:pPr>
            <a:r>
              <a:rPr sz="1425" b="1">
                <a:solidFill>
                  <a:srgbClr val="687780"/>
                </a:solidFill>
                <a:latin typeface="Arial"/>
                <a:ea typeface="Arial"/>
                <a:cs typeface="Arial"/>
              </a:rPr>
              <a:t>2024-01</a:t>
            </a:r>
          </a:p>
        </p:txBody>
      </p:sp>
      <p:sp>
        <p:nvSpPr>
          <p:cNvPr id="7" name="">
            <a:extLst xmlns:a="http://schemas.openxmlformats.org/drawingml/2006/main">
              <a:ext uri="{FF2B5EF4-FFF2-40B4-BE49-F238E27FC236}">
                <a16:creationId xmlns:a16="http://schemas.microsoft.com/office/drawing/2014/main" id="{B697E1CF-3ECE-4525-997B-D97AA620847D}"/>
              </a:ext>
            </a:extLst>
          </p:cNvPr>
          <p:cNvSpPr>
            <a:spLocks xmlns:a="http://schemas.openxmlformats.org/drawingml/2006/main" noGrp="1"/>
          </p:cNvSpPr>
          <p:nvPr/>
        </p:nvSpPr>
        <p:spPr>
          <a:xfrm xmlns:a="http://schemas.openxmlformats.org/drawingml/2006/main">
            <a:off x="4953000" y="1438275"/>
            <a:ext cx="333375" cy="38100"/>
          </a:xfrm>
          <a:prstGeom xmlns:a="http://schemas.openxmlformats.org/drawingml/2006/main" prst="rect">
            <a:avLst/>
          </a:prstGeom>
          <a:solidFill xmlns:a="http://schemas.openxmlformats.org/drawingml/2006/main">
            <a:srgbClr val="B7843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87D6B2E-F88B-4550-846C-E5E7A4E86E18}"/>
              </a:ext>
            </a:extLst>
          </p:cNvPr>
          <p:cNvSpPr>
            <a:spLocks xmlns:a="http://schemas.openxmlformats.org/drawingml/2006/main" noGrp="1"/>
          </p:cNvSpPr>
          <p:nvPr/>
        </p:nvSpPr>
        <p:spPr>
          <a:xfrm xmlns:a="http://schemas.openxmlformats.org/drawingml/2006/main">
            <a:off x="5372100" y="1304925"/>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425" b="1">
                <a:solidFill>
                  <a:srgbClr val="B78431"/>
                </a:solidFill>
                <a:latin typeface="Arial"/>
                <a:ea typeface="Arial"/>
                <a:cs typeface="Arial"/>
              </a:defRPr>
            </a:defPPr>
            <a:lvl1pPr>
              <a:defRPr sz="1425" b="1">
                <a:solidFill>
                  <a:srgbClr val="B78431"/>
                </a:solidFill>
                <a:latin typeface="Arial"/>
                <a:ea typeface="Arial"/>
                <a:cs typeface="Arial"/>
              </a:defRPr>
            </a:lvl1pPr>
            <a:lvl2pPr>
              <a:defRPr sz="1425" b="1">
                <a:solidFill>
                  <a:srgbClr val="B78431"/>
                </a:solidFill>
                <a:latin typeface="Arial"/>
                <a:ea typeface="Arial"/>
                <a:cs typeface="Arial"/>
              </a:defRPr>
            </a:lvl2pPr>
            <a:lvl3pPr>
              <a:defRPr sz="1425" b="1">
                <a:solidFill>
                  <a:srgbClr val="B78431"/>
                </a:solidFill>
                <a:latin typeface="Arial"/>
                <a:ea typeface="Arial"/>
                <a:cs typeface="Arial"/>
              </a:defRPr>
            </a:lvl3pPr>
            <a:lvl4pPr>
              <a:defRPr sz="1425" b="1">
                <a:solidFill>
                  <a:srgbClr val="B78431"/>
                </a:solidFill>
                <a:latin typeface="Arial"/>
                <a:ea typeface="Arial"/>
                <a:cs typeface="Arial"/>
              </a:defRPr>
            </a:lvl4pPr>
            <a:lvl5pPr>
              <a:defRPr sz="1425" b="1">
                <a:solidFill>
                  <a:srgbClr val="B78431"/>
                </a:solidFill>
                <a:latin typeface="Arial"/>
                <a:ea typeface="Arial"/>
                <a:cs typeface="Arial"/>
              </a:defRPr>
            </a:lvl5pPr>
            <a:lvl6pPr>
              <a:defRPr sz="1425" b="1">
                <a:solidFill>
                  <a:srgbClr val="B78431"/>
                </a:solidFill>
                <a:latin typeface="Arial"/>
                <a:ea typeface="Arial"/>
                <a:cs typeface="Arial"/>
              </a:defRPr>
            </a:lvl6pPr>
            <a:lvl7pPr>
              <a:defRPr sz="1425" b="1">
                <a:solidFill>
                  <a:srgbClr val="B78431"/>
                </a:solidFill>
                <a:latin typeface="Arial"/>
                <a:ea typeface="Arial"/>
                <a:cs typeface="Arial"/>
              </a:defRPr>
            </a:lvl7pPr>
            <a:lvl8pPr>
              <a:defRPr sz="1425" b="1">
                <a:solidFill>
                  <a:srgbClr val="B78431"/>
                </a:solidFill>
                <a:latin typeface="Arial"/>
                <a:ea typeface="Arial"/>
                <a:cs typeface="Arial"/>
              </a:defRPr>
            </a:lvl8pPr>
            <a:lvl9pPr>
              <a:defRPr sz="1425" b="1">
                <a:solidFill>
                  <a:srgbClr val="B78431"/>
                </a:solidFill>
                <a:latin typeface="Arial"/>
                <a:ea typeface="Arial"/>
                <a:cs typeface="Arial"/>
              </a:defRPr>
            </a:lvl9pPr>
          </a:lstStyle>
          <a:p xmlns:a="http://schemas.openxmlformats.org/drawingml/2006/main">
            <a:pPr>
              <a:defRPr sz="1425" b="1">
                <a:solidFill>
                  <a:srgbClr val="B78431"/>
                </a:solidFill>
                <a:latin typeface="Arial"/>
                <a:ea typeface="Arial"/>
                <a:cs typeface="Arial"/>
              </a:defRPr>
            </a:pPr>
            <a:r>
              <a:rPr sz="1425" b="1">
                <a:solidFill>
                  <a:srgbClr val="B78431"/>
                </a:solidFill>
                <a:latin typeface="Arial"/>
                <a:ea typeface="Arial"/>
                <a:cs typeface="Arial"/>
              </a:rPr>
              <a:t>2025-01</a:t>
            </a:r>
          </a:p>
        </p:txBody>
      </p:sp>
      <p:sp>
        <p:nvSpPr>
          <p:cNvPr id="9" name="">
            <a:extLst xmlns:a="http://schemas.openxmlformats.org/drawingml/2006/main">
              <a:ext uri="{FF2B5EF4-FFF2-40B4-BE49-F238E27FC236}">
                <a16:creationId xmlns:a16="http://schemas.microsoft.com/office/drawing/2014/main" id="{430DF1F8-5CAF-4098-840C-8DAF2AF9A405}"/>
              </a:ext>
            </a:extLst>
          </p:cNvPr>
          <p:cNvSpPr>
            <a:spLocks xmlns:a="http://schemas.openxmlformats.org/drawingml/2006/main" noGrp="1"/>
          </p:cNvSpPr>
          <p:nvPr/>
        </p:nvSpPr>
        <p:spPr>
          <a:xfrm xmlns:a="http://schemas.openxmlformats.org/drawingml/2006/main">
            <a:off x="7524750" y="1438275"/>
            <a:ext cx="333375" cy="38100"/>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25C3A5B-778B-44AF-8AD3-13C882493F6E}"/>
              </a:ext>
            </a:extLst>
          </p:cNvPr>
          <p:cNvSpPr>
            <a:spLocks xmlns:a="http://schemas.openxmlformats.org/drawingml/2006/main" noGrp="1"/>
          </p:cNvSpPr>
          <p:nvPr/>
        </p:nvSpPr>
        <p:spPr>
          <a:xfrm xmlns:a="http://schemas.openxmlformats.org/drawingml/2006/main">
            <a:off x="7943850" y="1304925"/>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425" b="1">
                <a:solidFill>
                  <a:srgbClr val="087F8C"/>
                </a:solidFill>
                <a:latin typeface="Arial"/>
                <a:ea typeface="Arial"/>
                <a:cs typeface="Arial"/>
              </a:defRPr>
            </a:defPPr>
            <a:lvl1pPr>
              <a:defRPr sz="1425" b="1">
                <a:solidFill>
                  <a:srgbClr val="087F8C"/>
                </a:solidFill>
                <a:latin typeface="Arial"/>
                <a:ea typeface="Arial"/>
                <a:cs typeface="Arial"/>
              </a:defRPr>
            </a:lvl1pPr>
            <a:lvl2pPr>
              <a:defRPr sz="1425" b="1">
                <a:solidFill>
                  <a:srgbClr val="087F8C"/>
                </a:solidFill>
                <a:latin typeface="Arial"/>
                <a:ea typeface="Arial"/>
                <a:cs typeface="Arial"/>
              </a:defRPr>
            </a:lvl2pPr>
            <a:lvl3pPr>
              <a:defRPr sz="1425" b="1">
                <a:solidFill>
                  <a:srgbClr val="087F8C"/>
                </a:solidFill>
                <a:latin typeface="Arial"/>
                <a:ea typeface="Arial"/>
                <a:cs typeface="Arial"/>
              </a:defRPr>
            </a:lvl3pPr>
            <a:lvl4pPr>
              <a:defRPr sz="1425" b="1">
                <a:solidFill>
                  <a:srgbClr val="087F8C"/>
                </a:solidFill>
                <a:latin typeface="Arial"/>
                <a:ea typeface="Arial"/>
                <a:cs typeface="Arial"/>
              </a:defRPr>
            </a:lvl4pPr>
            <a:lvl5pPr>
              <a:defRPr sz="1425" b="1">
                <a:solidFill>
                  <a:srgbClr val="087F8C"/>
                </a:solidFill>
                <a:latin typeface="Arial"/>
                <a:ea typeface="Arial"/>
                <a:cs typeface="Arial"/>
              </a:defRPr>
            </a:lvl5pPr>
            <a:lvl6pPr>
              <a:defRPr sz="1425" b="1">
                <a:solidFill>
                  <a:srgbClr val="087F8C"/>
                </a:solidFill>
                <a:latin typeface="Arial"/>
                <a:ea typeface="Arial"/>
                <a:cs typeface="Arial"/>
              </a:defRPr>
            </a:lvl6pPr>
            <a:lvl7pPr>
              <a:defRPr sz="1425" b="1">
                <a:solidFill>
                  <a:srgbClr val="087F8C"/>
                </a:solidFill>
                <a:latin typeface="Arial"/>
                <a:ea typeface="Arial"/>
                <a:cs typeface="Arial"/>
              </a:defRPr>
            </a:lvl7pPr>
            <a:lvl8pPr>
              <a:defRPr sz="1425" b="1">
                <a:solidFill>
                  <a:srgbClr val="087F8C"/>
                </a:solidFill>
                <a:latin typeface="Arial"/>
                <a:ea typeface="Arial"/>
                <a:cs typeface="Arial"/>
              </a:defRPr>
            </a:lvl8pPr>
            <a:lvl9pPr>
              <a:defRPr sz="1425" b="1">
                <a:solidFill>
                  <a:srgbClr val="087F8C"/>
                </a:solidFill>
                <a:latin typeface="Arial"/>
                <a:ea typeface="Arial"/>
                <a:cs typeface="Arial"/>
              </a:defRPr>
            </a:lvl9pPr>
          </a:lstStyle>
          <a:p xmlns:a="http://schemas.openxmlformats.org/drawingml/2006/main">
            <a:pPr>
              <a:defRPr sz="1425" b="1">
                <a:solidFill>
                  <a:srgbClr val="087F8C"/>
                </a:solidFill>
                <a:latin typeface="Arial"/>
                <a:ea typeface="Arial"/>
                <a:cs typeface="Arial"/>
              </a:defRPr>
            </a:pPr>
            <a:r>
              <a:rPr sz="1425" b="1">
                <a:solidFill>
                  <a:srgbClr val="087F8C"/>
                </a:solidFill>
                <a:latin typeface="Arial"/>
                <a:ea typeface="Arial"/>
                <a:cs typeface="Arial"/>
              </a:rPr>
              <a:t>2025-07</a:t>
            </a:r>
          </a:p>
        </p:txBody>
      </p:sp>
      <p:graphicFrame>
        <p:nvGraphicFramePr>
          <p:cNvPr id="11" name="Chart">
            <a:extLst xmlns:a="http://schemas.openxmlformats.org/drawingml/2006/main">
              <a:ext uri="{FF2B5EF4-FFF2-40B4-BE49-F238E27FC236}">
                <a16:creationId xmlns:a16="http://schemas.microsoft.com/office/drawing/2014/main" id="{54D9C900-2489-42BB-BCAC-64F125040FF5}"/>
              </a:ext>
            </a:extLst>
          </p:cNvPr>
          <p:cNvGraphicFramePr/>
          <p:nvPr/>
        </p:nvGraphicFramePr>
        <p:xfrm>
          <a:off xmlns:a="http://schemas.openxmlformats.org/drawingml/2006/main" x="609600" y="1685925"/>
          <a:ext xmlns:a="http://schemas.openxmlformats.org/drawingml/2006/main" cx="5353050" cy="1790700"/>
        </p:xfrm>
        <a:graphic xmlns:a="http://schemas.openxmlformats.org/drawingml/2006/main">
          <a:graphicData uri="http://schemas.openxmlformats.org/drawingml/2006/chart">
            <c:chart xmlns:r="http://schemas.openxmlformats.org/officeDocument/2006/relationships" xmlns:c="http://schemas.openxmlformats.org/drawingml/2006/chart" r:id="Rf39151a1b3d64592"/>
          </a:graphicData>
        </a:graphic>
      </p:graphicFrame>
      <p:graphicFrame>
        <p:nvGraphicFramePr>
          <p:cNvPr id="12" name="Chart">
            <a:extLst xmlns:a="http://schemas.openxmlformats.org/drawingml/2006/main">
              <a:ext uri="{FF2B5EF4-FFF2-40B4-BE49-F238E27FC236}">
                <a16:creationId xmlns:a16="http://schemas.microsoft.com/office/drawing/2014/main" id="{EE12E31D-4BDF-4D7E-A483-79074497EC53}"/>
              </a:ext>
            </a:extLst>
          </p:cNvPr>
          <p:cNvGraphicFramePr/>
          <p:nvPr/>
        </p:nvGraphicFramePr>
        <p:xfrm>
          <a:off xmlns:a="http://schemas.openxmlformats.org/drawingml/2006/main" x="6229350" y="1685925"/>
          <a:ext xmlns:a="http://schemas.openxmlformats.org/drawingml/2006/main" cx="5353050" cy="1790700"/>
        </p:xfrm>
        <a:graphic xmlns:a="http://schemas.openxmlformats.org/drawingml/2006/main">
          <a:graphicData uri="http://schemas.openxmlformats.org/drawingml/2006/chart">
            <c:chart xmlns:r="http://schemas.openxmlformats.org/officeDocument/2006/relationships" xmlns:c="http://schemas.openxmlformats.org/drawingml/2006/chart" r:id="Rc6de1baec5dc4143"/>
          </a:graphicData>
        </a:graphic>
      </p:graphicFrame>
      <p:graphicFrame>
        <p:nvGraphicFramePr>
          <p:cNvPr id="13" name="Chart">
            <a:extLst xmlns:a="http://schemas.openxmlformats.org/drawingml/2006/main">
              <a:ext uri="{FF2B5EF4-FFF2-40B4-BE49-F238E27FC236}">
                <a16:creationId xmlns:a16="http://schemas.microsoft.com/office/drawing/2014/main" id="{E53796C9-FF45-4BD1-9569-D0E6AAE43D1D}"/>
              </a:ext>
            </a:extLst>
          </p:cNvPr>
          <p:cNvGraphicFramePr/>
          <p:nvPr/>
        </p:nvGraphicFramePr>
        <p:xfrm>
          <a:off xmlns:a="http://schemas.openxmlformats.org/drawingml/2006/main" x="609600" y="3533775"/>
          <a:ext xmlns:a="http://schemas.openxmlformats.org/drawingml/2006/main" cx="5353050" cy="1790700"/>
        </p:xfrm>
        <a:graphic xmlns:a="http://schemas.openxmlformats.org/drawingml/2006/main">
          <a:graphicData uri="http://schemas.openxmlformats.org/drawingml/2006/chart">
            <c:chart xmlns:r="http://schemas.openxmlformats.org/officeDocument/2006/relationships" xmlns:c="http://schemas.openxmlformats.org/drawingml/2006/chart" r:id="Rb42be948e9704b7d"/>
          </a:graphicData>
        </a:graphic>
      </p:graphicFrame>
      <p:graphicFrame>
        <p:nvGraphicFramePr>
          <p:cNvPr id="14" name="Chart">
            <a:extLst xmlns:a="http://schemas.openxmlformats.org/drawingml/2006/main">
              <a:ext uri="{FF2B5EF4-FFF2-40B4-BE49-F238E27FC236}">
                <a16:creationId xmlns:a16="http://schemas.microsoft.com/office/drawing/2014/main" id="{09A8E1B0-EB0C-4E82-9764-2F4F12263DEF}"/>
              </a:ext>
            </a:extLst>
          </p:cNvPr>
          <p:cNvGraphicFramePr/>
          <p:nvPr/>
        </p:nvGraphicFramePr>
        <p:xfrm>
          <a:off xmlns:a="http://schemas.openxmlformats.org/drawingml/2006/main" x="6229350" y="3533775"/>
          <a:ext xmlns:a="http://schemas.openxmlformats.org/drawingml/2006/main" cx="5353050" cy="1790700"/>
        </p:xfrm>
        <a:graphic xmlns:a="http://schemas.openxmlformats.org/drawingml/2006/main">
          <a:graphicData uri="http://schemas.openxmlformats.org/drawingml/2006/chart">
            <c:chart xmlns:r="http://schemas.openxmlformats.org/officeDocument/2006/relationships" xmlns:c="http://schemas.openxmlformats.org/drawingml/2006/chart" r:id="Rb9e316d0201d4bcc"/>
          </a:graphicData>
        </a:graphic>
      </p:graphicFrame>
      <p:sp>
        <p:nvSpPr>
          <p:cNvPr id="15" name="">
            <a:extLst xmlns:a="http://schemas.openxmlformats.org/drawingml/2006/main">
              <a:ext uri="{FF2B5EF4-FFF2-40B4-BE49-F238E27FC236}">
                <a16:creationId xmlns:a16="http://schemas.microsoft.com/office/drawing/2014/main" id="{A0867DF3-7727-4A0B-A3B4-CE8BAEF6B337}"/>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FCF1E7"/>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170FF4B-0E13-4482-8D85-0B55784785EA}"/>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Compare joining cohorts inside the same channel and need. What improves at matching ages—and what remains unobserved?</a:t>
            </a:r>
          </a:p>
        </p:txBody>
      </p:sp>
    </p:spTree>
    <p:extLst>
      <p:ext uri="{BB962C8B-B14F-4D97-AF65-F5344CB8AC3E}">
        <p14:creationId xmlns:p14="http://schemas.microsoft.com/office/powerpoint/2010/main" val="135757884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0F6AB62-7E4F-49E7-87C4-6257EF370723}"/>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68778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CE9F4EA-2222-42C8-A4C2-040E4DBA4991}"/>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Joining cohorts accumulate into the company</a:t>
            </a:r>
          </a:p>
        </p:txBody>
      </p:sp>
      <p:sp>
        <p:nvSpPr>
          <p:cNvPr id="3" name="">
            <a:extLst xmlns:a="http://schemas.openxmlformats.org/drawingml/2006/main">
              <a:ext uri="{FF2B5EF4-FFF2-40B4-BE49-F238E27FC236}">
                <a16:creationId xmlns:a16="http://schemas.microsoft.com/office/drawing/2014/main" id="{FA7A2A17-D28C-431B-82BC-F8C1987F610C}"/>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687780"/>
                </a:solidFill>
                <a:latin typeface="Arial"/>
                <a:ea typeface="Arial"/>
                <a:cs typeface="Arial"/>
              </a:defRPr>
            </a:defPPr>
            <a:lvl1pPr>
              <a:defRPr sz="900" b="1">
                <a:solidFill>
                  <a:srgbClr val="687780"/>
                </a:solidFill>
                <a:latin typeface="Arial"/>
                <a:ea typeface="Arial"/>
                <a:cs typeface="Arial"/>
              </a:defRPr>
            </a:lvl1pPr>
            <a:lvl2pPr>
              <a:defRPr sz="900" b="1">
                <a:solidFill>
                  <a:srgbClr val="687780"/>
                </a:solidFill>
                <a:latin typeface="Arial"/>
                <a:ea typeface="Arial"/>
                <a:cs typeface="Arial"/>
              </a:defRPr>
            </a:lvl2pPr>
            <a:lvl3pPr>
              <a:defRPr sz="900" b="1">
                <a:solidFill>
                  <a:srgbClr val="687780"/>
                </a:solidFill>
                <a:latin typeface="Arial"/>
                <a:ea typeface="Arial"/>
                <a:cs typeface="Arial"/>
              </a:defRPr>
            </a:lvl3pPr>
            <a:lvl4pPr>
              <a:defRPr sz="900" b="1">
                <a:solidFill>
                  <a:srgbClr val="687780"/>
                </a:solidFill>
                <a:latin typeface="Arial"/>
                <a:ea typeface="Arial"/>
                <a:cs typeface="Arial"/>
              </a:defRPr>
            </a:lvl4pPr>
            <a:lvl5pPr>
              <a:defRPr sz="900" b="1">
                <a:solidFill>
                  <a:srgbClr val="687780"/>
                </a:solidFill>
                <a:latin typeface="Arial"/>
                <a:ea typeface="Arial"/>
                <a:cs typeface="Arial"/>
              </a:defRPr>
            </a:lvl5pPr>
            <a:lvl6pPr>
              <a:defRPr sz="900" b="1">
                <a:solidFill>
                  <a:srgbClr val="687780"/>
                </a:solidFill>
                <a:latin typeface="Arial"/>
                <a:ea typeface="Arial"/>
                <a:cs typeface="Arial"/>
              </a:defRPr>
            </a:lvl6pPr>
            <a:lvl7pPr>
              <a:defRPr sz="900" b="1">
                <a:solidFill>
                  <a:srgbClr val="687780"/>
                </a:solidFill>
                <a:latin typeface="Arial"/>
                <a:ea typeface="Arial"/>
                <a:cs typeface="Arial"/>
              </a:defRPr>
            </a:lvl7pPr>
            <a:lvl8pPr>
              <a:defRPr sz="900" b="1">
                <a:solidFill>
                  <a:srgbClr val="687780"/>
                </a:solidFill>
                <a:latin typeface="Arial"/>
                <a:ea typeface="Arial"/>
                <a:cs typeface="Arial"/>
              </a:defRPr>
            </a:lvl8pPr>
            <a:lvl9pPr>
              <a:defRPr sz="900" b="1">
                <a:solidFill>
                  <a:srgbClr val="687780"/>
                </a:solidFill>
                <a:latin typeface="Arial"/>
                <a:ea typeface="Arial"/>
                <a:cs typeface="Arial"/>
              </a:defRPr>
            </a:lvl9pPr>
          </a:lstStyle>
          <a:p xmlns:a="http://schemas.openxmlformats.org/drawingml/2006/main">
            <a:pPr>
              <a:defRPr sz="900" b="1">
                <a:solidFill>
                  <a:srgbClr val="687780"/>
                </a:solidFill>
                <a:latin typeface="Arial"/>
                <a:ea typeface="Arial"/>
                <a:cs typeface="Arial"/>
              </a:defRPr>
            </a:pPr>
            <a:r>
              <a:rPr sz="900" b="1">
                <a:solidFill>
                  <a:srgbClr val="687780"/>
                </a:solidFill>
                <a:latin typeface="Arial"/>
                <a:ea typeface="Arial"/>
                <a:cs typeface="Arial"/>
              </a:rPr>
              <a:t>EVIDENCE INTERPRETATION</a:t>
            </a:r>
          </a:p>
        </p:txBody>
      </p:sp>
      <p:sp>
        <p:nvSpPr>
          <p:cNvPr id="4" name="">
            <a:extLst xmlns:a="http://schemas.openxmlformats.org/drawingml/2006/main">
              <a:ext uri="{FF2B5EF4-FFF2-40B4-BE49-F238E27FC236}">
                <a16:creationId xmlns:a16="http://schemas.microsoft.com/office/drawing/2014/main" id="{294D0324-32C9-4FB2-AF9F-C576795AC935}"/>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9</a:t>
            </a:r>
          </a:p>
        </p:txBody>
      </p:sp>
      <p:graphicFrame>
        <p:nvGraphicFramePr>
          <p:cNvPr id="5" name="Chart">
            <a:extLst xmlns:a="http://schemas.openxmlformats.org/drawingml/2006/main">
              <a:ext uri="{FF2B5EF4-FFF2-40B4-BE49-F238E27FC236}">
                <a16:creationId xmlns:a16="http://schemas.microsoft.com/office/drawing/2014/main" id="{240478F0-D5DC-4B4D-B20D-78F20558A2D1}"/>
              </a:ext>
            </a:extLst>
          </p:cNvPr>
          <p:cNvGraphicFramePr/>
          <p:nvPr/>
        </p:nvGraphicFramePr>
        <p:xfrm>
          <a:off xmlns:a="http://schemas.openxmlformats.org/drawingml/2006/main" x="609600" y="1562100"/>
          <a:ext xmlns:a="http://schemas.openxmlformats.org/drawingml/2006/main" cx="10972800" cy="3476625"/>
        </p:xfrm>
        <a:graphic xmlns:a="http://schemas.openxmlformats.org/drawingml/2006/main">
          <a:graphicData uri="http://schemas.openxmlformats.org/drawingml/2006/chart">
            <c:chart xmlns:r="http://schemas.openxmlformats.org/officeDocument/2006/relationships" xmlns:c="http://schemas.openxmlformats.org/drawingml/2006/chart" r:id="Rad8b27ee23e74669"/>
          </a:graphicData>
        </a:graphic>
      </p:graphicFrame>
      <p:sp>
        <p:nvSpPr>
          <p:cNvPr id="6" name="">
            <a:extLst xmlns:a="http://schemas.openxmlformats.org/drawingml/2006/main">
              <a:ext uri="{FF2B5EF4-FFF2-40B4-BE49-F238E27FC236}">
                <a16:creationId xmlns:a16="http://schemas.microsoft.com/office/drawing/2014/main" id="{E109C0F6-EB32-45BB-85B1-784A9E4DB388}"/>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D7B7E9D-FA9E-4F42-A3F5-0374CB7092E6}"/>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Each band is one joining cohort. The height is the retained customer base, not cumulative acquisitions.</a:t>
            </a:r>
          </a:p>
        </p:txBody>
      </p:sp>
    </p:spTree>
    <p:extLst>
      <p:ext uri="{BB962C8B-B14F-4D97-AF65-F5344CB8AC3E}">
        <p14:creationId xmlns:p14="http://schemas.microsoft.com/office/powerpoint/2010/main" val="165961786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24F15A3-62FD-4163-9899-FAB8CD54026A}"/>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BB6427"/>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B4FC9A9-AA6F-4AEF-9415-9287F83B03A5}"/>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Group decision 3: which campaign merits a repeat pilot?</a:t>
            </a:r>
          </a:p>
        </p:txBody>
      </p:sp>
      <p:sp>
        <p:nvSpPr>
          <p:cNvPr id="3" name="">
            <a:extLst xmlns:a="http://schemas.openxmlformats.org/drawingml/2006/main">
              <a:ext uri="{FF2B5EF4-FFF2-40B4-BE49-F238E27FC236}">
                <a16:creationId xmlns:a16="http://schemas.microsoft.com/office/drawing/2014/main" id="{B900D152-A8C1-43B0-AACA-4AF3B55E13F2}"/>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BB6427"/>
                </a:solidFill>
                <a:latin typeface="Arial"/>
                <a:ea typeface="Arial"/>
                <a:cs typeface="Arial"/>
              </a:defRPr>
            </a:defPPr>
            <a:lvl1pPr>
              <a:defRPr sz="900" b="1">
                <a:solidFill>
                  <a:srgbClr val="BB6427"/>
                </a:solidFill>
                <a:latin typeface="Arial"/>
                <a:ea typeface="Arial"/>
                <a:cs typeface="Arial"/>
              </a:defRPr>
            </a:lvl1pPr>
            <a:lvl2pPr>
              <a:defRPr sz="900" b="1">
                <a:solidFill>
                  <a:srgbClr val="BB6427"/>
                </a:solidFill>
                <a:latin typeface="Arial"/>
                <a:ea typeface="Arial"/>
                <a:cs typeface="Arial"/>
              </a:defRPr>
            </a:lvl2pPr>
            <a:lvl3pPr>
              <a:defRPr sz="900" b="1">
                <a:solidFill>
                  <a:srgbClr val="BB6427"/>
                </a:solidFill>
                <a:latin typeface="Arial"/>
                <a:ea typeface="Arial"/>
                <a:cs typeface="Arial"/>
              </a:defRPr>
            </a:lvl3pPr>
            <a:lvl4pPr>
              <a:defRPr sz="900" b="1">
                <a:solidFill>
                  <a:srgbClr val="BB6427"/>
                </a:solidFill>
                <a:latin typeface="Arial"/>
                <a:ea typeface="Arial"/>
                <a:cs typeface="Arial"/>
              </a:defRPr>
            </a:lvl4pPr>
            <a:lvl5pPr>
              <a:defRPr sz="900" b="1">
                <a:solidFill>
                  <a:srgbClr val="BB6427"/>
                </a:solidFill>
                <a:latin typeface="Arial"/>
                <a:ea typeface="Arial"/>
                <a:cs typeface="Arial"/>
              </a:defRPr>
            </a:lvl5pPr>
            <a:lvl6pPr>
              <a:defRPr sz="900" b="1">
                <a:solidFill>
                  <a:srgbClr val="BB6427"/>
                </a:solidFill>
                <a:latin typeface="Arial"/>
                <a:ea typeface="Arial"/>
                <a:cs typeface="Arial"/>
              </a:defRPr>
            </a:lvl6pPr>
            <a:lvl7pPr>
              <a:defRPr sz="900" b="1">
                <a:solidFill>
                  <a:srgbClr val="BB6427"/>
                </a:solidFill>
                <a:latin typeface="Arial"/>
                <a:ea typeface="Arial"/>
                <a:cs typeface="Arial"/>
              </a:defRPr>
            </a:lvl7pPr>
            <a:lvl8pPr>
              <a:defRPr sz="900" b="1">
                <a:solidFill>
                  <a:srgbClr val="BB6427"/>
                </a:solidFill>
                <a:latin typeface="Arial"/>
                <a:ea typeface="Arial"/>
                <a:cs typeface="Arial"/>
              </a:defRPr>
            </a:lvl8pPr>
            <a:lvl9pPr>
              <a:defRPr sz="900" b="1">
                <a:solidFill>
                  <a:srgbClr val="BB6427"/>
                </a:solidFill>
                <a:latin typeface="Arial"/>
                <a:ea typeface="Arial"/>
                <a:cs typeface="Arial"/>
              </a:defRPr>
            </a:lvl9pPr>
          </a:lstStyle>
          <a:p xmlns:a="http://schemas.openxmlformats.org/drawingml/2006/main">
            <a:pPr>
              <a:defRPr sz="900" b="1">
                <a:solidFill>
                  <a:srgbClr val="BB6427"/>
                </a:solidFill>
                <a:latin typeface="Arial"/>
                <a:ea typeface="Arial"/>
                <a:cs typeface="Arial"/>
              </a:defRPr>
            </a:pPr>
            <a:r>
              <a:rPr sz="900" b="1">
                <a:solidFill>
                  <a:srgbClr val="BB6427"/>
                </a:solidFill>
                <a:latin typeface="Arial"/>
                <a:ea typeface="Arial"/>
                <a:cs typeface="Arial"/>
              </a:rPr>
              <a:t>GROUP DECISION</a:t>
            </a:r>
          </a:p>
        </p:txBody>
      </p:sp>
      <p:sp>
        <p:nvSpPr>
          <p:cNvPr id="4" name="">
            <a:extLst xmlns:a="http://schemas.openxmlformats.org/drawingml/2006/main">
              <a:ext uri="{FF2B5EF4-FFF2-40B4-BE49-F238E27FC236}">
                <a16:creationId xmlns:a16="http://schemas.microsoft.com/office/drawing/2014/main" id="{7117CC5B-EA49-4F65-A508-2A0E3ECDF285}"/>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657FDA03-1601-4815-B15A-2613BB5C17AA}"/>
              </a:ext>
            </a:extLst>
          </p:cNvPr>
          <p:cNvSpPr>
            <a:spLocks xmlns:a="http://schemas.openxmlformats.org/drawingml/2006/main" noGrp="1"/>
          </p:cNvSpPr>
          <p:nvPr/>
        </p:nvSpPr>
        <p:spPr>
          <a:xfrm xmlns:a="http://schemas.openxmlformats.org/drawingml/2006/main">
            <a:off x="609600" y="1495425"/>
            <a:ext cx="10972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75" b="0">
                <a:solidFill>
                  <a:srgbClr val="172D3C"/>
                </a:solidFill>
                <a:latin typeface="Arial"/>
                <a:ea typeface="Arial"/>
                <a:cs typeface="Arial"/>
              </a:defRPr>
            </a:defPPr>
            <a:lvl1pPr>
              <a:defRPr sz="1875" b="0">
                <a:solidFill>
                  <a:srgbClr val="172D3C"/>
                </a:solidFill>
                <a:latin typeface="Arial"/>
                <a:ea typeface="Arial"/>
                <a:cs typeface="Arial"/>
              </a:defRPr>
            </a:lvl1pPr>
            <a:lvl2pPr>
              <a:defRPr sz="1875" b="0">
                <a:solidFill>
                  <a:srgbClr val="172D3C"/>
                </a:solidFill>
                <a:latin typeface="Arial"/>
                <a:ea typeface="Arial"/>
                <a:cs typeface="Arial"/>
              </a:defRPr>
            </a:lvl2pPr>
            <a:lvl3pPr>
              <a:defRPr sz="1875" b="0">
                <a:solidFill>
                  <a:srgbClr val="172D3C"/>
                </a:solidFill>
                <a:latin typeface="Arial"/>
                <a:ea typeface="Arial"/>
                <a:cs typeface="Arial"/>
              </a:defRPr>
            </a:lvl3pPr>
            <a:lvl4pPr>
              <a:defRPr sz="1875" b="0">
                <a:solidFill>
                  <a:srgbClr val="172D3C"/>
                </a:solidFill>
                <a:latin typeface="Arial"/>
                <a:ea typeface="Arial"/>
                <a:cs typeface="Arial"/>
              </a:defRPr>
            </a:lvl4pPr>
            <a:lvl5pPr>
              <a:defRPr sz="1875" b="0">
                <a:solidFill>
                  <a:srgbClr val="172D3C"/>
                </a:solidFill>
                <a:latin typeface="Arial"/>
                <a:ea typeface="Arial"/>
                <a:cs typeface="Arial"/>
              </a:defRPr>
            </a:lvl5pPr>
            <a:lvl6pPr>
              <a:defRPr sz="1875" b="0">
                <a:solidFill>
                  <a:srgbClr val="172D3C"/>
                </a:solidFill>
                <a:latin typeface="Arial"/>
                <a:ea typeface="Arial"/>
                <a:cs typeface="Arial"/>
              </a:defRPr>
            </a:lvl6pPr>
            <a:lvl7pPr>
              <a:defRPr sz="1875" b="0">
                <a:solidFill>
                  <a:srgbClr val="172D3C"/>
                </a:solidFill>
                <a:latin typeface="Arial"/>
                <a:ea typeface="Arial"/>
                <a:cs typeface="Arial"/>
              </a:defRPr>
            </a:lvl7pPr>
            <a:lvl8pPr>
              <a:defRPr sz="1875" b="0">
                <a:solidFill>
                  <a:srgbClr val="172D3C"/>
                </a:solidFill>
                <a:latin typeface="Arial"/>
                <a:ea typeface="Arial"/>
                <a:cs typeface="Arial"/>
              </a:defRPr>
            </a:lvl8pPr>
            <a:lvl9pPr>
              <a:defRPr sz="1875" b="0">
                <a:solidFill>
                  <a:srgbClr val="172D3C"/>
                </a:solidFill>
                <a:latin typeface="Arial"/>
                <a:ea typeface="Arial"/>
                <a:cs typeface="Arial"/>
              </a:defRPr>
            </a:lvl9pPr>
          </a:lstStyle>
          <a:p xmlns:a="http://schemas.openxmlformats.org/drawingml/2006/main">
            <a:pPr>
              <a:defRPr sz="1875" b="0">
                <a:solidFill>
                  <a:srgbClr val="172D3C"/>
                </a:solidFill>
                <a:latin typeface="Arial"/>
                <a:ea typeface="Arial"/>
                <a:cs typeface="Arial"/>
              </a:defRPr>
            </a:pPr>
            <a:r>
              <a:rPr sz="1875" b="0">
                <a:solidFill>
                  <a:srgbClr val="172D3C"/>
                </a:solidFill>
                <a:latin typeface="Arial"/>
                <a:ea typeface="Arial"/>
                <a:cs typeface="Arial"/>
              </a:rPr>
              <a:t>Each campaign randomized 250 eligible prospects to treatment and 250 to its own no-campaign control.</a:t>
            </a:r>
          </a:p>
        </p:txBody>
      </p:sp>
      <p:graphicFrame>
        <p:nvGraphicFramePr>
          <p:cNvPr id="6" name="">
            <a:extLst xmlns:a="http://schemas.openxmlformats.org/drawingml/2006/main">
              <a:ext uri="{FF2B5EF4-FFF2-40B4-BE49-F238E27FC236}">
                <a16:creationId xmlns:a16="http://schemas.microsoft.com/office/drawing/2014/main" id="{4A42074D-6DAD-41A2-802C-642E0437348E}"/>
              </a:ext>
            </a:extLst>
          </p:cNvPr>
          <p:cNvGraphicFramePr/>
          <p:nvPr/>
        </p:nvGraphicFramePr>
        <p:xfrm>
          <a:off xmlns:a="http://schemas.openxmlformats.org/drawingml/2006/main" x="609600" y="2381250"/>
          <a:ext xmlns:a="http://schemas.openxmlformats.org/drawingml/2006/main" cx="10972800" cy="1619250"/>
        </p:xfrm>
        <a:graphic xmlns:a="http://schemas.openxmlformats.org/drawingml/2006/main">
          <a:graphicData uri="http://schemas.openxmlformats.org/drawingml/2006/table">
            <a:tbl>
              <a:tblPr/>
              <a:tblGrid>
                <a:gridCol w="3000375"/>
                <a:gridCol w="2762250"/>
                <a:gridCol w="2095500"/>
                <a:gridCol w="3114675"/>
              </a:tblGrid>
              <a:tr h="539750">
                <a:tc>
                  <a:txBody>
                    <a:bodyPr/>
                    <a:lstStyle/>
                    <a:p>
                      <a:r>
                        <a:rPr sz="1350" b="1">
                          <a:solidFill>
                            <a:srgbClr val="FFFFFF"/>
                          </a:solidFill>
                          <a:latin typeface="Arial"/>
                          <a:ea typeface="Arial"/>
                          <a:cs typeface="Arial"/>
                        </a:rPr>
                        <a:t>Test</a:t>
                      </a:r>
                    </a:p>
                  </a:txBody>
                  <a:tcPr marL="91440" marR="91440" marT="45720" marB="45720">
                    <a:solidFill>
                      <a:srgbClr val="172D3C"/>
                    </a:solidFill>
                  </a:tcPr>
                </a:tc>
                <a:tc>
                  <a:txBody>
                    <a:bodyPr/>
                    <a:lstStyle/>
                    <a:p>
                      <a:r>
                        <a:rPr sz="1350" b="1">
                          <a:solidFill>
                            <a:srgbClr val="FFFFFF"/>
                          </a:solidFill>
                          <a:latin typeface="Arial"/>
                          <a:ea typeface="Arial"/>
                          <a:cs typeface="Arial"/>
                        </a:rPr>
                        <a:t>Incremental contribution</a:t>
                      </a:r>
                    </a:p>
                  </a:txBody>
                  <a:tcPr marL="91440" marR="91440" marT="45720" marB="45720">
                    <a:solidFill>
                      <a:srgbClr val="172D3C"/>
                    </a:solidFill>
                  </a:tcPr>
                </a:tc>
                <a:tc>
                  <a:txBody>
                    <a:bodyPr/>
                    <a:lstStyle/>
                    <a:p>
                      <a:r>
                        <a:rPr sz="1350" b="1">
                          <a:solidFill>
                            <a:srgbClr val="FFFFFF"/>
                          </a:solidFill>
                          <a:latin typeface="Arial"/>
                          <a:ea typeface="Arial"/>
                          <a:cs typeface="Arial"/>
                        </a:rPr>
                        <a:t>Additional media</a:t>
                      </a:r>
                    </a:p>
                  </a:txBody>
                  <a:tcPr marL="91440" marR="91440" marT="45720" marB="45720">
                    <a:solidFill>
                      <a:srgbClr val="172D3C"/>
                    </a:solidFill>
                  </a:tcPr>
                </a:tc>
                <a:tc>
                  <a:txBody>
                    <a:bodyPr/>
                    <a:lstStyle/>
                    <a:p>
                      <a:r>
                        <a:rPr sz="1350" b="1">
                          <a:solidFill>
                            <a:srgbClr val="FFFFFF"/>
                          </a:solidFill>
                          <a:latin typeface="Arial"/>
                          <a:ea typeface="Arial"/>
                          <a:cs typeface="Arial"/>
                        </a:rPr>
                        <a:t>After media / eligible prospect</a:t>
                      </a:r>
                    </a:p>
                  </a:txBody>
                  <a:tcPr marL="91440" marR="91440" marT="45720" marB="45720">
                    <a:solidFill>
                      <a:srgbClr val="172D3C"/>
                    </a:solidFill>
                  </a:tcPr>
                </a:tc>
              </a:tr>
              <a:tr h="539750">
                <a:tc>
                  <a:txBody>
                    <a:bodyPr/>
                    <a:lstStyle/>
                    <a:p>
                      <a:r>
                        <a:rPr sz="1425" b="0">
                          <a:solidFill>
                            <a:srgbClr val="172D3C"/>
                          </a:solidFill>
                          <a:latin typeface="Arial"/>
                          <a:ea typeface="Arial"/>
                          <a:cs typeface="Arial"/>
                        </a:rPr>
                        <a:t>search / save time</a:t>
                      </a:r>
                    </a:p>
                  </a:txBody>
                  <a:tcPr marL="91440" marR="91440" marT="45720" marB="45720">
                    <a:solidFill>
                      <a:srgbClr val="F0F5F6"/>
                    </a:solidFill>
                  </a:tcPr>
                </a:tc>
                <a:tc>
                  <a:txBody>
                    <a:bodyPr/>
                    <a:lstStyle/>
                    <a:p>
                      <a:r>
                        <a:rPr sz="1425" b="0">
                          <a:solidFill>
                            <a:srgbClr val="172D3C"/>
                          </a:solidFill>
                          <a:latin typeface="Arial"/>
                          <a:ea typeface="Arial"/>
                          <a:cs typeface="Arial"/>
                        </a:rPr>
                        <a:t>$658.80</a:t>
                      </a:r>
                    </a:p>
                  </a:txBody>
                  <a:tcPr marL="91440" marR="91440" marT="45720" marB="45720">
                    <a:solidFill>
                      <a:srgbClr val="F0F5F6"/>
                    </a:solidFill>
                  </a:tcPr>
                </a:tc>
                <a:tc>
                  <a:txBody>
                    <a:bodyPr/>
                    <a:lstStyle/>
                    <a:p>
                      <a:r>
                        <a:rPr sz="1425" b="0">
                          <a:solidFill>
                            <a:srgbClr val="172D3C"/>
                          </a:solidFill>
                          <a:latin typeface="Arial"/>
                          <a:ea typeface="Arial"/>
                          <a:cs typeface="Arial"/>
                        </a:rPr>
                        <a:t>$650.00</a:t>
                      </a:r>
                    </a:p>
                  </a:txBody>
                  <a:tcPr marL="91440" marR="91440" marT="45720" marB="45720">
                    <a:solidFill>
                      <a:srgbClr val="F0F5F6"/>
                    </a:solidFill>
                  </a:tcPr>
                </a:tc>
                <a:tc>
                  <a:txBody>
                    <a:bodyPr/>
                    <a:lstStyle/>
                    <a:p>
                      <a:r>
                        <a:rPr sz="1425" b="0">
                          <a:solidFill>
                            <a:srgbClr val="172D3C"/>
                          </a:solidFill>
                          <a:latin typeface="Arial"/>
                          <a:ea typeface="Arial"/>
                          <a:cs typeface="Arial"/>
                        </a:rPr>
                        <a:t>$0.04</a:t>
                      </a:r>
                    </a:p>
                  </a:txBody>
                  <a:tcPr marL="91440" marR="91440" marT="45720" marB="45720">
                    <a:solidFill>
                      <a:srgbClr val="F0F5F6"/>
                    </a:solidFill>
                  </a:tcPr>
                </a:tc>
              </a:tr>
              <a:tr h="539750">
                <a:tc>
                  <a:txBody>
                    <a:bodyPr/>
                    <a:lstStyle/>
                    <a:p>
                      <a:r>
                        <a:rPr sz="1425" b="0">
                          <a:solidFill>
                            <a:srgbClr val="172D3C"/>
                          </a:solidFill>
                          <a:latin typeface="Arial"/>
                          <a:ea typeface="Arial"/>
                          <a:cs typeface="Arial"/>
                        </a:rPr>
                        <a:t>partner / build skill</a:t>
                      </a:r>
                    </a:p>
                  </a:txBody>
                  <a:tcPr marL="91440" marR="91440" marT="45720" marB="45720">
                    <a:solidFill>
                      <a:srgbClr val="FFFFFF"/>
                    </a:solidFill>
                  </a:tcPr>
                </a:tc>
                <a:tc>
                  <a:txBody>
                    <a:bodyPr/>
                    <a:lstStyle/>
                    <a:p>
                      <a:r>
                        <a:rPr sz="1425" b="0">
                          <a:solidFill>
                            <a:srgbClr val="172D3C"/>
                          </a:solidFill>
                          <a:latin typeface="Arial"/>
                          <a:ea typeface="Arial"/>
                          <a:cs typeface="Arial"/>
                        </a:rPr>
                        <a:t>$1,161.65</a:t>
                      </a:r>
                    </a:p>
                  </a:txBody>
                  <a:tcPr marL="91440" marR="91440" marT="45720" marB="45720">
                    <a:solidFill>
                      <a:srgbClr val="FFFFFF"/>
                    </a:solidFill>
                  </a:tcPr>
                </a:tc>
                <a:tc>
                  <a:txBody>
                    <a:bodyPr/>
                    <a:lstStyle/>
                    <a:p>
                      <a:r>
                        <a:rPr sz="1425" b="0">
                          <a:solidFill>
                            <a:srgbClr val="172D3C"/>
                          </a:solidFill>
                          <a:latin typeface="Arial"/>
                          <a:ea typeface="Arial"/>
                          <a:cs typeface="Arial"/>
                        </a:rPr>
                        <a:t>$900.00</a:t>
                      </a:r>
                    </a:p>
                  </a:txBody>
                  <a:tcPr marL="91440" marR="91440" marT="45720" marB="45720">
                    <a:solidFill>
                      <a:srgbClr val="FFFFFF"/>
                    </a:solidFill>
                  </a:tcPr>
                </a:tc>
                <a:tc>
                  <a:txBody>
                    <a:bodyPr/>
                    <a:lstStyle/>
                    <a:p>
                      <a:r>
                        <a:rPr sz="1425" b="0">
                          <a:solidFill>
                            <a:srgbClr val="172D3C"/>
                          </a:solidFill>
                          <a:latin typeface="Arial"/>
                          <a:ea typeface="Arial"/>
                          <a:cs typeface="Arial"/>
                        </a:rPr>
                        <a:t>$1.05</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433FF798-0887-4A28-B9DA-7A448B8C2A32}"/>
              </a:ext>
            </a:extLst>
          </p:cNvPr>
          <p:cNvSpPr>
            <a:spLocks xmlns:a="http://schemas.openxmlformats.org/drawingml/2006/main" noGrp="1"/>
          </p:cNvSpPr>
          <p:nvPr/>
        </p:nvSpPr>
        <p:spPr>
          <a:xfrm xmlns:a="http://schemas.openxmlformats.org/drawingml/2006/main">
            <a:off x="609600" y="4314825"/>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025" b="1">
                <a:solidFill>
                  <a:srgbClr val="BB6427"/>
                </a:solidFill>
                <a:latin typeface="Arial"/>
                <a:ea typeface="Arial"/>
                <a:cs typeface="Arial"/>
              </a:defRPr>
            </a:defPPr>
            <a:lvl1pPr>
              <a:defRPr sz="2025" b="1">
                <a:solidFill>
                  <a:srgbClr val="BB6427"/>
                </a:solidFill>
                <a:latin typeface="Arial"/>
                <a:ea typeface="Arial"/>
                <a:cs typeface="Arial"/>
              </a:defRPr>
            </a:lvl1pPr>
            <a:lvl2pPr>
              <a:defRPr sz="2025" b="1">
                <a:solidFill>
                  <a:srgbClr val="BB6427"/>
                </a:solidFill>
                <a:latin typeface="Arial"/>
                <a:ea typeface="Arial"/>
                <a:cs typeface="Arial"/>
              </a:defRPr>
            </a:lvl2pPr>
            <a:lvl3pPr>
              <a:defRPr sz="2025" b="1">
                <a:solidFill>
                  <a:srgbClr val="BB6427"/>
                </a:solidFill>
                <a:latin typeface="Arial"/>
                <a:ea typeface="Arial"/>
                <a:cs typeface="Arial"/>
              </a:defRPr>
            </a:lvl3pPr>
            <a:lvl4pPr>
              <a:defRPr sz="2025" b="1">
                <a:solidFill>
                  <a:srgbClr val="BB6427"/>
                </a:solidFill>
                <a:latin typeface="Arial"/>
                <a:ea typeface="Arial"/>
                <a:cs typeface="Arial"/>
              </a:defRPr>
            </a:lvl4pPr>
            <a:lvl5pPr>
              <a:defRPr sz="2025" b="1">
                <a:solidFill>
                  <a:srgbClr val="BB6427"/>
                </a:solidFill>
                <a:latin typeface="Arial"/>
                <a:ea typeface="Arial"/>
                <a:cs typeface="Arial"/>
              </a:defRPr>
            </a:lvl5pPr>
            <a:lvl6pPr>
              <a:defRPr sz="2025" b="1">
                <a:solidFill>
                  <a:srgbClr val="BB6427"/>
                </a:solidFill>
                <a:latin typeface="Arial"/>
                <a:ea typeface="Arial"/>
                <a:cs typeface="Arial"/>
              </a:defRPr>
            </a:lvl6pPr>
            <a:lvl7pPr>
              <a:defRPr sz="2025" b="1">
                <a:solidFill>
                  <a:srgbClr val="BB6427"/>
                </a:solidFill>
                <a:latin typeface="Arial"/>
                <a:ea typeface="Arial"/>
                <a:cs typeface="Arial"/>
              </a:defRPr>
            </a:lvl7pPr>
            <a:lvl8pPr>
              <a:defRPr sz="2025" b="1">
                <a:solidFill>
                  <a:srgbClr val="BB6427"/>
                </a:solidFill>
                <a:latin typeface="Arial"/>
                <a:ea typeface="Arial"/>
                <a:cs typeface="Arial"/>
              </a:defRPr>
            </a:lvl8pPr>
            <a:lvl9pPr>
              <a:defRPr sz="2025" b="1">
                <a:solidFill>
                  <a:srgbClr val="BB6427"/>
                </a:solidFill>
                <a:latin typeface="Arial"/>
                <a:ea typeface="Arial"/>
                <a:cs typeface="Arial"/>
              </a:defRPr>
            </a:lvl9pPr>
          </a:lstStyle>
          <a:p xmlns:a="http://schemas.openxmlformats.org/drawingml/2006/main">
            <a:pPr>
              <a:defRPr sz="2025" b="1">
                <a:solidFill>
                  <a:srgbClr val="BB6427"/>
                </a:solidFill>
                <a:latin typeface="Arial"/>
                <a:ea typeface="Arial"/>
                <a:cs typeface="Arial"/>
              </a:defRPr>
            </a:pPr>
            <a:r>
              <a:rPr sz="2025" b="1">
                <a:solidFill>
                  <a:srgbClr val="BB6427"/>
                </a:solidFill>
                <a:latin typeface="Arial"/>
                <a:ea typeface="Arial"/>
                <a:cs typeface="Arial"/>
              </a:rPr>
              <a:t>Which tested campaign would you prioritize for a repeat pilot, and what limits that recommendation?</a:t>
            </a:r>
          </a:p>
        </p:txBody>
      </p:sp>
      <p:sp>
        <p:nvSpPr>
          <p:cNvPr id="8" name="">
            <a:extLst xmlns:a="http://schemas.openxmlformats.org/drawingml/2006/main">
              <a:ext uri="{FF2B5EF4-FFF2-40B4-BE49-F238E27FC236}">
                <a16:creationId xmlns:a16="http://schemas.microsoft.com/office/drawing/2014/main" id="{7157565C-2CED-49F8-846C-B8ADC6332A43}"/>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FCF1E7"/>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6ED55AD-E4B6-41DF-93E5-A76D780B09FD}"/>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Keep each test’s control and all nonbuyers. These point estimates do not establish an optimal marginal budget allocation.</a:t>
            </a:r>
          </a:p>
        </p:txBody>
      </p:sp>
    </p:spTree>
    <p:extLst>
      <p:ext uri="{BB962C8B-B14F-4D97-AF65-F5344CB8AC3E}">
        <p14:creationId xmlns:p14="http://schemas.microsoft.com/office/powerpoint/2010/main" val="8405361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8FA95192-706A-458F-83F5-500A877FA7C7}"/>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B04EC6E-0337-4DE5-AB80-C3C3A04389E9}"/>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LTV extends the observed history under assumptions</a:t>
            </a:r>
          </a:p>
        </p:txBody>
      </p:sp>
      <p:sp>
        <p:nvSpPr>
          <p:cNvPr id="3" name="">
            <a:extLst xmlns:a="http://schemas.openxmlformats.org/drawingml/2006/main">
              <a:ext uri="{FF2B5EF4-FFF2-40B4-BE49-F238E27FC236}">
                <a16:creationId xmlns:a16="http://schemas.microsoft.com/office/drawing/2014/main" id="{C6A136CA-981B-4431-89DF-A73814129508}"/>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3191B5"/>
                </a:solidFill>
                <a:latin typeface="Arial"/>
                <a:ea typeface="Arial"/>
                <a:cs typeface="Arial"/>
              </a:defRPr>
            </a:defPPr>
            <a:lvl1pPr>
              <a:defRPr sz="900" b="1">
                <a:solidFill>
                  <a:srgbClr val="3191B5"/>
                </a:solidFill>
                <a:latin typeface="Arial"/>
                <a:ea typeface="Arial"/>
                <a:cs typeface="Arial"/>
              </a:defRPr>
            </a:lvl1pPr>
            <a:lvl2pPr>
              <a:defRPr sz="900" b="1">
                <a:solidFill>
                  <a:srgbClr val="3191B5"/>
                </a:solidFill>
                <a:latin typeface="Arial"/>
                <a:ea typeface="Arial"/>
                <a:cs typeface="Arial"/>
              </a:defRPr>
            </a:lvl2pPr>
            <a:lvl3pPr>
              <a:defRPr sz="900" b="1">
                <a:solidFill>
                  <a:srgbClr val="3191B5"/>
                </a:solidFill>
                <a:latin typeface="Arial"/>
                <a:ea typeface="Arial"/>
                <a:cs typeface="Arial"/>
              </a:defRPr>
            </a:lvl3pPr>
            <a:lvl4pPr>
              <a:defRPr sz="900" b="1">
                <a:solidFill>
                  <a:srgbClr val="3191B5"/>
                </a:solidFill>
                <a:latin typeface="Arial"/>
                <a:ea typeface="Arial"/>
                <a:cs typeface="Arial"/>
              </a:defRPr>
            </a:lvl4pPr>
            <a:lvl5pPr>
              <a:defRPr sz="900" b="1">
                <a:solidFill>
                  <a:srgbClr val="3191B5"/>
                </a:solidFill>
                <a:latin typeface="Arial"/>
                <a:ea typeface="Arial"/>
                <a:cs typeface="Arial"/>
              </a:defRPr>
            </a:lvl5pPr>
            <a:lvl6pPr>
              <a:defRPr sz="900" b="1">
                <a:solidFill>
                  <a:srgbClr val="3191B5"/>
                </a:solidFill>
                <a:latin typeface="Arial"/>
                <a:ea typeface="Arial"/>
                <a:cs typeface="Arial"/>
              </a:defRPr>
            </a:lvl6pPr>
            <a:lvl7pPr>
              <a:defRPr sz="900" b="1">
                <a:solidFill>
                  <a:srgbClr val="3191B5"/>
                </a:solidFill>
                <a:latin typeface="Arial"/>
                <a:ea typeface="Arial"/>
                <a:cs typeface="Arial"/>
              </a:defRPr>
            </a:lvl7pPr>
            <a:lvl8pPr>
              <a:defRPr sz="900" b="1">
                <a:solidFill>
                  <a:srgbClr val="3191B5"/>
                </a:solidFill>
                <a:latin typeface="Arial"/>
                <a:ea typeface="Arial"/>
                <a:cs typeface="Arial"/>
              </a:defRPr>
            </a:lvl8pPr>
            <a:lvl9pPr>
              <a:defRPr sz="900" b="1">
                <a:solidFill>
                  <a:srgbClr val="3191B5"/>
                </a:solidFill>
                <a:latin typeface="Arial"/>
                <a:ea typeface="Arial"/>
                <a:cs typeface="Arial"/>
              </a:defRPr>
            </a:lvl9pPr>
          </a:lstStyle>
          <a:p xmlns:a="http://schemas.openxmlformats.org/drawingml/2006/main">
            <a:pPr>
              <a:defRPr sz="900" b="1">
                <a:solidFill>
                  <a:srgbClr val="3191B5"/>
                </a:solidFill>
                <a:latin typeface="Arial"/>
                <a:ea typeface="Arial"/>
                <a:cs typeface="Arial"/>
              </a:defRPr>
            </a:pPr>
            <a:r>
              <a:rPr sz="900" b="1">
                <a:solidFill>
                  <a:srgbClr val="3191B5"/>
                </a:solidFill>
                <a:latin typeface="Arial"/>
                <a:ea typeface="Arial"/>
                <a:cs typeface="Arial"/>
              </a:rPr>
              <a:t>CONCEPT</a:t>
            </a:r>
          </a:p>
        </p:txBody>
      </p:sp>
      <p:sp>
        <p:nvSpPr>
          <p:cNvPr id="4" name="">
            <a:extLst xmlns:a="http://schemas.openxmlformats.org/drawingml/2006/main">
              <a:ext uri="{FF2B5EF4-FFF2-40B4-BE49-F238E27FC236}">
                <a16:creationId xmlns:a16="http://schemas.microsoft.com/office/drawing/2014/main" id="{6DE26D17-5FAF-4ED5-850F-0D796BE16B3A}"/>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3A768B66-4F7C-4280-A4C9-643177A5E868}"/>
              </a:ext>
            </a:extLst>
          </p:cNvPr>
          <p:cNvSpPr>
            <a:spLocks xmlns:a="http://schemas.openxmlformats.org/drawingml/2006/main" noGrp="1"/>
          </p:cNvSpPr>
          <p:nvPr/>
        </p:nvSpPr>
        <p:spPr>
          <a:xfrm xmlns:a="http://schemas.openxmlformats.org/drawingml/2006/main">
            <a:off x="609600" y="1685925"/>
            <a:ext cx="3429000" cy="2362200"/>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E8F0A6D-8D5C-4505-B1FF-518C9B8BBCEC}"/>
              </a:ext>
            </a:extLst>
          </p:cNvPr>
          <p:cNvSpPr>
            <a:spLocks xmlns:a="http://schemas.openxmlformats.org/drawingml/2006/main" noGrp="1"/>
          </p:cNvSpPr>
          <p:nvPr/>
        </p:nvSpPr>
        <p:spPr>
          <a:xfrm xmlns:a="http://schemas.openxmlformats.org/drawingml/2006/main">
            <a:off x="609600" y="1685925"/>
            <a:ext cx="47625" cy="2362200"/>
          </a:xfrm>
          <a:prstGeom xmlns:a="http://schemas.openxmlformats.org/drawingml/2006/main" prst="rect">
            <a:avLst/>
          </a:prstGeom>
          <a:solidFill xmlns:a="http://schemas.openxmlformats.org/drawingml/2006/main">
            <a:srgbClr val="68778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1B7F92F-599B-4266-A7CB-ED0FD3D89093}"/>
              </a:ext>
            </a:extLst>
          </p:cNvPr>
          <p:cNvSpPr>
            <a:spLocks xmlns:a="http://schemas.openxmlformats.org/drawingml/2006/main" noGrp="1"/>
          </p:cNvSpPr>
          <p:nvPr/>
        </p:nvSpPr>
        <p:spPr>
          <a:xfrm xmlns:a="http://schemas.openxmlformats.org/drawingml/2006/main">
            <a:off x="800100" y="1828800"/>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687780"/>
                </a:solidFill>
                <a:latin typeface="Arial"/>
                <a:ea typeface="Arial"/>
                <a:cs typeface="Arial"/>
              </a:defRPr>
            </a:defPPr>
            <a:lvl1pPr>
              <a:defRPr sz="1800" b="1">
                <a:solidFill>
                  <a:srgbClr val="687780"/>
                </a:solidFill>
                <a:latin typeface="Arial"/>
                <a:ea typeface="Arial"/>
                <a:cs typeface="Arial"/>
              </a:defRPr>
            </a:lvl1pPr>
            <a:lvl2pPr>
              <a:defRPr sz="1800" b="1">
                <a:solidFill>
                  <a:srgbClr val="687780"/>
                </a:solidFill>
                <a:latin typeface="Arial"/>
                <a:ea typeface="Arial"/>
                <a:cs typeface="Arial"/>
              </a:defRPr>
            </a:lvl2pPr>
            <a:lvl3pPr>
              <a:defRPr sz="1800" b="1">
                <a:solidFill>
                  <a:srgbClr val="687780"/>
                </a:solidFill>
                <a:latin typeface="Arial"/>
                <a:ea typeface="Arial"/>
                <a:cs typeface="Arial"/>
              </a:defRPr>
            </a:lvl3pPr>
            <a:lvl4pPr>
              <a:defRPr sz="1800" b="1">
                <a:solidFill>
                  <a:srgbClr val="687780"/>
                </a:solidFill>
                <a:latin typeface="Arial"/>
                <a:ea typeface="Arial"/>
                <a:cs typeface="Arial"/>
              </a:defRPr>
            </a:lvl4pPr>
            <a:lvl5pPr>
              <a:defRPr sz="1800" b="1">
                <a:solidFill>
                  <a:srgbClr val="687780"/>
                </a:solidFill>
                <a:latin typeface="Arial"/>
                <a:ea typeface="Arial"/>
                <a:cs typeface="Arial"/>
              </a:defRPr>
            </a:lvl5pPr>
            <a:lvl6pPr>
              <a:defRPr sz="1800" b="1">
                <a:solidFill>
                  <a:srgbClr val="687780"/>
                </a:solidFill>
                <a:latin typeface="Arial"/>
                <a:ea typeface="Arial"/>
                <a:cs typeface="Arial"/>
              </a:defRPr>
            </a:lvl6pPr>
            <a:lvl7pPr>
              <a:defRPr sz="1800" b="1">
                <a:solidFill>
                  <a:srgbClr val="687780"/>
                </a:solidFill>
                <a:latin typeface="Arial"/>
                <a:ea typeface="Arial"/>
                <a:cs typeface="Arial"/>
              </a:defRPr>
            </a:lvl7pPr>
            <a:lvl8pPr>
              <a:defRPr sz="1800" b="1">
                <a:solidFill>
                  <a:srgbClr val="687780"/>
                </a:solidFill>
                <a:latin typeface="Arial"/>
                <a:ea typeface="Arial"/>
                <a:cs typeface="Arial"/>
              </a:defRPr>
            </a:lvl8pPr>
            <a:lvl9pPr>
              <a:defRPr sz="1800" b="1">
                <a:solidFill>
                  <a:srgbClr val="687780"/>
                </a:solidFill>
                <a:latin typeface="Arial"/>
                <a:ea typeface="Arial"/>
                <a:cs typeface="Arial"/>
              </a:defRPr>
            </a:lvl9pPr>
          </a:lstStyle>
          <a:p xmlns:a="http://schemas.openxmlformats.org/drawingml/2006/main">
            <a:pPr>
              <a:defRPr sz="1800" b="1">
                <a:solidFill>
                  <a:srgbClr val="687780"/>
                </a:solidFill>
                <a:latin typeface="Arial"/>
                <a:ea typeface="Arial"/>
                <a:cs typeface="Arial"/>
              </a:defRPr>
            </a:pPr>
            <a:r>
              <a:rPr sz="1800" b="1">
                <a:solidFill>
                  <a:srgbClr val="687780"/>
                </a:solidFill>
                <a:latin typeface="Arial"/>
                <a:ea typeface="Arial"/>
                <a:cs typeface="Arial"/>
              </a:rPr>
              <a:t>Observed months</a:t>
            </a:r>
          </a:p>
        </p:txBody>
      </p:sp>
      <p:sp>
        <p:nvSpPr>
          <p:cNvPr id="8" name="">
            <a:extLst xmlns:a="http://schemas.openxmlformats.org/drawingml/2006/main">
              <a:ext uri="{FF2B5EF4-FFF2-40B4-BE49-F238E27FC236}">
                <a16:creationId xmlns:a16="http://schemas.microsoft.com/office/drawing/2014/main" id="{483DAEC3-A7A6-447C-9927-69735B836D9E}"/>
              </a:ext>
            </a:extLst>
          </p:cNvPr>
          <p:cNvSpPr>
            <a:spLocks xmlns:a="http://schemas.openxmlformats.org/drawingml/2006/main" noGrp="1"/>
          </p:cNvSpPr>
          <p:nvPr/>
        </p:nvSpPr>
        <p:spPr>
          <a:xfrm xmlns:a="http://schemas.openxmlformats.org/drawingml/2006/main">
            <a:off x="800100" y="2257425"/>
            <a:ext cx="3048000" cy="1647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Use the contribution already recorded for the cohort, including zeros for customers who left.</a:t>
            </a:r>
          </a:p>
        </p:txBody>
      </p:sp>
      <p:sp>
        <p:nvSpPr>
          <p:cNvPr id="9" name="">
            <a:extLst xmlns:a="http://schemas.openxmlformats.org/drawingml/2006/main">
              <a:ext uri="{FF2B5EF4-FFF2-40B4-BE49-F238E27FC236}">
                <a16:creationId xmlns:a16="http://schemas.microsoft.com/office/drawing/2014/main" id="{B55E4065-64C8-466A-B4E5-138CD9FAE9A6}"/>
              </a:ext>
            </a:extLst>
          </p:cNvPr>
          <p:cNvSpPr>
            <a:spLocks xmlns:a="http://schemas.openxmlformats.org/drawingml/2006/main" noGrp="1"/>
          </p:cNvSpPr>
          <p:nvPr/>
        </p:nvSpPr>
        <p:spPr>
          <a:xfrm xmlns:a="http://schemas.openxmlformats.org/drawingml/2006/main">
            <a:off x="4381500" y="1685925"/>
            <a:ext cx="3429000" cy="2362200"/>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BCF2D4D-EC65-4A68-8BA2-6F023939CFA9}"/>
              </a:ext>
            </a:extLst>
          </p:cNvPr>
          <p:cNvSpPr>
            <a:spLocks xmlns:a="http://schemas.openxmlformats.org/drawingml/2006/main" noGrp="1"/>
          </p:cNvSpPr>
          <p:nvPr/>
        </p:nvSpPr>
        <p:spPr>
          <a:xfrm xmlns:a="http://schemas.openxmlformats.org/drawingml/2006/main">
            <a:off x="4381500" y="1685925"/>
            <a:ext cx="47625" cy="2362200"/>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18ED8FC-A4F1-45FE-82CC-4F59412CBCA9}"/>
              </a:ext>
            </a:extLst>
          </p:cNvPr>
          <p:cNvSpPr>
            <a:spLocks xmlns:a="http://schemas.openxmlformats.org/drawingml/2006/main" noGrp="1"/>
          </p:cNvSpPr>
          <p:nvPr/>
        </p:nvSpPr>
        <p:spPr>
          <a:xfrm xmlns:a="http://schemas.openxmlformats.org/drawingml/2006/main">
            <a:off x="4572000" y="1828800"/>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Unobserved months</a:t>
            </a:r>
          </a:p>
        </p:txBody>
      </p:sp>
      <p:sp>
        <p:nvSpPr>
          <p:cNvPr id="12" name="">
            <a:extLst xmlns:a="http://schemas.openxmlformats.org/drawingml/2006/main">
              <a:ext uri="{FF2B5EF4-FFF2-40B4-BE49-F238E27FC236}">
                <a16:creationId xmlns:a16="http://schemas.microsoft.com/office/drawing/2014/main" id="{F116834F-76FA-4018-AA8C-4172BCE2C98D}"/>
              </a:ext>
            </a:extLst>
          </p:cNvPr>
          <p:cNvSpPr>
            <a:spLocks xmlns:a="http://schemas.openxmlformats.org/drawingml/2006/main" noGrp="1"/>
          </p:cNvSpPr>
          <p:nvPr/>
        </p:nvSpPr>
        <p:spPr>
          <a:xfrm xmlns:a="http://schemas.openxmlformats.org/drawingml/2006/main">
            <a:off x="4572000" y="2257425"/>
            <a:ext cx="3048000" cy="1647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Predict retention and spending for the remaining months of one common 12-month horizon.</a:t>
            </a:r>
          </a:p>
        </p:txBody>
      </p:sp>
      <p:sp>
        <p:nvSpPr>
          <p:cNvPr id="13" name="">
            <a:extLst xmlns:a="http://schemas.openxmlformats.org/drawingml/2006/main">
              <a:ext uri="{FF2B5EF4-FFF2-40B4-BE49-F238E27FC236}">
                <a16:creationId xmlns:a16="http://schemas.microsoft.com/office/drawing/2014/main" id="{43F5A29D-BE19-4A4F-BD92-0FAC6AD0809D}"/>
              </a:ext>
            </a:extLst>
          </p:cNvPr>
          <p:cNvSpPr>
            <a:spLocks xmlns:a="http://schemas.openxmlformats.org/drawingml/2006/main" noGrp="1"/>
          </p:cNvSpPr>
          <p:nvPr/>
        </p:nvSpPr>
        <p:spPr>
          <a:xfrm xmlns:a="http://schemas.openxmlformats.org/drawingml/2006/main">
            <a:off x="8153400" y="1685925"/>
            <a:ext cx="3429000" cy="2362200"/>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016EB5E-5059-4C0F-93A9-C214257EDBF4}"/>
              </a:ext>
            </a:extLst>
          </p:cNvPr>
          <p:cNvSpPr>
            <a:spLocks xmlns:a="http://schemas.openxmlformats.org/drawingml/2006/main" noGrp="1"/>
          </p:cNvSpPr>
          <p:nvPr/>
        </p:nvSpPr>
        <p:spPr>
          <a:xfrm xmlns:a="http://schemas.openxmlformats.org/drawingml/2006/main">
            <a:off x="8153400" y="1685925"/>
            <a:ext cx="47625" cy="236220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13744D2-6D95-43C5-9753-8EC1ADA42D02}"/>
              </a:ext>
            </a:extLst>
          </p:cNvPr>
          <p:cNvSpPr>
            <a:spLocks xmlns:a="http://schemas.openxmlformats.org/drawingml/2006/main" noGrp="1"/>
          </p:cNvSpPr>
          <p:nvPr/>
        </p:nvSpPr>
        <p:spPr>
          <a:xfrm xmlns:a="http://schemas.openxmlformats.org/drawingml/2006/main">
            <a:off x="8343900" y="1828800"/>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Per acquired customer</a:t>
            </a:r>
          </a:p>
        </p:txBody>
      </p:sp>
      <p:sp>
        <p:nvSpPr>
          <p:cNvPr id="16" name="">
            <a:extLst xmlns:a="http://schemas.openxmlformats.org/drawingml/2006/main">
              <a:ext uri="{FF2B5EF4-FFF2-40B4-BE49-F238E27FC236}">
                <a16:creationId xmlns:a16="http://schemas.microsoft.com/office/drawing/2014/main" id="{98D619AA-0798-494C-94DF-5E0056EFDC85}"/>
              </a:ext>
            </a:extLst>
          </p:cNvPr>
          <p:cNvSpPr>
            <a:spLocks xmlns:a="http://schemas.openxmlformats.org/drawingml/2006/main" noGrp="1"/>
          </p:cNvSpPr>
          <p:nvPr/>
        </p:nvSpPr>
        <p:spPr>
          <a:xfrm xmlns:a="http://schemas.openxmlformats.org/drawingml/2006/main">
            <a:off x="8343900" y="2257425"/>
            <a:ext cx="3048000" cy="1647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Discount each monthly contribution at 1% per month, divide by original cohort size, then subtract CAC for net LTV.</a:t>
            </a:r>
          </a:p>
        </p:txBody>
      </p:sp>
      <p:sp>
        <p:nvSpPr>
          <p:cNvPr id="17" name="">
            <a:extLst xmlns:a="http://schemas.openxmlformats.org/drawingml/2006/main">
              <a:ext uri="{FF2B5EF4-FFF2-40B4-BE49-F238E27FC236}">
                <a16:creationId xmlns:a16="http://schemas.microsoft.com/office/drawing/2014/main" id="{7A88D0C4-ECC4-4F41-95B7-3196AB5A6B9F}"/>
              </a:ext>
            </a:extLst>
          </p:cNvPr>
          <p:cNvSpPr>
            <a:spLocks xmlns:a="http://schemas.openxmlformats.org/drawingml/2006/main" noGrp="1"/>
          </p:cNvSpPr>
          <p:nvPr/>
        </p:nvSpPr>
        <p:spPr>
          <a:xfrm xmlns:a="http://schemas.openxmlformats.org/drawingml/2006/main">
            <a:off x="609600" y="4391025"/>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025" b="1">
                <a:solidFill>
                  <a:srgbClr val="172D3C"/>
                </a:solidFill>
                <a:latin typeface="Arial"/>
                <a:ea typeface="Arial"/>
                <a:cs typeface="Arial"/>
              </a:defRPr>
            </a:defPPr>
            <a:lvl1pPr>
              <a:defRPr sz="2025" b="1">
                <a:solidFill>
                  <a:srgbClr val="172D3C"/>
                </a:solidFill>
                <a:latin typeface="Arial"/>
                <a:ea typeface="Arial"/>
                <a:cs typeface="Arial"/>
              </a:defRPr>
            </a:lvl1pPr>
            <a:lvl2pPr>
              <a:defRPr sz="2025" b="1">
                <a:solidFill>
                  <a:srgbClr val="172D3C"/>
                </a:solidFill>
                <a:latin typeface="Arial"/>
                <a:ea typeface="Arial"/>
                <a:cs typeface="Arial"/>
              </a:defRPr>
            </a:lvl2pPr>
            <a:lvl3pPr>
              <a:defRPr sz="2025" b="1">
                <a:solidFill>
                  <a:srgbClr val="172D3C"/>
                </a:solidFill>
                <a:latin typeface="Arial"/>
                <a:ea typeface="Arial"/>
                <a:cs typeface="Arial"/>
              </a:defRPr>
            </a:lvl3pPr>
            <a:lvl4pPr>
              <a:defRPr sz="2025" b="1">
                <a:solidFill>
                  <a:srgbClr val="172D3C"/>
                </a:solidFill>
                <a:latin typeface="Arial"/>
                <a:ea typeface="Arial"/>
                <a:cs typeface="Arial"/>
              </a:defRPr>
            </a:lvl4pPr>
            <a:lvl5pPr>
              <a:defRPr sz="2025" b="1">
                <a:solidFill>
                  <a:srgbClr val="172D3C"/>
                </a:solidFill>
                <a:latin typeface="Arial"/>
                <a:ea typeface="Arial"/>
                <a:cs typeface="Arial"/>
              </a:defRPr>
            </a:lvl5pPr>
            <a:lvl6pPr>
              <a:defRPr sz="2025" b="1">
                <a:solidFill>
                  <a:srgbClr val="172D3C"/>
                </a:solidFill>
                <a:latin typeface="Arial"/>
                <a:ea typeface="Arial"/>
                <a:cs typeface="Arial"/>
              </a:defRPr>
            </a:lvl6pPr>
            <a:lvl7pPr>
              <a:defRPr sz="2025" b="1">
                <a:solidFill>
                  <a:srgbClr val="172D3C"/>
                </a:solidFill>
                <a:latin typeface="Arial"/>
                <a:ea typeface="Arial"/>
                <a:cs typeface="Arial"/>
              </a:defRPr>
            </a:lvl7pPr>
            <a:lvl8pPr>
              <a:defRPr sz="2025" b="1">
                <a:solidFill>
                  <a:srgbClr val="172D3C"/>
                </a:solidFill>
                <a:latin typeface="Arial"/>
                <a:ea typeface="Arial"/>
                <a:cs typeface="Arial"/>
              </a:defRPr>
            </a:lvl8pPr>
            <a:lvl9pPr>
              <a:defRPr sz="2025" b="1">
                <a:solidFill>
                  <a:srgbClr val="172D3C"/>
                </a:solidFill>
                <a:latin typeface="Arial"/>
                <a:ea typeface="Arial"/>
                <a:cs typeface="Arial"/>
              </a:defRPr>
            </a:lvl9pPr>
          </a:lstStyle>
          <a:p xmlns:a="http://schemas.openxmlformats.org/drawingml/2006/main">
            <a:pPr>
              <a:defRPr sz="2025" b="1">
                <a:solidFill>
                  <a:srgbClr val="172D3C"/>
                </a:solidFill>
                <a:latin typeface="Arial"/>
                <a:ea typeface="Arial"/>
                <a:cs typeface="Arial"/>
              </a:defRPr>
            </a:pPr>
            <a:r>
              <a:rPr sz="2025" b="1">
                <a:solidFill>
                  <a:srgbClr val="172D3C"/>
                </a:solidFill>
                <a:latin typeface="Arial"/>
                <a:ea typeface="Arial"/>
                <a:cs typeface="Arial"/>
              </a:rPr>
              <a:t>Model check: forecast outcomes that were withheld, and compare the error with a simpler baseline.</a:t>
            </a:r>
          </a:p>
        </p:txBody>
      </p:sp>
      <p:sp>
        <p:nvSpPr>
          <p:cNvPr id="18" name="">
            <a:extLst xmlns:a="http://schemas.openxmlformats.org/drawingml/2006/main">
              <a:ext uri="{FF2B5EF4-FFF2-40B4-BE49-F238E27FC236}">
                <a16:creationId xmlns:a16="http://schemas.microsoft.com/office/drawing/2014/main" id="{98A08881-49C5-4713-85BC-C383B3F42B05}"/>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06C2F20-7C4D-4A7F-BC22-E1D90BCB1F7C}"/>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Cash payback is undiscounted. A model-based LTV prediction is not a causal return on marketing spending.</a:t>
            </a:r>
          </a:p>
        </p:txBody>
      </p:sp>
    </p:spTree>
    <p:extLst>
      <p:ext uri="{BB962C8B-B14F-4D97-AF65-F5344CB8AC3E}">
        <p14:creationId xmlns:p14="http://schemas.microsoft.com/office/powerpoint/2010/main" val="121295855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816F141-BD0C-425B-8049-BF89A9813BFF}"/>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8722B47-36AF-4B95-A459-FCB6174D60E2}"/>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Resolve the opening question with a stated next action</a:t>
            </a:r>
          </a:p>
        </p:txBody>
      </p:sp>
      <p:sp>
        <p:nvSpPr>
          <p:cNvPr id="3" name="">
            <a:extLst xmlns:a="http://schemas.openxmlformats.org/drawingml/2006/main">
              <a:ext uri="{FF2B5EF4-FFF2-40B4-BE49-F238E27FC236}">
                <a16:creationId xmlns:a16="http://schemas.microsoft.com/office/drawing/2014/main" id="{A6AE2E5B-6370-4A85-B9A3-4FCA4822875E}"/>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087F8C"/>
                </a:solidFill>
                <a:latin typeface="Arial"/>
                <a:ea typeface="Arial"/>
                <a:cs typeface="Arial"/>
              </a:defRPr>
            </a:defPPr>
            <a:lvl1pPr>
              <a:defRPr sz="900" b="1">
                <a:solidFill>
                  <a:srgbClr val="087F8C"/>
                </a:solidFill>
                <a:latin typeface="Arial"/>
                <a:ea typeface="Arial"/>
                <a:cs typeface="Arial"/>
              </a:defRPr>
            </a:lvl1pPr>
            <a:lvl2pPr>
              <a:defRPr sz="900" b="1">
                <a:solidFill>
                  <a:srgbClr val="087F8C"/>
                </a:solidFill>
                <a:latin typeface="Arial"/>
                <a:ea typeface="Arial"/>
                <a:cs typeface="Arial"/>
              </a:defRPr>
            </a:lvl2pPr>
            <a:lvl3pPr>
              <a:defRPr sz="900" b="1">
                <a:solidFill>
                  <a:srgbClr val="087F8C"/>
                </a:solidFill>
                <a:latin typeface="Arial"/>
                <a:ea typeface="Arial"/>
                <a:cs typeface="Arial"/>
              </a:defRPr>
            </a:lvl3pPr>
            <a:lvl4pPr>
              <a:defRPr sz="900" b="1">
                <a:solidFill>
                  <a:srgbClr val="087F8C"/>
                </a:solidFill>
                <a:latin typeface="Arial"/>
                <a:ea typeface="Arial"/>
                <a:cs typeface="Arial"/>
              </a:defRPr>
            </a:lvl4pPr>
            <a:lvl5pPr>
              <a:defRPr sz="900" b="1">
                <a:solidFill>
                  <a:srgbClr val="087F8C"/>
                </a:solidFill>
                <a:latin typeface="Arial"/>
                <a:ea typeface="Arial"/>
                <a:cs typeface="Arial"/>
              </a:defRPr>
            </a:lvl5pPr>
            <a:lvl6pPr>
              <a:defRPr sz="900" b="1">
                <a:solidFill>
                  <a:srgbClr val="087F8C"/>
                </a:solidFill>
                <a:latin typeface="Arial"/>
                <a:ea typeface="Arial"/>
                <a:cs typeface="Arial"/>
              </a:defRPr>
            </a:lvl6pPr>
            <a:lvl7pPr>
              <a:defRPr sz="900" b="1">
                <a:solidFill>
                  <a:srgbClr val="087F8C"/>
                </a:solidFill>
                <a:latin typeface="Arial"/>
                <a:ea typeface="Arial"/>
                <a:cs typeface="Arial"/>
              </a:defRPr>
            </a:lvl7pPr>
            <a:lvl8pPr>
              <a:defRPr sz="900" b="1">
                <a:solidFill>
                  <a:srgbClr val="087F8C"/>
                </a:solidFill>
                <a:latin typeface="Arial"/>
                <a:ea typeface="Arial"/>
                <a:cs typeface="Arial"/>
              </a:defRPr>
            </a:lvl8pPr>
            <a:lvl9pPr>
              <a:defRPr sz="900" b="1">
                <a:solidFill>
                  <a:srgbClr val="087F8C"/>
                </a:solidFill>
                <a:latin typeface="Arial"/>
                <a:ea typeface="Arial"/>
                <a:cs typeface="Arial"/>
              </a:defRPr>
            </a:lvl9pPr>
          </a:lstStyle>
          <a:p xmlns:a="http://schemas.openxmlformats.org/drawingml/2006/main">
            <a:pPr>
              <a:defRPr sz="900" b="1">
                <a:solidFill>
                  <a:srgbClr val="087F8C"/>
                </a:solidFill>
                <a:latin typeface="Arial"/>
                <a:ea typeface="Arial"/>
                <a:cs typeface="Arial"/>
              </a:defRPr>
            </a:pPr>
            <a:r>
              <a:rPr sz="900" b="1">
                <a:solidFill>
                  <a:srgbClr val="087F8C"/>
                </a:solidFill>
                <a:latin typeface="Arial"/>
                <a:ea typeface="Arial"/>
                <a:cs typeface="Arial"/>
              </a:rPr>
              <a:t>CASE APPLICATION</a:t>
            </a:r>
          </a:p>
        </p:txBody>
      </p:sp>
      <p:sp>
        <p:nvSpPr>
          <p:cNvPr id="4" name="">
            <a:extLst xmlns:a="http://schemas.openxmlformats.org/drawingml/2006/main">
              <a:ext uri="{FF2B5EF4-FFF2-40B4-BE49-F238E27FC236}">
                <a16:creationId xmlns:a16="http://schemas.microsoft.com/office/drawing/2014/main" id="{D08AC32D-2C8B-4FC1-8F5E-5BB6A05EFCCE}"/>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D22DF612-78D1-4031-964F-8863A7ED02F5}"/>
              </a:ext>
            </a:extLst>
          </p:cNvPr>
          <p:cNvSpPr>
            <a:spLocks xmlns:a="http://schemas.openxmlformats.org/drawingml/2006/main" noGrp="1"/>
          </p:cNvSpPr>
          <p:nvPr/>
        </p:nvSpPr>
        <p:spPr>
          <a:xfrm xmlns:a="http://schemas.openxmlformats.org/drawingml/2006/main">
            <a:off x="609600" y="1495425"/>
            <a:ext cx="109728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325" b="1">
                <a:solidFill>
                  <a:srgbClr val="087F8C"/>
                </a:solidFill>
                <a:latin typeface="Arial"/>
                <a:ea typeface="Arial"/>
                <a:cs typeface="Arial"/>
              </a:defRPr>
            </a:defPPr>
            <a:lvl1pPr>
              <a:defRPr sz="2325" b="1">
                <a:solidFill>
                  <a:srgbClr val="087F8C"/>
                </a:solidFill>
                <a:latin typeface="Arial"/>
                <a:ea typeface="Arial"/>
                <a:cs typeface="Arial"/>
              </a:defRPr>
            </a:lvl1pPr>
            <a:lvl2pPr>
              <a:defRPr sz="2325" b="1">
                <a:solidFill>
                  <a:srgbClr val="087F8C"/>
                </a:solidFill>
                <a:latin typeface="Arial"/>
                <a:ea typeface="Arial"/>
                <a:cs typeface="Arial"/>
              </a:defRPr>
            </a:lvl2pPr>
            <a:lvl3pPr>
              <a:defRPr sz="2325" b="1">
                <a:solidFill>
                  <a:srgbClr val="087F8C"/>
                </a:solidFill>
                <a:latin typeface="Arial"/>
                <a:ea typeface="Arial"/>
                <a:cs typeface="Arial"/>
              </a:defRPr>
            </a:lvl3pPr>
            <a:lvl4pPr>
              <a:defRPr sz="2325" b="1">
                <a:solidFill>
                  <a:srgbClr val="087F8C"/>
                </a:solidFill>
                <a:latin typeface="Arial"/>
                <a:ea typeface="Arial"/>
                <a:cs typeface="Arial"/>
              </a:defRPr>
            </a:lvl4pPr>
            <a:lvl5pPr>
              <a:defRPr sz="2325" b="1">
                <a:solidFill>
                  <a:srgbClr val="087F8C"/>
                </a:solidFill>
                <a:latin typeface="Arial"/>
                <a:ea typeface="Arial"/>
                <a:cs typeface="Arial"/>
              </a:defRPr>
            </a:lvl5pPr>
            <a:lvl6pPr>
              <a:defRPr sz="2325" b="1">
                <a:solidFill>
                  <a:srgbClr val="087F8C"/>
                </a:solidFill>
                <a:latin typeface="Arial"/>
                <a:ea typeface="Arial"/>
                <a:cs typeface="Arial"/>
              </a:defRPr>
            </a:lvl6pPr>
            <a:lvl7pPr>
              <a:defRPr sz="2325" b="1">
                <a:solidFill>
                  <a:srgbClr val="087F8C"/>
                </a:solidFill>
                <a:latin typeface="Arial"/>
                <a:ea typeface="Arial"/>
                <a:cs typeface="Arial"/>
              </a:defRPr>
            </a:lvl7pPr>
            <a:lvl8pPr>
              <a:defRPr sz="2325" b="1">
                <a:solidFill>
                  <a:srgbClr val="087F8C"/>
                </a:solidFill>
                <a:latin typeface="Arial"/>
                <a:ea typeface="Arial"/>
                <a:cs typeface="Arial"/>
              </a:defRPr>
            </a:lvl8pPr>
            <a:lvl9pPr>
              <a:defRPr sz="2325" b="1">
                <a:solidFill>
                  <a:srgbClr val="087F8C"/>
                </a:solidFill>
                <a:latin typeface="Arial"/>
                <a:ea typeface="Arial"/>
                <a:cs typeface="Arial"/>
              </a:defRPr>
            </a:lvl9pPr>
          </a:lstStyle>
          <a:p xmlns:a="http://schemas.openxmlformats.org/drawingml/2006/main">
            <a:pPr>
              <a:defRPr sz="2325" b="1">
                <a:solidFill>
                  <a:srgbClr val="087F8C"/>
                </a:solidFill>
                <a:latin typeface="Arial"/>
                <a:ea typeface="Arial"/>
                <a:cs typeface="Arial"/>
              </a:defRPr>
            </a:pPr>
            <a:r>
              <a:rPr sz="2325" b="1">
                <a:solidFill>
                  <a:srgbClr val="087F8C"/>
                </a:solidFill>
                <a:latin typeface="Arial"/>
                <a:ea typeface="Arial"/>
                <a:cs typeface="Arial"/>
              </a:rPr>
              <a:t>Are we moving in the right direction as a company?</a:t>
            </a:r>
          </a:p>
        </p:txBody>
      </p:sp>
      <p:graphicFrame>
        <p:nvGraphicFramePr>
          <p:cNvPr id="6" name="">
            <a:extLst xmlns:a="http://schemas.openxmlformats.org/drawingml/2006/main">
              <a:ext uri="{FF2B5EF4-FFF2-40B4-BE49-F238E27FC236}">
                <a16:creationId xmlns:a16="http://schemas.microsoft.com/office/drawing/2014/main" id="{2B2D81C5-B0DB-44ED-B24B-0D95BB16B180}"/>
              </a:ext>
            </a:extLst>
          </p:cNvPr>
          <p:cNvGraphicFramePr/>
          <p:nvPr/>
        </p:nvGraphicFramePr>
        <p:xfrm>
          <a:off xmlns:a="http://schemas.openxmlformats.org/drawingml/2006/main" x="609600" y="2362200"/>
          <a:ext xmlns:a="http://schemas.openxmlformats.org/drawingml/2006/main" cx="10972800" cy="2514600"/>
        </p:xfrm>
        <a:graphic xmlns:a="http://schemas.openxmlformats.org/drawingml/2006/main">
          <a:graphicData uri="http://schemas.openxmlformats.org/drawingml/2006/table">
            <a:tbl>
              <a:tblPr/>
              <a:tblGrid>
                <a:gridCol w="2952750"/>
                <a:gridCol w="8020050"/>
              </a:tblGrid>
              <a:tr h="502920">
                <a:tc>
                  <a:txBody>
                    <a:bodyPr/>
                    <a:lstStyle/>
                    <a:p>
                      <a:r>
                        <a:rPr sz="1350" b="1">
                          <a:solidFill>
                            <a:srgbClr val="FFFFFF"/>
                          </a:solidFill>
                          <a:latin typeface="Arial"/>
                          <a:ea typeface="Arial"/>
                          <a:cs typeface="Arial"/>
                        </a:rPr>
                        <a:t>Evidence</a:t>
                      </a:r>
                    </a:p>
                  </a:txBody>
                  <a:tcPr marL="91440" marR="91440" marT="45720" marB="45720">
                    <a:solidFill>
                      <a:srgbClr val="172D3C"/>
                    </a:solidFill>
                  </a:tcPr>
                </a:tc>
                <a:tc>
                  <a:txBody>
                    <a:bodyPr/>
                    <a:lstStyle/>
                    <a:p>
                      <a:r>
                        <a:rPr sz="1350" b="1">
                          <a:solidFill>
                            <a:srgbClr val="FFFFFF"/>
                          </a:solidFill>
                          <a:latin typeface="Arial"/>
                          <a:ea typeface="Arial"/>
                          <a:cs typeface="Arial"/>
                        </a:rPr>
                        <a:t>What belongs in your answer</a:t>
                      </a:r>
                    </a:p>
                  </a:txBody>
                  <a:tcPr marL="91440" marR="91440" marT="45720" marB="45720">
                    <a:solidFill>
                      <a:srgbClr val="172D3C"/>
                    </a:solidFill>
                  </a:tcPr>
                </a:tc>
              </a:tr>
              <a:tr h="502920">
                <a:tc>
                  <a:txBody>
                    <a:bodyPr/>
                    <a:lstStyle/>
                    <a:p>
                      <a:r>
                        <a:rPr sz="1425" b="0">
                          <a:solidFill>
                            <a:srgbClr val="172D3C"/>
                          </a:solidFill>
                          <a:latin typeface="Arial"/>
                          <a:ea typeface="Arial"/>
                          <a:cs typeface="Arial"/>
                        </a:rPr>
                        <a:t>Observed customer economics</a:t>
                      </a:r>
                    </a:p>
                  </a:txBody>
                  <a:tcPr marL="91440" marR="91440" marT="45720" marB="45720">
                    <a:solidFill>
                      <a:srgbClr val="F0F5F6"/>
                    </a:solidFill>
                  </a:tcPr>
                </a:tc>
                <a:tc>
                  <a:txBody>
                    <a:bodyPr/>
                    <a:lstStyle/>
                    <a:p>
                      <a:r>
                        <a:rPr sz="1425" b="0">
                          <a:solidFill>
                            <a:srgbClr val="172D3C"/>
                          </a:solidFill>
                          <a:latin typeface="Arial"/>
                          <a:ea typeface="Arial"/>
                          <a:cs typeface="Arial"/>
                        </a:rPr>
                        <a:t>Same-age retention, revenue, contribution, CAC and cash payback.</a:t>
                      </a:r>
                    </a:p>
                  </a:txBody>
                  <a:tcPr marL="91440" marR="91440" marT="45720" marB="45720">
                    <a:solidFill>
                      <a:srgbClr val="F0F5F6"/>
                    </a:solidFill>
                  </a:tcPr>
                </a:tc>
              </a:tr>
              <a:tr h="502920">
                <a:tc>
                  <a:txBody>
                    <a:bodyPr/>
                    <a:lstStyle/>
                    <a:p>
                      <a:r>
                        <a:rPr sz="1425" b="0">
                          <a:solidFill>
                            <a:srgbClr val="172D3C"/>
                          </a:solidFill>
                          <a:latin typeface="Arial"/>
                          <a:ea typeface="Arial"/>
                          <a:cs typeface="Arial"/>
                        </a:rPr>
                        <a:t>Company dynamics</a:t>
                      </a:r>
                    </a:p>
                  </a:txBody>
                  <a:tcPr marL="91440" marR="91440" marT="45720" marB="45720">
                    <a:solidFill>
                      <a:srgbClr val="FFFFFF"/>
                    </a:solidFill>
                  </a:tcPr>
                </a:tc>
                <a:tc>
                  <a:txBody>
                    <a:bodyPr/>
                    <a:lstStyle/>
                    <a:p>
                      <a:r>
                        <a:rPr sz="1425" b="0">
                          <a:solidFill>
                            <a:srgbClr val="172D3C"/>
                          </a:solidFill>
                          <a:latin typeface="Arial"/>
                          <a:ea typeface="Arial"/>
                          <a:cs typeface="Arial"/>
                        </a:rPr>
                        <a:t>Whether retained older cohorts support the growing active base.</a:t>
                      </a:r>
                    </a:p>
                  </a:txBody>
                  <a:tcPr marL="91440" marR="91440" marT="45720" marB="45720">
                    <a:solidFill>
                      <a:srgbClr val="FFFFFF"/>
                    </a:solidFill>
                  </a:tcPr>
                </a:tc>
              </a:tr>
              <a:tr h="502920">
                <a:tc>
                  <a:txBody>
                    <a:bodyPr/>
                    <a:lstStyle/>
                    <a:p>
                      <a:r>
                        <a:rPr sz="1425" b="0">
                          <a:solidFill>
                            <a:srgbClr val="172D3C"/>
                          </a:solidFill>
                          <a:latin typeface="Arial"/>
                          <a:ea typeface="Arial"/>
                          <a:cs typeface="Arial"/>
                        </a:rPr>
                        <a:t>Predicted value</a:t>
                      </a:r>
                    </a:p>
                  </a:txBody>
                  <a:tcPr marL="91440" marR="91440" marT="45720" marB="45720">
                    <a:solidFill>
                      <a:srgbClr val="F0F5F6"/>
                    </a:solidFill>
                  </a:tcPr>
                </a:tc>
                <a:tc>
                  <a:txBody>
                    <a:bodyPr/>
                    <a:lstStyle/>
                    <a:p>
                      <a:r>
                        <a:rPr sz="1425" b="0">
                          <a:solidFill>
                            <a:srgbClr val="172D3C"/>
                          </a:solidFill>
                          <a:latin typeface="Arial"/>
                          <a:ea typeface="Arial"/>
                          <a:cs typeface="Arial"/>
                        </a:rPr>
                        <a:t>A common horizon, held-out accuracy and explicit forecast assumptions.</a:t>
                      </a:r>
                    </a:p>
                  </a:txBody>
                  <a:tcPr marL="91440" marR="91440" marT="45720" marB="45720">
                    <a:solidFill>
                      <a:srgbClr val="F0F5F6"/>
                    </a:solidFill>
                  </a:tcPr>
                </a:tc>
              </a:tr>
              <a:tr h="502920">
                <a:tc>
                  <a:txBody>
                    <a:bodyPr/>
                    <a:lstStyle/>
                    <a:p>
                      <a:r>
                        <a:rPr sz="1425" b="0">
                          <a:solidFill>
                            <a:srgbClr val="172D3C"/>
                          </a:solidFill>
                          <a:latin typeface="Arial"/>
                          <a:ea typeface="Arial"/>
                          <a:cs typeface="Arial"/>
                        </a:rPr>
                        <a:t>Experimental effects</a:t>
                      </a:r>
                    </a:p>
                  </a:txBody>
                  <a:tcPr marL="91440" marR="91440" marT="45720" marB="45720">
                    <a:solidFill>
                      <a:srgbClr val="FFFFFF"/>
                    </a:solidFill>
                  </a:tcPr>
                </a:tc>
                <a:tc>
                  <a:txBody>
                    <a:bodyPr/>
                    <a:lstStyle/>
                    <a:p>
                      <a:r>
                        <a:rPr sz="1425" b="0">
                          <a:solidFill>
                            <a:srgbClr val="172D3C"/>
                          </a:solidFill>
                          <a:latin typeface="Arial"/>
                          <a:ea typeface="Arial"/>
                          <a:cs typeface="Arial"/>
                        </a:rPr>
                        <a:t>The tested campaign’s contribution after media relative to its control.</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B6694C95-C95C-4C2F-8E81-C9A2A1CF932C}"/>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8EA9AEE-F67D-4243-8786-0D39C3884092}"/>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Record your verdict and recommended action. The LaTeX report preserves both, together with the evidence and saved SQL.</a:t>
            </a:r>
          </a:p>
        </p:txBody>
      </p:sp>
    </p:spTree>
    <p:extLst>
      <p:ext uri="{BB962C8B-B14F-4D97-AF65-F5344CB8AC3E}">
        <p14:creationId xmlns:p14="http://schemas.microsoft.com/office/powerpoint/2010/main" val="1364729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2026-10-28T21:50:30.6940000Z</dcterms:created>
  <dcterms:modified xsi:type="dcterms:W3CDTF">2026-10-28T21:50:30.6940000Z</dcterms:modified>
</coreProperties>
</file>