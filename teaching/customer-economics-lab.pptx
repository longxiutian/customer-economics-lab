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fc9a90d34ce42fe" /><Relationship Type="http://schemas.openxmlformats.org/officeDocument/2006/relationships/extended-properties" Target="/docProps/app.xml" Id="Rc199671957aa404f" /><Relationship Type="http://schemas.openxmlformats.org/officeDocument/2006/relationships/officeDocument" Target="/ppt/presentation.xml" Id="Rb2e034caa6864ac1" /></Relationships>
</file>

<file path=ppt/presentation.xml><?xml version="1.0" encoding="utf-8"?>
<p:presentation xmlns:p="http://schemas.openxmlformats.org/presentationml/2006/main">
  <p:sldMasterIdLst>
    <p:sldMasterId xmlns:r="http://schemas.openxmlformats.org/officeDocument/2006/relationships" id="2147483648" r:id="R3bc800d4db14446b"/>
  </p:sldMasterIdLst>
  <p:notesMasterIdLst>
    <p:notesMasterId xmlns:r="http://schemas.openxmlformats.org/officeDocument/2006/relationships" r:id="R9272a31030f1495f"/>
  </p:notesMasterIdLst>
  <p:sldIdLst>
    <p:sldId xmlns:r="http://schemas.openxmlformats.org/officeDocument/2006/relationships" id="256" r:id="Rc28cf4e7b7774dd3"/>
    <p:sldId xmlns:r="http://schemas.openxmlformats.org/officeDocument/2006/relationships" id="257" r:id="Rd2cc51aeca194229"/>
    <p:sldId xmlns:r="http://schemas.openxmlformats.org/officeDocument/2006/relationships" id="258" r:id="R3de4120b8461415a"/>
    <p:sldId xmlns:r="http://schemas.openxmlformats.org/officeDocument/2006/relationships" id="259" r:id="R45e4d45a43f64e13"/>
    <p:sldId xmlns:r="http://schemas.openxmlformats.org/officeDocument/2006/relationships" id="260" r:id="R6bf3cd9cd619493a"/>
    <p:sldId xmlns:r="http://schemas.openxmlformats.org/officeDocument/2006/relationships" id="261" r:id="R3cc0b7c092ad45bb"/>
    <p:sldId xmlns:r="http://schemas.openxmlformats.org/officeDocument/2006/relationships" id="262" r:id="R4ce69cef01484b69"/>
    <p:sldId xmlns:r="http://schemas.openxmlformats.org/officeDocument/2006/relationships" id="263" r:id="R8817b3932c494b70"/>
    <p:sldId xmlns:r="http://schemas.openxmlformats.org/officeDocument/2006/relationships" id="264" r:id="R9e8b119e18bb4747"/>
    <p:sldId xmlns:r="http://schemas.openxmlformats.org/officeDocument/2006/relationships" id="265" r:id="R2c9fb02ca48e4fe6"/>
    <p:sldId xmlns:r="http://schemas.openxmlformats.org/officeDocument/2006/relationships" id="266" r:id="R45c66a4c38a3473f"/>
    <p:sldId xmlns:r="http://schemas.openxmlformats.org/officeDocument/2006/relationships" id="267" r:id="R54d4d369d18e4c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36affe1e5d4684" /><Relationship Type="http://schemas.openxmlformats.org/officeDocument/2006/relationships/slideMaster" Target="/ppt/slideMasters/slideMaster1.xml" Id="R3bc800d4db14446b" /><Relationship Type="http://schemas.openxmlformats.org/officeDocument/2006/relationships/notesMaster" Target="/ppt/notesMasters/notesMaster1.xml" Id="R9272a31030f1495f" /><Relationship Type="http://schemas.openxmlformats.org/officeDocument/2006/relationships/presProps" Target="/ppt/presProps.xml" Id="R6195c871087240c8" /><Relationship Type="http://schemas.openxmlformats.org/officeDocument/2006/relationships/tableStyles" Target="/ppt/tableStyles.xml" Id="R306f1ed3485947e2" /><Relationship Type="http://schemas.openxmlformats.org/officeDocument/2006/relationships/slide" Target="/ppt/slides/slide1.xml" Id="Rc28cf4e7b7774dd3" /><Relationship Type="http://schemas.openxmlformats.org/officeDocument/2006/relationships/slide" Target="/ppt/slides/slide2.xml" Id="Rd2cc51aeca194229" /><Relationship Type="http://schemas.openxmlformats.org/officeDocument/2006/relationships/slide" Target="/ppt/slides/slide3.xml" Id="R3de4120b8461415a" /><Relationship Type="http://schemas.openxmlformats.org/officeDocument/2006/relationships/slide" Target="/ppt/slides/slide4.xml" Id="R45e4d45a43f64e13" /><Relationship Type="http://schemas.openxmlformats.org/officeDocument/2006/relationships/slide" Target="/ppt/slides/slide5.xml" Id="R6bf3cd9cd619493a" /><Relationship Type="http://schemas.openxmlformats.org/officeDocument/2006/relationships/slide" Target="/ppt/slides/slide6.xml" Id="R3cc0b7c092ad45bb" /><Relationship Type="http://schemas.openxmlformats.org/officeDocument/2006/relationships/slide" Target="/ppt/slides/slide7.xml" Id="R4ce69cef01484b69" /><Relationship Type="http://schemas.openxmlformats.org/officeDocument/2006/relationships/slide" Target="/ppt/slides/slide8.xml" Id="R8817b3932c494b70" /><Relationship Type="http://schemas.openxmlformats.org/officeDocument/2006/relationships/slide" Target="/ppt/slides/slide9.xml" Id="R9e8b119e18bb4747" /><Relationship Type="http://schemas.openxmlformats.org/officeDocument/2006/relationships/slide" Target="/ppt/slides/slide10.xml" Id="R2c9fb02ca48e4fe6" /><Relationship Type="http://schemas.openxmlformats.org/officeDocument/2006/relationships/slide" Target="/ppt/slides/slide11.xml" Id="R45c66a4c38a3473f" /><Relationship Type="http://schemas.openxmlformats.org/officeDocument/2006/relationships/slide" Target="/ppt/slides/slide12.xml" Id="R54d4d369d18e4c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7d5fed383045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9c651394084873" /><Relationship Type="http://schemas.openxmlformats.org/officeDocument/2006/relationships/notesMaster" Target="/ppt/notesMasters/notesMaster1.xml" Id="R965cc8dde6b14d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b528a4788b408b" /><Relationship Type="http://schemas.openxmlformats.org/officeDocument/2006/relationships/notesMaster" Target="/ppt/notesMasters/notesMaster1.xml" Id="R9b0e538b5ddd4b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63384040764017" /><Relationship Type="http://schemas.openxmlformats.org/officeDocument/2006/relationships/notesMaster" Target="/ppt/notesMasters/notesMaster1.xml" Id="R95ee3a51f36f49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174564bfe444b0" /><Relationship Type="http://schemas.openxmlformats.org/officeDocument/2006/relationships/notesMaster" Target="/ppt/notesMasters/notesMaster1.xml" Id="R6c9d2a36933842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5003c562f84fbc" /><Relationship Type="http://schemas.openxmlformats.org/officeDocument/2006/relationships/notesMaster" Target="/ppt/notesMasters/notesMaster1.xml" Id="Rba9a09475c0a40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f8f61d4532418a" /><Relationship Type="http://schemas.openxmlformats.org/officeDocument/2006/relationships/notesMaster" Target="/ppt/notesMasters/notesMaster1.xml" Id="R22dbe24e37ca43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5a0725063f4201" /><Relationship Type="http://schemas.openxmlformats.org/officeDocument/2006/relationships/notesMaster" Target="/ppt/notesMasters/notesMaster1.xml" Id="R7a21c7cf947a40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b799d17537e433a" /><Relationship Type="http://schemas.openxmlformats.org/officeDocument/2006/relationships/notesMaster" Target="/ppt/notesMasters/notesMaster1.xml" Id="R5d02a72a4c3544c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cd19e5d65d452e" /><Relationship Type="http://schemas.openxmlformats.org/officeDocument/2006/relationships/notesMaster" Target="/ppt/notesMasters/notesMaster1.xml" Id="R6452f46395b048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09840b125e448e" /><Relationship Type="http://schemas.openxmlformats.org/officeDocument/2006/relationships/notesMaster" Target="/ppt/notesMasters/notesMaster1.xml" Id="R203c0f8d230040a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e5de6962094cb1" /><Relationship Type="http://schemas.openxmlformats.org/officeDocument/2006/relationships/notesMaster" Target="/ppt/notesMasters/notesMaster1.xml" Id="Rea7cc2231a9347b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116a8b87ac4eff" /><Relationship Type="http://schemas.openxmlformats.org/officeDocument/2006/relationships/notesMaster" Target="/ppt/notesMasters/notesMaster1.xml" Id="R7c1b3f5deddf46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class: use uv sync --frozen and uv run for Python. Complete the CPU Python environment, Node20+, pinned Playwright/Chromium, TeX and model smoke tests. The public ZIP works without Git. Use the bundled executive-report skill and style assets. This lab begins with eight raw CSVs, not a prejoined database. Keep one AI conversation and pause after each stage until the group says next.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colors identify the teaching task. Labels repeat the color meaning so the deck does not rely on color perception alone.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80-minute route: setup2; inspect/mapCSV12; customer reasoning10; SQL/cohorts16; charts10; experiment10; model12; report8. Dependencies must be installed before class. These are time budgets, not an invitation to skip a stage automatically.</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Stage1 produces a separate UCV table for every source: Identifiers, Engagement, Relationship, Perception. Every actual field appears once; justify ambiguous operational metadata and leave absent categories empty. In this example, age_band, household_type and region are profile descriptors in Identifiers. primary_need is self-reported before acquisition. The two timestamps are relationship/provenance metadata, not acquisition dates. Open diagrams/ucv-tables.json and source-tables.html. The full ERD retains all fields, SQL types, keys and cardinality; campaign_metadata is explicitly derived. One person links to many cycles, transactions, events and responses. Aggregate campaign spending independently before joining customer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Stage2 group decision, about3minutes. Stated need directly describes the intended onboarding objective, so it is the more defensible starting representation for this design. It does not prove everyone with the same need wants the identical experience, nor establish a causal benefit of tailored onboarding. The two conceptual maps are hypotheses. At stage4 inspect the actual six-month within-group variance; the current results must be inspected rather than assuming an old ranking persists. Do not announce a predictive finding before constructing the SQL evidence.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stage3. Inspect executed.sql and at least one named derived view. The return values are not sufficient: ask the AI to explain why it joins that grain and which assertions protect the money and eligible-person denominators.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Stage3. Every one of the 24 joining cohorts is displayed. Each percentage uses the original acquired cohort as denominator. Contractual retention comes from renewal status, not a product event or a payment in a particular month. Age0 is the first paid month. December2025 has only age0 observed at the January1,2026 cutoff. A blank future age is not churn. No interpolation fills these future cells.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group decision, about3minutes. The four panels include all24 joining cohorts with red older and blue newer. Shared retained-share and customer-age axes make comparisons meaningful. Each curve stops at its observed age. Compare within channel and pre-acquisition need before attributing company-level improvement to a changing mix. Improvement in a cohort is descriptive evidence; it does not establish a causal channel effect. Use the full report to compare retained people with revenue and cash recovery. Visual grammar is inspired by the course multi-brand retention example, with original lab data and native editable charts.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tables/cohort_age_summary.csv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All24 monthly joining cohorts appear. Exact SQL cohort layers sum to company totals. Blank pre-acquisition months are displayed as zero because those customers do not yet belong to the firm. This differs from a cohort triangle’s unobserved future ages. Inspect acquisition spending and contribution as separate company series.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tables/company_month.csv</a:t>
            </a:r>
          </a:p>
          <a:p xmlns:a="http://schemas.openxmlformats.org/drawingml/2006/main">
            <a:r>
              <a:t>Saved SQL output: tables/company_totals.csv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Discuss4minutes at stage5. Read the current table before deciding. Both experiments retain all randomized prospects, including nonbuyers. The short experimental windows do not establish lifetime campaign profitability. Preserve randomized groups and follow their contribution longer, with a prespecified horizon and uncertainty. Cohort accounting payback is not incremental payback. Different populations and periods prevent treating the tests as a direct head-to-head ranking. Predicted buyer LTV is not an experimental lifetime treatment effect.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tables/experiment_effects.csv</a:t>
            </a:r>
          </a:p>
          <a:p xmlns:a="http://schemas.openxmlformats.org/drawingml/2006/main">
            <a:r>
              <a:t>Saved SQL output: tables/experiment_summary.csv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Stage6. The main inference model is hierarchical shifted Beta-Geometric, fitted with NumPyro NUTS. The positive-revenue component is Gamma. A separate Orduz-style four-hidden-unit Bayesian neural network is fitted with SVI as a benchmark; it is not the main model. The frozen article source-notebook PDF is in assets/articles/orduz-2024-cohort-revenue-retention. Lab inference adapts rather than exactly reproduces that notebook. Describe the model first; put parameters, priors, units, sampler diagnostics, uncertainty and chronological validation in the appendix. Use observed contribution where available; forecast only unobserved ages of a common12-month valuation horizon. Discount month-end receipts at1% per month, including age0 once. Cash payback is undiscounted. Model performance does not establish marketing incrementality. Do not expose private future outcomes or data-generation parameters.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tables/forecast_curve.csv</a:t>
            </a:r>
          </a:p>
          <a:p xmlns:a="http://schemas.openxmlformats.org/drawingml/2006/main">
            <a:r>
              <a:t>Saved SQL output: tables/cohort_valuation.csv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Stage7. Write final_verdict and recommended_action in the same chat; the skill must wait for next between stages. The opening executive summary describes Studio North and states a bounded managerial recommendation before technical methods. Explain the model before presenting its results. The appendix is mandatory: parameters, units, priors, uncertainty, validation, every per-dataset UCV table, source grains/keys, and reproducibility evidence. The public project carries the Source Sans / forest-green / ochre LaTeX style and executive-report skill, so students do not need the instructor’s private skill directory. No Git installation is required. The report must distinguish observed, forecast and experimental evidence. Its figures and tables should not quietly replace a student’s supported judgment. Bonus challenge: investigate an alternative CPU-capable retention or revenue model using only the observed data. Preserve the published prediction-grid schema and forecast retained customers, net revenue and contribution for January–December2026 for the existing24cohorts. This next12calendar-month target differs from the first12receipt-month LTV metric. The primary score is cohort-by-calendar-month contribution WAPE, with retention WAPE and portfolio bias as secondary checks. Future outcomes are held by the instructor, not supplied to the chat. Evaluate learning on the same rows and metrics; do not select a model after seeing private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e2184fafbf41e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1d34bc67b94bf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3e12502b8a74c6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074d3ec34804e7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004fa73b5de46b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2c754341474a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0A62AE-C7EF-415E-89E5-FEB0783D138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D3F395-1D5F-4A60-82DD-B3254C53210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C75424-E75B-49E9-8C01-282D906903F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66EB0D-997F-4959-BB52-0AB61C7E29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6DB0932-549F-420F-B7CE-425E0E5621A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C44CB97-8DE9-4D35-BB10-D60456B9CB5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42AEEF-8D26-4F3E-B17D-886F85C067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E849CA-D5DE-4997-A62B-DAA0901B019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9F07F0-1650-48FC-93C7-267E4D7CD8C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A41B2F-86D0-4E5E-89DF-13A282FBE8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d798e3181045e3" /><Relationship Type="http://schemas.openxmlformats.org/officeDocument/2006/relationships/slideLayout" Target="/ppt/slideLayouts/slideLayout1.xml" Id="R4475b56c9ad149e1" /><Relationship Type="http://schemas.openxmlformats.org/officeDocument/2006/relationships/slideLayout" Target="/ppt/slideLayouts/slideLayout2.xml" Id="Rc2b7ece405384ec3" /><Relationship Type="http://schemas.openxmlformats.org/officeDocument/2006/relationships/slideLayout" Target="/ppt/slideLayouts/slideLayout3.xml" Id="R74a35fa7f141418c" /><Relationship Type="http://schemas.openxmlformats.org/officeDocument/2006/relationships/slideLayout" Target="/ppt/slideLayouts/slideLayout4.xml" Id="R6791b3eb1c704e2f" /><Relationship Type="http://schemas.openxmlformats.org/officeDocument/2006/relationships/slideLayout" Target="/ppt/slideLayouts/slideLayout5.xml" Id="R2113f49dc0774657" /><Relationship Type="http://schemas.openxmlformats.org/officeDocument/2006/relationships/slideLayout" Target="/ppt/slideLayouts/slideLayout6.xml" Id="Ra54d6761a8ae4b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75b56c9ad149e1"/>
    <p:sldLayoutId xmlns:r="http://schemas.openxmlformats.org/officeDocument/2006/relationships" id="2147483650" r:id="Rc2b7ece405384ec3"/>
    <p:sldLayoutId xmlns:r="http://schemas.openxmlformats.org/officeDocument/2006/relationships" id="2147483651" r:id="R74a35fa7f141418c"/>
    <p:sldLayoutId xmlns:r="http://schemas.openxmlformats.org/officeDocument/2006/relationships" id="2147483652" r:id="R6791b3eb1c704e2f"/>
    <p:sldLayoutId xmlns:r="http://schemas.openxmlformats.org/officeDocument/2006/relationships" id="2147483653" r:id="R2113f49dc0774657"/>
    <p:sldLayoutId xmlns:r="http://schemas.openxmlformats.org/officeDocument/2006/relationships" id="2147483654" r:id="Ra54d6761a8ae4b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a798f0092094316" /><Relationship Type="http://schemas.openxmlformats.org/officeDocument/2006/relationships/notesSlide" Target="/ppt/notesSlides/notesSlide1.xml" Id="Rcdf00915165e4a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d4d60bd1e9648ce" /><Relationship Type="http://schemas.openxmlformats.org/officeDocument/2006/relationships/notesSlide" Target="/ppt/notesSlides/notesSlide2.xml" Id="R7659b8e559ca48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f16448b0bb24709" /><Relationship Type="http://schemas.openxmlformats.org/officeDocument/2006/relationships/notesSlide" Target="/ppt/notesSlides/notesSlide3.xml" Id="R395f489fac5844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01d98f1a2424f21" /><Relationship Type="http://schemas.openxmlformats.org/officeDocument/2006/relationships/notesSlide" Target="/ppt/notesSlides/notesSlide4.xml" Id="Rdb45193b24b64d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53a3402a4bd4728" /><Relationship Type="http://schemas.openxmlformats.org/officeDocument/2006/relationships/notesSlide" Target="/ppt/notesSlides/notesSlide5.xml" Id="R8376df9f169042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c2a97af4d2742e5" /><Relationship Type="http://schemas.openxmlformats.org/officeDocument/2006/relationships/notesSlide" Target="/ppt/notesSlides/notesSlide6.xml" Id="Rd4c0fe2164f641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abd3e21f9a342f2" /><Relationship Type="http://schemas.openxmlformats.org/officeDocument/2006/relationships/notesSlide" Target="/ppt/notesSlides/notesSlide7.xml" Id="R5def4a8901e649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d84d6341de84d39" /><Relationship Type="http://schemas.openxmlformats.org/officeDocument/2006/relationships/chart" Target="/ppt/slides/charts/chart1.xml" Id="R35d0055e30d14b67" /><Relationship Type="http://schemas.openxmlformats.org/officeDocument/2006/relationships/chart" Target="/ppt/slides/charts/chart2.xml" Id="Reffc0e0a4a134b99" /><Relationship Type="http://schemas.openxmlformats.org/officeDocument/2006/relationships/chart" Target="/ppt/slides/charts/chart3.xml" Id="Rc6a86e2b12814101" /><Relationship Type="http://schemas.openxmlformats.org/officeDocument/2006/relationships/chart" Target="/ppt/slides/charts/chart4.xml" Id="R34851d8c6bde429a" /><Relationship Type="http://schemas.openxmlformats.org/officeDocument/2006/relationships/notesSlide" Target="/ppt/notesSlides/notesSlide8.xml" Id="R747abdd3d05344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8962c6c3e4a4a02" /><Relationship Type="http://schemas.openxmlformats.org/officeDocument/2006/relationships/chart" Target="/ppt/slides/charts/chart5.xml" Id="R7c5bb6d776c44f8f" /><Relationship Type="http://schemas.openxmlformats.org/officeDocument/2006/relationships/notesSlide" Target="/ppt/notesSlides/notesSlide9.xml" Id="Rf72ae11f02f847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ef659dce1a64c63" /><Relationship Type="http://schemas.openxmlformats.org/officeDocument/2006/relationships/notesSlide" Target="/ppt/notesSlides/notesSlide10.xml" Id="Rfd892020c70846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591d1ce2df4d44" /><Relationship Type="http://schemas.openxmlformats.org/officeDocument/2006/relationships/notesSlide" Target="/ppt/notesSlides/notesSlide11.xml" Id="R2b2fcb4e98b24f1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0869cfe56734dc7" /><Relationship Type="http://schemas.openxmlformats.org/officeDocument/2006/relationships/notesSlide" Target="/ppt/notesSlides/notesSlide12.xml" Id="Re2da1022aafe49a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search / save time</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0.793103448276</c:v>
                </c:pt>
                <c:pt idx="2">
                  <c:v>0.655172413793</c:v>
                </c:pt>
                <c:pt idx="3">
                  <c:v>0.568965517241</c:v>
                </c:pt>
                <c:pt idx="4">
                  <c:v>0.465517241379</c:v>
                </c:pt>
                <c:pt idx="5">
                  <c:v>0.431034482759</c:v>
                </c:pt>
                <c:pt idx="6">
                  <c:v>0.327586206897</c:v>
                </c:pt>
                <c:pt idx="7">
                  <c:v>0.293103448276</c:v>
                </c:pt>
                <c:pt idx="8">
                  <c:v>0.241379310345</c:v>
                </c:pt>
                <c:pt idx="9">
                  <c:v>0.241379310345</c:v>
                </c:pt>
                <c:pt idx="10">
                  <c:v>0.224137931034</c:v>
                </c:pt>
                <c:pt idx="11">
                  <c:v>0.172413793103</c:v>
                </c:pt>
                <c:pt idx="12">
                  <c:v>0.172413793103</c:v>
                </c:pt>
                <c:pt idx="13">
                  <c:v>0.172413793103</c:v>
                </c:pt>
                <c:pt idx="14">
                  <c:v>0.172413793103</c:v>
                </c:pt>
                <c:pt idx="15">
                  <c:v>0.155172413793</c:v>
                </c:pt>
                <c:pt idx="16">
                  <c:v>0.155172413793</c:v>
                </c:pt>
                <c:pt idx="17">
                  <c:v>0.137931034483</c:v>
                </c:pt>
                <c:pt idx="18">
                  <c:v>0.137931034483</c:v>
                </c:pt>
                <c:pt idx="19">
                  <c:v>0.120689655172</c:v>
                </c:pt>
                <c:pt idx="20">
                  <c:v>0.120689655172</c:v>
                </c:pt>
                <c:pt idx="21">
                  <c:v>0.103448275862</c:v>
                </c:pt>
                <c:pt idx="22">
                  <c:v>0.103448275862</c:v>
                </c:pt>
                <c:pt idx="23">
                  <c:v>0.103448275862</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0.91935483871</c:v>
                </c:pt>
                <c:pt idx="2">
                  <c:v>0.822580645161</c:v>
                </c:pt>
                <c:pt idx="3">
                  <c:v>0.725806451613</c:v>
                </c:pt>
                <c:pt idx="4">
                  <c:v>0.645161290323</c:v>
                </c:pt>
                <c:pt idx="5">
                  <c:v>0.564516129032</c:v>
                </c:pt>
                <c:pt idx="6">
                  <c:v>0.5</c:v>
                </c:pt>
                <c:pt idx="7">
                  <c:v>0.483870967742</c:v>
                </c:pt>
                <c:pt idx="8">
                  <c:v>0.483870967742</c:v>
                </c:pt>
                <c:pt idx="9">
                  <c:v>0.483870967742</c:v>
                </c:pt>
                <c:pt idx="10">
                  <c:v>0.451612903226</c:v>
                </c:pt>
                <c:pt idx="11">
                  <c:v>0.435483870968</c:v>
                </c:pt>
                <c:pt idx="12">
                  <c:v>0.435483870968</c:v>
                </c:pt>
                <c:pt idx="13">
                  <c:v>0.387096774194</c:v>
                </c:pt>
                <c:pt idx="14">
                  <c:v>0.370967741935</c:v>
                </c:pt>
                <c:pt idx="15">
                  <c:v>0.354838709677</c:v>
                </c:pt>
                <c:pt idx="16">
                  <c:v>0.322580645161</c:v>
                </c:pt>
                <c:pt idx="17">
                  <c:v>0.290322580645</c:v>
                </c:pt>
                <c:pt idx="18">
                  <c:v>0.290322580645</c:v>
                </c:pt>
                <c:pt idx="19">
                  <c:v>0.258064516129</c:v>
                </c:pt>
                <c:pt idx="20">
                  <c:v>0.258064516129</c:v>
                </c:pt>
                <c:pt idx="21">
                  <c:v>0.225806451613</c:v>
                </c:pt>
                <c:pt idx="22">
                  <c:v>0.209677419355</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0.838709677419</c:v>
                </c:pt>
                <c:pt idx="2">
                  <c:v>0.758064516129</c:v>
                </c:pt>
                <c:pt idx="3">
                  <c:v>0.629032258065</c:v>
                </c:pt>
                <c:pt idx="4">
                  <c:v>0.564516129032</c:v>
                </c:pt>
                <c:pt idx="5">
                  <c:v>0.516129032258</c:v>
                </c:pt>
                <c:pt idx="6">
                  <c:v>0.467741935484</c:v>
                </c:pt>
                <c:pt idx="7">
                  <c:v>0.435483870968</c:v>
                </c:pt>
                <c:pt idx="8">
                  <c:v>0.435483870968</c:v>
                </c:pt>
                <c:pt idx="9">
                  <c:v>0.387096774194</c:v>
                </c:pt>
                <c:pt idx="10">
                  <c:v>0.370967741935</c:v>
                </c:pt>
                <c:pt idx="11">
                  <c:v>0.354838709677</c:v>
                </c:pt>
                <c:pt idx="12">
                  <c:v>0.354838709677</c:v>
                </c:pt>
                <c:pt idx="13">
                  <c:v>0.354838709677</c:v>
                </c:pt>
                <c:pt idx="14">
                  <c:v>0.354838709677</c:v>
                </c:pt>
                <c:pt idx="15">
                  <c:v>0.354838709677</c:v>
                </c:pt>
                <c:pt idx="16">
                  <c:v>0.354838709677</c:v>
                </c:pt>
                <c:pt idx="17">
                  <c:v>0.354838709677</c:v>
                </c:pt>
                <c:pt idx="18">
                  <c:v>0.338709677419</c:v>
                </c:pt>
                <c:pt idx="19">
                  <c:v>0.338709677419</c:v>
                </c:pt>
                <c:pt idx="20">
                  <c:v>0.338709677419</c:v>
                </c:pt>
                <c:pt idx="21">
                  <c:v>0.322580645161</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0.730158730159</c:v>
                </c:pt>
                <c:pt idx="2">
                  <c:v>0.650793650794</c:v>
                </c:pt>
                <c:pt idx="3">
                  <c:v>0.587301587302</c:v>
                </c:pt>
                <c:pt idx="4">
                  <c:v>0.47619047619</c:v>
                </c:pt>
                <c:pt idx="5">
                  <c:v>0.444444444444</c:v>
                </c:pt>
                <c:pt idx="6">
                  <c:v>0.396825396825</c:v>
                </c:pt>
                <c:pt idx="7">
                  <c:v>0.380952380952</c:v>
                </c:pt>
                <c:pt idx="8">
                  <c:v>0.380952380952</c:v>
                </c:pt>
                <c:pt idx="9">
                  <c:v>0.333333333333</c:v>
                </c:pt>
                <c:pt idx="10">
                  <c:v>0.301587301587</c:v>
                </c:pt>
                <c:pt idx="11">
                  <c:v>0.238095238095</c:v>
                </c:pt>
                <c:pt idx="12">
                  <c:v>0.238095238095</c:v>
                </c:pt>
                <c:pt idx="13">
                  <c:v>0.238095238095</c:v>
                </c:pt>
                <c:pt idx="14">
                  <c:v>0.190476190476</c:v>
                </c:pt>
                <c:pt idx="15">
                  <c:v>0.190476190476</c:v>
                </c:pt>
                <c:pt idx="16">
                  <c:v>0.190476190476</c:v>
                </c:pt>
                <c:pt idx="17">
                  <c:v>0.190476190476</c:v>
                </c:pt>
                <c:pt idx="18">
                  <c:v>0.190476190476</c:v>
                </c:pt>
                <c:pt idx="19">
                  <c:v>0.190476190476</c:v>
                </c:pt>
                <c:pt idx="20">
                  <c:v>0.174603174603</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0.813559322034</c:v>
                </c:pt>
                <c:pt idx="2">
                  <c:v>0.694915254237</c:v>
                </c:pt>
                <c:pt idx="3">
                  <c:v>0.610169491525</c:v>
                </c:pt>
                <c:pt idx="4">
                  <c:v>0.542372881356</c:v>
                </c:pt>
                <c:pt idx="5">
                  <c:v>0.508474576271</c:v>
                </c:pt>
                <c:pt idx="6">
                  <c:v>0.474576271186</c:v>
                </c:pt>
                <c:pt idx="7">
                  <c:v>0.406779661017</c:v>
                </c:pt>
                <c:pt idx="8">
                  <c:v>0.372881355932</c:v>
                </c:pt>
                <c:pt idx="9">
                  <c:v>0.372881355932</c:v>
                </c:pt>
                <c:pt idx="10">
                  <c:v>0.35593220339</c:v>
                </c:pt>
                <c:pt idx="11">
                  <c:v>0.35593220339</c:v>
                </c:pt>
                <c:pt idx="12">
                  <c:v>0.35593220339</c:v>
                </c:pt>
                <c:pt idx="13">
                  <c:v>0.305084745763</c:v>
                </c:pt>
                <c:pt idx="14">
                  <c:v>0.28813559322</c:v>
                </c:pt>
                <c:pt idx="15">
                  <c:v>0.28813559322</c:v>
                </c:pt>
                <c:pt idx="16">
                  <c:v>0.28813559322</c:v>
                </c:pt>
                <c:pt idx="17">
                  <c:v>0.28813559322</c:v>
                </c:pt>
                <c:pt idx="18">
                  <c:v>0.28813559322</c:v>
                </c:pt>
                <c:pt idx="19">
                  <c:v>0.271186440678</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0.810344827586</c:v>
                </c:pt>
                <c:pt idx="2">
                  <c:v>0.741379310345</c:v>
                </c:pt>
                <c:pt idx="3">
                  <c:v>0.655172413793</c:v>
                </c:pt>
                <c:pt idx="4">
                  <c:v>0.568965517241</c:v>
                </c:pt>
                <c:pt idx="5">
                  <c:v>0.534482758621</c:v>
                </c:pt>
                <c:pt idx="6">
                  <c:v>0.5</c:v>
                </c:pt>
                <c:pt idx="7">
                  <c:v>0.465517241379</c:v>
                </c:pt>
                <c:pt idx="8">
                  <c:v>0.448275862069</c:v>
                </c:pt>
                <c:pt idx="9">
                  <c:v>0.431034482759</c:v>
                </c:pt>
                <c:pt idx="10">
                  <c:v>0.396551724138</c:v>
                </c:pt>
                <c:pt idx="11">
                  <c:v>0.362068965517</c:v>
                </c:pt>
                <c:pt idx="12">
                  <c:v>0.327586206897</c:v>
                </c:pt>
                <c:pt idx="13">
                  <c:v>0.327586206897</c:v>
                </c:pt>
                <c:pt idx="14">
                  <c:v>0.293103448276</c:v>
                </c:pt>
                <c:pt idx="15">
                  <c:v>0.293103448276</c:v>
                </c:pt>
                <c:pt idx="16">
                  <c:v>0.293103448276</c:v>
                </c:pt>
                <c:pt idx="17">
                  <c:v>0.293103448276</c:v>
                </c:pt>
                <c:pt idx="18">
                  <c:v>0.258620689655</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0.830769230769</c:v>
                </c:pt>
                <c:pt idx="2">
                  <c:v>0.615384615385</c:v>
                </c:pt>
                <c:pt idx="3">
                  <c:v>0.553846153846</c:v>
                </c:pt>
                <c:pt idx="4">
                  <c:v>0.523076923077</c:v>
                </c:pt>
                <c:pt idx="5">
                  <c:v>0.507692307692</c:v>
                </c:pt>
                <c:pt idx="6">
                  <c:v>0.492307692308</c:v>
                </c:pt>
                <c:pt idx="7">
                  <c:v>0.461538461538</c:v>
                </c:pt>
                <c:pt idx="8">
                  <c:v>0.384615384615</c:v>
                </c:pt>
                <c:pt idx="9">
                  <c:v>0.353846153846</c:v>
                </c:pt>
                <c:pt idx="10">
                  <c:v>0.338461538462</c:v>
                </c:pt>
                <c:pt idx="11">
                  <c:v>0.323076923077</c:v>
                </c:pt>
                <c:pt idx="12">
                  <c:v>0.307692307692</c:v>
                </c:pt>
                <c:pt idx="13">
                  <c:v>0.292307692308</c:v>
                </c:pt>
                <c:pt idx="14">
                  <c:v>0.292307692308</c:v>
                </c:pt>
                <c:pt idx="15">
                  <c:v>0.292307692308</c:v>
                </c:pt>
                <c:pt idx="16">
                  <c:v>0.292307692308</c:v>
                </c:pt>
                <c:pt idx="17">
                  <c:v>0.276923076923</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0.9</c:v>
                </c:pt>
                <c:pt idx="2">
                  <c:v>0.814285714286</c:v>
                </c:pt>
                <c:pt idx="3">
                  <c:v>0.742857142857</c:v>
                </c:pt>
                <c:pt idx="4">
                  <c:v>0.628571428571</c:v>
                </c:pt>
                <c:pt idx="5">
                  <c:v>0.557142857143</c:v>
                </c:pt>
                <c:pt idx="6">
                  <c:v>0.5</c:v>
                </c:pt>
                <c:pt idx="7">
                  <c:v>0.471428571429</c:v>
                </c:pt>
                <c:pt idx="8">
                  <c:v>0.471428571429</c:v>
                </c:pt>
                <c:pt idx="9">
                  <c:v>0.442857142857</c:v>
                </c:pt>
                <c:pt idx="10">
                  <c:v>0.4</c:v>
                </c:pt>
                <c:pt idx="11">
                  <c:v>0.4</c:v>
                </c:pt>
                <c:pt idx="12">
                  <c:v>0.371428571429</c:v>
                </c:pt>
                <c:pt idx="13">
                  <c:v>0.314285714286</c:v>
                </c:pt>
                <c:pt idx="14">
                  <c:v>0.314285714286</c:v>
                </c:pt>
                <c:pt idx="15">
                  <c:v>0.314285714286</c:v>
                </c:pt>
                <c:pt idx="16">
                  <c:v>0.314285714286</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0.835820895522</c:v>
                </c:pt>
                <c:pt idx="2">
                  <c:v>0.761194029851</c:v>
                </c:pt>
                <c:pt idx="3">
                  <c:v>0.671641791045</c:v>
                </c:pt>
                <c:pt idx="4">
                  <c:v>0.567164179104</c:v>
                </c:pt>
                <c:pt idx="5">
                  <c:v>0.522388059701</c:v>
                </c:pt>
                <c:pt idx="6">
                  <c:v>0.44776119403</c:v>
                </c:pt>
                <c:pt idx="7">
                  <c:v>0.402985074627</c:v>
                </c:pt>
                <c:pt idx="8">
                  <c:v>0.388059701493</c:v>
                </c:pt>
                <c:pt idx="9">
                  <c:v>0.358208955224</c:v>
                </c:pt>
                <c:pt idx="10">
                  <c:v>0.328358208955</c:v>
                </c:pt>
                <c:pt idx="11">
                  <c:v>0.313432835821</c:v>
                </c:pt>
                <c:pt idx="12">
                  <c:v>0.298507462687</c:v>
                </c:pt>
                <c:pt idx="13">
                  <c:v>0.283582089552</c:v>
                </c:pt>
                <c:pt idx="14">
                  <c:v>0.268656716418</c:v>
                </c:pt>
                <c:pt idx="15">
                  <c:v>0.268656716418</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0.881578947368</c:v>
                </c:pt>
                <c:pt idx="2">
                  <c:v>0.723684210526</c:v>
                </c:pt>
                <c:pt idx="3">
                  <c:v>0.657894736842</c:v>
                </c:pt>
                <c:pt idx="4">
                  <c:v>0.605263157895</c:v>
                </c:pt>
                <c:pt idx="5">
                  <c:v>0.526315789474</c:v>
                </c:pt>
                <c:pt idx="6">
                  <c:v>0.473684210526</c:v>
                </c:pt>
                <c:pt idx="7">
                  <c:v>0.421052631579</c:v>
                </c:pt>
                <c:pt idx="8">
                  <c:v>0.394736842105</c:v>
                </c:pt>
                <c:pt idx="9">
                  <c:v>0.381578947368</c:v>
                </c:pt>
                <c:pt idx="10">
                  <c:v>0.368421052632</c:v>
                </c:pt>
                <c:pt idx="11">
                  <c:v>0.355263157895</c:v>
                </c:pt>
                <c:pt idx="12">
                  <c:v>0.355263157895</c:v>
                </c:pt>
                <c:pt idx="13">
                  <c:v>0.342105263158</c:v>
                </c:pt>
                <c:pt idx="14">
                  <c:v>0.328947368421</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0.835820895522</c:v>
                </c:pt>
                <c:pt idx="2">
                  <c:v>0.761194029851</c:v>
                </c:pt>
                <c:pt idx="3">
                  <c:v>0.671641791045</c:v>
                </c:pt>
                <c:pt idx="4">
                  <c:v>0.626865671642</c:v>
                </c:pt>
                <c:pt idx="5">
                  <c:v>0.582089552239</c:v>
                </c:pt>
                <c:pt idx="6">
                  <c:v>0.507462686567</c:v>
                </c:pt>
                <c:pt idx="7">
                  <c:v>0.492537313433</c:v>
                </c:pt>
                <c:pt idx="8">
                  <c:v>0.492537313433</c:v>
                </c:pt>
                <c:pt idx="9">
                  <c:v>0.432835820896</c:v>
                </c:pt>
                <c:pt idx="10">
                  <c:v>0.402985074627</c:v>
                </c:pt>
                <c:pt idx="11">
                  <c:v>0.402985074627</c:v>
                </c:pt>
                <c:pt idx="12">
                  <c:v>0.388059701493</c:v>
                </c:pt>
                <c:pt idx="13">
                  <c:v>0.388059701493</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0.80303030303</c:v>
                </c:pt>
                <c:pt idx="2">
                  <c:v>0.666666666667</c:v>
                </c:pt>
                <c:pt idx="3">
                  <c:v>0.515151515152</c:v>
                </c:pt>
                <c:pt idx="4">
                  <c:v>0.439393939394</c:v>
                </c:pt>
                <c:pt idx="5">
                  <c:v>0.393939393939</c:v>
                </c:pt>
                <c:pt idx="6">
                  <c:v>0.363636363636</c:v>
                </c:pt>
                <c:pt idx="7">
                  <c:v>0.333333333333</c:v>
                </c:pt>
                <c:pt idx="8">
                  <c:v>0.318181818182</c:v>
                </c:pt>
                <c:pt idx="9">
                  <c:v>0.30303030303</c:v>
                </c:pt>
                <c:pt idx="10">
                  <c:v>0.30303030303</c:v>
                </c:pt>
                <c:pt idx="11">
                  <c:v>0.30303030303</c:v>
                </c:pt>
                <c:pt idx="12">
                  <c:v>0.287878787879</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0.716417910448</c:v>
                </c:pt>
                <c:pt idx="2">
                  <c:v>0.641791044776</c:v>
                </c:pt>
                <c:pt idx="3">
                  <c:v>0.567164179104</c:v>
                </c:pt>
                <c:pt idx="4">
                  <c:v>0.522388059701</c:v>
                </c:pt>
                <c:pt idx="5">
                  <c:v>0.462686567164</c:v>
                </c:pt>
                <c:pt idx="6">
                  <c:v>0.432835820896</c:v>
                </c:pt>
                <c:pt idx="7">
                  <c:v>0.388059701493</c:v>
                </c:pt>
                <c:pt idx="8">
                  <c:v>0.373134328358</c:v>
                </c:pt>
                <c:pt idx="9">
                  <c:v>0.358208955224</c:v>
                </c:pt>
                <c:pt idx="10">
                  <c:v>0.358208955224</c:v>
                </c:pt>
                <c:pt idx="11">
                  <c:v>0.358208955224</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0.811594202899</c:v>
                </c:pt>
                <c:pt idx="2">
                  <c:v>0.710144927536</c:v>
                </c:pt>
                <c:pt idx="3">
                  <c:v>0.666666666667</c:v>
                </c:pt>
                <c:pt idx="4">
                  <c:v>0.63768115942</c:v>
                </c:pt>
                <c:pt idx="5">
                  <c:v>0.550724637681</c:v>
                </c:pt>
                <c:pt idx="6">
                  <c:v>0.449275362319</c:v>
                </c:pt>
                <c:pt idx="7">
                  <c:v>0.420289855072</c:v>
                </c:pt>
                <c:pt idx="8">
                  <c:v>0.405797101449</c:v>
                </c:pt>
                <c:pt idx="9">
                  <c:v>0.391304347826</c:v>
                </c:pt>
                <c:pt idx="10">
                  <c:v>0.36231884058</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0.753424657534</c:v>
                </c:pt>
                <c:pt idx="2">
                  <c:v>0.630136986301</c:v>
                </c:pt>
                <c:pt idx="3">
                  <c:v>0.575342465753</c:v>
                </c:pt>
                <c:pt idx="4">
                  <c:v>0.547945205479</c:v>
                </c:pt>
                <c:pt idx="5">
                  <c:v>0.520547945205</c:v>
                </c:pt>
                <c:pt idx="6">
                  <c:v>0.506849315068</c:v>
                </c:pt>
                <c:pt idx="7">
                  <c:v>0.479452054795</c:v>
                </c:pt>
                <c:pt idx="8">
                  <c:v>0.452054794521</c:v>
                </c:pt>
                <c:pt idx="9">
                  <c:v>0.41095890411</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0.826666666667</c:v>
                </c:pt>
                <c:pt idx="2">
                  <c:v>0.76</c:v>
                </c:pt>
                <c:pt idx="3">
                  <c:v>0.693333333333</c:v>
                </c:pt>
                <c:pt idx="4">
                  <c:v>0.64</c:v>
                </c:pt>
                <c:pt idx="5">
                  <c:v>0.586666666667</c:v>
                </c:pt>
                <c:pt idx="6">
                  <c:v>0.546666666667</c:v>
                </c:pt>
                <c:pt idx="7">
                  <c:v>0.506666666667</c:v>
                </c:pt>
                <c:pt idx="8">
                  <c:v>0.493333333333</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0.863636363636</c:v>
                </c:pt>
                <c:pt idx="2">
                  <c:v>0.742424242424</c:v>
                </c:pt>
                <c:pt idx="3">
                  <c:v>0.674242424242</c:v>
                </c:pt>
                <c:pt idx="4">
                  <c:v>0.636363636364</c:v>
                </c:pt>
                <c:pt idx="5">
                  <c:v>0.613636363636</c:v>
                </c:pt>
                <c:pt idx="6">
                  <c:v>0.55303030303</c:v>
                </c:pt>
                <c:pt idx="7">
                  <c:v>0.530303030303</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0.811594202899</c:v>
                </c:pt>
                <c:pt idx="2">
                  <c:v>0.753623188406</c:v>
                </c:pt>
                <c:pt idx="3">
                  <c:v>0.695652173913</c:v>
                </c:pt>
                <c:pt idx="4">
                  <c:v>0.63768115942</c:v>
                </c:pt>
                <c:pt idx="5">
                  <c:v>0.608695652174</c:v>
                </c:pt>
                <c:pt idx="6">
                  <c:v>0.579710144928</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0.866666666667</c:v>
                </c:pt>
                <c:pt idx="2">
                  <c:v>0.733333333333</c:v>
                </c:pt>
                <c:pt idx="3">
                  <c:v>0.653333333333</c:v>
                </c:pt>
                <c:pt idx="4">
                  <c:v>0.64</c:v>
                </c:pt>
                <c:pt idx="5">
                  <c:v>0.573333333333</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0.855263157895</c:v>
                </c:pt>
                <c:pt idx="2">
                  <c:v>0.802631578947</c:v>
                </c:pt>
                <c:pt idx="3">
                  <c:v>0.763157894737</c:v>
                </c:pt>
                <c:pt idx="4">
                  <c:v>0.736842105263</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0.954545454545</c:v>
                </c:pt>
                <c:pt idx="2">
                  <c:v>0.863636363636</c:v>
                </c:pt>
                <c:pt idx="3">
                  <c:v>0.787878787879</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0.894736842105</c:v>
                </c:pt>
                <c:pt idx="2">
                  <c:v>0.815789473684</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0.876712328767</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search / build skill</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0.933333333333</c:v>
                </c:pt>
                <c:pt idx="2">
                  <c:v>0.888888888889</c:v>
                </c:pt>
                <c:pt idx="3">
                  <c:v>0.755555555556</c:v>
                </c:pt>
                <c:pt idx="4">
                  <c:v>0.688888888889</c:v>
                </c:pt>
                <c:pt idx="5">
                  <c:v>0.6</c:v>
                </c:pt>
                <c:pt idx="6">
                  <c:v>0.577777777778</c:v>
                </c:pt>
                <c:pt idx="7">
                  <c:v>0.511111111111</c:v>
                </c:pt>
                <c:pt idx="8">
                  <c:v>0.466666666667</c:v>
                </c:pt>
                <c:pt idx="9">
                  <c:v>0.444444444444</c:v>
                </c:pt>
                <c:pt idx="10">
                  <c:v>0.4</c:v>
                </c:pt>
                <c:pt idx="11">
                  <c:v>0.333333333333</c:v>
                </c:pt>
                <c:pt idx="12">
                  <c:v>0.288888888889</c:v>
                </c:pt>
                <c:pt idx="13">
                  <c:v>0.288888888889</c:v>
                </c:pt>
                <c:pt idx="14">
                  <c:v>0.266666666667</c:v>
                </c:pt>
                <c:pt idx="15">
                  <c:v>0.266666666667</c:v>
                </c:pt>
                <c:pt idx="16">
                  <c:v>0.266666666667</c:v>
                </c:pt>
                <c:pt idx="17">
                  <c:v>0.266666666667</c:v>
                </c:pt>
                <c:pt idx="18">
                  <c:v>0.266666666667</c:v>
                </c:pt>
                <c:pt idx="19">
                  <c:v>0.266666666667</c:v>
                </c:pt>
                <c:pt idx="20">
                  <c:v>0.266666666667</c:v>
                </c:pt>
                <c:pt idx="21">
                  <c:v>0.266666666667</c:v>
                </c:pt>
                <c:pt idx="22">
                  <c:v>0.266666666667</c:v>
                </c:pt>
                <c:pt idx="23">
                  <c:v>0.244444444444</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0.814814814815</c:v>
                </c:pt>
                <c:pt idx="2">
                  <c:v>0.722222222222</c:v>
                </c:pt>
                <c:pt idx="3">
                  <c:v>0.666666666667</c:v>
                </c:pt>
                <c:pt idx="4">
                  <c:v>0.574074074074</c:v>
                </c:pt>
                <c:pt idx="5">
                  <c:v>0.5</c:v>
                </c:pt>
                <c:pt idx="6">
                  <c:v>0.481481481481</c:v>
                </c:pt>
                <c:pt idx="7">
                  <c:v>0.462962962963</c:v>
                </c:pt>
                <c:pt idx="8">
                  <c:v>0.462962962963</c:v>
                </c:pt>
                <c:pt idx="9">
                  <c:v>0.462962962963</c:v>
                </c:pt>
                <c:pt idx="10">
                  <c:v>0.444444444444</c:v>
                </c:pt>
                <c:pt idx="11">
                  <c:v>0.407407407407</c:v>
                </c:pt>
                <c:pt idx="12">
                  <c:v>0.37037037037</c:v>
                </c:pt>
                <c:pt idx="13">
                  <c:v>0.37037037037</c:v>
                </c:pt>
                <c:pt idx="14">
                  <c:v>0.333333333333</c:v>
                </c:pt>
                <c:pt idx="15">
                  <c:v>0.296296296296</c:v>
                </c:pt>
                <c:pt idx="16">
                  <c:v>0.296296296296</c:v>
                </c:pt>
                <c:pt idx="17">
                  <c:v>0.296296296296</c:v>
                </c:pt>
                <c:pt idx="18">
                  <c:v>0.277777777778</c:v>
                </c:pt>
                <c:pt idx="19">
                  <c:v>0.259259259259</c:v>
                </c:pt>
                <c:pt idx="20">
                  <c:v>0.259259259259</c:v>
                </c:pt>
                <c:pt idx="21">
                  <c:v>0.240740740741</c:v>
                </c:pt>
                <c:pt idx="22">
                  <c:v>0.222222222222</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0.918367346939</c:v>
                </c:pt>
                <c:pt idx="2">
                  <c:v>0.816326530612</c:v>
                </c:pt>
                <c:pt idx="3">
                  <c:v>0.795918367347</c:v>
                </c:pt>
                <c:pt idx="4">
                  <c:v>0.734693877551</c:v>
                </c:pt>
                <c:pt idx="5">
                  <c:v>0.65306122449</c:v>
                </c:pt>
                <c:pt idx="6">
                  <c:v>0.591836734694</c:v>
                </c:pt>
                <c:pt idx="7">
                  <c:v>0.591836734694</c:v>
                </c:pt>
                <c:pt idx="8">
                  <c:v>0.530612244898</c:v>
                </c:pt>
                <c:pt idx="9">
                  <c:v>0.510204081633</c:v>
                </c:pt>
                <c:pt idx="10">
                  <c:v>0.469387755102</c:v>
                </c:pt>
                <c:pt idx="11">
                  <c:v>0.469387755102</c:v>
                </c:pt>
                <c:pt idx="12">
                  <c:v>0.448979591837</c:v>
                </c:pt>
                <c:pt idx="13">
                  <c:v>0.448979591837</c:v>
                </c:pt>
                <c:pt idx="14">
                  <c:v>0.448979591837</c:v>
                </c:pt>
                <c:pt idx="15">
                  <c:v>0.448979591837</c:v>
                </c:pt>
                <c:pt idx="16">
                  <c:v>0.448979591837</c:v>
                </c:pt>
                <c:pt idx="17">
                  <c:v>0.448979591837</c:v>
                </c:pt>
                <c:pt idx="18">
                  <c:v>0.448979591837</c:v>
                </c:pt>
                <c:pt idx="19">
                  <c:v>0.428571428571</c:v>
                </c:pt>
                <c:pt idx="20">
                  <c:v>0.428571428571</c:v>
                </c:pt>
                <c:pt idx="21">
                  <c:v>0.428571428571</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0.795918367347</c:v>
                </c:pt>
                <c:pt idx="2">
                  <c:v>0.632653061224</c:v>
                </c:pt>
                <c:pt idx="3">
                  <c:v>0.551020408163</c:v>
                </c:pt>
                <c:pt idx="4">
                  <c:v>0.510204081633</c:v>
                </c:pt>
                <c:pt idx="5">
                  <c:v>0.428571428571</c:v>
                </c:pt>
                <c:pt idx="6">
                  <c:v>0.428571428571</c:v>
                </c:pt>
                <c:pt idx="7">
                  <c:v>0.428571428571</c:v>
                </c:pt>
                <c:pt idx="8">
                  <c:v>0.428571428571</c:v>
                </c:pt>
                <c:pt idx="9">
                  <c:v>0.408163265306</c:v>
                </c:pt>
                <c:pt idx="10">
                  <c:v>0.387755102041</c:v>
                </c:pt>
                <c:pt idx="11">
                  <c:v>0.34693877551</c:v>
                </c:pt>
                <c:pt idx="12">
                  <c:v>0.34693877551</c:v>
                </c:pt>
                <c:pt idx="13">
                  <c:v>0.34693877551</c:v>
                </c:pt>
                <c:pt idx="14">
                  <c:v>0.34693877551</c:v>
                </c:pt>
                <c:pt idx="15">
                  <c:v>0.30612244898</c:v>
                </c:pt>
                <c:pt idx="16">
                  <c:v>0.30612244898</c:v>
                </c:pt>
                <c:pt idx="17">
                  <c:v>0.30612244898</c:v>
                </c:pt>
                <c:pt idx="18">
                  <c:v>0.30612244898</c:v>
                </c:pt>
                <c:pt idx="19">
                  <c:v>0.285714285714</c:v>
                </c:pt>
                <c:pt idx="20">
                  <c:v>0.265306122449</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0.82</c:v>
                </c:pt>
                <c:pt idx="2">
                  <c:v>0.68</c:v>
                </c:pt>
                <c:pt idx="3">
                  <c:v>0.66</c:v>
                </c:pt>
                <c:pt idx="4">
                  <c:v>0.64</c:v>
                </c:pt>
                <c:pt idx="5">
                  <c:v>0.64</c:v>
                </c:pt>
                <c:pt idx="6">
                  <c:v>0.64</c:v>
                </c:pt>
                <c:pt idx="7">
                  <c:v>0.58</c:v>
                </c:pt>
                <c:pt idx="8">
                  <c:v>0.56</c:v>
                </c:pt>
                <c:pt idx="9">
                  <c:v>0.56</c:v>
                </c:pt>
                <c:pt idx="10">
                  <c:v>0.5</c:v>
                </c:pt>
                <c:pt idx="11">
                  <c:v>0.48</c:v>
                </c:pt>
                <c:pt idx="12">
                  <c:v>0.44</c:v>
                </c:pt>
                <c:pt idx="13">
                  <c:v>0.4</c:v>
                </c:pt>
                <c:pt idx="14">
                  <c:v>0.4</c:v>
                </c:pt>
                <c:pt idx="15">
                  <c:v>0.38</c:v>
                </c:pt>
                <c:pt idx="16">
                  <c:v>0.34</c:v>
                </c:pt>
                <c:pt idx="17">
                  <c:v>0.32</c:v>
                </c:pt>
                <c:pt idx="18">
                  <c:v>0.32</c:v>
                </c:pt>
                <c:pt idx="19">
                  <c:v>0.32</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0.923076923077</c:v>
                </c:pt>
                <c:pt idx="2">
                  <c:v>0.75</c:v>
                </c:pt>
                <c:pt idx="3">
                  <c:v>0.673076923077</c:v>
                </c:pt>
                <c:pt idx="4">
                  <c:v>0.557692307692</c:v>
                </c:pt>
                <c:pt idx="5">
                  <c:v>0.538461538462</c:v>
                </c:pt>
                <c:pt idx="6">
                  <c:v>0.538461538462</c:v>
                </c:pt>
                <c:pt idx="7">
                  <c:v>0.519230769231</c:v>
                </c:pt>
                <c:pt idx="8">
                  <c:v>0.480769230769</c:v>
                </c:pt>
                <c:pt idx="9">
                  <c:v>0.442307692308</c:v>
                </c:pt>
                <c:pt idx="10">
                  <c:v>0.423076923077</c:v>
                </c:pt>
                <c:pt idx="11">
                  <c:v>0.423076923077</c:v>
                </c:pt>
                <c:pt idx="12">
                  <c:v>0.423076923077</c:v>
                </c:pt>
                <c:pt idx="13">
                  <c:v>0.384615384615</c:v>
                </c:pt>
                <c:pt idx="14">
                  <c:v>0.365384615385</c:v>
                </c:pt>
                <c:pt idx="15">
                  <c:v>0.365384615385</c:v>
                </c:pt>
                <c:pt idx="16">
                  <c:v>0.326923076923</c:v>
                </c:pt>
                <c:pt idx="17">
                  <c:v>0.307692307692</c:v>
                </c:pt>
                <c:pt idx="18">
                  <c:v>0.288461538462</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0.896551724138</c:v>
                </c:pt>
                <c:pt idx="2">
                  <c:v>0.862068965517</c:v>
                </c:pt>
                <c:pt idx="3">
                  <c:v>0.775862068966</c:v>
                </c:pt>
                <c:pt idx="4">
                  <c:v>0.706896551724</c:v>
                </c:pt>
                <c:pt idx="5">
                  <c:v>0.689655172414</c:v>
                </c:pt>
                <c:pt idx="6">
                  <c:v>0.689655172414</c:v>
                </c:pt>
                <c:pt idx="7">
                  <c:v>0.603448275862</c:v>
                </c:pt>
                <c:pt idx="8">
                  <c:v>0.534482758621</c:v>
                </c:pt>
                <c:pt idx="9">
                  <c:v>0.448275862069</c:v>
                </c:pt>
                <c:pt idx="10">
                  <c:v>0.448275862069</c:v>
                </c:pt>
                <c:pt idx="11">
                  <c:v>0.448275862069</c:v>
                </c:pt>
                <c:pt idx="12">
                  <c:v>0.431034482759</c:v>
                </c:pt>
                <c:pt idx="13">
                  <c:v>0.431034482759</c:v>
                </c:pt>
                <c:pt idx="14">
                  <c:v>0.431034482759</c:v>
                </c:pt>
                <c:pt idx="15">
                  <c:v>0.413793103448</c:v>
                </c:pt>
                <c:pt idx="16">
                  <c:v>0.413793103448</c:v>
                </c:pt>
                <c:pt idx="17">
                  <c:v>0.413793103448</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0.77358490566</c:v>
                </c:pt>
                <c:pt idx="2">
                  <c:v>0.716981132075</c:v>
                </c:pt>
                <c:pt idx="3">
                  <c:v>0.622641509434</c:v>
                </c:pt>
                <c:pt idx="4">
                  <c:v>0.622641509434</c:v>
                </c:pt>
                <c:pt idx="5">
                  <c:v>0.603773584906</c:v>
                </c:pt>
                <c:pt idx="6">
                  <c:v>0.566037735849</c:v>
                </c:pt>
                <c:pt idx="7">
                  <c:v>0.547169811321</c:v>
                </c:pt>
                <c:pt idx="8">
                  <c:v>0.528301886792</c:v>
                </c:pt>
                <c:pt idx="9">
                  <c:v>0.528301886792</c:v>
                </c:pt>
                <c:pt idx="10">
                  <c:v>0.509433962264</c:v>
                </c:pt>
                <c:pt idx="11">
                  <c:v>0.452830188679</c:v>
                </c:pt>
                <c:pt idx="12">
                  <c:v>0.452830188679</c:v>
                </c:pt>
                <c:pt idx="13">
                  <c:v>0.433962264151</c:v>
                </c:pt>
                <c:pt idx="14">
                  <c:v>0.377358490566</c:v>
                </c:pt>
                <c:pt idx="15">
                  <c:v>0.377358490566</c:v>
                </c:pt>
                <c:pt idx="16">
                  <c:v>0.377358490566</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0.951612903226</c:v>
                </c:pt>
                <c:pt idx="2">
                  <c:v>0.854838709677</c:v>
                </c:pt>
                <c:pt idx="3">
                  <c:v>0.758064516129</c:v>
                </c:pt>
                <c:pt idx="4">
                  <c:v>0.661290322581</c:v>
                </c:pt>
                <c:pt idx="5">
                  <c:v>0.612903225806</c:v>
                </c:pt>
                <c:pt idx="6">
                  <c:v>0.564516129032</c:v>
                </c:pt>
                <c:pt idx="7">
                  <c:v>0.532258064516</c:v>
                </c:pt>
                <c:pt idx="8">
                  <c:v>0.532258064516</c:v>
                </c:pt>
                <c:pt idx="9">
                  <c:v>0.467741935484</c:v>
                </c:pt>
                <c:pt idx="10">
                  <c:v>0.467741935484</c:v>
                </c:pt>
                <c:pt idx="11">
                  <c:v>0.435483870968</c:v>
                </c:pt>
                <c:pt idx="12">
                  <c:v>0.41935483871</c:v>
                </c:pt>
                <c:pt idx="13">
                  <c:v>0.41935483871</c:v>
                </c:pt>
                <c:pt idx="14">
                  <c:v>0.403225806452</c:v>
                </c:pt>
                <c:pt idx="15">
                  <c:v>0.403225806452</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0.791044776119</c:v>
                </c:pt>
                <c:pt idx="2">
                  <c:v>0.701492537313</c:v>
                </c:pt>
                <c:pt idx="3">
                  <c:v>0.65671641791</c:v>
                </c:pt>
                <c:pt idx="4">
                  <c:v>0.597014925373</c:v>
                </c:pt>
                <c:pt idx="5">
                  <c:v>0.567164179104</c:v>
                </c:pt>
                <c:pt idx="6">
                  <c:v>0.522388059701</c:v>
                </c:pt>
                <c:pt idx="7">
                  <c:v>0.507462686567</c:v>
                </c:pt>
                <c:pt idx="8">
                  <c:v>0.477611940299</c:v>
                </c:pt>
                <c:pt idx="9">
                  <c:v>0.432835820896</c:v>
                </c:pt>
                <c:pt idx="10">
                  <c:v>0.432835820896</c:v>
                </c:pt>
                <c:pt idx="11">
                  <c:v>0.402985074627</c:v>
                </c:pt>
                <c:pt idx="12">
                  <c:v>0.358208955224</c:v>
                </c:pt>
                <c:pt idx="13">
                  <c:v>0.34328358209</c:v>
                </c:pt>
                <c:pt idx="14">
                  <c:v>0.34328358209</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0.870967741935</c:v>
                </c:pt>
                <c:pt idx="2">
                  <c:v>0.774193548387</c:v>
                </c:pt>
                <c:pt idx="3">
                  <c:v>0.725806451613</c:v>
                </c:pt>
                <c:pt idx="4">
                  <c:v>0.693548387097</c:v>
                </c:pt>
                <c:pt idx="5">
                  <c:v>0.661290322581</c:v>
                </c:pt>
                <c:pt idx="6">
                  <c:v>0.629032258065</c:v>
                </c:pt>
                <c:pt idx="7">
                  <c:v>0.596774193548</c:v>
                </c:pt>
                <c:pt idx="8">
                  <c:v>0.564516129032</c:v>
                </c:pt>
                <c:pt idx="9">
                  <c:v>0.564516129032</c:v>
                </c:pt>
                <c:pt idx="10">
                  <c:v>0.532258064516</c:v>
                </c:pt>
                <c:pt idx="11">
                  <c:v>0.516129032258</c:v>
                </c:pt>
                <c:pt idx="12">
                  <c:v>0.483870967742</c:v>
                </c:pt>
                <c:pt idx="13">
                  <c:v>0.467741935484</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0.933333333333</c:v>
                </c:pt>
                <c:pt idx="2">
                  <c:v>0.716666666667</c:v>
                </c:pt>
                <c:pt idx="3">
                  <c:v>0.65</c:v>
                </c:pt>
                <c:pt idx="4">
                  <c:v>0.6</c:v>
                </c:pt>
                <c:pt idx="5">
                  <c:v>0.516666666667</c:v>
                </c:pt>
                <c:pt idx="6">
                  <c:v>0.483333333333</c:v>
                </c:pt>
                <c:pt idx="7">
                  <c:v>0.483333333333</c:v>
                </c:pt>
                <c:pt idx="8">
                  <c:v>0.466666666667</c:v>
                </c:pt>
                <c:pt idx="9">
                  <c:v>0.466666666667</c:v>
                </c:pt>
                <c:pt idx="10">
                  <c:v>0.433333333333</c:v>
                </c:pt>
                <c:pt idx="11">
                  <c:v>0.433333333333</c:v>
                </c:pt>
                <c:pt idx="12">
                  <c:v>0.416666666667</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0.868852459016</c:v>
                </c:pt>
                <c:pt idx="2">
                  <c:v>0.770491803279</c:v>
                </c:pt>
                <c:pt idx="3">
                  <c:v>0.688524590164</c:v>
                </c:pt>
                <c:pt idx="4">
                  <c:v>0.672131147541</c:v>
                </c:pt>
                <c:pt idx="5">
                  <c:v>0.606557377049</c:v>
                </c:pt>
                <c:pt idx="6">
                  <c:v>0.573770491803</c:v>
                </c:pt>
                <c:pt idx="7">
                  <c:v>0.540983606557</c:v>
                </c:pt>
                <c:pt idx="8">
                  <c:v>0.524590163934</c:v>
                </c:pt>
                <c:pt idx="9">
                  <c:v>0.508196721311</c:v>
                </c:pt>
                <c:pt idx="10">
                  <c:v>0.475409836066</c:v>
                </c:pt>
                <c:pt idx="11">
                  <c:v>0.44262295082</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0.881355932203</c:v>
                </c:pt>
                <c:pt idx="2">
                  <c:v>0.813559322034</c:v>
                </c:pt>
                <c:pt idx="3">
                  <c:v>0.813559322034</c:v>
                </c:pt>
                <c:pt idx="4">
                  <c:v>0.762711864407</c:v>
                </c:pt>
                <c:pt idx="5">
                  <c:v>0.728813559322</c:v>
                </c:pt>
                <c:pt idx="6">
                  <c:v>0.677966101695</c:v>
                </c:pt>
                <c:pt idx="7">
                  <c:v>0.627118644068</c:v>
                </c:pt>
                <c:pt idx="8">
                  <c:v>0.593220338983</c:v>
                </c:pt>
                <c:pt idx="9">
                  <c:v>0.559322033898</c:v>
                </c:pt>
                <c:pt idx="10">
                  <c:v>0.525423728814</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0.738461538462</c:v>
                </c:pt>
                <c:pt idx="2">
                  <c:v>0.6</c:v>
                </c:pt>
                <c:pt idx="3">
                  <c:v>0.538461538462</c:v>
                </c:pt>
                <c:pt idx="4">
                  <c:v>0.507692307692</c:v>
                </c:pt>
                <c:pt idx="5">
                  <c:v>0.461538461538</c:v>
                </c:pt>
                <c:pt idx="6">
                  <c:v>0.415384615385</c:v>
                </c:pt>
                <c:pt idx="7">
                  <c:v>0.4</c:v>
                </c:pt>
                <c:pt idx="8">
                  <c:v>0.4</c:v>
                </c:pt>
                <c:pt idx="9">
                  <c:v>0.384615384615</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0.884057971014</c:v>
                </c:pt>
                <c:pt idx="2">
                  <c:v>0.855072463768</c:v>
                </c:pt>
                <c:pt idx="3">
                  <c:v>0.739130434783</c:v>
                </c:pt>
                <c:pt idx="4">
                  <c:v>0.724637681159</c:v>
                </c:pt>
                <c:pt idx="5">
                  <c:v>0.666666666667</c:v>
                </c:pt>
                <c:pt idx="6">
                  <c:v>0.63768115942</c:v>
                </c:pt>
                <c:pt idx="7">
                  <c:v>0.623188405797</c:v>
                </c:pt>
                <c:pt idx="8">
                  <c:v>0.579710144928</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0.886075949367</c:v>
                </c:pt>
                <c:pt idx="2">
                  <c:v>0.822784810127</c:v>
                </c:pt>
                <c:pt idx="3">
                  <c:v>0.73417721519</c:v>
                </c:pt>
                <c:pt idx="4">
                  <c:v>0.73417721519</c:v>
                </c:pt>
                <c:pt idx="5">
                  <c:v>0.708860759494</c:v>
                </c:pt>
                <c:pt idx="6">
                  <c:v>0.683544303797</c:v>
                </c:pt>
                <c:pt idx="7">
                  <c:v>0.658227848101</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0.915492957746</c:v>
                </c:pt>
                <c:pt idx="2">
                  <c:v>0.845070422535</c:v>
                </c:pt>
                <c:pt idx="3">
                  <c:v>0.774647887324</c:v>
                </c:pt>
                <c:pt idx="4">
                  <c:v>0.732394366197</c:v>
                </c:pt>
                <c:pt idx="5">
                  <c:v>0.676056338028</c:v>
                </c:pt>
                <c:pt idx="6">
                  <c:v>0.676056338028</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0.890410958904</c:v>
                </c:pt>
                <c:pt idx="2">
                  <c:v>0.835616438356</c:v>
                </c:pt>
                <c:pt idx="3">
                  <c:v>0.780821917808</c:v>
                </c:pt>
                <c:pt idx="4">
                  <c:v>0.739726027397</c:v>
                </c:pt>
                <c:pt idx="5">
                  <c:v>0.698630136986</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0.871428571429</c:v>
                </c:pt>
                <c:pt idx="2">
                  <c:v>0.785714285714</c:v>
                </c:pt>
                <c:pt idx="3">
                  <c:v>0.728571428571</c:v>
                </c:pt>
                <c:pt idx="4">
                  <c:v>0.685714285714</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0.906666666667</c:v>
                </c:pt>
                <c:pt idx="2">
                  <c:v>0.88</c:v>
                </c:pt>
                <c:pt idx="3">
                  <c:v>0.88</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0.948717948718</c:v>
                </c:pt>
                <c:pt idx="2">
                  <c:v>0.935897435897</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0.8625</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partner / save time</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0.863636363636</c:v>
                </c:pt>
                <c:pt idx="2">
                  <c:v>0.75</c:v>
                </c:pt>
                <c:pt idx="3">
                  <c:v>0.613636363636</c:v>
                </c:pt>
                <c:pt idx="4">
                  <c:v>0.522727272727</c:v>
                </c:pt>
                <c:pt idx="5">
                  <c:v>0.5</c:v>
                </c:pt>
                <c:pt idx="6">
                  <c:v>0.431818181818</c:v>
                </c:pt>
                <c:pt idx="7">
                  <c:v>0.431818181818</c:v>
                </c:pt>
                <c:pt idx="8">
                  <c:v>0.318181818182</c:v>
                </c:pt>
                <c:pt idx="9">
                  <c:v>0.295454545455</c:v>
                </c:pt>
                <c:pt idx="10">
                  <c:v>0.25</c:v>
                </c:pt>
                <c:pt idx="11">
                  <c:v>0.25</c:v>
                </c:pt>
                <c:pt idx="12">
                  <c:v>0.25</c:v>
                </c:pt>
                <c:pt idx="13">
                  <c:v>0.25</c:v>
                </c:pt>
                <c:pt idx="14">
                  <c:v>0.25</c:v>
                </c:pt>
                <c:pt idx="15">
                  <c:v>0.25</c:v>
                </c:pt>
                <c:pt idx="16">
                  <c:v>0.25</c:v>
                </c:pt>
                <c:pt idx="17">
                  <c:v>0.25</c:v>
                </c:pt>
                <c:pt idx="18">
                  <c:v>0.227272727273</c:v>
                </c:pt>
                <c:pt idx="19">
                  <c:v>0.204545454545</c:v>
                </c:pt>
                <c:pt idx="20">
                  <c:v>0.204545454545</c:v>
                </c:pt>
                <c:pt idx="21">
                  <c:v>0.204545454545</c:v>
                </c:pt>
                <c:pt idx="22">
                  <c:v>0.204545454545</c:v>
                </c:pt>
                <c:pt idx="23">
                  <c:v>0.204545454545</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0.869565217391</c:v>
                </c:pt>
                <c:pt idx="2">
                  <c:v>0.760869565217</c:v>
                </c:pt>
                <c:pt idx="3">
                  <c:v>0.586956521739</c:v>
                </c:pt>
                <c:pt idx="4">
                  <c:v>0.54347826087</c:v>
                </c:pt>
                <c:pt idx="5">
                  <c:v>0.478260869565</c:v>
                </c:pt>
                <c:pt idx="6">
                  <c:v>0.413043478261</c:v>
                </c:pt>
                <c:pt idx="7">
                  <c:v>0.369565217391</c:v>
                </c:pt>
                <c:pt idx="8">
                  <c:v>0.369565217391</c:v>
                </c:pt>
                <c:pt idx="9">
                  <c:v>0.326086956522</c:v>
                </c:pt>
                <c:pt idx="10">
                  <c:v>0.326086956522</c:v>
                </c:pt>
                <c:pt idx="11">
                  <c:v>0.326086956522</c:v>
                </c:pt>
                <c:pt idx="12">
                  <c:v>0.304347826087</c:v>
                </c:pt>
                <c:pt idx="13">
                  <c:v>0.304347826087</c:v>
                </c:pt>
                <c:pt idx="14">
                  <c:v>0.260869565217</c:v>
                </c:pt>
                <c:pt idx="15">
                  <c:v>0.260869565217</c:v>
                </c:pt>
                <c:pt idx="16">
                  <c:v>0.260869565217</c:v>
                </c:pt>
                <c:pt idx="17">
                  <c:v>0.260869565217</c:v>
                </c:pt>
                <c:pt idx="18">
                  <c:v>0.239130434783</c:v>
                </c:pt>
                <c:pt idx="19">
                  <c:v>0.239130434783</c:v>
                </c:pt>
                <c:pt idx="20">
                  <c:v>0.239130434783</c:v>
                </c:pt>
                <c:pt idx="21">
                  <c:v>0.239130434783</c:v>
                </c:pt>
                <c:pt idx="22">
                  <c:v>0.217391304348</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0.872340425532</c:v>
                </c:pt>
                <c:pt idx="2">
                  <c:v>0.744680851064</c:v>
                </c:pt>
                <c:pt idx="3">
                  <c:v>0.723404255319</c:v>
                </c:pt>
                <c:pt idx="4">
                  <c:v>0.68085106383</c:v>
                </c:pt>
                <c:pt idx="5">
                  <c:v>0.574468085106</c:v>
                </c:pt>
                <c:pt idx="6">
                  <c:v>0.553191489362</c:v>
                </c:pt>
                <c:pt idx="7">
                  <c:v>0.553191489362</c:v>
                </c:pt>
                <c:pt idx="8">
                  <c:v>0.510638297872</c:v>
                </c:pt>
                <c:pt idx="9">
                  <c:v>0.489361702128</c:v>
                </c:pt>
                <c:pt idx="10">
                  <c:v>0.489361702128</c:v>
                </c:pt>
                <c:pt idx="11">
                  <c:v>0.468085106383</c:v>
                </c:pt>
                <c:pt idx="12">
                  <c:v>0.446808510638</c:v>
                </c:pt>
                <c:pt idx="13">
                  <c:v>0.425531914894</c:v>
                </c:pt>
                <c:pt idx="14">
                  <c:v>0.425531914894</c:v>
                </c:pt>
                <c:pt idx="15">
                  <c:v>0.425531914894</c:v>
                </c:pt>
                <c:pt idx="16">
                  <c:v>0.425531914894</c:v>
                </c:pt>
                <c:pt idx="17">
                  <c:v>0.425531914894</c:v>
                </c:pt>
                <c:pt idx="18">
                  <c:v>0.404255319149</c:v>
                </c:pt>
                <c:pt idx="19">
                  <c:v>0.404255319149</c:v>
                </c:pt>
                <c:pt idx="20">
                  <c:v>0.382978723404</c:v>
                </c:pt>
                <c:pt idx="21">
                  <c:v>0.340425531915</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0.816326530612</c:v>
                </c:pt>
                <c:pt idx="2">
                  <c:v>0.673469387755</c:v>
                </c:pt>
                <c:pt idx="3">
                  <c:v>0.673469387755</c:v>
                </c:pt>
                <c:pt idx="4">
                  <c:v>0.65306122449</c:v>
                </c:pt>
                <c:pt idx="5">
                  <c:v>0.612244897959</c:v>
                </c:pt>
                <c:pt idx="6">
                  <c:v>0.591836734694</c:v>
                </c:pt>
                <c:pt idx="7">
                  <c:v>0.551020408163</c:v>
                </c:pt>
                <c:pt idx="8">
                  <c:v>0.510204081633</c:v>
                </c:pt>
                <c:pt idx="9">
                  <c:v>0.489795918367</c:v>
                </c:pt>
                <c:pt idx="10">
                  <c:v>0.469387755102</c:v>
                </c:pt>
                <c:pt idx="11">
                  <c:v>0.428571428571</c:v>
                </c:pt>
                <c:pt idx="12">
                  <c:v>0.387755102041</c:v>
                </c:pt>
                <c:pt idx="13">
                  <c:v>0.387755102041</c:v>
                </c:pt>
                <c:pt idx="14">
                  <c:v>0.387755102041</c:v>
                </c:pt>
                <c:pt idx="15">
                  <c:v>0.387755102041</c:v>
                </c:pt>
                <c:pt idx="16">
                  <c:v>0.387755102041</c:v>
                </c:pt>
                <c:pt idx="17">
                  <c:v>0.367346938776</c:v>
                </c:pt>
                <c:pt idx="18">
                  <c:v>0.367346938776</c:v>
                </c:pt>
                <c:pt idx="19">
                  <c:v>0.326530612245</c:v>
                </c:pt>
                <c:pt idx="20">
                  <c:v>0.30612244898</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0.791666666667</c:v>
                </c:pt>
                <c:pt idx="2">
                  <c:v>0.708333333333</c:v>
                </c:pt>
                <c:pt idx="3">
                  <c:v>0.666666666667</c:v>
                </c:pt>
                <c:pt idx="4">
                  <c:v>0.604166666667</c:v>
                </c:pt>
                <c:pt idx="5">
                  <c:v>0.5625</c:v>
                </c:pt>
                <c:pt idx="6">
                  <c:v>0.5625</c:v>
                </c:pt>
                <c:pt idx="7">
                  <c:v>0.520833333333</c:v>
                </c:pt>
                <c:pt idx="8">
                  <c:v>0.479166666667</c:v>
                </c:pt>
                <c:pt idx="9">
                  <c:v>0.4375</c:v>
                </c:pt>
                <c:pt idx="10">
                  <c:v>0.416666666667</c:v>
                </c:pt>
                <c:pt idx="11">
                  <c:v>0.416666666667</c:v>
                </c:pt>
                <c:pt idx="12">
                  <c:v>0.395833333333</c:v>
                </c:pt>
                <c:pt idx="13">
                  <c:v>0.354166666667</c:v>
                </c:pt>
                <c:pt idx="14">
                  <c:v>0.354166666667</c:v>
                </c:pt>
                <c:pt idx="15">
                  <c:v>0.333333333333</c:v>
                </c:pt>
                <c:pt idx="16">
                  <c:v>0.333333333333</c:v>
                </c:pt>
                <c:pt idx="17">
                  <c:v>0.333333333333</c:v>
                </c:pt>
                <c:pt idx="18">
                  <c:v>0.3125</c:v>
                </c:pt>
                <c:pt idx="19">
                  <c:v>0.291666666667</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0.840909090909</c:v>
                </c:pt>
                <c:pt idx="2">
                  <c:v>0.659090909091</c:v>
                </c:pt>
                <c:pt idx="3">
                  <c:v>0.590909090909</c:v>
                </c:pt>
                <c:pt idx="4">
                  <c:v>0.522727272727</c:v>
                </c:pt>
                <c:pt idx="5">
                  <c:v>0.454545454545</c:v>
                </c:pt>
                <c:pt idx="6">
                  <c:v>0.431818181818</c:v>
                </c:pt>
                <c:pt idx="7">
                  <c:v>0.409090909091</c:v>
                </c:pt>
                <c:pt idx="8">
                  <c:v>0.409090909091</c:v>
                </c:pt>
                <c:pt idx="9">
                  <c:v>0.409090909091</c:v>
                </c:pt>
                <c:pt idx="10">
                  <c:v>0.386363636364</c:v>
                </c:pt>
                <c:pt idx="11">
                  <c:v>0.363636363636</c:v>
                </c:pt>
                <c:pt idx="12">
                  <c:v>0.363636363636</c:v>
                </c:pt>
                <c:pt idx="13">
                  <c:v>0.340909090909</c:v>
                </c:pt>
                <c:pt idx="14">
                  <c:v>0.340909090909</c:v>
                </c:pt>
                <c:pt idx="15">
                  <c:v>0.340909090909</c:v>
                </c:pt>
                <c:pt idx="16">
                  <c:v>0.318181818182</c:v>
                </c:pt>
                <c:pt idx="17">
                  <c:v>0.318181818182</c:v>
                </c:pt>
                <c:pt idx="18">
                  <c:v>0.295454545455</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0.886363636364</c:v>
                </c:pt>
                <c:pt idx="2">
                  <c:v>0.795454545455</c:v>
                </c:pt>
                <c:pt idx="3">
                  <c:v>0.75</c:v>
                </c:pt>
                <c:pt idx="4">
                  <c:v>0.704545454545</c:v>
                </c:pt>
                <c:pt idx="5">
                  <c:v>0.636363636364</c:v>
                </c:pt>
                <c:pt idx="6">
                  <c:v>0.568181818182</c:v>
                </c:pt>
                <c:pt idx="7">
                  <c:v>0.568181818182</c:v>
                </c:pt>
                <c:pt idx="8">
                  <c:v>0.5</c:v>
                </c:pt>
                <c:pt idx="9">
                  <c:v>0.431818181818</c:v>
                </c:pt>
                <c:pt idx="10">
                  <c:v>0.409090909091</c:v>
                </c:pt>
                <c:pt idx="11">
                  <c:v>0.409090909091</c:v>
                </c:pt>
                <c:pt idx="12">
                  <c:v>0.409090909091</c:v>
                </c:pt>
                <c:pt idx="13">
                  <c:v>0.409090909091</c:v>
                </c:pt>
                <c:pt idx="14">
                  <c:v>0.409090909091</c:v>
                </c:pt>
                <c:pt idx="15">
                  <c:v>0.409090909091</c:v>
                </c:pt>
                <c:pt idx="16">
                  <c:v>0.363636363636</c:v>
                </c:pt>
                <c:pt idx="17">
                  <c:v>0.363636363636</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0.846153846154</c:v>
                </c:pt>
                <c:pt idx="2">
                  <c:v>0.711538461538</c:v>
                </c:pt>
                <c:pt idx="3">
                  <c:v>0.653846153846</c:v>
                </c:pt>
                <c:pt idx="4">
                  <c:v>0.596153846154</c:v>
                </c:pt>
                <c:pt idx="5">
                  <c:v>0.557692307692</c:v>
                </c:pt>
                <c:pt idx="6">
                  <c:v>0.519230769231</c:v>
                </c:pt>
                <c:pt idx="7">
                  <c:v>0.5</c:v>
                </c:pt>
                <c:pt idx="8">
                  <c:v>0.480769230769</c:v>
                </c:pt>
                <c:pt idx="9">
                  <c:v>0.480769230769</c:v>
                </c:pt>
                <c:pt idx="10">
                  <c:v>0.403846153846</c:v>
                </c:pt>
                <c:pt idx="11">
                  <c:v>0.384615384615</c:v>
                </c:pt>
                <c:pt idx="12">
                  <c:v>0.365384615385</c:v>
                </c:pt>
                <c:pt idx="13">
                  <c:v>0.365384615385</c:v>
                </c:pt>
                <c:pt idx="14">
                  <c:v>0.346153846154</c:v>
                </c:pt>
                <c:pt idx="15">
                  <c:v>0.326923076923</c:v>
                </c:pt>
                <c:pt idx="16">
                  <c:v>0.288461538462</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0.882352941176</c:v>
                </c:pt>
                <c:pt idx="2">
                  <c:v>0.78431372549</c:v>
                </c:pt>
                <c:pt idx="3">
                  <c:v>0.725490196078</c:v>
                </c:pt>
                <c:pt idx="4">
                  <c:v>0.725490196078</c:v>
                </c:pt>
                <c:pt idx="5">
                  <c:v>0.666666666667</c:v>
                </c:pt>
                <c:pt idx="6">
                  <c:v>0.647058823529</c:v>
                </c:pt>
                <c:pt idx="7">
                  <c:v>0.627450980392</c:v>
                </c:pt>
                <c:pt idx="8">
                  <c:v>0.627450980392</c:v>
                </c:pt>
                <c:pt idx="9">
                  <c:v>0.607843137255</c:v>
                </c:pt>
                <c:pt idx="10">
                  <c:v>0.607843137255</c:v>
                </c:pt>
                <c:pt idx="11">
                  <c:v>0.607843137255</c:v>
                </c:pt>
                <c:pt idx="12">
                  <c:v>0.588235294118</c:v>
                </c:pt>
                <c:pt idx="13">
                  <c:v>0.529411764706</c:v>
                </c:pt>
                <c:pt idx="14">
                  <c:v>0.529411764706</c:v>
                </c:pt>
                <c:pt idx="15">
                  <c:v>0.509803921569</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0.924528301887</c:v>
                </c:pt>
                <c:pt idx="2">
                  <c:v>0.792452830189</c:v>
                </c:pt>
                <c:pt idx="3">
                  <c:v>0.735849056604</c:v>
                </c:pt>
                <c:pt idx="4">
                  <c:v>0.660377358491</c:v>
                </c:pt>
                <c:pt idx="5">
                  <c:v>0.622641509434</c:v>
                </c:pt>
                <c:pt idx="6">
                  <c:v>0.603773584906</c:v>
                </c:pt>
                <c:pt idx="7">
                  <c:v>0.566037735849</c:v>
                </c:pt>
                <c:pt idx="8">
                  <c:v>0.509433962264</c:v>
                </c:pt>
                <c:pt idx="9">
                  <c:v>0.509433962264</c:v>
                </c:pt>
                <c:pt idx="10">
                  <c:v>0.490566037736</c:v>
                </c:pt>
                <c:pt idx="11">
                  <c:v>0.471698113208</c:v>
                </c:pt>
                <c:pt idx="12">
                  <c:v>0.452830188679</c:v>
                </c:pt>
                <c:pt idx="13">
                  <c:v>0.415094339623</c:v>
                </c:pt>
                <c:pt idx="14">
                  <c:v>0.415094339623</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0.862068965517</c:v>
                </c:pt>
                <c:pt idx="2">
                  <c:v>0.724137931034</c:v>
                </c:pt>
                <c:pt idx="3">
                  <c:v>0.637931034483</c:v>
                </c:pt>
                <c:pt idx="4">
                  <c:v>0.586206896552</c:v>
                </c:pt>
                <c:pt idx="5">
                  <c:v>0.5</c:v>
                </c:pt>
                <c:pt idx="6">
                  <c:v>0.48275862069</c:v>
                </c:pt>
                <c:pt idx="7">
                  <c:v>0.396551724138</c:v>
                </c:pt>
                <c:pt idx="8">
                  <c:v>0.379310344828</c:v>
                </c:pt>
                <c:pt idx="9">
                  <c:v>0.379310344828</c:v>
                </c:pt>
                <c:pt idx="10">
                  <c:v>0.344827586207</c:v>
                </c:pt>
                <c:pt idx="11">
                  <c:v>0.344827586207</c:v>
                </c:pt>
                <c:pt idx="12">
                  <c:v>0.327586206897</c:v>
                </c:pt>
                <c:pt idx="13">
                  <c:v>0.310344827586</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0.833333333333</c:v>
                </c:pt>
                <c:pt idx="2">
                  <c:v>0.703703703704</c:v>
                </c:pt>
                <c:pt idx="3">
                  <c:v>0.611111111111</c:v>
                </c:pt>
                <c:pt idx="4">
                  <c:v>0.518518518519</c:v>
                </c:pt>
                <c:pt idx="5">
                  <c:v>0.518518518519</c:v>
                </c:pt>
                <c:pt idx="6">
                  <c:v>0.425925925926</c:v>
                </c:pt>
                <c:pt idx="7">
                  <c:v>0.388888888889</c:v>
                </c:pt>
                <c:pt idx="8">
                  <c:v>0.351851851852</c:v>
                </c:pt>
                <c:pt idx="9">
                  <c:v>0.351851851852</c:v>
                </c:pt>
                <c:pt idx="10">
                  <c:v>0.333333333333</c:v>
                </c:pt>
                <c:pt idx="11">
                  <c:v>0.333333333333</c:v>
                </c:pt>
                <c:pt idx="12">
                  <c:v>0.314814814815</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0.814814814815</c:v>
                </c:pt>
                <c:pt idx="2">
                  <c:v>0.648148148148</c:v>
                </c:pt>
                <c:pt idx="3">
                  <c:v>0.574074074074</c:v>
                </c:pt>
                <c:pt idx="4">
                  <c:v>0.481481481481</c:v>
                </c:pt>
                <c:pt idx="5">
                  <c:v>0.481481481481</c:v>
                </c:pt>
                <c:pt idx="6">
                  <c:v>0.481481481481</c:v>
                </c:pt>
                <c:pt idx="7">
                  <c:v>0.481481481481</c:v>
                </c:pt>
                <c:pt idx="8">
                  <c:v>0.481481481481</c:v>
                </c:pt>
                <c:pt idx="9">
                  <c:v>0.425925925926</c:v>
                </c:pt>
                <c:pt idx="10">
                  <c:v>0.407407407407</c:v>
                </c:pt>
                <c:pt idx="11">
                  <c:v>0.407407407407</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0.811320754717</c:v>
                </c:pt>
                <c:pt idx="2">
                  <c:v>0.735849056604</c:v>
                </c:pt>
                <c:pt idx="3">
                  <c:v>0.716981132075</c:v>
                </c:pt>
                <c:pt idx="4">
                  <c:v>0.660377358491</c:v>
                </c:pt>
                <c:pt idx="5">
                  <c:v>0.622641509434</c:v>
                </c:pt>
                <c:pt idx="6">
                  <c:v>0.584905660377</c:v>
                </c:pt>
                <c:pt idx="7">
                  <c:v>0.547169811321</c:v>
                </c:pt>
                <c:pt idx="8">
                  <c:v>0.490566037736</c:v>
                </c:pt>
                <c:pt idx="9">
                  <c:v>0.490566037736</c:v>
                </c:pt>
                <c:pt idx="10">
                  <c:v>0.471698113208</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0.849056603774</c:v>
                </c:pt>
                <c:pt idx="2">
                  <c:v>0.811320754717</c:v>
                </c:pt>
                <c:pt idx="3">
                  <c:v>0.754716981132</c:v>
                </c:pt>
                <c:pt idx="4">
                  <c:v>0.698113207547</c:v>
                </c:pt>
                <c:pt idx="5">
                  <c:v>0.679245283019</c:v>
                </c:pt>
                <c:pt idx="6">
                  <c:v>0.641509433962</c:v>
                </c:pt>
                <c:pt idx="7">
                  <c:v>0.622641509434</c:v>
                </c:pt>
                <c:pt idx="8">
                  <c:v>0.603773584906</c:v>
                </c:pt>
                <c:pt idx="9">
                  <c:v>0.584905660377</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0.789473684211</c:v>
                </c:pt>
                <c:pt idx="2">
                  <c:v>0.754385964912</c:v>
                </c:pt>
                <c:pt idx="3">
                  <c:v>0.666666666667</c:v>
                </c:pt>
                <c:pt idx="4">
                  <c:v>0.631578947368</c:v>
                </c:pt>
                <c:pt idx="5">
                  <c:v>0.578947368421</c:v>
                </c:pt>
                <c:pt idx="6">
                  <c:v>0.543859649123</c:v>
                </c:pt>
                <c:pt idx="7">
                  <c:v>0.491228070175</c:v>
                </c:pt>
                <c:pt idx="8">
                  <c:v>0.473684210526</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0.95</c:v>
                </c:pt>
                <c:pt idx="2">
                  <c:v>0.9</c:v>
                </c:pt>
                <c:pt idx="3">
                  <c:v>0.816666666667</c:v>
                </c:pt>
                <c:pt idx="4">
                  <c:v>0.75</c:v>
                </c:pt>
                <c:pt idx="5">
                  <c:v>0.716666666667</c:v>
                </c:pt>
                <c:pt idx="6">
                  <c:v>0.683333333333</c:v>
                </c:pt>
                <c:pt idx="7">
                  <c:v>0.666666666667</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0.898305084746</c:v>
                </c:pt>
                <c:pt idx="2">
                  <c:v>0.830508474576</c:v>
                </c:pt>
                <c:pt idx="3">
                  <c:v>0.745762711864</c:v>
                </c:pt>
                <c:pt idx="4">
                  <c:v>0.728813559322</c:v>
                </c:pt>
                <c:pt idx="5">
                  <c:v>0.694915254237</c:v>
                </c:pt>
                <c:pt idx="6">
                  <c:v>0.677966101695</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0.847457627119</c:v>
                </c:pt>
                <c:pt idx="2">
                  <c:v>0.728813559322</c:v>
                </c:pt>
                <c:pt idx="3">
                  <c:v>0.694915254237</c:v>
                </c:pt>
                <c:pt idx="4">
                  <c:v>0.677966101695</c:v>
                </c:pt>
                <c:pt idx="5">
                  <c:v>0.661016949153</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0.909090909091</c:v>
                </c:pt>
                <c:pt idx="2">
                  <c:v>0.836363636364</c:v>
                </c:pt>
                <c:pt idx="3">
                  <c:v>0.745454545455</c:v>
                </c:pt>
                <c:pt idx="4">
                  <c:v>0.690909090909</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0.96875</c:v>
                </c:pt>
                <c:pt idx="2">
                  <c:v>0.890625</c:v>
                </c:pt>
                <c:pt idx="3">
                  <c:v>0.828125</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0.967741935484</c:v>
                </c:pt>
                <c:pt idx="2">
                  <c:v>0.91935483871</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0.909090909091</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425" b="1">
                <a:solidFill>
                  <a:srgbClr val="172D3C"/>
                </a:solidFill>
                <a:latin typeface="Arial"/>
                <a:ea typeface="Arial"/>
                <a:cs typeface="Arial"/>
              </a:rPr>
              <a:t>partner / build skill</a:t>
            </a:r>
          </a:p>
        </c:rich>
      </c:tx>
      <c:overlay val="0"/>
      <c:txPr>
        <a:bodyPr xmlns:a="http://schemas.openxmlformats.org/drawingml/2006/main" anchorCtr="1"/>
        <a:lstStyle xmlns:a="http://schemas.openxmlformats.org/drawingml/2006/main"/>
        <a:p xmlns:a="http://schemas.openxmlformats.org/drawingml/2006/main">
          <a:pPr>
            <a:defRPr sz="142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1906">
              <a:solidFill>
                <a:srgbClr val="B44041"/>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c:v>
                </c:pt>
                <c:pt idx="1">
                  <c:v>0.875</c:v>
                </c:pt>
                <c:pt idx="2">
                  <c:v>0.71875</c:v>
                </c:pt>
                <c:pt idx="3">
                  <c:v>0.625</c:v>
                </c:pt>
                <c:pt idx="4">
                  <c:v>0.53125</c:v>
                </c:pt>
                <c:pt idx="5">
                  <c:v>0.5</c:v>
                </c:pt>
                <c:pt idx="6">
                  <c:v>0.5</c:v>
                </c:pt>
                <c:pt idx="7">
                  <c:v>0.46875</c:v>
                </c:pt>
                <c:pt idx="8">
                  <c:v>0.4375</c:v>
                </c:pt>
                <c:pt idx="9">
                  <c:v>0.375</c:v>
                </c:pt>
                <c:pt idx="10">
                  <c:v>0.375</c:v>
                </c:pt>
                <c:pt idx="11">
                  <c:v>0.34375</c:v>
                </c:pt>
                <c:pt idx="12">
                  <c:v>0.34375</c:v>
                </c:pt>
                <c:pt idx="13">
                  <c:v>0.34375</c:v>
                </c:pt>
                <c:pt idx="14">
                  <c:v>0.3125</c:v>
                </c:pt>
                <c:pt idx="15">
                  <c:v>0.3125</c:v>
                </c:pt>
                <c:pt idx="16">
                  <c:v>0.25</c:v>
                </c:pt>
                <c:pt idx="17">
                  <c:v>0.25</c:v>
                </c:pt>
                <c:pt idx="18">
                  <c:v>0.25</c:v>
                </c:pt>
                <c:pt idx="19">
                  <c:v>0.25</c:v>
                </c:pt>
                <c:pt idx="20">
                  <c:v>0.25</c:v>
                </c:pt>
                <c:pt idx="21">
                  <c:v>0.25</c:v>
                </c:pt>
                <c:pt idx="22">
                  <c:v>0.25</c:v>
                </c:pt>
                <c:pt idx="23">
                  <c:v>0.25</c:v>
                </c:pt>
              </c:numCache>
            </c:numRef>
          </c:val>
          <c:smooth val="0"/>
        </c:ser>
        <c:ser>
          <c:idx val="1"/>
          <c:order val="1"/>
          <c:tx>
            <c:v>2024-02</c:v>
          </c:tx>
          <c:spPr>
            <a:ln xmlns:a="http://schemas.openxmlformats.org/drawingml/2006/main" w="11906">
              <a:solidFill>
                <a:srgbClr val="AE4246"/>
              </a:solidFill>
            </a:ln>
          </c:spPr>
          <c:marker>
            <c:symbol val="none"/>
          </c:marker>
          <c:cat>
            <c:numRef>
              <c:f>'Chart Data'!$C$2:$C$24</c:f>
              <c:numCache>
                <c:formatCode>0</c:formatCode>
                <c:ptCount val="23"/>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numCache>
            </c:numRef>
          </c:cat>
          <c:val>
            <c:numRef>
              <c:f>'Chart Data'!$D$2:$D$24</c:f>
              <c:numCache>
                <c:formatCode>0%</c:formatCode>
                <c:ptCount val="23"/>
                <c:pt idx="0">
                  <c:v>1</c:v>
                </c:pt>
                <c:pt idx="1">
                  <c:v>0.806451612903</c:v>
                </c:pt>
                <c:pt idx="2">
                  <c:v>0.709677419355</c:v>
                </c:pt>
                <c:pt idx="3">
                  <c:v>0.677419354839</c:v>
                </c:pt>
                <c:pt idx="4">
                  <c:v>0.548387096774</c:v>
                </c:pt>
                <c:pt idx="5">
                  <c:v>0.516129032258</c:v>
                </c:pt>
                <c:pt idx="6">
                  <c:v>0.451612903226</c:v>
                </c:pt>
                <c:pt idx="7">
                  <c:v>0.451612903226</c:v>
                </c:pt>
                <c:pt idx="8">
                  <c:v>0.41935483871</c:v>
                </c:pt>
                <c:pt idx="9">
                  <c:v>0.387096774194</c:v>
                </c:pt>
                <c:pt idx="10">
                  <c:v>0.354838709677</c:v>
                </c:pt>
                <c:pt idx="11">
                  <c:v>0.354838709677</c:v>
                </c:pt>
                <c:pt idx="12">
                  <c:v>0.354838709677</c:v>
                </c:pt>
                <c:pt idx="13">
                  <c:v>0.354838709677</c:v>
                </c:pt>
                <c:pt idx="14">
                  <c:v>0.322580645161</c:v>
                </c:pt>
                <c:pt idx="15">
                  <c:v>0.322580645161</c:v>
                </c:pt>
                <c:pt idx="16">
                  <c:v>0.322580645161</c:v>
                </c:pt>
                <c:pt idx="17">
                  <c:v>0.322580645161</c:v>
                </c:pt>
                <c:pt idx="18">
                  <c:v>0.258064516129</c:v>
                </c:pt>
                <c:pt idx="19">
                  <c:v>0.258064516129</c:v>
                </c:pt>
                <c:pt idx="20">
                  <c:v>0.258064516129</c:v>
                </c:pt>
                <c:pt idx="21">
                  <c:v>0.225806451613</c:v>
                </c:pt>
                <c:pt idx="22">
                  <c:v>0.193548387097</c:v>
                </c:pt>
              </c:numCache>
            </c:numRef>
          </c:val>
          <c:smooth val="0"/>
        </c:ser>
        <c:ser>
          <c:idx val="2"/>
          <c:order val="2"/>
          <c:tx>
            <c:v>2024-03</c:v>
          </c:tx>
          <c:spPr>
            <a:ln xmlns:a="http://schemas.openxmlformats.org/drawingml/2006/main" w="11906">
              <a:solidFill>
                <a:srgbClr val="A8434A"/>
              </a:solidFill>
            </a:ln>
          </c:spPr>
          <c:marker>
            <c:symbol val="none"/>
          </c:marker>
          <c:cat>
            <c:numRef>
              <c:f>'Chart Data'!$E$2:$E$23</c:f>
              <c:numCache>
                <c:formatCode>0</c:formatCode>
                <c:ptCount val="22"/>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numCache>
            </c:numRef>
          </c:cat>
          <c:val>
            <c:numRef>
              <c:f>'Chart Data'!$F$2:$F$23</c:f>
              <c:numCache>
                <c:formatCode>0%</c:formatCode>
                <c:ptCount val="22"/>
                <c:pt idx="0">
                  <c:v>1</c:v>
                </c:pt>
                <c:pt idx="1">
                  <c:v>0.944444444444</c:v>
                </c:pt>
                <c:pt idx="2">
                  <c:v>0.805555555556</c:v>
                </c:pt>
                <c:pt idx="3">
                  <c:v>0.75</c:v>
                </c:pt>
                <c:pt idx="4">
                  <c:v>0.75</c:v>
                </c:pt>
                <c:pt idx="5">
                  <c:v>0.666666666667</c:v>
                </c:pt>
                <c:pt idx="6">
                  <c:v>0.666666666667</c:v>
                </c:pt>
                <c:pt idx="7">
                  <c:v>0.638888888889</c:v>
                </c:pt>
                <c:pt idx="8">
                  <c:v>0.638888888889</c:v>
                </c:pt>
                <c:pt idx="9">
                  <c:v>0.638888888889</c:v>
                </c:pt>
                <c:pt idx="10">
                  <c:v>0.611111111111</c:v>
                </c:pt>
                <c:pt idx="11">
                  <c:v>0.611111111111</c:v>
                </c:pt>
                <c:pt idx="12">
                  <c:v>0.555555555556</c:v>
                </c:pt>
                <c:pt idx="13">
                  <c:v>0.527777777778</c:v>
                </c:pt>
                <c:pt idx="14">
                  <c:v>0.472222222222</c:v>
                </c:pt>
                <c:pt idx="15">
                  <c:v>0.472222222222</c:v>
                </c:pt>
                <c:pt idx="16">
                  <c:v>0.416666666667</c:v>
                </c:pt>
                <c:pt idx="17">
                  <c:v>0.416666666667</c:v>
                </c:pt>
                <c:pt idx="18">
                  <c:v>0.416666666667</c:v>
                </c:pt>
                <c:pt idx="19">
                  <c:v>0.416666666667</c:v>
                </c:pt>
                <c:pt idx="20">
                  <c:v>0.388888888889</c:v>
                </c:pt>
                <c:pt idx="21">
                  <c:v>0.388888888889</c:v>
                </c:pt>
              </c:numCache>
            </c:numRef>
          </c:val>
          <c:smooth val="0"/>
        </c:ser>
        <c:ser>
          <c:idx val="3"/>
          <c:order val="3"/>
          <c:tx>
            <c:v>2024-04</c:v>
          </c:tx>
          <c:spPr>
            <a:ln xmlns:a="http://schemas.openxmlformats.org/drawingml/2006/main" w="11906">
              <a:solidFill>
                <a:srgbClr val="A3454F"/>
              </a:solidFill>
            </a:ln>
          </c:spPr>
          <c:marker>
            <c:symbol val="none"/>
          </c:marker>
          <c:cat>
            <c:numRef>
              <c:f>'Chart Data'!$G$2:$G$22</c:f>
              <c:numCache>
                <c:formatCode>0</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'Chart Data'!$H$2:$H$22</c:f>
              <c:numCache>
                <c:formatCode>0%</c:formatCode>
                <c:ptCount val="21"/>
                <c:pt idx="0">
                  <c:v>1</c:v>
                </c:pt>
                <c:pt idx="1">
                  <c:v>0.818181818182</c:v>
                </c:pt>
                <c:pt idx="2">
                  <c:v>0.69696969697</c:v>
                </c:pt>
                <c:pt idx="3">
                  <c:v>0.606060606061</c:v>
                </c:pt>
                <c:pt idx="4">
                  <c:v>0.606060606061</c:v>
                </c:pt>
                <c:pt idx="5">
                  <c:v>0.606060606061</c:v>
                </c:pt>
                <c:pt idx="6">
                  <c:v>0.545454545455</c:v>
                </c:pt>
                <c:pt idx="7">
                  <c:v>0.545454545455</c:v>
                </c:pt>
                <c:pt idx="8">
                  <c:v>0.545454545455</c:v>
                </c:pt>
                <c:pt idx="9">
                  <c:v>0.515151515152</c:v>
                </c:pt>
                <c:pt idx="10">
                  <c:v>0.484848484848</c:v>
                </c:pt>
                <c:pt idx="11">
                  <c:v>0.424242424242</c:v>
                </c:pt>
                <c:pt idx="12">
                  <c:v>0.393939393939</c:v>
                </c:pt>
                <c:pt idx="13">
                  <c:v>0.393939393939</c:v>
                </c:pt>
                <c:pt idx="14">
                  <c:v>0.363636363636</c:v>
                </c:pt>
                <c:pt idx="15">
                  <c:v>0.363636363636</c:v>
                </c:pt>
                <c:pt idx="16">
                  <c:v>0.272727272727</c:v>
                </c:pt>
                <c:pt idx="17">
                  <c:v>0.272727272727</c:v>
                </c:pt>
                <c:pt idx="18">
                  <c:v>0.272727272727</c:v>
                </c:pt>
                <c:pt idx="19">
                  <c:v>0.272727272727</c:v>
                </c:pt>
                <c:pt idx="20">
                  <c:v>0.242424242424</c:v>
                </c:pt>
              </c:numCache>
            </c:numRef>
          </c:val>
          <c:smooth val="0"/>
        </c:ser>
        <c:ser>
          <c:idx val="4"/>
          <c:order val="4"/>
          <c:tx>
            <c:v>2024-05</c:v>
          </c:tx>
          <c:spPr>
            <a:ln xmlns:a="http://schemas.openxmlformats.org/drawingml/2006/main" w="11906">
              <a:solidFill>
                <a:srgbClr val="9D4654"/>
              </a:solidFill>
            </a:ln>
          </c:spPr>
          <c:marker>
            <c:symbol val="none"/>
          </c:marker>
          <c:cat>
            <c:numRef>
              <c:f>'Chart Data'!$I$2:$I$21</c:f>
              <c:numCache>
                <c:formatCode>0</c:formatCode>
                <c:ptCount val="2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numCache>
            </c:numRef>
          </c:cat>
          <c:val>
            <c:numRef>
              <c:f>'Chart Data'!$J$2:$J$21</c:f>
              <c:numCache>
                <c:formatCode>0%</c:formatCode>
                <c:ptCount val="20"/>
                <c:pt idx="0">
                  <c:v>1</c:v>
                </c:pt>
                <c:pt idx="1">
                  <c:v>0.852941176471</c:v>
                </c:pt>
                <c:pt idx="2">
                  <c:v>0.735294117647</c:v>
                </c:pt>
                <c:pt idx="3">
                  <c:v>0.705882352941</c:v>
                </c:pt>
                <c:pt idx="4">
                  <c:v>0.647058823529</c:v>
                </c:pt>
                <c:pt idx="5">
                  <c:v>0.617647058824</c:v>
                </c:pt>
                <c:pt idx="6">
                  <c:v>0.558823529412</c:v>
                </c:pt>
                <c:pt idx="7">
                  <c:v>0.5</c:v>
                </c:pt>
                <c:pt idx="8">
                  <c:v>0.470588235294</c:v>
                </c:pt>
                <c:pt idx="9">
                  <c:v>0.411764705882</c:v>
                </c:pt>
                <c:pt idx="10">
                  <c:v>0.382352941176</c:v>
                </c:pt>
                <c:pt idx="11">
                  <c:v>0.382352941176</c:v>
                </c:pt>
                <c:pt idx="12">
                  <c:v>0.382352941176</c:v>
                </c:pt>
                <c:pt idx="13">
                  <c:v>0.323529411765</c:v>
                </c:pt>
                <c:pt idx="14">
                  <c:v>0.294117647059</c:v>
                </c:pt>
                <c:pt idx="15">
                  <c:v>0.264705882353</c:v>
                </c:pt>
                <c:pt idx="16">
                  <c:v>0.264705882353</c:v>
                </c:pt>
                <c:pt idx="17">
                  <c:v>0.264705882353</c:v>
                </c:pt>
                <c:pt idx="18">
                  <c:v>0.264705882353</c:v>
                </c:pt>
                <c:pt idx="19">
                  <c:v>0.264705882353</c:v>
                </c:pt>
              </c:numCache>
            </c:numRef>
          </c:val>
          <c:smooth val="0"/>
        </c:ser>
        <c:ser>
          <c:idx val="5"/>
          <c:order val="5"/>
          <c:tx>
            <c:v>2024-06</c:v>
          </c:tx>
          <c:spPr>
            <a:ln xmlns:a="http://schemas.openxmlformats.org/drawingml/2006/main" w="11906">
              <a:solidFill>
                <a:srgbClr val="974859"/>
              </a:solidFill>
            </a:ln>
          </c:spPr>
          <c:marker>
            <c:symbol val="none"/>
          </c:marker>
          <c:cat>
            <c:numRef>
              <c:f>'Chart Data'!$K$2:$K$20</c:f>
              <c:numCache>
                <c:formatCode>0</c:formatCode>
                <c:ptCount val="19"/>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numCache>
            </c:numRef>
          </c:cat>
          <c:val>
            <c:numRef>
              <c:f>'Chart Data'!$L$2:$L$20</c:f>
              <c:numCache>
                <c:formatCode>0%</c:formatCode>
                <c:ptCount val="19"/>
                <c:pt idx="0">
                  <c:v>1</c:v>
                </c:pt>
                <c:pt idx="1">
                  <c:v>0.833333333333</c:v>
                </c:pt>
                <c:pt idx="2">
                  <c:v>0.805555555556</c:v>
                </c:pt>
                <c:pt idx="3">
                  <c:v>0.805555555556</c:v>
                </c:pt>
                <c:pt idx="4">
                  <c:v>0.75</c:v>
                </c:pt>
                <c:pt idx="5">
                  <c:v>0.722222222222</c:v>
                </c:pt>
                <c:pt idx="6">
                  <c:v>0.722222222222</c:v>
                </c:pt>
                <c:pt idx="7">
                  <c:v>0.694444444444</c:v>
                </c:pt>
                <c:pt idx="8">
                  <c:v>0.694444444444</c:v>
                </c:pt>
                <c:pt idx="9">
                  <c:v>0.611111111111</c:v>
                </c:pt>
                <c:pt idx="10">
                  <c:v>0.611111111111</c:v>
                </c:pt>
                <c:pt idx="11">
                  <c:v>0.5</c:v>
                </c:pt>
                <c:pt idx="12">
                  <c:v>0.5</c:v>
                </c:pt>
                <c:pt idx="13">
                  <c:v>0.5</c:v>
                </c:pt>
                <c:pt idx="14">
                  <c:v>0.472222222222</c:v>
                </c:pt>
                <c:pt idx="15">
                  <c:v>0.472222222222</c:v>
                </c:pt>
                <c:pt idx="16">
                  <c:v>0.472222222222</c:v>
                </c:pt>
                <c:pt idx="17">
                  <c:v>0.472222222222</c:v>
                </c:pt>
                <c:pt idx="18">
                  <c:v>0.472222222222</c:v>
                </c:pt>
              </c:numCache>
            </c:numRef>
          </c:val>
          <c:smooth val="0"/>
        </c:ser>
        <c:ser>
          <c:idx val="6"/>
          <c:order val="6"/>
          <c:tx>
            <c:v>2024-07</c:v>
          </c:tx>
          <c:spPr>
            <a:ln xmlns:a="http://schemas.openxmlformats.org/drawingml/2006/main" w="11906">
              <a:solidFill>
                <a:srgbClr val="91495D"/>
              </a:solidFill>
            </a:ln>
          </c:spPr>
          <c:marker>
            <c:symbol val="none"/>
          </c:marker>
          <c:cat>
            <c:numRef>
              <c:f>'Chart Data'!$M$2:$M$19</c:f>
              <c:numCache>
                <c:formatCode>0</c:formatCode>
                <c:ptCount val="18"/>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numCache>
            </c:numRef>
          </c:cat>
          <c:val>
            <c:numRef>
              <c:f>'Chart Data'!$N$2:$N$19</c:f>
              <c:numCache>
                <c:formatCode>0%</c:formatCode>
                <c:ptCount val="18"/>
                <c:pt idx="0">
                  <c:v>1</c:v>
                </c:pt>
                <c:pt idx="1">
                  <c:v>0.918918918919</c:v>
                </c:pt>
                <c:pt idx="2">
                  <c:v>0.810810810811</c:v>
                </c:pt>
                <c:pt idx="3">
                  <c:v>0.783783783784</c:v>
                </c:pt>
                <c:pt idx="4">
                  <c:v>0.702702702703</c:v>
                </c:pt>
                <c:pt idx="5">
                  <c:v>0.702702702703</c:v>
                </c:pt>
                <c:pt idx="6">
                  <c:v>0.567567567568</c:v>
                </c:pt>
                <c:pt idx="7">
                  <c:v>0.540540540541</c:v>
                </c:pt>
                <c:pt idx="8">
                  <c:v>0.540540540541</c:v>
                </c:pt>
                <c:pt idx="9">
                  <c:v>0.540540540541</c:v>
                </c:pt>
                <c:pt idx="10">
                  <c:v>0.513513513514</c:v>
                </c:pt>
                <c:pt idx="11">
                  <c:v>0.513513513514</c:v>
                </c:pt>
                <c:pt idx="12">
                  <c:v>0.513513513514</c:v>
                </c:pt>
                <c:pt idx="13">
                  <c:v>0.486486486486</c:v>
                </c:pt>
                <c:pt idx="14">
                  <c:v>0.405405405405</c:v>
                </c:pt>
                <c:pt idx="15">
                  <c:v>0.378378378378</c:v>
                </c:pt>
                <c:pt idx="16">
                  <c:v>0.351351351351</c:v>
                </c:pt>
                <c:pt idx="17">
                  <c:v>0.324324324324</c:v>
                </c:pt>
              </c:numCache>
            </c:numRef>
          </c:val>
          <c:smooth val="0"/>
        </c:ser>
        <c:ser>
          <c:idx val="7"/>
          <c:order val="7"/>
          <c:tx>
            <c:v>2024-08</c:v>
          </c:tx>
          <c:spPr>
            <a:ln xmlns:a="http://schemas.openxmlformats.org/drawingml/2006/main" w="11906">
              <a:solidFill>
                <a:srgbClr val="8C4B62"/>
              </a:solidFill>
            </a:ln>
          </c:spPr>
          <c:marker>
            <c:symbol val="none"/>
          </c:marker>
          <c:cat>
            <c:numRef>
              <c:f>'Chart Data'!$O$2:$O$18</c:f>
              <c:numCache>
                <c:formatCode>0</c:formatCode>
                <c:ptCount val="17"/>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numCache>
            </c:numRef>
          </c:cat>
          <c:val>
            <c:numRef>
              <c:f>'Chart Data'!$P$2:$P$18</c:f>
              <c:numCache>
                <c:formatCode>0%</c:formatCode>
                <c:ptCount val="17"/>
                <c:pt idx="0">
                  <c:v>1</c:v>
                </c:pt>
                <c:pt idx="1">
                  <c:v>0.925</c:v>
                </c:pt>
                <c:pt idx="2">
                  <c:v>0.775</c:v>
                </c:pt>
                <c:pt idx="3">
                  <c:v>0.75</c:v>
                </c:pt>
                <c:pt idx="4">
                  <c:v>0.75</c:v>
                </c:pt>
                <c:pt idx="5">
                  <c:v>0.725</c:v>
                </c:pt>
                <c:pt idx="6">
                  <c:v>0.725</c:v>
                </c:pt>
                <c:pt idx="7">
                  <c:v>0.625</c:v>
                </c:pt>
                <c:pt idx="8">
                  <c:v>0.6</c:v>
                </c:pt>
                <c:pt idx="9">
                  <c:v>0.6</c:v>
                </c:pt>
                <c:pt idx="10">
                  <c:v>0.6</c:v>
                </c:pt>
                <c:pt idx="11">
                  <c:v>0.6</c:v>
                </c:pt>
                <c:pt idx="12">
                  <c:v>0.575</c:v>
                </c:pt>
                <c:pt idx="13">
                  <c:v>0.575</c:v>
                </c:pt>
                <c:pt idx="14">
                  <c:v>0.575</c:v>
                </c:pt>
                <c:pt idx="15">
                  <c:v>0.575</c:v>
                </c:pt>
                <c:pt idx="16">
                  <c:v>0.55</c:v>
                </c:pt>
              </c:numCache>
            </c:numRef>
          </c:val>
          <c:smooth val="0"/>
        </c:ser>
        <c:ser>
          <c:idx val="8"/>
          <c:order val="8"/>
          <c:tx>
            <c:v>2024-09</c:v>
          </c:tx>
          <c:spPr>
            <a:ln xmlns:a="http://schemas.openxmlformats.org/drawingml/2006/main" w="11906">
              <a:solidFill>
                <a:srgbClr val="864C67"/>
              </a:solidFill>
            </a:ln>
          </c:spPr>
          <c:marker>
            <c:symbol val="none"/>
          </c:marker>
          <c:cat>
            <c:numRef>
              <c:f>'Chart Data'!$Q$2:$Q$17</c:f>
              <c:numCache>
                <c:formatCode>0</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'Chart Data'!$R$2:$R$17</c:f>
              <c:numCache>
                <c:formatCode>0%</c:formatCode>
                <c:ptCount val="16"/>
                <c:pt idx="0">
                  <c:v>1</c:v>
                </c:pt>
                <c:pt idx="1">
                  <c:v>0.866666666667</c:v>
                </c:pt>
                <c:pt idx="2">
                  <c:v>0.755555555556</c:v>
                </c:pt>
                <c:pt idx="3">
                  <c:v>0.711111111111</c:v>
                </c:pt>
                <c:pt idx="4">
                  <c:v>0.688888888889</c:v>
                </c:pt>
                <c:pt idx="5">
                  <c:v>0.644444444444</c:v>
                </c:pt>
                <c:pt idx="6">
                  <c:v>0.6</c:v>
                </c:pt>
                <c:pt idx="7">
                  <c:v>0.511111111111</c:v>
                </c:pt>
                <c:pt idx="8">
                  <c:v>0.511111111111</c:v>
                </c:pt>
                <c:pt idx="9">
                  <c:v>0.488888888889</c:v>
                </c:pt>
                <c:pt idx="10">
                  <c:v>0.466666666667</c:v>
                </c:pt>
                <c:pt idx="11">
                  <c:v>0.466666666667</c:v>
                </c:pt>
                <c:pt idx="12">
                  <c:v>0.466666666667</c:v>
                </c:pt>
                <c:pt idx="13">
                  <c:v>0.422222222222</c:v>
                </c:pt>
                <c:pt idx="14">
                  <c:v>0.422222222222</c:v>
                </c:pt>
                <c:pt idx="15">
                  <c:v>0.422222222222</c:v>
                </c:pt>
              </c:numCache>
            </c:numRef>
          </c:val>
          <c:smooth val="0"/>
        </c:ser>
        <c:ser>
          <c:idx val="9"/>
          <c:order val="9"/>
          <c:tx>
            <c:v>2024-10</c:v>
          </c:tx>
          <c:spPr>
            <a:ln xmlns:a="http://schemas.openxmlformats.org/drawingml/2006/main" w="11906">
              <a:solidFill>
                <a:srgbClr val="804E6C"/>
              </a:solidFill>
            </a:ln>
          </c:spPr>
          <c:marker>
            <c:symbol val="none"/>
          </c:marker>
          <c:cat>
            <c:numRef>
              <c:f>'Chart Data'!$S$2:$S$16</c:f>
              <c:numCache>
                <c:formatCode>0</c:formatCode>
                <c:ptCount val="1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numCache>
            </c:numRef>
          </c:cat>
          <c:val>
            <c:numRef>
              <c:f>'Chart Data'!$T$2:$T$16</c:f>
              <c:numCache>
                <c:formatCode>0%</c:formatCode>
                <c:ptCount val="15"/>
                <c:pt idx="0">
                  <c:v>1</c:v>
                </c:pt>
                <c:pt idx="1">
                  <c:v>0.921568627451</c:v>
                </c:pt>
                <c:pt idx="2">
                  <c:v>0.843137254902</c:v>
                </c:pt>
                <c:pt idx="3">
                  <c:v>0.803921568627</c:v>
                </c:pt>
                <c:pt idx="4">
                  <c:v>0.686274509804</c:v>
                </c:pt>
                <c:pt idx="5">
                  <c:v>0.607843137255</c:v>
                </c:pt>
                <c:pt idx="6">
                  <c:v>0.56862745098</c:v>
                </c:pt>
                <c:pt idx="7">
                  <c:v>0.56862745098</c:v>
                </c:pt>
                <c:pt idx="8">
                  <c:v>0.56862745098</c:v>
                </c:pt>
                <c:pt idx="9">
                  <c:v>0.56862745098</c:v>
                </c:pt>
                <c:pt idx="10">
                  <c:v>0.549019607843</c:v>
                </c:pt>
                <c:pt idx="11">
                  <c:v>0.549019607843</c:v>
                </c:pt>
                <c:pt idx="12">
                  <c:v>0.549019607843</c:v>
                </c:pt>
                <c:pt idx="13">
                  <c:v>0.529411764706</c:v>
                </c:pt>
                <c:pt idx="14">
                  <c:v>0.529411764706</c:v>
                </c:pt>
              </c:numCache>
            </c:numRef>
          </c:val>
          <c:smooth val="0"/>
        </c:ser>
        <c:ser>
          <c:idx val="10"/>
          <c:order val="10"/>
          <c:tx>
            <c:v>2024-11</c:v>
          </c:tx>
          <c:spPr>
            <a:ln xmlns:a="http://schemas.openxmlformats.org/drawingml/2006/main" w="11906">
              <a:solidFill>
                <a:srgbClr val="7A4F70"/>
              </a:solidFill>
            </a:ln>
          </c:spPr>
          <c:marker>
            <c:symbol val="none"/>
          </c:marker>
          <c:cat>
            <c:numRef>
              <c:f>'Chart Data'!$U$2:$U$15</c:f>
              <c:numCache>
                <c:formatCode>0</c:formatCode>
                <c:ptCount val="14"/>
                <c:pt idx="0">
                  <c:v>0</c:v>
                </c:pt>
                <c:pt idx="1">
                  <c:v>1</c:v>
                </c:pt>
                <c:pt idx="2">
                  <c:v>2</c:v>
                </c:pt>
                <c:pt idx="3">
                  <c:v>3</c:v>
                </c:pt>
                <c:pt idx="4">
                  <c:v>4</c:v>
                </c:pt>
                <c:pt idx="5">
                  <c:v>5</c:v>
                </c:pt>
                <c:pt idx="6">
                  <c:v>6</c:v>
                </c:pt>
                <c:pt idx="7">
                  <c:v>7</c:v>
                </c:pt>
                <c:pt idx="8">
                  <c:v>8</c:v>
                </c:pt>
                <c:pt idx="9">
                  <c:v>9</c:v>
                </c:pt>
                <c:pt idx="10">
                  <c:v>10</c:v>
                </c:pt>
                <c:pt idx="11">
                  <c:v>11</c:v>
                </c:pt>
                <c:pt idx="12">
                  <c:v>12</c:v>
                </c:pt>
                <c:pt idx="13">
                  <c:v>13</c:v>
                </c:pt>
              </c:numCache>
            </c:numRef>
          </c:cat>
          <c:val>
            <c:numRef>
              <c:f>'Chart Data'!$V$2:$V$15</c:f>
              <c:numCache>
                <c:formatCode>0%</c:formatCode>
                <c:ptCount val="14"/>
                <c:pt idx="0">
                  <c:v>1</c:v>
                </c:pt>
                <c:pt idx="1">
                  <c:v>0.959183673469</c:v>
                </c:pt>
                <c:pt idx="2">
                  <c:v>0.877551020408</c:v>
                </c:pt>
                <c:pt idx="3">
                  <c:v>0.775510204082</c:v>
                </c:pt>
                <c:pt idx="4">
                  <c:v>0.734693877551</c:v>
                </c:pt>
                <c:pt idx="5">
                  <c:v>0.714285714286</c:v>
                </c:pt>
                <c:pt idx="6">
                  <c:v>0.632653061224</c:v>
                </c:pt>
                <c:pt idx="7">
                  <c:v>0.632653061224</c:v>
                </c:pt>
                <c:pt idx="8">
                  <c:v>0.591836734694</c:v>
                </c:pt>
                <c:pt idx="9">
                  <c:v>0.551020408163</c:v>
                </c:pt>
                <c:pt idx="10">
                  <c:v>0.530612244898</c:v>
                </c:pt>
                <c:pt idx="11">
                  <c:v>0.530612244898</c:v>
                </c:pt>
                <c:pt idx="12">
                  <c:v>0.489795918367</c:v>
                </c:pt>
                <c:pt idx="13">
                  <c:v>0.489795918367</c:v>
                </c:pt>
              </c:numCache>
            </c:numRef>
          </c:val>
          <c:smooth val="0"/>
        </c:ser>
        <c:ser>
          <c:idx val="11"/>
          <c:order val="11"/>
          <c:tx>
            <c:v>2024-12</c:v>
          </c:tx>
          <c:spPr>
            <a:ln xmlns:a="http://schemas.openxmlformats.org/drawingml/2006/main" w="11906">
              <a:solidFill>
                <a:srgbClr val="745175"/>
              </a:solidFill>
            </a:ln>
          </c:spPr>
          <c:marker>
            <c:symbol val="none"/>
          </c:marker>
          <c:cat>
            <c:numRef>
              <c:f>'Chart Data'!$W$2:$W$14</c:f>
              <c:numCache>
                <c:formatCode>0</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cat>
          <c:val>
            <c:numRef>
              <c:f>'Chart Data'!$X$2:$X$14</c:f>
              <c:numCache>
                <c:formatCode>0%</c:formatCode>
                <c:ptCount val="13"/>
                <c:pt idx="0">
                  <c:v>1</c:v>
                </c:pt>
                <c:pt idx="1">
                  <c:v>0.978260869565</c:v>
                </c:pt>
                <c:pt idx="2">
                  <c:v>0.95652173913</c:v>
                </c:pt>
                <c:pt idx="3">
                  <c:v>0.891304347826</c:v>
                </c:pt>
                <c:pt idx="4">
                  <c:v>0.804347826087</c:v>
                </c:pt>
                <c:pt idx="5">
                  <c:v>0.760869565217</c:v>
                </c:pt>
                <c:pt idx="6">
                  <c:v>0.739130434783</c:v>
                </c:pt>
                <c:pt idx="7">
                  <c:v>0.695652173913</c:v>
                </c:pt>
                <c:pt idx="8">
                  <c:v>0.695652173913</c:v>
                </c:pt>
                <c:pt idx="9">
                  <c:v>0.673913043478</c:v>
                </c:pt>
                <c:pt idx="10">
                  <c:v>0.673913043478</c:v>
                </c:pt>
                <c:pt idx="11">
                  <c:v>0.652173913043</c:v>
                </c:pt>
                <c:pt idx="12">
                  <c:v>0.630434782609</c:v>
                </c:pt>
              </c:numCache>
            </c:numRef>
          </c:val>
          <c:smooth val="0"/>
        </c:ser>
        <c:ser>
          <c:idx val="12"/>
          <c:order val="12"/>
          <c:tx>
            <c:v>2025-01</c:v>
          </c:tx>
          <c:spPr>
            <a:ln xmlns:a="http://schemas.openxmlformats.org/drawingml/2006/main" w="11906">
              <a:solidFill>
                <a:srgbClr val="6F527A"/>
              </a:solidFill>
            </a:ln>
          </c:spPr>
          <c:marker>
            <c:symbol val="none"/>
          </c:marker>
          <c:cat>
            <c:numRef>
              <c:f>'Chart Data'!$Y$2:$Y$13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Data'!$Z$2:$Z$13</c:f>
              <c:numCache>
                <c:formatCode>0%</c:formatCode>
                <c:ptCount val="12"/>
                <c:pt idx="0">
                  <c:v>1</c:v>
                </c:pt>
                <c:pt idx="1">
                  <c:v>0.901960784314</c:v>
                </c:pt>
                <c:pt idx="2">
                  <c:v>0.78431372549</c:v>
                </c:pt>
                <c:pt idx="3">
                  <c:v>0.686274509804</c:v>
                </c:pt>
                <c:pt idx="4">
                  <c:v>0.627450980392</c:v>
                </c:pt>
                <c:pt idx="5">
                  <c:v>0.588235294118</c:v>
                </c:pt>
                <c:pt idx="6">
                  <c:v>0.588235294118</c:v>
                </c:pt>
                <c:pt idx="7">
                  <c:v>0.588235294118</c:v>
                </c:pt>
                <c:pt idx="8">
                  <c:v>0.56862745098</c:v>
                </c:pt>
                <c:pt idx="9">
                  <c:v>0.529411764706</c:v>
                </c:pt>
                <c:pt idx="10">
                  <c:v>0.490196078431</c:v>
                </c:pt>
                <c:pt idx="11">
                  <c:v>0.470588235294</c:v>
                </c:pt>
              </c:numCache>
            </c:numRef>
          </c:val>
          <c:smooth val="0"/>
        </c:ser>
        <c:ser>
          <c:idx val="13"/>
          <c:order val="13"/>
          <c:tx>
            <c:v>2025-02</c:v>
          </c:tx>
          <c:spPr>
            <a:ln xmlns:a="http://schemas.openxmlformats.org/drawingml/2006/main" w="11906">
              <a:solidFill>
                <a:srgbClr val="69547F"/>
              </a:solidFill>
            </a:ln>
          </c:spPr>
          <c:marker>
            <c:symbol val="none"/>
          </c:marker>
          <c:cat>
            <c:numRef>
              <c:f>'Chart Data'!$AA$2:$AA$12</c:f>
              <c:numCache>
                <c:formatCode>0</c:formatCode>
                <c:ptCount val="11"/>
                <c:pt idx="0">
                  <c:v>0</c:v>
                </c:pt>
                <c:pt idx="1">
                  <c:v>1</c:v>
                </c:pt>
                <c:pt idx="2">
                  <c:v>2</c:v>
                </c:pt>
                <c:pt idx="3">
                  <c:v>3</c:v>
                </c:pt>
                <c:pt idx="4">
                  <c:v>4</c:v>
                </c:pt>
                <c:pt idx="5">
                  <c:v>5</c:v>
                </c:pt>
                <c:pt idx="6">
                  <c:v>6</c:v>
                </c:pt>
                <c:pt idx="7">
                  <c:v>7</c:v>
                </c:pt>
                <c:pt idx="8">
                  <c:v>8</c:v>
                </c:pt>
                <c:pt idx="9">
                  <c:v>9</c:v>
                </c:pt>
                <c:pt idx="10">
                  <c:v>10</c:v>
                </c:pt>
              </c:numCache>
            </c:numRef>
          </c:cat>
          <c:val>
            <c:numRef>
              <c:f>'Chart Data'!$AB$2:$AB$12</c:f>
              <c:numCache>
                <c:formatCode>0%</c:formatCode>
                <c:ptCount val="11"/>
                <c:pt idx="0">
                  <c:v>1</c:v>
                </c:pt>
                <c:pt idx="1">
                  <c:v>0.807692307692</c:v>
                </c:pt>
                <c:pt idx="2">
                  <c:v>0.769230769231</c:v>
                </c:pt>
                <c:pt idx="3">
                  <c:v>0.75</c:v>
                </c:pt>
                <c:pt idx="4">
                  <c:v>0.75</c:v>
                </c:pt>
                <c:pt idx="5">
                  <c:v>0.692307692308</c:v>
                </c:pt>
                <c:pt idx="6">
                  <c:v>0.673076923077</c:v>
                </c:pt>
                <c:pt idx="7">
                  <c:v>0.653846153846</c:v>
                </c:pt>
                <c:pt idx="8">
                  <c:v>0.596153846154</c:v>
                </c:pt>
                <c:pt idx="9">
                  <c:v>0.557692307692</c:v>
                </c:pt>
                <c:pt idx="10">
                  <c:v>0.557692307692</c:v>
                </c:pt>
              </c:numCache>
            </c:numRef>
          </c:val>
          <c:smooth val="0"/>
        </c:ser>
        <c:ser>
          <c:idx val="14"/>
          <c:order val="14"/>
          <c:tx>
            <c:v>2025-03</c:v>
          </c:tx>
          <c:spPr>
            <a:ln xmlns:a="http://schemas.openxmlformats.org/drawingml/2006/main" w="11906">
              <a:solidFill>
                <a:srgbClr val="635583"/>
              </a:solidFill>
            </a:ln>
          </c:spPr>
          <c:marker>
            <c:symbol val="none"/>
          </c:marker>
          <c:cat>
            <c:numRef>
              <c:f>'Chart Data'!$AC$2:$AC$11</c:f>
              <c:numCache>
                <c:formatCode>0</c:formatCode>
                <c:ptCount val="10"/>
                <c:pt idx="0">
                  <c:v>0</c:v>
                </c:pt>
                <c:pt idx="1">
                  <c:v>1</c:v>
                </c:pt>
                <c:pt idx="2">
                  <c:v>2</c:v>
                </c:pt>
                <c:pt idx="3">
                  <c:v>3</c:v>
                </c:pt>
                <c:pt idx="4">
                  <c:v>4</c:v>
                </c:pt>
                <c:pt idx="5">
                  <c:v>5</c:v>
                </c:pt>
                <c:pt idx="6">
                  <c:v>6</c:v>
                </c:pt>
                <c:pt idx="7">
                  <c:v>7</c:v>
                </c:pt>
                <c:pt idx="8">
                  <c:v>8</c:v>
                </c:pt>
                <c:pt idx="9">
                  <c:v>9</c:v>
                </c:pt>
              </c:numCache>
            </c:numRef>
          </c:cat>
          <c:val>
            <c:numRef>
              <c:f>'Chart Data'!$AD$2:$AD$11</c:f>
              <c:numCache>
                <c:formatCode>0%</c:formatCode>
                <c:ptCount val="10"/>
                <c:pt idx="0">
                  <c:v>1</c:v>
                </c:pt>
                <c:pt idx="1">
                  <c:v>0.944444444444</c:v>
                </c:pt>
                <c:pt idx="2">
                  <c:v>0.833333333333</c:v>
                </c:pt>
                <c:pt idx="3">
                  <c:v>0.759259259259</c:v>
                </c:pt>
                <c:pt idx="4">
                  <c:v>0.740740740741</c:v>
                </c:pt>
                <c:pt idx="5">
                  <c:v>0.703703703704</c:v>
                </c:pt>
                <c:pt idx="6">
                  <c:v>0.62962962963</c:v>
                </c:pt>
                <c:pt idx="7">
                  <c:v>0.611111111111</c:v>
                </c:pt>
                <c:pt idx="8">
                  <c:v>0.592592592593</c:v>
                </c:pt>
                <c:pt idx="9">
                  <c:v>0.574074074074</c:v>
                </c:pt>
              </c:numCache>
            </c:numRef>
          </c:val>
          <c:smooth val="0"/>
        </c:ser>
        <c:ser>
          <c:idx val="15"/>
          <c:order val="15"/>
          <c:tx>
            <c:v>2025-04</c:v>
          </c:tx>
          <c:spPr>
            <a:ln xmlns:a="http://schemas.openxmlformats.org/drawingml/2006/main" w="11906">
              <a:solidFill>
                <a:srgbClr val="5D5788"/>
              </a:solidFill>
            </a:ln>
          </c:spPr>
          <c:marker>
            <c:symbol val="none"/>
          </c:marker>
          <c:cat>
            <c:numRef>
              <c:f>'Chart Data'!$AE$2:$AE$10</c:f>
              <c:numCache>
                <c:formatCode>0</c:formatCode>
                <c:ptCount val="9"/>
                <c:pt idx="0">
                  <c:v>0</c:v>
                </c:pt>
                <c:pt idx="1">
                  <c:v>1</c:v>
                </c:pt>
                <c:pt idx="2">
                  <c:v>2</c:v>
                </c:pt>
                <c:pt idx="3">
                  <c:v>3</c:v>
                </c:pt>
                <c:pt idx="4">
                  <c:v>4</c:v>
                </c:pt>
                <c:pt idx="5">
                  <c:v>5</c:v>
                </c:pt>
                <c:pt idx="6">
                  <c:v>6</c:v>
                </c:pt>
                <c:pt idx="7">
                  <c:v>7</c:v>
                </c:pt>
                <c:pt idx="8">
                  <c:v>8</c:v>
                </c:pt>
              </c:numCache>
            </c:numRef>
          </c:cat>
          <c:val>
            <c:numRef>
              <c:f>'Chart Data'!$AF$2:$AF$10</c:f>
              <c:numCache>
                <c:formatCode>0%</c:formatCode>
                <c:ptCount val="9"/>
                <c:pt idx="0">
                  <c:v>1</c:v>
                </c:pt>
                <c:pt idx="1">
                  <c:v>0.965517241379</c:v>
                </c:pt>
                <c:pt idx="2">
                  <c:v>0.896551724138</c:v>
                </c:pt>
                <c:pt idx="3">
                  <c:v>0.827586206897</c:v>
                </c:pt>
                <c:pt idx="4">
                  <c:v>0.775862068966</c:v>
                </c:pt>
                <c:pt idx="5">
                  <c:v>0.758620689655</c:v>
                </c:pt>
                <c:pt idx="6">
                  <c:v>0.706896551724</c:v>
                </c:pt>
                <c:pt idx="7">
                  <c:v>0.672413793103</c:v>
                </c:pt>
                <c:pt idx="8">
                  <c:v>0.586206896552</c:v>
                </c:pt>
              </c:numCache>
            </c:numRef>
          </c:val>
          <c:smooth val="0"/>
        </c:ser>
        <c:ser>
          <c:idx val="16"/>
          <c:order val="16"/>
          <c:tx>
            <c:v>2025-05</c:v>
          </c:tx>
          <c:spPr>
            <a:ln xmlns:a="http://schemas.openxmlformats.org/drawingml/2006/main" w="11906">
              <a:solidFill>
                <a:srgbClr val="57588D"/>
              </a:solidFill>
            </a:ln>
          </c:spPr>
          <c:marker>
            <c:symbol val="none"/>
          </c:marker>
          <c:cat>
            <c:numRef>
              <c:f>'Chart Data'!$AG$2:$AG$9</c:f>
              <c:numCache>
                <c:formatCode>0</c:formatCode>
                <c:ptCount val="8"/>
                <c:pt idx="0">
                  <c:v>0</c:v>
                </c:pt>
                <c:pt idx="1">
                  <c:v>1</c:v>
                </c:pt>
                <c:pt idx="2">
                  <c:v>2</c:v>
                </c:pt>
                <c:pt idx="3">
                  <c:v>3</c:v>
                </c:pt>
                <c:pt idx="4">
                  <c:v>4</c:v>
                </c:pt>
                <c:pt idx="5">
                  <c:v>5</c:v>
                </c:pt>
                <c:pt idx="6">
                  <c:v>6</c:v>
                </c:pt>
                <c:pt idx="7">
                  <c:v>7</c:v>
                </c:pt>
              </c:numCache>
            </c:numRef>
          </c:cat>
          <c:val>
            <c:numRef>
              <c:f>'Chart Data'!$AH$2:$AH$9</c:f>
              <c:numCache>
                <c:formatCode>0%</c:formatCode>
                <c:ptCount val="8"/>
                <c:pt idx="0">
                  <c:v>1</c:v>
                </c:pt>
                <c:pt idx="1">
                  <c:v>0.9375</c:v>
                </c:pt>
                <c:pt idx="2">
                  <c:v>0.890625</c:v>
                </c:pt>
                <c:pt idx="3">
                  <c:v>0.890625</c:v>
                </c:pt>
                <c:pt idx="4">
                  <c:v>0.875</c:v>
                </c:pt>
                <c:pt idx="5">
                  <c:v>0.84375</c:v>
                </c:pt>
                <c:pt idx="6">
                  <c:v>0.78125</c:v>
                </c:pt>
                <c:pt idx="7">
                  <c:v>0.78125</c:v>
                </c:pt>
              </c:numCache>
            </c:numRef>
          </c:val>
          <c:smooth val="0"/>
        </c:ser>
        <c:ser>
          <c:idx val="17"/>
          <c:order val="17"/>
          <c:tx>
            <c:v>2025-06</c:v>
          </c:tx>
          <c:spPr>
            <a:ln xmlns:a="http://schemas.openxmlformats.org/drawingml/2006/main" w="11906">
              <a:solidFill>
                <a:srgbClr val="525A92"/>
              </a:solidFill>
            </a:ln>
          </c:spPr>
          <c:marker>
            <c:symbol val="none"/>
          </c:marker>
          <c:cat>
            <c:numRef>
              <c:f>'Chart Data'!$AI$2:$AI$8</c:f>
              <c:numCache>
                <c:formatCode>0</c:formatCode>
                <c:ptCount val="7"/>
                <c:pt idx="0">
                  <c:v>0</c:v>
                </c:pt>
                <c:pt idx="1">
                  <c:v>1</c:v>
                </c:pt>
                <c:pt idx="2">
                  <c:v>2</c:v>
                </c:pt>
                <c:pt idx="3">
                  <c:v>3</c:v>
                </c:pt>
                <c:pt idx="4">
                  <c:v>4</c:v>
                </c:pt>
                <c:pt idx="5">
                  <c:v>5</c:v>
                </c:pt>
                <c:pt idx="6">
                  <c:v>6</c:v>
                </c:pt>
              </c:numCache>
            </c:numRef>
          </c:cat>
          <c:val>
            <c:numRef>
              <c:f>'Chart Data'!$AJ$2:$AJ$8</c:f>
              <c:numCache>
                <c:formatCode>0%</c:formatCode>
                <c:ptCount val="7"/>
                <c:pt idx="0">
                  <c:v>1</c:v>
                </c:pt>
                <c:pt idx="1">
                  <c:v>0.894736842105</c:v>
                </c:pt>
                <c:pt idx="2">
                  <c:v>0.859649122807</c:v>
                </c:pt>
                <c:pt idx="3">
                  <c:v>0.789473684211</c:v>
                </c:pt>
                <c:pt idx="4">
                  <c:v>0.771929824561</c:v>
                </c:pt>
                <c:pt idx="5">
                  <c:v>0.719298245614</c:v>
                </c:pt>
                <c:pt idx="6">
                  <c:v>0.666666666667</c:v>
                </c:pt>
              </c:numCache>
            </c:numRef>
          </c:val>
          <c:smooth val="0"/>
        </c:ser>
        <c:ser>
          <c:idx val="18"/>
          <c:order val="18"/>
          <c:tx>
            <c:v>2025-07</c:v>
          </c:tx>
          <c:spPr>
            <a:ln xmlns:a="http://schemas.openxmlformats.org/drawingml/2006/main" w="11906">
              <a:solidFill>
                <a:srgbClr val="4C5B96"/>
              </a:solidFill>
            </a:ln>
          </c:spPr>
          <c:marker>
            <c:symbol val="none"/>
          </c:marker>
          <c:cat>
            <c:numRef>
              <c:f>'Chart Data'!$AK$2:$AK$7</c:f>
              <c:numCache>
                <c:formatCode>0</c:formatCode>
                <c:ptCount val="6"/>
                <c:pt idx="0">
                  <c:v>0</c:v>
                </c:pt>
                <c:pt idx="1">
                  <c:v>1</c:v>
                </c:pt>
                <c:pt idx="2">
                  <c:v>2</c:v>
                </c:pt>
                <c:pt idx="3">
                  <c:v>3</c:v>
                </c:pt>
                <c:pt idx="4">
                  <c:v>4</c:v>
                </c:pt>
                <c:pt idx="5">
                  <c:v>5</c:v>
                </c:pt>
              </c:numCache>
            </c:numRef>
          </c:cat>
          <c:val>
            <c:numRef>
              <c:f>'Chart Data'!$AL$2:$AL$7</c:f>
              <c:numCache>
                <c:formatCode>0%</c:formatCode>
                <c:ptCount val="6"/>
                <c:pt idx="0">
                  <c:v>1</c:v>
                </c:pt>
                <c:pt idx="1">
                  <c:v>0.888888888889</c:v>
                </c:pt>
                <c:pt idx="2">
                  <c:v>0.825396825397</c:v>
                </c:pt>
                <c:pt idx="3">
                  <c:v>0.777777777778</c:v>
                </c:pt>
                <c:pt idx="4">
                  <c:v>0.761904761905</c:v>
                </c:pt>
                <c:pt idx="5">
                  <c:v>0.746031746032</c:v>
                </c:pt>
              </c:numCache>
            </c:numRef>
          </c:val>
          <c:smooth val="0"/>
        </c:ser>
        <c:ser>
          <c:idx val="19"/>
          <c:order val="19"/>
          <c:tx>
            <c:v>2025-08</c:v>
          </c:tx>
          <c:spPr>
            <a:ln xmlns:a="http://schemas.openxmlformats.org/drawingml/2006/main" w="11906">
              <a:solidFill>
                <a:srgbClr val="465D9B"/>
              </a:solidFill>
            </a:ln>
          </c:spPr>
          <c:marker>
            <c:symbol val="none"/>
          </c:marker>
          <c:cat>
            <c:numRef>
              <c:f>'Chart Data'!$AM$2:$AM$6</c:f>
              <c:numCache>
                <c:formatCode>0</c:formatCode>
                <c:ptCount val="5"/>
                <c:pt idx="0">
                  <c:v>0</c:v>
                </c:pt>
                <c:pt idx="1">
                  <c:v>1</c:v>
                </c:pt>
                <c:pt idx="2">
                  <c:v>2</c:v>
                </c:pt>
                <c:pt idx="3">
                  <c:v>3</c:v>
                </c:pt>
                <c:pt idx="4">
                  <c:v>4</c:v>
                </c:pt>
              </c:numCache>
            </c:numRef>
          </c:cat>
          <c:val>
            <c:numRef>
              <c:f>'Chart Data'!$AN$2:$AN$6</c:f>
              <c:numCache>
                <c:formatCode>0%</c:formatCode>
                <c:ptCount val="5"/>
                <c:pt idx="0">
                  <c:v>1</c:v>
                </c:pt>
                <c:pt idx="1">
                  <c:v>0.9</c:v>
                </c:pt>
                <c:pt idx="2">
                  <c:v>0.783333333333</c:v>
                </c:pt>
                <c:pt idx="3">
                  <c:v>0.75</c:v>
                </c:pt>
                <c:pt idx="4">
                  <c:v>0.633333333333</c:v>
                </c:pt>
              </c:numCache>
            </c:numRef>
          </c:val>
          <c:smooth val="0"/>
        </c:ser>
        <c:ser>
          <c:idx val="20"/>
          <c:order val="20"/>
          <c:tx>
            <c:v>2025-09</c:v>
          </c:tx>
          <c:spPr>
            <a:ln xmlns:a="http://schemas.openxmlformats.org/drawingml/2006/main" w="11906">
              <a:solidFill>
                <a:srgbClr val="405EA0"/>
              </a:solidFill>
            </a:ln>
          </c:spPr>
          <c:marker>
            <c:symbol val="none"/>
          </c:marker>
          <c:cat>
            <c:numRef>
              <c:f>'Chart Data'!$AO$2:$AO$5</c:f>
              <c:numCache>
                <c:formatCode>0</c:formatCode>
                <c:ptCount val="4"/>
                <c:pt idx="0">
                  <c:v>0</c:v>
                </c:pt>
                <c:pt idx="1">
                  <c:v>1</c:v>
                </c:pt>
                <c:pt idx="2">
                  <c:v>2</c:v>
                </c:pt>
                <c:pt idx="3">
                  <c:v>3</c:v>
                </c:pt>
              </c:numCache>
            </c:numRef>
          </c:cat>
          <c:val>
            <c:numRef>
              <c:f>'Chart Data'!$AP$2:$AP$5</c:f>
              <c:numCache>
                <c:formatCode>0%</c:formatCode>
                <c:ptCount val="4"/>
                <c:pt idx="0">
                  <c:v>1</c:v>
                </c:pt>
                <c:pt idx="1">
                  <c:v>0.906779661017</c:v>
                </c:pt>
                <c:pt idx="2">
                  <c:v>0.864406779661</c:v>
                </c:pt>
                <c:pt idx="3">
                  <c:v>0.822033898305</c:v>
                </c:pt>
              </c:numCache>
            </c:numRef>
          </c:val>
          <c:smooth val="0"/>
        </c:ser>
        <c:ser>
          <c:idx val="21"/>
          <c:order val="21"/>
          <c:tx>
            <c:v>2025-10</c:v>
          </c:tx>
          <c:spPr>
            <a:ln xmlns:a="http://schemas.openxmlformats.org/drawingml/2006/main" w="11906">
              <a:solidFill>
                <a:srgbClr val="3B60A5"/>
              </a:solidFill>
            </a:ln>
          </c:spPr>
          <c:marker>
            <c:symbol val="none"/>
          </c:marker>
          <c:cat>
            <c:numRef>
              <c:f>'Chart Data'!$AQ$2:$AQ$4</c:f>
              <c:numCache>
                <c:formatCode>0</c:formatCode>
                <c:ptCount val="3"/>
                <c:pt idx="0">
                  <c:v>0</c:v>
                </c:pt>
                <c:pt idx="1">
                  <c:v>1</c:v>
                </c:pt>
                <c:pt idx="2">
                  <c:v>2</c:v>
                </c:pt>
              </c:numCache>
            </c:numRef>
          </c:cat>
          <c:val>
            <c:numRef>
              <c:f>'Chart Data'!$AR$2:$AR$4</c:f>
              <c:numCache>
                <c:formatCode>0%</c:formatCode>
                <c:ptCount val="3"/>
                <c:pt idx="0">
                  <c:v>1</c:v>
                </c:pt>
                <c:pt idx="1">
                  <c:v>0.914285714286</c:v>
                </c:pt>
                <c:pt idx="2">
                  <c:v>0.885714285714</c:v>
                </c:pt>
              </c:numCache>
            </c:numRef>
          </c:val>
          <c:smooth val="0"/>
        </c:ser>
        <c:ser>
          <c:idx val="22"/>
          <c:order val="22"/>
          <c:tx>
            <c:v>2025-11</c:v>
          </c:tx>
          <c:spPr>
            <a:ln xmlns:a="http://schemas.openxmlformats.org/drawingml/2006/main" w="11906">
              <a:solidFill>
                <a:srgbClr val="3561A9"/>
              </a:solidFill>
            </a:ln>
          </c:spPr>
          <c:marker>
            <c:symbol val="none"/>
          </c:marker>
          <c:cat>
            <c:numRef>
              <c:f>'Chart Data'!$AS$2:$AS$3</c:f>
              <c:numCache>
                <c:formatCode>0</c:formatCode>
                <c:ptCount val="2"/>
                <c:pt idx="0">
                  <c:v>0</c:v>
                </c:pt>
                <c:pt idx="1">
                  <c:v>1</c:v>
                </c:pt>
              </c:numCache>
            </c:numRef>
          </c:cat>
          <c:val>
            <c:numRef>
              <c:f>'Chart Data'!$AT$2:$AT$3</c:f>
              <c:numCache>
                <c:formatCode>0%</c:formatCode>
                <c:ptCount val="2"/>
                <c:pt idx="0">
                  <c:v>1</c:v>
                </c:pt>
                <c:pt idx="1">
                  <c:v>0.876712328767</c:v>
                </c:pt>
              </c:numCache>
            </c:numRef>
          </c:val>
          <c:smooth val="0"/>
        </c:ser>
        <c:ser>
          <c:idx val="23"/>
          <c:order val="23"/>
          <c:tx>
            <c:v>2025-12</c:v>
          </c:tx>
          <c:spPr>
            <a:ln xmlns:a="http://schemas.openxmlformats.org/drawingml/2006/main" w="11906">
              <a:solidFill>
                <a:srgbClr val="2F63AE"/>
              </a:solidFill>
            </a:ln>
          </c:spPr>
          <c:marker>
            <c:symbol val="none"/>
          </c:marker>
          <c:cat>
            <c:numRef>
              <c:f>'Chart Data'!$AU$2:$AU$2</c:f>
              <c:numCache>
                <c:formatCode>0</c:formatCode>
                <c:ptCount val="1"/>
                <c:pt idx="0">
                  <c:v>0</c:v>
                </c:pt>
              </c:numCache>
            </c:numRef>
          </c:cat>
          <c:val>
            <c:numRef>
              <c:f>'Chart Data'!$AV$2:$AV$2</c:f>
              <c:numCache>
                <c:formatCode>0%</c:formatCode>
                <c:ptCount val="1"/>
                <c:pt idx="0">
                  <c:v>1</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Customer 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areaChart>
        <c:grouping val="stacked"/>
        <c:varyColors val="0"/>
        <c:ser>
          <c:idx val="0"/>
          <c:order val="0"/>
          <c:tx>
            <c:v>2024-01</c:v>
          </c:tx>
          <c:spPr>
            <a:solidFill xmlns:a="http://schemas.openxmlformats.org/drawingml/2006/main">
              <a:srgbClr val="B44041"/>
            </a:solidFill>
            <a:ln xmlns:a="http://schemas.openxmlformats.org/drawingml/2006/main" w="3810">
              <a:solidFill>
                <a:srgbClr val="FFFFFF"/>
              </a:solidFill>
            </a:ln>
          </c:spPr>
          <c:cat>
            <c:strRef>
              <c:f>'Chart Data'!$A$2:$A$25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Data'!$B$2:$B$25</c:f>
              <c:numCache>
                <c:formatCode>#,##0</c:formatCode>
                <c:ptCount val="24"/>
                <c:pt idx="0">
                  <c:v>179</c:v>
                </c:pt>
                <c:pt idx="1">
                  <c:v>154</c:v>
                </c:pt>
                <c:pt idx="2">
                  <c:v>134</c:v>
                </c:pt>
                <c:pt idx="3">
                  <c:v>114</c:v>
                </c:pt>
                <c:pt idx="4">
                  <c:v>98</c:v>
                </c:pt>
                <c:pt idx="5">
                  <c:v>90</c:v>
                </c:pt>
                <c:pt idx="6">
                  <c:v>80</c:v>
                </c:pt>
                <c:pt idx="7">
                  <c:v>74</c:v>
                </c:pt>
                <c:pt idx="8">
                  <c:v>63</c:v>
                </c:pt>
                <c:pt idx="9">
                  <c:v>59</c:v>
                </c:pt>
                <c:pt idx="10">
                  <c:v>54</c:v>
                </c:pt>
                <c:pt idx="11">
                  <c:v>47</c:v>
                </c:pt>
                <c:pt idx="12">
                  <c:v>45</c:v>
                </c:pt>
                <c:pt idx="13">
                  <c:v>45</c:v>
                </c:pt>
                <c:pt idx="14">
                  <c:v>43</c:v>
                </c:pt>
                <c:pt idx="15">
                  <c:v>42</c:v>
                </c:pt>
                <c:pt idx="16">
                  <c:v>40</c:v>
                </c:pt>
                <c:pt idx="17">
                  <c:v>39</c:v>
                </c:pt>
                <c:pt idx="18">
                  <c:v>38</c:v>
                </c:pt>
                <c:pt idx="19">
                  <c:v>36</c:v>
                </c:pt>
                <c:pt idx="20">
                  <c:v>36</c:v>
                </c:pt>
                <c:pt idx="21">
                  <c:v>35</c:v>
                </c:pt>
                <c:pt idx="22">
                  <c:v>35</c:v>
                </c:pt>
                <c:pt idx="23">
                  <c:v>34</c:v>
                </c:pt>
              </c:numCache>
            </c:numRef>
          </c:val>
        </c:ser>
        <c:ser>
          <c:idx val="1"/>
          <c:order val="1"/>
          <c:tx>
            <c:v>2024-02</c:v>
          </c:tx>
          <c:spPr>
            <a:solidFill xmlns:a="http://schemas.openxmlformats.org/drawingml/2006/main">
              <a:srgbClr val="AE4246"/>
            </a:solidFill>
            <a:ln xmlns:a="http://schemas.openxmlformats.org/drawingml/2006/main" w="3810">
              <a:solidFill>
                <a:srgbClr val="FFFFFF"/>
              </a:solidFill>
            </a:ln>
          </c:spPr>
          <c:cat>
            <c:strRef>
              <c:f>'Chart Data'!$C$2:$C$25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Data'!$D$2:$D$25</c:f>
              <c:numCache>
                <c:formatCode>#,##0</c:formatCode>
                <c:ptCount val="24"/>
                <c:pt idx="0">
                  <c:v>0</c:v>
                </c:pt>
                <c:pt idx="1">
                  <c:v>193</c:v>
                </c:pt>
                <c:pt idx="2">
                  <c:v>166</c:v>
                </c:pt>
                <c:pt idx="3">
                  <c:v>147</c:v>
                </c:pt>
                <c:pt idx="4">
                  <c:v>129</c:v>
                </c:pt>
                <c:pt idx="5">
                  <c:v>113</c:v>
                </c:pt>
                <c:pt idx="6">
                  <c:v>100</c:v>
                </c:pt>
                <c:pt idx="7">
                  <c:v>90</c:v>
                </c:pt>
                <c:pt idx="8">
                  <c:v>86</c:v>
                </c:pt>
                <c:pt idx="9">
                  <c:v>85</c:v>
                </c:pt>
                <c:pt idx="10">
                  <c:v>82</c:v>
                </c:pt>
                <c:pt idx="11">
                  <c:v>78</c:v>
                </c:pt>
                <c:pt idx="12">
                  <c:v>75</c:v>
                </c:pt>
                <c:pt idx="13">
                  <c:v>72</c:v>
                </c:pt>
                <c:pt idx="14">
                  <c:v>69</c:v>
                </c:pt>
                <c:pt idx="15">
                  <c:v>63</c:v>
                </c:pt>
                <c:pt idx="16">
                  <c:v>60</c:v>
                </c:pt>
                <c:pt idx="17">
                  <c:v>58</c:v>
                </c:pt>
                <c:pt idx="18">
                  <c:v>56</c:v>
                </c:pt>
                <c:pt idx="19">
                  <c:v>52</c:v>
                </c:pt>
                <c:pt idx="20">
                  <c:v>49</c:v>
                </c:pt>
                <c:pt idx="21">
                  <c:v>49</c:v>
                </c:pt>
                <c:pt idx="22">
                  <c:v>45</c:v>
                </c:pt>
                <c:pt idx="23">
                  <c:v>41</c:v>
                </c:pt>
              </c:numCache>
            </c:numRef>
          </c:val>
        </c:ser>
        <c:ser>
          <c:idx val="2"/>
          <c:order val="2"/>
          <c:tx>
            <c:v>2024-03</c:v>
          </c:tx>
          <c:spPr>
            <a:solidFill xmlns:a="http://schemas.openxmlformats.org/drawingml/2006/main">
              <a:srgbClr val="A8434A"/>
            </a:solidFill>
            <a:ln xmlns:a="http://schemas.openxmlformats.org/drawingml/2006/main" w="3810">
              <a:solidFill>
                <a:srgbClr val="FFFFFF"/>
              </a:solidFill>
            </a:ln>
          </c:spPr>
          <c:cat>
            <c:strRef>
              <c:f>'Chart Data'!$E$2:$E$25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Data'!$F$2:$F$25</c:f>
              <c:numCache>
                <c:formatCode>#,##0</c:formatCode>
                <c:ptCount val="24"/>
                <c:pt idx="0">
                  <c:v>0</c:v>
                </c:pt>
                <c:pt idx="1">
                  <c:v>0</c:v>
                </c:pt>
                <c:pt idx="2">
                  <c:v>194</c:v>
                </c:pt>
                <c:pt idx="3">
                  <c:v>172</c:v>
                </c:pt>
                <c:pt idx="4">
                  <c:v>151</c:v>
                </c:pt>
                <c:pt idx="5">
                  <c:v>139</c:v>
                </c:pt>
                <c:pt idx="6">
                  <c:v>130</c:v>
                </c:pt>
                <c:pt idx="7">
                  <c:v>115</c:v>
                </c:pt>
                <c:pt idx="8">
                  <c:v>108</c:v>
                </c:pt>
                <c:pt idx="9">
                  <c:v>105</c:v>
                </c:pt>
                <c:pt idx="10">
                  <c:v>100</c:v>
                </c:pt>
                <c:pt idx="11">
                  <c:v>95</c:v>
                </c:pt>
                <c:pt idx="12">
                  <c:v>91</c:v>
                </c:pt>
                <c:pt idx="13">
                  <c:v>89</c:v>
                </c:pt>
                <c:pt idx="14">
                  <c:v>85</c:v>
                </c:pt>
                <c:pt idx="15">
                  <c:v>83</c:v>
                </c:pt>
                <c:pt idx="16">
                  <c:v>81</c:v>
                </c:pt>
                <c:pt idx="17">
                  <c:v>81</c:v>
                </c:pt>
                <c:pt idx="18">
                  <c:v>79</c:v>
                </c:pt>
                <c:pt idx="19">
                  <c:v>79</c:v>
                </c:pt>
                <c:pt idx="20">
                  <c:v>77</c:v>
                </c:pt>
                <c:pt idx="21">
                  <c:v>76</c:v>
                </c:pt>
                <c:pt idx="22">
                  <c:v>74</c:v>
                </c:pt>
                <c:pt idx="23">
                  <c:v>71</c:v>
                </c:pt>
              </c:numCache>
            </c:numRef>
          </c:val>
        </c:ser>
        <c:ser>
          <c:idx val="3"/>
          <c:order val="3"/>
          <c:tx>
            <c:v>2024-04</c:v>
          </c:tx>
          <c:spPr>
            <a:solidFill xmlns:a="http://schemas.openxmlformats.org/drawingml/2006/main">
              <a:srgbClr val="A3454F"/>
            </a:solidFill>
            <a:ln xmlns:a="http://schemas.openxmlformats.org/drawingml/2006/main" w="3810">
              <a:solidFill>
                <a:srgbClr val="FFFFFF"/>
              </a:solidFill>
            </a:ln>
          </c:spPr>
          <c:cat>
            <c:strRef>
              <c:f>'Chart Data'!$G$2:$G$25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Data'!$H$2:$H$25</c:f>
              <c:numCache>
                <c:formatCode>#,##0</c:formatCode>
                <c:ptCount val="24"/>
                <c:pt idx="0">
                  <c:v>0</c:v>
                </c:pt>
                <c:pt idx="1">
                  <c:v>0</c:v>
                </c:pt>
                <c:pt idx="2">
                  <c:v>0</c:v>
                </c:pt>
                <c:pt idx="3">
                  <c:v>194</c:v>
                </c:pt>
                <c:pt idx="4">
                  <c:v>152</c:v>
                </c:pt>
                <c:pt idx="5">
                  <c:v>128</c:v>
                </c:pt>
                <c:pt idx="6">
                  <c:v>117</c:v>
                </c:pt>
                <c:pt idx="7">
                  <c:v>107</c:v>
                </c:pt>
                <c:pt idx="8">
                  <c:v>99</c:v>
                </c:pt>
                <c:pt idx="9">
                  <c:v>93</c:v>
                </c:pt>
                <c:pt idx="10">
                  <c:v>90</c:v>
                </c:pt>
                <c:pt idx="11">
                  <c:v>88</c:v>
                </c:pt>
                <c:pt idx="12">
                  <c:v>82</c:v>
                </c:pt>
                <c:pt idx="13">
                  <c:v>77</c:v>
                </c:pt>
                <c:pt idx="14">
                  <c:v>67</c:v>
                </c:pt>
                <c:pt idx="15">
                  <c:v>64</c:v>
                </c:pt>
                <c:pt idx="16">
                  <c:v>64</c:v>
                </c:pt>
                <c:pt idx="17">
                  <c:v>60</c:v>
                </c:pt>
                <c:pt idx="18">
                  <c:v>58</c:v>
                </c:pt>
                <c:pt idx="19">
                  <c:v>55</c:v>
                </c:pt>
                <c:pt idx="20">
                  <c:v>54</c:v>
                </c:pt>
                <c:pt idx="21">
                  <c:v>54</c:v>
                </c:pt>
                <c:pt idx="22">
                  <c:v>51</c:v>
                </c:pt>
                <c:pt idx="23">
                  <c:v>47</c:v>
                </c:pt>
              </c:numCache>
            </c:numRef>
          </c:val>
        </c:ser>
        <c:ser>
          <c:idx val="4"/>
          <c:order val="4"/>
          <c:tx>
            <c:v>2024-05</c:v>
          </c:tx>
          <c:spPr>
            <a:solidFill xmlns:a="http://schemas.openxmlformats.org/drawingml/2006/main">
              <a:srgbClr val="9D4654"/>
            </a:solidFill>
            <a:ln xmlns:a="http://schemas.openxmlformats.org/drawingml/2006/main" w="3810">
              <a:solidFill>
                <a:srgbClr val="FFFFFF"/>
              </a:solidFill>
            </a:ln>
          </c:spPr>
          <c:cat>
            <c:strRef>
              <c:f>'Chart Data'!$I$2:$I$25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Data'!$J$2:$J$25</c:f>
              <c:numCache>
                <c:formatCode>#,##0</c:formatCode>
                <c:ptCount val="24"/>
                <c:pt idx="0">
                  <c:v>0</c:v>
                </c:pt>
                <c:pt idx="1">
                  <c:v>0</c:v>
                </c:pt>
                <c:pt idx="2">
                  <c:v>0</c:v>
                </c:pt>
                <c:pt idx="3">
                  <c:v>0</c:v>
                </c:pt>
                <c:pt idx="4">
                  <c:v>191</c:v>
                </c:pt>
                <c:pt idx="5">
                  <c:v>156</c:v>
                </c:pt>
                <c:pt idx="6">
                  <c:v>134</c:v>
                </c:pt>
                <c:pt idx="7">
                  <c:v>125</c:v>
                </c:pt>
                <c:pt idx="8">
                  <c:v>115</c:v>
                </c:pt>
                <c:pt idx="9">
                  <c:v>110</c:v>
                </c:pt>
                <c:pt idx="10">
                  <c:v>106</c:v>
                </c:pt>
                <c:pt idx="11">
                  <c:v>95</c:v>
                </c:pt>
                <c:pt idx="12">
                  <c:v>89</c:v>
                </c:pt>
                <c:pt idx="13">
                  <c:v>85</c:v>
                </c:pt>
                <c:pt idx="14">
                  <c:v>79</c:v>
                </c:pt>
                <c:pt idx="15">
                  <c:v>78</c:v>
                </c:pt>
                <c:pt idx="16">
                  <c:v>75</c:v>
                </c:pt>
                <c:pt idx="17">
                  <c:v>66</c:v>
                </c:pt>
                <c:pt idx="18">
                  <c:v>64</c:v>
                </c:pt>
                <c:pt idx="19">
                  <c:v>61</c:v>
                </c:pt>
                <c:pt idx="20">
                  <c:v>59</c:v>
                </c:pt>
                <c:pt idx="21">
                  <c:v>58</c:v>
                </c:pt>
                <c:pt idx="22">
                  <c:v>57</c:v>
                </c:pt>
                <c:pt idx="23">
                  <c:v>55</c:v>
                </c:pt>
              </c:numCache>
            </c:numRef>
          </c:val>
        </c:ser>
        <c:ser>
          <c:idx val="5"/>
          <c:order val="5"/>
          <c:tx>
            <c:v>2024-06</c:v>
          </c:tx>
          <c:spPr>
            <a:solidFill xmlns:a="http://schemas.openxmlformats.org/drawingml/2006/main">
              <a:srgbClr val="974859"/>
            </a:solidFill>
            <a:ln xmlns:a="http://schemas.openxmlformats.org/drawingml/2006/main" w="3810">
              <a:solidFill>
                <a:srgbClr val="FFFFFF"/>
              </a:solidFill>
            </a:ln>
          </c:spPr>
          <c:cat>
            <c:strRef>
              <c:f>'Chart Data'!$K$2:$K$25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Data'!$L$2:$L$25</c:f>
              <c:numCache>
                <c:formatCode>#,##0</c:formatCode>
                <c:ptCount val="24"/>
                <c:pt idx="0">
                  <c:v>0</c:v>
                </c:pt>
                <c:pt idx="1">
                  <c:v>0</c:v>
                </c:pt>
                <c:pt idx="2">
                  <c:v>0</c:v>
                </c:pt>
                <c:pt idx="3">
                  <c:v>0</c:v>
                </c:pt>
                <c:pt idx="4">
                  <c:v>0</c:v>
                </c:pt>
                <c:pt idx="5">
                  <c:v>190</c:v>
                </c:pt>
                <c:pt idx="6">
                  <c:v>162</c:v>
                </c:pt>
                <c:pt idx="7">
                  <c:v>140</c:v>
                </c:pt>
                <c:pt idx="8">
                  <c:v>128</c:v>
                </c:pt>
                <c:pt idx="9">
                  <c:v>112</c:v>
                </c:pt>
                <c:pt idx="10">
                  <c:v>105</c:v>
                </c:pt>
                <c:pt idx="11">
                  <c:v>102</c:v>
                </c:pt>
                <c:pt idx="12">
                  <c:v>97</c:v>
                </c:pt>
                <c:pt idx="13">
                  <c:v>94</c:v>
                </c:pt>
                <c:pt idx="14">
                  <c:v>88</c:v>
                </c:pt>
                <c:pt idx="15">
                  <c:v>84</c:v>
                </c:pt>
                <c:pt idx="16">
                  <c:v>77</c:v>
                </c:pt>
                <c:pt idx="17">
                  <c:v>75</c:v>
                </c:pt>
                <c:pt idx="18">
                  <c:v>72</c:v>
                </c:pt>
                <c:pt idx="19">
                  <c:v>68</c:v>
                </c:pt>
                <c:pt idx="20">
                  <c:v>68</c:v>
                </c:pt>
                <c:pt idx="21">
                  <c:v>65</c:v>
                </c:pt>
                <c:pt idx="22">
                  <c:v>64</c:v>
                </c:pt>
                <c:pt idx="23">
                  <c:v>60</c:v>
                </c:pt>
              </c:numCache>
            </c:numRef>
          </c:val>
        </c:ser>
        <c:ser>
          <c:idx val="6"/>
          <c:order val="6"/>
          <c:tx>
            <c:v>2024-07</c:v>
          </c:tx>
          <c:spPr>
            <a:solidFill xmlns:a="http://schemas.openxmlformats.org/drawingml/2006/main">
              <a:srgbClr val="91495D"/>
            </a:solidFill>
            <a:ln xmlns:a="http://schemas.openxmlformats.org/drawingml/2006/main" w="3810">
              <a:solidFill>
                <a:srgbClr val="FFFFFF"/>
              </a:solidFill>
            </a:ln>
          </c:spPr>
          <c:cat>
            <c:strRef>
              <c:f>'Chart Data'!$M$2:$M$25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Data'!$N$2:$N$25</c:f>
              <c:numCache>
                <c:formatCode>#,##0</c:formatCode>
                <c:ptCount val="24"/>
                <c:pt idx="0">
                  <c:v>0</c:v>
                </c:pt>
                <c:pt idx="1">
                  <c:v>0</c:v>
                </c:pt>
                <c:pt idx="2">
                  <c:v>0</c:v>
                </c:pt>
                <c:pt idx="3">
                  <c:v>0</c:v>
                </c:pt>
                <c:pt idx="4">
                  <c:v>0</c:v>
                </c:pt>
                <c:pt idx="5">
                  <c:v>0</c:v>
                </c:pt>
                <c:pt idx="6">
                  <c:v>204</c:v>
                </c:pt>
                <c:pt idx="7">
                  <c:v>179</c:v>
                </c:pt>
                <c:pt idx="8">
                  <c:v>155</c:v>
                </c:pt>
                <c:pt idx="9">
                  <c:v>143</c:v>
                </c:pt>
                <c:pt idx="10">
                  <c:v>132</c:v>
                </c:pt>
                <c:pt idx="11">
                  <c:v>127</c:v>
                </c:pt>
                <c:pt idx="12">
                  <c:v>118</c:v>
                </c:pt>
                <c:pt idx="13">
                  <c:v>110</c:v>
                </c:pt>
                <c:pt idx="14">
                  <c:v>98</c:v>
                </c:pt>
                <c:pt idx="15">
                  <c:v>88</c:v>
                </c:pt>
                <c:pt idx="16">
                  <c:v>85</c:v>
                </c:pt>
                <c:pt idx="17">
                  <c:v>84</c:v>
                </c:pt>
                <c:pt idx="18">
                  <c:v>82</c:v>
                </c:pt>
                <c:pt idx="19">
                  <c:v>80</c:v>
                </c:pt>
                <c:pt idx="20">
                  <c:v>77</c:v>
                </c:pt>
                <c:pt idx="21">
                  <c:v>75</c:v>
                </c:pt>
                <c:pt idx="22">
                  <c:v>72</c:v>
                </c:pt>
                <c:pt idx="23">
                  <c:v>70</c:v>
                </c:pt>
              </c:numCache>
            </c:numRef>
          </c:val>
        </c:ser>
        <c:ser>
          <c:idx val="7"/>
          <c:order val="7"/>
          <c:tx>
            <c:v>2024-08</c:v>
          </c:tx>
          <c:spPr>
            <a:solidFill xmlns:a="http://schemas.openxmlformats.org/drawingml/2006/main">
              <a:srgbClr val="8C4B62"/>
            </a:solidFill>
            <a:ln xmlns:a="http://schemas.openxmlformats.org/drawingml/2006/main" w="3810">
              <a:solidFill>
                <a:srgbClr val="FFFFFF"/>
              </a:solidFill>
            </a:ln>
          </c:spPr>
          <c:cat>
            <c:strRef>
              <c:f>'Chart Data'!$O$2:$O$25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Data'!$P$2:$P$25</c:f>
              <c:numCache>
                <c:formatCode>#,##0</c:formatCode>
                <c:ptCount val="24"/>
                <c:pt idx="0">
                  <c:v>0</c:v>
                </c:pt>
                <c:pt idx="1">
                  <c:v>0</c:v>
                </c:pt>
                <c:pt idx="2">
                  <c:v>0</c:v>
                </c:pt>
                <c:pt idx="3">
                  <c:v>0</c:v>
                </c:pt>
                <c:pt idx="4">
                  <c:v>0</c:v>
                </c:pt>
                <c:pt idx="5">
                  <c:v>0</c:v>
                </c:pt>
                <c:pt idx="6">
                  <c:v>0</c:v>
                </c:pt>
                <c:pt idx="7">
                  <c:v>215</c:v>
                </c:pt>
                <c:pt idx="8">
                  <c:v>185</c:v>
                </c:pt>
                <c:pt idx="9">
                  <c:v>163</c:v>
                </c:pt>
                <c:pt idx="10">
                  <c:v>149</c:v>
                </c:pt>
                <c:pt idx="11">
                  <c:v>138</c:v>
                </c:pt>
                <c:pt idx="12">
                  <c:v>129</c:v>
                </c:pt>
                <c:pt idx="13">
                  <c:v>121</c:v>
                </c:pt>
                <c:pt idx="14">
                  <c:v>113</c:v>
                </c:pt>
                <c:pt idx="15">
                  <c:v>110</c:v>
                </c:pt>
                <c:pt idx="16">
                  <c:v>108</c:v>
                </c:pt>
                <c:pt idx="17">
                  <c:v>100</c:v>
                </c:pt>
                <c:pt idx="18">
                  <c:v>96</c:v>
                </c:pt>
                <c:pt idx="19">
                  <c:v>92</c:v>
                </c:pt>
                <c:pt idx="20">
                  <c:v>87</c:v>
                </c:pt>
                <c:pt idx="21">
                  <c:v>83</c:v>
                </c:pt>
                <c:pt idx="22">
                  <c:v>82</c:v>
                </c:pt>
                <c:pt idx="23">
                  <c:v>79</c:v>
                </c:pt>
              </c:numCache>
            </c:numRef>
          </c:val>
        </c:ser>
        <c:ser>
          <c:idx val="8"/>
          <c:order val="8"/>
          <c:tx>
            <c:v>2024-09</c:v>
          </c:tx>
          <c:spPr>
            <a:solidFill xmlns:a="http://schemas.openxmlformats.org/drawingml/2006/main">
              <a:srgbClr val="864C67"/>
            </a:solidFill>
            <a:ln xmlns:a="http://schemas.openxmlformats.org/drawingml/2006/main" w="3810">
              <a:solidFill>
                <a:srgbClr val="FFFFFF"/>
              </a:solidFill>
            </a:ln>
          </c:spPr>
          <c:cat>
            <c:strRef>
              <c:f>'Chart Data'!$Q$2:$Q$25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Data'!$R$2:$R$25</c:f>
              <c:numCache>
                <c:formatCode>#,##0</c:formatCode>
                <c:ptCount val="24"/>
                <c:pt idx="0">
                  <c:v>0</c:v>
                </c:pt>
                <c:pt idx="1">
                  <c:v>0</c:v>
                </c:pt>
                <c:pt idx="2">
                  <c:v>0</c:v>
                </c:pt>
                <c:pt idx="3">
                  <c:v>0</c:v>
                </c:pt>
                <c:pt idx="4">
                  <c:v>0</c:v>
                </c:pt>
                <c:pt idx="5">
                  <c:v>0</c:v>
                </c:pt>
                <c:pt idx="6">
                  <c:v>0</c:v>
                </c:pt>
                <c:pt idx="7">
                  <c:v>0</c:v>
                </c:pt>
                <c:pt idx="8">
                  <c:v>225</c:v>
                </c:pt>
                <c:pt idx="9">
                  <c:v>199</c:v>
                </c:pt>
                <c:pt idx="10">
                  <c:v>178</c:v>
                </c:pt>
                <c:pt idx="11">
                  <c:v>161</c:v>
                </c:pt>
                <c:pt idx="12">
                  <c:v>147</c:v>
                </c:pt>
                <c:pt idx="13">
                  <c:v>136</c:v>
                </c:pt>
                <c:pt idx="14">
                  <c:v>125</c:v>
                </c:pt>
                <c:pt idx="15">
                  <c:v>115</c:v>
                </c:pt>
                <c:pt idx="16">
                  <c:v>114</c:v>
                </c:pt>
                <c:pt idx="17">
                  <c:v>106</c:v>
                </c:pt>
                <c:pt idx="18">
                  <c:v>103</c:v>
                </c:pt>
                <c:pt idx="19">
                  <c:v>100</c:v>
                </c:pt>
                <c:pt idx="20">
                  <c:v>97</c:v>
                </c:pt>
                <c:pt idx="21">
                  <c:v>91</c:v>
                </c:pt>
                <c:pt idx="22">
                  <c:v>89</c:v>
                </c:pt>
                <c:pt idx="23">
                  <c:v>88</c:v>
                </c:pt>
              </c:numCache>
            </c:numRef>
          </c:val>
        </c:ser>
        <c:ser>
          <c:idx val="9"/>
          <c:order val="9"/>
          <c:tx>
            <c:v>2024-10</c:v>
          </c:tx>
          <c:spPr>
            <a:solidFill xmlns:a="http://schemas.openxmlformats.org/drawingml/2006/main">
              <a:srgbClr val="804E6C"/>
            </a:solidFill>
            <a:ln xmlns:a="http://schemas.openxmlformats.org/drawingml/2006/main" w="3810">
              <a:solidFill>
                <a:srgbClr val="FFFFFF"/>
              </a:solidFill>
            </a:ln>
          </c:spPr>
          <c:cat>
            <c:strRef>
              <c:f>'Chart Data'!$S$2:$S$25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Data'!$T$2:$T$25</c:f>
              <c:numCache>
                <c:formatCode>#,##0</c:formatCode>
                <c:ptCount val="24"/>
                <c:pt idx="0">
                  <c:v>0</c:v>
                </c:pt>
                <c:pt idx="1">
                  <c:v>0</c:v>
                </c:pt>
                <c:pt idx="2">
                  <c:v>0</c:v>
                </c:pt>
                <c:pt idx="3">
                  <c:v>0</c:v>
                </c:pt>
                <c:pt idx="4">
                  <c:v>0</c:v>
                </c:pt>
                <c:pt idx="5">
                  <c:v>0</c:v>
                </c:pt>
                <c:pt idx="6">
                  <c:v>0</c:v>
                </c:pt>
                <c:pt idx="7">
                  <c:v>0</c:v>
                </c:pt>
                <c:pt idx="8">
                  <c:v>0</c:v>
                </c:pt>
                <c:pt idx="9">
                  <c:v>247</c:v>
                </c:pt>
                <c:pt idx="10">
                  <c:v>216</c:v>
                </c:pt>
                <c:pt idx="11">
                  <c:v>187</c:v>
                </c:pt>
                <c:pt idx="12">
                  <c:v>174</c:v>
                </c:pt>
                <c:pt idx="13">
                  <c:v>156</c:v>
                </c:pt>
                <c:pt idx="14">
                  <c:v>142</c:v>
                </c:pt>
                <c:pt idx="15">
                  <c:v>132</c:v>
                </c:pt>
                <c:pt idx="16">
                  <c:v>125</c:v>
                </c:pt>
                <c:pt idx="17">
                  <c:v>118</c:v>
                </c:pt>
                <c:pt idx="18">
                  <c:v>114</c:v>
                </c:pt>
                <c:pt idx="19">
                  <c:v>111</c:v>
                </c:pt>
                <c:pt idx="20">
                  <c:v>107</c:v>
                </c:pt>
                <c:pt idx="21">
                  <c:v>103</c:v>
                </c:pt>
                <c:pt idx="22">
                  <c:v>98</c:v>
                </c:pt>
                <c:pt idx="23">
                  <c:v>97</c:v>
                </c:pt>
              </c:numCache>
            </c:numRef>
          </c:val>
        </c:ser>
        <c:ser>
          <c:idx val="10"/>
          <c:order val="10"/>
          <c:tx>
            <c:v>2024-11</c:v>
          </c:tx>
          <c:spPr>
            <a:solidFill xmlns:a="http://schemas.openxmlformats.org/drawingml/2006/main">
              <a:srgbClr val="7A4F70"/>
            </a:solidFill>
            <a:ln xmlns:a="http://schemas.openxmlformats.org/drawingml/2006/main" w="3810">
              <a:solidFill>
                <a:srgbClr val="FFFFFF"/>
              </a:solidFill>
            </a:ln>
          </c:spPr>
          <c:cat>
            <c:strRef>
              <c:f>'Chart Data'!$U$2:$U$25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Data'!$V$2:$V$25</c:f>
              <c:numCache>
                <c:formatCode>#,##0</c:formatCode>
                <c:ptCount val="24"/>
                <c:pt idx="0">
                  <c:v>0</c:v>
                </c:pt>
                <c:pt idx="1">
                  <c:v>0</c:v>
                </c:pt>
                <c:pt idx="2">
                  <c:v>0</c:v>
                </c:pt>
                <c:pt idx="3">
                  <c:v>0</c:v>
                </c:pt>
                <c:pt idx="4">
                  <c:v>0</c:v>
                </c:pt>
                <c:pt idx="5">
                  <c:v>0</c:v>
                </c:pt>
                <c:pt idx="6">
                  <c:v>0</c:v>
                </c:pt>
                <c:pt idx="7">
                  <c:v>0</c:v>
                </c:pt>
                <c:pt idx="8">
                  <c:v>0</c:v>
                </c:pt>
                <c:pt idx="9">
                  <c:v>0</c:v>
                </c:pt>
                <c:pt idx="10">
                  <c:v>236</c:v>
                </c:pt>
                <c:pt idx="11">
                  <c:v>207</c:v>
                </c:pt>
                <c:pt idx="12">
                  <c:v>184</c:v>
                </c:pt>
                <c:pt idx="13">
                  <c:v>165</c:v>
                </c:pt>
                <c:pt idx="14">
                  <c:v>155</c:v>
                </c:pt>
                <c:pt idx="15">
                  <c:v>144</c:v>
                </c:pt>
                <c:pt idx="16">
                  <c:v>132</c:v>
                </c:pt>
                <c:pt idx="17">
                  <c:v>124</c:v>
                </c:pt>
                <c:pt idx="18">
                  <c:v>119</c:v>
                </c:pt>
                <c:pt idx="19">
                  <c:v>113</c:v>
                </c:pt>
                <c:pt idx="20">
                  <c:v>106</c:v>
                </c:pt>
                <c:pt idx="21">
                  <c:v>105</c:v>
                </c:pt>
                <c:pt idx="22">
                  <c:v>99</c:v>
                </c:pt>
                <c:pt idx="23">
                  <c:v>97</c:v>
                </c:pt>
              </c:numCache>
            </c:numRef>
          </c:val>
        </c:ser>
        <c:ser>
          <c:idx val="11"/>
          <c:order val="11"/>
          <c:tx>
            <c:v>2024-12</c:v>
          </c:tx>
          <c:spPr>
            <a:solidFill xmlns:a="http://schemas.openxmlformats.org/drawingml/2006/main">
              <a:srgbClr val="745175"/>
            </a:solidFill>
            <a:ln xmlns:a="http://schemas.openxmlformats.org/drawingml/2006/main" w="3810">
              <a:solidFill>
                <a:srgbClr val="FFFFFF"/>
              </a:solidFill>
            </a:ln>
          </c:spPr>
          <c:cat>
            <c:strRef>
              <c:f>'Chart Data'!$W$2:$W$25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Data'!$X$2:$X$25</c:f>
              <c:numCache>
                <c:formatCode>#,##0</c:formatCode>
                <c:ptCount val="24"/>
                <c:pt idx="0">
                  <c:v>0</c:v>
                </c:pt>
                <c:pt idx="1">
                  <c:v>0</c:v>
                </c:pt>
                <c:pt idx="2">
                  <c:v>0</c:v>
                </c:pt>
                <c:pt idx="3">
                  <c:v>0</c:v>
                </c:pt>
                <c:pt idx="4">
                  <c:v>0</c:v>
                </c:pt>
                <c:pt idx="5">
                  <c:v>0</c:v>
                </c:pt>
                <c:pt idx="6">
                  <c:v>0</c:v>
                </c:pt>
                <c:pt idx="7">
                  <c:v>0</c:v>
                </c:pt>
                <c:pt idx="8">
                  <c:v>0</c:v>
                </c:pt>
                <c:pt idx="9">
                  <c:v>0</c:v>
                </c:pt>
                <c:pt idx="10">
                  <c:v>0</c:v>
                </c:pt>
                <c:pt idx="11">
                  <c:v>226</c:v>
                </c:pt>
                <c:pt idx="12">
                  <c:v>199</c:v>
                </c:pt>
                <c:pt idx="13">
                  <c:v>169</c:v>
                </c:pt>
                <c:pt idx="14">
                  <c:v>147</c:v>
                </c:pt>
                <c:pt idx="15">
                  <c:v>130</c:v>
                </c:pt>
                <c:pt idx="16">
                  <c:v>120</c:v>
                </c:pt>
                <c:pt idx="17">
                  <c:v>110</c:v>
                </c:pt>
                <c:pt idx="18">
                  <c:v>104</c:v>
                </c:pt>
                <c:pt idx="19">
                  <c:v>100</c:v>
                </c:pt>
                <c:pt idx="20">
                  <c:v>98</c:v>
                </c:pt>
                <c:pt idx="21">
                  <c:v>95</c:v>
                </c:pt>
                <c:pt idx="22">
                  <c:v>94</c:v>
                </c:pt>
                <c:pt idx="23">
                  <c:v>90</c:v>
                </c:pt>
              </c:numCache>
            </c:numRef>
          </c:val>
        </c:ser>
        <c:ser>
          <c:idx val="12"/>
          <c:order val="12"/>
          <c:tx>
            <c:v>2025-01</c:v>
          </c:tx>
          <c:spPr>
            <a:solidFill xmlns:a="http://schemas.openxmlformats.org/drawingml/2006/main">
              <a:srgbClr val="6F527A"/>
            </a:solidFill>
            <a:ln xmlns:a="http://schemas.openxmlformats.org/drawingml/2006/main" w="3810">
              <a:solidFill>
                <a:srgbClr val="FFFFFF"/>
              </a:solidFill>
            </a:ln>
          </c:spPr>
          <c:cat>
            <c:strRef>
              <c:f>'Chart Data'!$Y$2:$Y$25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Data'!$Z$2:$Z$25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233</c:v>
                </c:pt>
                <c:pt idx="13">
                  <c:v>191</c:v>
                </c:pt>
                <c:pt idx="14">
                  <c:v>165</c:v>
                </c:pt>
                <c:pt idx="15">
                  <c:v>146</c:v>
                </c:pt>
                <c:pt idx="16">
                  <c:v>134</c:v>
                </c:pt>
                <c:pt idx="17">
                  <c:v>124</c:v>
                </c:pt>
                <c:pt idx="18">
                  <c:v>120</c:v>
                </c:pt>
                <c:pt idx="19">
                  <c:v>115</c:v>
                </c:pt>
                <c:pt idx="20">
                  <c:v>112</c:v>
                </c:pt>
                <c:pt idx="21">
                  <c:v>105</c:v>
                </c:pt>
                <c:pt idx="22">
                  <c:v>100</c:v>
                </c:pt>
                <c:pt idx="23">
                  <c:v>97</c:v>
                </c:pt>
              </c:numCache>
            </c:numRef>
          </c:val>
        </c:ser>
        <c:ser>
          <c:idx val="13"/>
          <c:order val="13"/>
          <c:tx>
            <c:v>2025-02</c:v>
          </c:tx>
          <c:spPr>
            <a:solidFill xmlns:a="http://schemas.openxmlformats.org/drawingml/2006/main">
              <a:srgbClr val="69547F"/>
            </a:solidFill>
            <a:ln xmlns:a="http://schemas.openxmlformats.org/drawingml/2006/main" w="3810">
              <a:solidFill>
                <a:srgbClr val="FFFFFF"/>
              </a:solidFill>
            </a:ln>
          </c:spPr>
          <c:cat>
            <c:strRef>
              <c:f>'Chart Data'!$AA$2:$AA$25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Data'!$AB$2:$AB$25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233</c:v>
                </c:pt>
                <c:pt idx="14">
                  <c:v>193</c:v>
                </c:pt>
                <c:pt idx="15">
                  <c:v>176</c:v>
                </c:pt>
                <c:pt idx="16">
                  <c:v>171</c:v>
                </c:pt>
                <c:pt idx="17">
                  <c:v>163</c:v>
                </c:pt>
                <c:pt idx="18">
                  <c:v>150</c:v>
                </c:pt>
                <c:pt idx="19">
                  <c:v>137</c:v>
                </c:pt>
                <c:pt idx="20">
                  <c:v>129</c:v>
                </c:pt>
                <c:pt idx="21">
                  <c:v>120</c:v>
                </c:pt>
                <c:pt idx="22">
                  <c:v>115</c:v>
                </c:pt>
                <c:pt idx="23">
                  <c:v>110</c:v>
                </c:pt>
              </c:numCache>
            </c:numRef>
          </c:val>
        </c:ser>
        <c:ser>
          <c:idx val="14"/>
          <c:order val="14"/>
          <c:tx>
            <c:v>2025-03</c:v>
          </c:tx>
          <c:spPr>
            <a:solidFill xmlns:a="http://schemas.openxmlformats.org/drawingml/2006/main">
              <a:srgbClr val="635583"/>
            </a:solidFill>
            <a:ln xmlns:a="http://schemas.openxmlformats.org/drawingml/2006/main" w="3810">
              <a:solidFill>
                <a:srgbClr val="FFFFFF"/>
              </a:solidFill>
            </a:ln>
          </c:spPr>
          <c:cat>
            <c:strRef>
              <c:f>'Chart Data'!$AC$2:$AC$25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Data'!$AD$2:$AD$25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245</c:v>
                </c:pt>
                <c:pt idx="15">
                  <c:v>199</c:v>
                </c:pt>
                <c:pt idx="16">
                  <c:v>173</c:v>
                </c:pt>
                <c:pt idx="17">
                  <c:v>158</c:v>
                </c:pt>
                <c:pt idx="18">
                  <c:v>150</c:v>
                </c:pt>
                <c:pt idx="19">
                  <c:v>142</c:v>
                </c:pt>
                <c:pt idx="20">
                  <c:v>132</c:v>
                </c:pt>
                <c:pt idx="21">
                  <c:v>127</c:v>
                </c:pt>
                <c:pt idx="22">
                  <c:v>123</c:v>
                </c:pt>
                <c:pt idx="23">
                  <c:v>117</c:v>
                </c:pt>
              </c:numCache>
            </c:numRef>
          </c:val>
        </c:ser>
        <c:ser>
          <c:idx val="15"/>
          <c:order val="15"/>
          <c:tx>
            <c:v>2025-04</c:v>
          </c:tx>
          <c:spPr>
            <a:solidFill xmlns:a="http://schemas.openxmlformats.org/drawingml/2006/main">
              <a:srgbClr val="5D5788"/>
            </a:solidFill>
            <a:ln xmlns:a="http://schemas.openxmlformats.org/drawingml/2006/main" w="3810">
              <a:solidFill>
                <a:srgbClr val="FFFFFF"/>
              </a:solidFill>
            </a:ln>
          </c:spPr>
          <c:cat>
            <c:strRef>
              <c:f>'Chart Data'!$AE$2:$AE$25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Data'!$AF$2:$AF$25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259</c:v>
                </c:pt>
                <c:pt idx="16">
                  <c:v>224</c:v>
                </c:pt>
                <c:pt idx="17">
                  <c:v>211</c:v>
                </c:pt>
                <c:pt idx="18">
                  <c:v>189</c:v>
                </c:pt>
                <c:pt idx="19">
                  <c:v>179</c:v>
                </c:pt>
                <c:pt idx="20">
                  <c:v>167</c:v>
                </c:pt>
                <c:pt idx="21">
                  <c:v>157</c:v>
                </c:pt>
                <c:pt idx="22">
                  <c:v>148</c:v>
                </c:pt>
                <c:pt idx="23">
                  <c:v>138</c:v>
                </c:pt>
              </c:numCache>
            </c:numRef>
          </c:val>
        </c:ser>
        <c:ser>
          <c:idx val="16"/>
          <c:order val="16"/>
          <c:tx>
            <c:v>2025-05</c:v>
          </c:tx>
          <c:spPr>
            <a:solidFill xmlns:a="http://schemas.openxmlformats.org/drawingml/2006/main">
              <a:srgbClr val="57588D"/>
            </a:solidFill>
            <a:ln xmlns:a="http://schemas.openxmlformats.org/drawingml/2006/main" w="3810">
              <a:solidFill>
                <a:srgbClr val="FFFFFF"/>
              </a:solidFill>
            </a:ln>
          </c:spPr>
          <c:cat>
            <c:strRef>
              <c:f>'Chart Data'!$AG$2:$AG$25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Data'!$AH$2:$AH$25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366</c:v>
                </c:pt>
                <c:pt idx="17">
                  <c:v>329</c:v>
                </c:pt>
                <c:pt idx="18">
                  <c:v>301</c:v>
                </c:pt>
                <c:pt idx="19">
                  <c:v>276</c:v>
                </c:pt>
                <c:pt idx="20">
                  <c:v>266</c:v>
                </c:pt>
                <c:pt idx="21">
                  <c:v>253</c:v>
                </c:pt>
                <c:pt idx="22">
                  <c:v>234</c:v>
                </c:pt>
                <c:pt idx="23">
                  <c:v>228</c:v>
                </c:pt>
              </c:numCache>
            </c:numRef>
          </c:val>
        </c:ser>
        <c:ser>
          <c:idx val="17"/>
          <c:order val="17"/>
          <c:tx>
            <c:v>2025-06</c:v>
          </c:tx>
          <c:spPr>
            <a:solidFill xmlns:a="http://schemas.openxmlformats.org/drawingml/2006/main">
              <a:srgbClr val="525A92"/>
            </a:solidFill>
            <a:ln xmlns:a="http://schemas.openxmlformats.org/drawingml/2006/main" w="3810">
              <a:solidFill>
                <a:srgbClr val="FFFFFF"/>
              </a:solidFill>
            </a:ln>
          </c:spPr>
          <c:cat>
            <c:strRef>
              <c:f>'Chart Data'!$AI$2:$AI$25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Data'!$AJ$2:$AJ$25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256</c:v>
                </c:pt>
                <c:pt idx="18">
                  <c:v>225</c:v>
                </c:pt>
                <c:pt idx="19">
                  <c:v>210</c:v>
                </c:pt>
                <c:pt idx="20">
                  <c:v>192</c:v>
                </c:pt>
                <c:pt idx="21">
                  <c:v>183</c:v>
                </c:pt>
                <c:pt idx="22">
                  <c:v>172</c:v>
                </c:pt>
                <c:pt idx="23">
                  <c:v>166</c:v>
                </c:pt>
              </c:numCache>
            </c:numRef>
          </c:val>
        </c:ser>
        <c:ser>
          <c:idx val="18"/>
          <c:order val="18"/>
          <c:tx>
            <c:v>2025-07</c:v>
          </c:tx>
          <c:spPr>
            <a:solidFill xmlns:a="http://schemas.openxmlformats.org/drawingml/2006/main">
              <a:srgbClr val="4C5B96"/>
            </a:solidFill>
            <a:ln xmlns:a="http://schemas.openxmlformats.org/drawingml/2006/main" w="3810">
              <a:solidFill>
                <a:srgbClr val="FFFFFF"/>
              </a:solidFill>
            </a:ln>
          </c:spPr>
          <c:cat>
            <c:strRef>
              <c:f>'Chart Data'!$AK$2:$AK$25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Data'!$AL$2:$AL$25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270</c:v>
                </c:pt>
                <c:pt idx="19">
                  <c:v>236</c:v>
                </c:pt>
                <c:pt idx="20">
                  <c:v>211</c:v>
                </c:pt>
                <c:pt idx="21">
                  <c:v>196</c:v>
                </c:pt>
                <c:pt idx="22">
                  <c:v>190</c:v>
                </c:pt>
                <c:pt idx="23">
                  <c:v>180</c:v>
                </c:pt>
              </c:numCache>
            </c:numRef>
          </c:val>
        </c:ser>
        <c:ser>
          <c:idx val="19"/>
          <c:order val="19"/>
          <c:tx>
            <c:v>2025-08</c:v>
          </c:tx>
          <c:spPr>
            <a:solidFill xmlns:a="http://schemas.openxmlformats.org/drawingml/2006/main">
              <a:srgbClr val="465D9B"/>
            </a:solidFill>
            <a:ln xmlns:a="http://schemas.openxmlformats.org/drawingml/2006/main" w="3810">
              <a:solidFill>
                <a:srgbClr val="FFFFFF"/>
              </a:solidFill>
            </a:ln>
          </c:spPr>
          <c:cat>
            <c:strRef>
              <c:f>'Chart Data'!$AM$2:$AM$25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Data'!$AN$2:$AN$25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261</c:v>
                </c:pt>
                <c:pt idx="20">
                  <c:v>230</c:v>
                </c:pt>
                <c:pt idx="21">
                  <c:v>209</c:v>
                </c:pt>
                <c:pt idx="22">
                  <c:v>195</c:v>
                </c:pt>
                <c:pt idx="23">
                  <c:v>180</c:v>
                </c:pt>
              </c:numCache>
            </c:numRef>
          </c:val>
        </c:ser>
        <c:ser>
          <c:idx val="20"/>
          <c:order val="20"/>
          <c:tx>
            <c:v>2025-09</c:v>
          </c:tx>
          <c:spPr>
            <a:solidFill xmlns:a="http://schemas.openxmlformats.org/drawingml/2006/main">
              <a:srgbClr val="405EA0"/>
            </a:solidFill>
            <a:ln xmlns:a="http://schemas.openxmlformats.org/drawingml/2006/main" w="3810">
              <a:solidFill>
                <a:srgbClr val="FFFFFF"/>
              </a:solidFill>
            </a:ln>
          </c:spPr>
          <c:cat>
            <c:strRef>
              <c:f>'Chart Data'!$AO$2:$AO$25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Data'!$AP$2:$AP$25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354</c:v>
                </c:pt>
                <c:pt idx="21">
                  <c:v>331</c:v>
                </c:pt>
                <c:pt idx="22">
                  <c:v>311</c:v>
                </c:pt>
                <c:pt idx="23">
                  <c:v>295</c:v>
                </c:pt>
              </c:numCache>
            </c:numRef>
          </c:val>
        </c:ser>
        <c:ser>
          <c:idx val="21"/>
          <c:order val="21"/>
          <c:tx>
            <c:v>2025-10</c:v>
          </c:tx>
          <c:spPr>
            <a:solidFill xmlns:a="http://schemas.openxmlformats.org/drawingml/2006/main">
              <a:srgbClr val="3B60A5"/>
            </a:solidFill>
            <a:ln xmlns:a="http://schemas.openxmlformats.org/drawingml/2006/main" w="3810">
              <a:solidFill>
                <a:srgbClr val="FFFFFF"/>
              </a:solidFill>
            </a:ln>
          </c:spPr>
          <c:cat>
            <c:strRef>
              <c:f>'Chart Data'!$AQ$2:$AQ$25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Data'!$AR$2:$AR$25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286</c:v>
                </c:pt>
                <c:pt idx="22">
                  <c:v>266</c:v>
                </c:pt>
                <c:pt idx="23">
                  <c:v>254</c:v>
                </c:pt>
              </c:numCache>
            </c:numRef>
          </c:val>
        </c:ser>
        <c:ser>
          <c:idx val="22"/>
          <c:order val="22"/>
          <c:tx>
            <c:v>2025-11</c:v>
          </c:tx>
          <c:spPr>
            <a:solidFill xmlns:a="http://schemas.openxmlformats.org/drawingml/2006/main">
              <a:srgbClr val="3561A9"/>
            </a:solidFill>
            <a:ln xmlns:a="http://schemas.openxmlformats.org/drawingml/2006/main" w="3810">
              <a:solidFill>
                <a:srgbClr val="FFFFFF"/>
              </a:solidFill>
            </a:ln>
          </c:spPr>
          <c:cat>
            <c:strRef>
              <c:f>'Chart Data'!$AS$2:$AS$25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Data'!$AT$2:$AT$25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292</c:v>
                </c:pt>
                <c:pt idx="23">
                  <c:v>257</c:v>
                </c:pt>
              </c:numCache>
            </c:numRef>
          </c:val>
        </c:ser>
        <c:ser>
          <c:idx val="23"/>
          <c:order val="23"/>
          <c:tx>
            <c:v>2025-12</c:v>
          </c:tx>
          <c:spPr>
            <a:solidFill xmlns:a="http://schemas.openxmlformats.org/drawingml/2006/main">
              <a:srgbClr val="2F63AE"/>
            </a:solidFill>
            <a:ln xmlns:a="http://schemas.openxmlformats.org/drawingml/2006/main" w="3810">
              <a:solidFill>
                <a:srgbClr val="FFFFFF"/>
              </a:solidFill>
            </a:ln>
          </c:spPr>
          <c:cat>
            <c:strRef>
              <c:f>'Chart Data'!$AU$2:$AU$25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Data'!$AV$2:$AV$25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308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area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Calendar month</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General"/>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 subscribers</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76D7069-BBD2-4ED8-916E-B72ACD9CF373}"/>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987D884-6257-4B24-80AC-AD74F7535FFB}"/>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Studio North: customer economics lab</a:t>
            </a:r>
          </a:p>
        </p:txBody>
      </p:sp>
      <p:sp>
        <p:nvSpPr>
          <p:cNvPr id="3" name="">
            <a:extLst xmlns:a="http://schemas.openxmlformats.org/drawingml/2006/main">
              <a:ext uri="{FF2B5EF4-FFF2-40B4-BE49-F238E27FC236}">
                <a16:creationId xmlns:a16="http://schemas.microsoft.com/office/drawing/2014/main" id="{5A133749-72C9-4707-B025-7F013B6C9FE7}"/>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AI + SQL · 80 MINUTES</a:t>
            </a:r>
          </a:p>
        </p:txBody>
      </p:sp>
      <p:sp>
        <p:nvSpPr>
          <p:cNvPr id="4" name="">
            <a:extLst xmlns:a="http://schemas.openxmlformats.org/drawingml/2006/main">
              <a:ext uri="{FF2B5EF4-FFF2-40B4-BE49-F238E27FC236}">
                <a16:creationId xmlns:a16="http://schemas.microsoft.com/office/drawing/2014/main" id="{EE788E44-409C-40BE-947D-08BE25076BD1}"/>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383D669E-56F1-4F3C-A6C6-45DC83E3573B}"/>
              </a:ext>
            </a:extLst>
          </p:cNvPr>
          <p:cNvSpPr>
            <a:spLocks xmlns:a="http://schemas.openxmlformats.org/drawingml/2006/main" noGrp="1"/>
          </p:cNvSpPr>
          <p:nvPr/>
        </p:nvSpPr>
        <p:spPr>
          <a:xfrm xmlns:a="http://schemas.openxmlformats.org/drawingml/2006/main">
            <a:off x="609600" y="1571625"/>
            <a:ext cx="6191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3450" b="1">
                <a:solidFill>
                  <a:srgbClr val="172D3C"/>
                </a:solidFill>
                <a:latin typeface="Arial"/>
                <a:ea typeface="Arial"/>
                <a:cs typeface="Arial"/>
              </a:defRPr>
            </a:defPPr>
            <a:lvl1pPr>
              <a:defRPr sz="3450" b="1">
                <a:solidFill>
                  <a:srgbClr val="172D3C"/>
                </a:solidFill>
                <a:latin typeface="Arial"/>
                <a:ea typeface="Arial"/>
                <a:cs typeface="Arial"/>
              </a:defRPr>
            </a:lvl1pPr>
            <a:lvl2pPr>
              <a:defRPr sz="3450" b="1">
                <a:solidFill>
                  <a:srgbClr val="172D3C"/>
                </a:solidFill>
                <a:latin typeface="Arial"/>
                <a:ea typeface="Arial"/>
                <a:cs typeface="Arial"/>
              </a:defRPr>
            </a:lvl2pPr>
            <a:lvl3pPr>
              <a:defRPr sz="3450" b="1">
                <a:solidFill>
                  <a:srgbClr val="172D3C"/>
                </a:solidFill>
                <a:latin typeface="Arial"/>
                <a:ea typeface="Arial"/>
                <a:cs typeface="Arial"/>
              </a:defRPr>
            </a:lvl3pPr>
            <a:lvl4pPr>
              <a:defRPr sz="3450" b="1">
                <a:solidFill>
                  <a:srgbClr val="172D3C"/>
                </a:solidFill>
                <a:latin typeface="Arial"/>
                <a:ea typeface="Arial"/>
                <a:cs typeface="Arial"/>
              </a:defRPr>
            </a:lvl4pPr>
            <a:lvl5pPr>
              <a:defRPr sz="3450" b="1">
                <a:solidFill>
                  <a:srgbClr val="172D3C"/>
                </a:solidFill>
                <a:latin typeface="Arial"/>
                <a:ea typeface="Arial"/>
                <a:cs typeface="Arial"/>
              </a:defRPr>
            </a:lvl5pPr>
            <a:lvl6pPr>
              <a:defRPr sz="3450" b="1">
                <a:solidFill>
                  <a:srgbClr val="172D3C"/>
                </a:solidFill>
                <a:latin typeface="Arial"/>
                <a:ea typeface="Arial"/>
                <a:cs typeface="Arial"/>
              </a:defRPr>
            </a:lvl6pPr>
            <a:lvl7pPr>
              <a:defRPr sz="3450" b="1">
                <a:solidFill>
                  <a:srgbClr val="172D3C"/>
                </a:solidFill>
                <a:latin typeface="Arial"/>
                <a:ea typeface="Arial"/>
                <a:cs typeface="Arial"/>
              </a:defRPr>
            </a:lvl7pPr>
            <a:lvl8pPr>
              <a:defRPr sz="3450" b="1">
                <a:solidFill>
                  <a:srgbClr val="172D3C"/>
                </a:solidFill>
                <a:latin typeface="Arial"/>
                <a:ea typeface="Arial"/>
                <a:cs typeface="Arial"/>
              </a:defRPr>
            </a:lvl8pPr>
            <a:lvl9pPr>
              <a:defRPr sz="3450" b="1">
                <a:solidFill>
                  <a:srgbClr val="172D3C"/>
                </a:solidFill>
                <a:latin typeface="Arial"/>
                <a:ea typeface="Arial"/>
                <a:cs typeface="Arial"/>
              </a:defRPr>
            </a:lvl9pPr>
          </a:lstStyle>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Are we moving in the right</a:t>
            </a:r>
          </a:p>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direction as a company?</a:t>
            </a:r>
          </a:p>
        </p:txBody>
      </p:sp>
      <p:sp>
        <p:nvSpPr>
          <p:cNvPr id="6" name="">
            <a:extLst xmlns:a="http://schemas.openxmlformats.org/drawingml/2006/main">
              <a:ext uri="{FF2B5EF4-FFF2-40B4-BE49-F238E27FC236}">
                <a16:creationId xmlns:a16="http://schemas.microsoft.com/office/drawing/2014/main" id="{AA91EE6E-D425-496F-83A8-131E5D407BC0}"/>
              </a:ext>
            </a:extLst>
          </p:cNvPr>
          <p:cNvSpPr>
            <a:spLocks xmlns:a="http://schemas.openxmlformats.org/drawingml/2006/main" noGrp="1"/>
          </p:cNvSpPr>
          <p:nvPr/>
        </p:nvSpPr>
        <p:spPr>
          <a:xfrm xmlns:a="http://schemas.openxmlformats.org/drawingml/2006/main">
            <a:off x="638175" y="3257550"/>
            <a:ext cx="619125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725" b="1">
                <a:solidFill>
                  <a:srgbClr val="087F8C"/>
                </a:solidFill>
                <a:latin typeface="Arial"/>
                <a:ea typeface="Arial"/>
                <a:cs typeface="Arial"/>
              </a:defRPr>
            </a:defPPr>
            <a:lvl1pPr>
              <a:defRPr sz="1725" b="1">
                <a:solidFill>
                  <a:srgbClr val="087F8C"/>
                </a:solidFill>
                <a:latin typeface="Arial"/>
                <a:ea typeface="Arial"/>
                <a:cs typeface="Arial"/>
              </a:defRPr>
            </a:lvl1pPr>
            <a:lvl2pPr>
              <a:defRPr sz="1725" b="1">
                <a:solidFill>
                  <a:srgbClr val="087F8C"/>
                </a:solidFill>
                <a:latin typeface="Arial"/>
                <a:ea typeface="Arial"/>
                <a:cs typeface="Arial"/>
              </a:defRPr>
            </a:lvl2pPr>
            <a:lvl3pPr>
              <a:defRPr sz="1725" b="1">
                <a:solidFill>
                  <a:srgbClr val="087F8C"/>
                </a:solidFill>
                <a:latin typeface="Arial"/>
                <a:ea typeface="Arial"/>
                <a:cs typeface="Arial"/>
              </a:defRPr>
            </a:lvl3pPr>
            <a:lvl4pPr>
              <a:defRPr sz="1725" b="1">
                <a:solidFill>
                  <a:srgbClr val="087F8C"/>
                </a:solidFill>
                <a:latin typeface="Arial"/>
                <a:ea typeface="Arial"/>
                <a:cs typeface="Arial"/>
              </a:defRPr>
            </a:lvl4pPr>
            <a:lvl5pPr>
              <a:defRPr sz="1725" b="1">
                <a:solidFill>
                  <a:srgbClr val="087F8C"/>
                </a:solidFill>
                <a:latin typeface="Arial"/>
                <a:ea typeface="Arial"/>
                <a:cs typeface="Arial"/>
              </a:defRPr>
            </a:lvl5pPr>
            <a:lvl6pPr>
              <a:defRPr sz="1725" b="1">
                <a:solidFill>
                  <a:srgbClr val="087F8C"/>
                </a:solidFill>
                <a:latin typeface="Arial"/>
                <a:ea typeface="Arial"/>
                <a:cs typeface="Arial"/>
              </a:defRPr>
            </a:lvl6pPr>
            <a:lvl7pPr>
              <a:defRPr sz="1725" b="1">
                <a:solidFill>
                  <a:srgbClr val="087F8C"/>
                </a:solidFill>
                <a:latin typeface="Arial"/>
                <a:ea typeface="Arial"/>
                <a:cs typeface="Arial"/>
              </a:defRPr>
            </a:lvl7pPr>
            <a:lvl8pPr>
              <a:defRPr sz="1725" b="1">
                <a:solidFill>
                  <a:srgbClr val="087F8C"/>
                </a:solidFill>
                <a:latin typeface="Arial"/>
                <a:ea typeface="Arial"/>
                <a:cs typeface="Arial"/>
              </a:defRPr>
            </a:lvl8pPr>
            <a:lvl9pPr>
              <a:defRPr sz="1725" b="1">
                <a:solidFill>
                  <a:srgbClr val="087F8C"/>
                </a:solidFill>
                <a:latin typeface="Arial"/>
                <a:ea typeface="Arial"/>
                <a:cs typeface="Arial"/>
              </a:defRPr>
            </a:lvl9pPr>
          </a:lstStyle>
          <a:p xmlns:a="http://schemas.openxmlformats.org/drawingml/2006/main">
            <a:pPr>
              <a:defRPr sz="1725" b="1">
                <a:solidFill>
                  <a:srgbClr val="087F8C"/>
                </a:solidFill>
                <a:latin typeface="Arial"/>
                <a:ea typeface="Arial"/>
                <a:cs typeface="Arial"/>
              </a:defRPr>
            </a:pPr>
            <a:r>
              <a:rPr sz="1725" b="1">
                <a:solidFill>
                  <a:srgbClr val="087F8C"/>
                </a:solidFill>
                <a:latin typeface="Arial"/>
                <a:ea typeface="Arial"/>
                <a:cs typeface="Arial"/>
              </a:rPr>
              <a:t>Compare acquisition efficiency, contribution value and cash recovery across cohorts.</a:t>
            </a:r>
          </a:p>
        </p:txBody>
      </p:sp>
      <p:sp>
        <p:nvSpPr>
          <p:cNvPr id="7" name="">
            <a:extLst xmlns:a="http://schemas.openxmlformats.org/drawingml/2006/main">
              <a:ext uri="{FF2B5EF4-FFF2-40B4-BE49-F238E27FC236}">
                <a16:creationId xmlns:a16="http://schemas.microsoft.com/office/drawing/2014/main" id="{059186E1-9C90-4293-A482-315570DB96C5}"/>
              </a:ext>
            </a:extLst>
          </p:cNvPr>
          <p:cNvSpPr>
            <a:spLocks xmlns:a="http://schemas.openxmlformats.org/drawingml/2006/main" noGrp="1"/>
          </p:cNvSpPr>
          <p:nvPr/>
        </p:nvSpPr>
        <p:spPr>
          <a:xfrm xmlns:a="http://schemas.openxmlformats.org/drawingml/2006/main">
            <a:off x="638175" y="4057650"/>
            <a:ext cx="61912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A monthly creative-work membership for independent professionals: templates save time, guided learning builds skills, and workshops add value.</a:t>
            </a:r>
          </a:p>
        </p:txBody>
      </p:sp>
      <p:sp>
        <p:nvSpPr>
          <p:cNvPr id="8" name="">
            <a:extLst xmlns:a="http://schemas.openxmlformats.org/drawingml/2006/main">
              <a:ext uri="{FF2B5EF4-FFF2-40B4-BE49-F238E27FC236}">
                <a16:creationId xmlns:a16="http://schemas.microsoft.com/office/drawing/2014/main" id="{C5B5A8A5-9576-4BF6-A63F-4D48A3C34035}"/>
              </a:ext>
            </a:extLst>
          </p:cNvPr>
          <p:cNvSpPr>
            <a:spLocks xmlns:a="http://schemas.openxmlformats.org/drawingml/2006/main" noGrp="1"/>
          </p:cNvSpPr>
          <p:nvPr/>
        </p:nvSpPr>
        <p:spPr>
          <a:xfrm xmlns:a="http://schemas.openxmlformats.org/drawingml/2006/main">
            <a:off x="638175" y="5095875"/>
            <a:ext cx="619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275" b="0">
                <a:solidFill>
                  <a:srgbClr val="687780"/>
                </a:solidFill>
                <a:latin typeface="Arial"/>
                <a:ea typeface="Arial"/>
                <a:cs typeface="Arial"/>
              </a:defRPr>
            </a:defPPr>
            <a:lvl1pPr>
              <a:defRPr sz="1275" b="0">
                <a:solidFill>
                  <a:srgbClr val="687780"/>
                </a:solidFill>
                <a:latin typeface="Arial"/>
                <a:ea typeface="Arial"/>
                <a:cs typeface="Arial"/>
              </a:defRPr>
            </a:lvl1pPr>
            <a:lvl2pPr>
              <a:defRPr sz="1275" b="0">
                <a:solidFill>
                  <a:srgbClr val="687780"/>
                </a:solidFill>
                <a:latin typeface="Arial"/>
                <a:ea typeface="Arial"/>
                <a:cs typeface="Arial"/>
              </a:defRPr>
            </a:lvl2pPr>
            <a:lvl3pPr>
              <a:defRPr sz="1275" b="0">
                <a:solidFill>
                  <a:srgbClr val="687780"/>
                </a:solidFill>
                <a:latin typeface="Arial"/>
                <a:ea typeface="Arial"/>
                <a:cs typeface="Arial"/>
              </a:defRPr>
            </a:lvl3pPr>
            <a:lvl4pPr>
              <a:defRPr sz="1275" b="0">
                <a:solidFill>
                  <a:srgbClr val="687780"/>
                </a:solidFill>
                <a:latin typeface="Arial"/>
                <a:ea typeface="Arial"/>
                <a:cs typeface="Arial"/>
              </a:defRPr>
            </a:lvl4pPr>
            <a:lvl5pPr>
              <a:defRPr sz="1275" b="0">
                <a:solidFill>
                  <a:srgbClr val="687780"/>
                </a:solidFill>
                <a:latin typeface="Arial"/>
                <a:ea typeface="Arial"/>
                <a:cs typeface="Arial"/>
              </a:defRPr>
            </a:lvl5pPr>
            <a:lvl6pPr>
              <a:defRPr sz="1275" b="0">
                <a:solidFill>
                  <a:srgbClr val="687780"/>
                </a:solidFill>
                <a:latin typeface="Arial"/>
                <a:ea typeface="Arial"/>
                <a:cs typeface="Arial"/>
              </a:defRPr>
            </a:lvl6pPr>
            <a:lvl7pPr>
              <a:defRPr sz="1275" b="0">
                <a:solidFill>
                  <a:srgbClr val="687780"/>
                </a:solidFill>
                <a:latin typeface="Arial"/>
                <a:ea typeface="Arial"/>
                <a:cs typeface="Arial"/>
              </a:defRPr>
            </a:lvl7pPr>
            <a:lvl8pPr>
              <a:defRPr sz="1275" b="0">
                <a:solidFill>
                  <a:srgbClr val="687780"/>
                </a:solidFill>
                <a:latin typeface="Arial"/>
                <a:ea typeface="Arial"/>
                <a:cs typeface="Arial"/>
              </a:defRPr>
            </a:lvl8pPr>
            <a:lvl9pPr>
              <a:defRPr sz="1275" b="0">
                <a:solidFill>
                  <a:srgbClr val="687780"/>
                </a:solidFill>
                <a:latin typeface="Arial"/>
                <a:ea typeface="Arial"/>
                <a:cs typeface="Arial"/>
              </a:defRPr>
            </a:lvl9pPr>
          </a:lstStyle>
          <a:p xmlns:a="http://schemas.openxmlformats.org/drawingml/2006/main">
            <a:pPr>
              <a:defRPr sz="1275" b="0">
                <a:solidFill>
                  <a:srgbClr val="687780"/>
                </a:solidFill>
                <a:latin typeface="Arial"/>
                <a:ea typeface="Arial"/>
                <a:cs typeface="Arial"/>
              </a:defRPr>
            </a:pPr>
            <a:r>
              <a:rPr sz="1275" b="0">
                <a:solidFill>
                  <a:srgbClr val="687780"/>
                </a:solidFill>
                <a:latin typeface="Arial"/>
                <a:ea typeface="Arial"/>
                <a:cs typeface="Arial"/>
              </a:rPr>
              <a:t>24 joining cohorts: January 2024–December 2025.</a:t>
            </a:r>
          </a:p>
          <a:p xmlns:a="http://schemas.openxmlformats.org/drawingml/2006/main">
            <a:pPr>
              <a:defRPr sz="1275" b="0">
                <a:solidFill>
                  <a:srgbClr val="687780"/>
                </a:solidFill>
                <a:latin typeface="Arial"/>
                <a:ea typeface="Arial"/>
                <a:cs typeface="Arial"/>
              </a:defRPr>
            </a:pPr>
            <a:r>
              <a:rPr sz="1275" b="0">
                <a:solidFill>
                  <a:srgbClr val="687780"/>
                </a:solidFill>
                <a:latin typeface="Arial"/>
                <a:ea typeface="Arial"/>
                <a:cs typeface="Arial"/>
              </a:rPr>
              <a:t>Monthly renewals; cutoff January 1, 2026 (exclusive).</a:t>
            </a:r>
          </a:p>
        </p:txBody>
      </p:sp>
      <p:sp>
        <p:nvSpPr>
          <p:cNvPr id="9" name="">
            <a:extLst xmlns:a="http://schemas.openxmlformats.org/drawingml/2006/main">
              <a:ext uri="{FF2B5EF4-FFF2-40B4-BE49-F238E27FC236}">
                <a16:creationId xmlns:a16="http://schemas.microsoft.com/office/drawing/2014/main" id="{D927FFA4-D3CE-4A55-BEE6-BFEDBC45C44F}"/>
              </a:ext>
            </a:extLst>
          </p:cNvPr>
          <p:cNvSpPr>
            <a:spLocks xmlns:a="http://schemas.openxmlformats.org/drawingml/2006/main" noGrp="1"/>
          </p:cNvSpPr>
          <p:nvPr/>
        </p:nvSpPr>
        <p:spPr>
          <a:xfrm xmlns:a="http://schemas.openxmlformats.org/drawingml/2006/main">
            <a:off x="7334250" y="156210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9875CA-FBB0-42F0-B28A-B1ACC14C2DC4}"/>
              </a:ext>
            </a:extLst>
          </p:cNvPr>
          <p:cNvSpPr>
            <a:spLocks xmlns:a="http://schemas.openxmlformats.org/drawingml/2006/main" noGrp="1"/>
          </p:cNvSpPr>
          <p:nvPr/>
        </p:nvSpPr>
        <p:spPr>
          <a:xfrm xmlns:a="http://schemas.openxmlformats.org/drawingml/2006/main">
            <a:off x="74676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CRM</a:t>
            </a:r>
          </a:p>
        </p:txBody>
      </p:sp>
      <p:sp>
        <p:nvSpPr>
          <p:cNvPr id="11" name="">
            <a:extLst xmlns:a="http://schemas.openxmlformats.org/drawingml/2006/main">
              <a:ext uri="{FF2B5EF4-FFF2-40B4-BE49-F238E27FC236}">
                <a16:creationId xmlns:a16="http://schemas.microsoft.com/office/drawing/2014/main" id="{77BF81BD-C936-4682-9D71-045B5C2A30BC}"/>
              </a:ext>
            </a:extLst>
          </p:cNvPr>
          <p:cNvSpPr>
            <a:spLocks xmlns:a="http://schemas.openxmlformats.org/drawingml/2006/main" noGrp="1"/>
          </p:cNvSpPr>
          <p:nvPr/>
        </p:nvSpPr>
        <p:spPr>
          <a:xfrm xmlns:a="http://schemas.openxmlformats.org/drawingml/2006/main">
            <a:off x="9429750" y="156210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50F02F4-5D41-4E6F-B55E-098F3B2D7D55}"/>
              </a:ext>
            </a:extLst>
          </p:cNvPr>
          <p:cNvSpPr>
            <a:spLocks xmlns:a="http://schemas.openxmlformats.org/drawingml/2006/main" noGrp="1"/>
          </p:cNvSpPr>
          <p:nvPr/>
        </p:nvSpPr>
        <p:spPr>
          <a:xfrm xmlns:a="http://schemas.openxmlformats.org/drawingml/2006/main">
            <a:off x="95631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Renewals</a:t>
            </a:r>
          </a:p>
        </p:txBody>
      </p:sp>
      <p:sp>
        <p:nvSpPr>
          <p:cNvPr id="13" name="">
            <a:extLst xmlns:a="http://schemas.openxmlformats.org/drawingml/2006/main">
              <a:ext uri="{FF2B5EF4-FFF2-40B4-BE49-F238E27FC236}">
                <a16:creationId xmlns:a16="http://schemas.microsoft.com/office/drawing/2014/main" id="{09198305-7EE4-4B5D-80EF-41978667BE94}"/>
              </a:ext>
            </a:extLst>
          </p:cNvPr>
          <p:cNvSpPr>
            <a:spLocks xmlns:a="http://schemas.openxmlformats.org/drawingml/2006/main" noGrp="1"/>
          </p:cNvSpPr>
          <p:nvPr/>
        </p:nvSpPr>
        <p:spPr>
          <a:xfrm xmlns:a="http://schemas.openxmlformats.org/drawingml/2006/main">
            <a:off x="7334250" y="246697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C750B28-4CBD-47AB-B326-38214E072B8C}"/>
              </a:ext>
            </a:extLst>
          </p:cNvPr>
          <p:cNvSpPr>
            <a:spLocks xmlns:a="http://schemas.openxmlformats.org/drawingml/2006/main" noGrp="1"/>
          </p:cNvSpPr>
          <p:nvPr/>
        </p:nvSpPr>
        <p:spPr>
          <a:xfrm xmlns:a="http://schemas.openxmlformats.org/drawingml/2006/main">
            <a:off x="74676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Transactions</a:t>
            </a:r>
          </a:p>
        </p:txBody>
      </p:sp>
      <p:sp>
        <p:nvSpPr>
          <p:cNvPr id="15" name="">
            <a:extLst xmlns:a="http://schemas.openxmlformats.org/drawingml/2006/main">
              <a:ext uri="{FF2B5EF4-FFF2-40B4-BE49-F238E27FC236}">
                <a16:creationId xmlns:a16="http://schemas.microsoft.com/office/drawing/2014/main" id="{5D4239C2-F741-4F97-A235-06EC584CE4BF}"/>
              </a:ext>
            </a:extLst>
          </p:cNvPr>
          <p:cNvSpPr>
            <a:spLocks xmlns:a="http://schemas.openxmlformats.org/drawingml/2006/main" noGrp="1"/>
          </p:cNvSpPr>
          <p:nvPr/>
        </p:nvSpPr>
        <p:spPr>
          <a:xfrm xmlns:a="http://schemas.openxmlformats.org/drawingml/2006/main">
            <a:off x="9429750" y="246697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D4C4596-AEB3-4820-B131-6630363AA620}"/>
              </a:ext>
            </a:extLst>
          </p:cNvPr>
          <p:cNvSpPr>
            <a:spLocks xmlns:a="http://schemas.openxmlformats.org/drawingml/2006/main" noGrp="1"/>
          </p:cNvSpPr>
          <p:nvPr/>
        </p:nvSpPr>
        <p:spPr>
          <a:xfrm xmlns:a="http://schemas.openxmlformats.org/drawingml/2006/main">
            <a:off x="95631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Product events</a:t>
            </a:r>
          </a:p>
        </p:txBody>
      </p:sp>
      <p:sp>
        <p:nvSpPr>
          <p:cNvPr id="17" name="">
            <a:extLst xmlns:a="http://schemas.openxmlformats.org/drawingml/2006/main">
              <a:ext uri="{FF2B5EF4-FFF2-40B4-BE49-F238E27FC236}">
                <a16:creationId xmlns:a16="http://schemas.microsoft.com/office/drawing/2014/main" id="{964C910C-5778-4F0C-A8FD-0E5729CF8569}"/>
              </a:ext>
            </a:extLst>
          </p:cNvPr>
          <p:cNvSpPr>
            <a:spLocks xmlns:a="http://schemas.openxmlformats.org/drawingml/2006/main" noGrp="1"/>
          </p:cNvSpPr>
          <p:nvPr/>
        </p:nvSpPr>
        <p:spPr>
          <a:xfrm xmlns:a="http://schemas.openxmlformats.org/drawingml/2006/main">
            <a:off x="7334250" y="337185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02E3D4E-143D-4882-94D6-DB071D5C584A}"/>
              </a:ext>
            </a:extLst>
          </p:cNvPr>
          <p:cNvSpPr>
            <a:spLocks xmlns:a="http://schemas.openxmlformats.org/drawingml/2006/main" noGrp="1"/>
          </p:cNvSpPr>
          <p:nvPr/>
        </p:nvSpPr>
        <p:spPr>
          <a:xfrm xmlns:a="http://schemas.openxmlformats.org/drawingml/2006/main">
            <a:off x="74676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Feedback</a:t>
            </a:r>
          </a:p>
        </p:txBody>
      </p:sp>
      <p:sp>
        <p:nvSpPr>
          <p:cNvPr id="19" name="">
            <a:extLst xmlns:a="http://schemas.openxmlformats.org/drawingml/2006/main">
              <a:ext uri="{FF2B5EF4-FFF2-40B4-BE49-F238E27FC236}">
                <a16:creationId xmlns:a16="http://schemas.microsoft.com/office/drawing/2014/main" id="{C0C0E876-C614-4871-8AB6-E408166A2E0B}"/>
              </a:ext>
            </a:extLst>
          </p:cNvPr>
          <p:cNvSpPr>
            <a:spLocks xmlns:a="http://schemas.openxmlformats.org/drawingml/2006/main" noGrp="1"/>
          </p:cNvSpPr>
          <p:nvPr/>
        </p:nvSpPr>
        <p:spPr>
          <a:xfrm xmlns:a="http://schemas.openxmlformats.org/drawingml/2006/main">
            <a:off x="9429750" y="337185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68E0803-D119-465B-B1FF-029B4C4F5F7D}"/>
              </a:ext>
            </a:extLst>
          </p:cNvPr>
          <p:cNvSpPr>
            <a:spLocks xmlns:a="http://schemas.openxmlformats.org/drawingml/2006/main" noGrp="1"/>
          </p:cNvSpPr>
          <p:nvPr/>
        </p:nvSpPr>
        <p:spPr>
          <a:xfrm xmlns:a="http://schemas.openxmlformats.org/drawingml/2006/main">
            <a:off x="95631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Campaign spend</a:t>
            </a:r>
          </a:p>
        </p:txBody>
      </p:sp>
      <p:sp>
        <p:nvSpPr>
          <p:cNvPr id="21" name="">
            <a:extLst xmlns:a="http://schemas.openxmlformats.org/drawingml/2006/main">
              <a:ext uri="{FF2B5EF4-FFF2-40B4-BE49-F238E27FC236}">
                <a16:creationId xmlns:a16="http://schemas.microsoft.com/office/drawing/2014/main" id="{2A30191F-97C4-4996-957C-DFFDD2415400}"/>
              </a:ext>
            </a:extLst>
          </p:cNvPr>
          <p:cNvSpPr>
            <a:spLocks xmlns:a="http://schemas.openxmlformats.org/drawingml/2006/main" noGrp="1"/>
          </p:cNvSpPr>
          <p:nvPr/>
        </p:nvSpPr>
        <p:spPr>
          <a:xfrm xmlns:a="http://schemas.openxmlformats.org/drawingml/2006/main">
            <a:off x="7334250" y="427672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D2AAA1A-2F9A-401A-8E68-01CD2B71BEBE}"/>
              </a:ext>
            </a:extLst>
          </p:cNvPr>
          <p:cNvSpPr>
            <a:spLocks xmlns:a="http://schemas.openxmlformats.org/drawingml/2006/main" noGrp="1"/>
          </p:cNvSpPr>
          <p:nvPr/>
        </p:nvSpPr>
        <p:spPr>
          <a:xfrm xmlns:a="http://schemas.openxmlformats.org/drawingml/2006/main">
            <a:off x="74676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Source credit</a:t>
            </a:r>
          </a:p>
        </p:txBody>
      </p:sp>
      <p:sp>
        <p:nvSpPr>
          <p:cNvPr id="23" name="">
            <a:extLst xmlns:a="http://schemas.openxmlformats.org/drawingml/2006/main">
              <a:ext uri="{FF2B5EF4-FFF2-40B4-BE49-F238E27FC236}">
                <a16:creationId xmlns:a16="http://schemas.microsoft.com/office/drawing/2014/main" id="{3364D6C4-96EE-4CD8-8D35-DFDE0C7C1FFA}"/>
              </a:ext>
            </a:extLst>
          </p:cNvPr>
          <p:cNvSpPr>
            <a:spLocks xmlns:a="http://schemas.openxmlformats.org/drawingml/2006/main" noGrp="1"/>
          </p:cNvSpPr>
          <p:nvPr/>
        </p:nvSpPr>
        <p:spPr>
          <a:xfrm xmlns:a="http://schemas.openxmlformats.org/drawingml/2006/main">
            <a:off x="9429750" y="427672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D5DD0E6-3AB2-4D8C-AC49-39E84A6021E1}"/>
              </a:ext>
            </a:extLst>
          </p:cNvPr>
          <p:cNvSpPr>
            <a:spLocks xmlns:a="http://schemas.openxmlformats.org/drawingml/2006/main" noGrp="1"/>
          </p:cNvSpPr>
          <p:nvPr/>
        </p:nvSpPr>
        <p:spPr>
          <a:xfrm xmlns:a="http://schemas.openxmlformats.org/drawingml/2006/main">
            <a:off x="95631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Assignments</a:t>
            </a:r>
          </a:p>
        </p:txBody>
      </p:sp>
    </p:spTree>
    <p:extLst>
      <p:ext uri="{BB962C8B-B14F-4D97-AF65-F5344CB8AC3E}">
        <p14:creationId xmlns:p14="http://schemas.microsoft.com/office/powerpoint/2010/main" val="13360782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C7233AC-64E4-40C4-888B-94E1E2BCAA25}"/>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1298F9-03ED-49F5-8FEF-A19F4BF457D4}"/>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How to read the slide colors</a:t>
            </a:r>
          </a:p>
        </p:txBody>
      </p:sp>
      <p:sp>
        <p:nvSpPr>
          <p:cNvPr id="3" name="">
            <a:extLst xmlns:a="http://schemas.openxmlformats.org/drawingml/2006/main">
              <a:ext uri="{FF2B5EF4-FFF2-40B4-BE49-F238E27FC236}">
                <a16:creationId xmlns:a16="http://schemas.microsoft.com/office/drawing/2014/main" id="{42BE2E89-8B74-402B-B867-450A5DFDD3E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2E2D587C-5D91-4231-AA99-6124771834B6}"/>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BC010B9-6176-4894-B4CF-11A4A3C44FC4}"/>
              </a:ext>
            </a:extLst>
          </p:cNvPr>
          <p:cNvSpPr>
            <a:spLocks xmlns:a="http://schemas.openxmlformats.org/drawingml/2006/main" noGrp="1"/>
          </p:cNvSpPr>
          <p:nvPr/>
        </p:nvSpPr>
        <p:spPr>
          <a:xfrm xmlns:a="http://schemas.openxmlformats.org/drawingml/2006/main">
            <a:off x="609600" y="1638300"/>
            <a:ext cx="123825" cy="61912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80F3E2A-BD1B-43F1-BDC6-8D94C7312DAF}"/>
              </a:ext>
            </a:extLst>
          </p:cNvPr>
          <p:cNvSpPr>
            <a:spLocks xmlns:a="http://schemas.openxmlformats.org/drawingml/2006/main" noGrp="1"/>
          </p:cNvSpPr>
          <p:nvPr/>
        </p:nvSpPr>
        <p:spPr>
          <a:xfrm xmlns:a="http://schemas.openxmlformats.org/drawingml/2006/main">
            <a:off x="942975" y="16478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3191B5"/>
                </a:solidFill>
                <a:latin typeface="Arial"/>
                <a:ea typeface="Arial"/>
                <a:cs typeface="Arial"/>
              </a:defRPr>
            </a:defPPr>
            <a:lvl1pPr>
              <a:defRPr sz="1875" b="1">
                <a:solidFill>
                  <a:srgbClr val="3191B5"/>
                </a:solidFill>
                <a:latin typeface="Arial"/>
                <a:ea typeface="Arial"/>
                <a:cs typeface="Arial"/>
              </a:defRPr>
            </a:lvl1pPr>
            <a:lvl2pPr>
              <a:defRPr sz="1875" b="1">
                <a:solidFill>
                  <a:srgbClr val="3191B5"/>
                </a:solidFill>
                <a:latin typeface="Arial"/>
                <a:ea typeface="Arial"/>
                <a:cs typeface="Arial"/>
              </a:defRPr>
            </a:lvl2pPr>
            <a:lvl3pPr>
              <a:defRPr sz="1875" b="1">
                <a:solidFill>
                  <a:srgbClr val="3191B5"/>
                </a:solidFill>
                <a:latin typeface="Arial"/>
                <a:ea typeface="Arial"/>
                <a:cs typeface="Arial"/>
              </a:defRPr>
            </a:lvl3pPr>
            <a:lvl4pPr>
              <a:defRPr sz="1875" b="1">
                <a:solidFill>
                  <a:srgbClr val="3191B5"/>
                </a:solidFill>
                <a:latin typeface="Arial"/>
                <a:ea typeface="Arial"/>
                <a:cs typeface="Arial"/>
              </a:defRPr>
            </a:lvl4pPr>
            <a:lvl5pPr>
              <a:defRPr sz="1875" b="1">
                <a:solidFill>
                  <a:srgbClr val="3191B5"/>
                </a:solidFill>
                <a:latin typeface="Arial"/>
                <a:ea typeface="Arial"/>
                <a:cs typeface="Arial"/>
              </a:defRPr>
            </a:lvl5pPr>
            <a:lvl6pPr>
              <a:defRPr sz="1875" b="1">
                <a:solidFill>
                  <a:srgbClr val="3191B5"/>
                </a:solidFill>
                <a:latin typeface="Arial"/>
                <a:ea typeface="Arial"/>
                <a:cs typeface="Arial"/>
              </a:defRPr>
            </a:lvl6pPr>
            <a:lvl7pPr>
              <a:defRPr sz="1875" b="1">
                <a:solidFill>
                  <a:srgbClr val="3191B5"/>
                </a:solidFill>
                <a:latin typeface="Arial"/>
                <a:ea typeface="Arial"/>
                <a:cs typeface="Arial"/>
              </a:defRPr>
            </a:lvl7pPr>
            <a:lvl8pPr>
              <a:defRPr sz="1875" b="1">
                <a:solidFill>
                  <a:srgbClr val="3191B5"/>
                </a:solidFill>
                <a:latin typeface="Arial"/>
                <a:ea typeface="Arial"/>
                <a:cs typeface="Arial"/>
              </a:defRPr>
            </a:lvl8pPr>
            <a:lvl9pPr>
              <a:defRPr sz="1875" b="1">
                <a:solidFill>
                  <a:srgbClr val="3191B5"/>
                </a:solidFill>
                <a:latin typeface="Arial"/>
                <a:ea typeface="Arial"/>
                <a:cs typeface="Arial"/>
              </a:defRPr>
            </a:lvl9pPr>
          </a:lstStyle>
          <a:p xmlns:a="http://schemas.openxmlformats.org/drawingml/2006/main">
            <a:pPr>
              <a:defRPr sz="1875" b="1">
                <a:solidFill>
                  <a:srgbClr val="3191B5"/>
                </a:solidFill>
                <a:latin typeface="Arial"/>
                <a:ea typeface="Arial"/>
                <a:cs typeface="Arial"/>
              </a:defRPr>
            </a:pPr>
            <a:r>
              <a:rPr sz="1875" b="1">
                <a:solidFill>
                  <a:srgbClr val="3191B5"/>
                </a:solidFill>
                <a:latin typeface="Arial"/>
                <a:ea typeface="Arial"/>
                <a:cs typeface="Arial"/>
              </a:rPr>
              <a:t>Concept</a:t>
            </a:r>
          </a:p>
        </p:txBody>
      </p:sp>
      <p:sp>
        <p:nvSpPr>
          <p:cNvPr id="7" name="">
            <a:extLst xmlns:a="http://schemas.openxmlformats.org/drawingml/2006/main">
              <a:ext uri="{FF2B5EF4-FFF2-40B4-BE49-F238E27FC236}">
                <a16:creationId xmlns:a16="http://schemas.microsoft.com/office/drawing/2014/main" id="{502D8E02-6C4A-4120-B287-C76C48FA90B8}"/>
              </a:ext>
            </a:extLst>
          </p:cNvPr>
          <p:cNvSpPr>
            <a:spLocks xmlns:a="http://schemas.openxmlformats.org/drawingml/2006/main" noGrp="1"/>
          </p:cNvSpPr>
          <p:nvPr/>
        </p:nvSpPr>
        <p:spPr>
          <a:xfrm xmlns:a="http://schemas.openxmlformats.org/drawingml/2006/main">
            <a:off x="4257675" y="16478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Definitions and distinctions to use when interpreting the data.</a:t>
            </a:r>
          </a:p>
        </p:txBody>
      </p:sp>
      <p:sp>
        <p:nvSpPr>
          <p:cNvPr id="8" name="">
            <a:extLst xmlns:a="http://schemas.openxmlformats.org/drawingml/2006/main">
              <a:ext uri="{FF2B5EF4-FFF2-40B4-BE49-F238E27FC236}">
                <a16:creationId xmlns:a16="http://schemas.microsoft.com/office/drawing/2014/main" id="{67B93B26-B678-4A9E-94E0-A1B210FD54C3}"/>
              </a:ext>
            </a:extLst>
          </p:cNvPr>
          <p:cNvSpPr>
            <a:spLocks xmlns:a="http://schemas.openxmlformats.org/drawingml/2006/main" noGrp="1"/>
          </p:cNvSpPr>
          <p:nvPr/>
        </p:nvSpPr>
        <p:spPr>
          <a:xfrm xmlns:a="http://schemas.openxmlformats.org/drawingml/2006/main">
            <a:off x="609600" y="2476500"/>
            <a:ext cx="123825" cy="6191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C1BCD3D-132F-48CB-B50C-AA50E1EF2F7B}"/>
              </a:ext>
            </a:extLst>
          </p:cNvPr>
          <p:cNvSpPr>
            <a:spLocks xmlns:a="http://schemas.openxmlformats.org/drawingml/2006/main" noGrp="1"/>
          </p:cNvSpPr>
          <p:nvPr/>
        </p:nvSpPr>
        <p:spPr>
          <a:xfrm xmlns:a="http://schemas.openxmlformats.org/drawingml/2006/main">
            <a:off x="942975" y="24860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Case application</a:t>
            </a:r>
          </a:p>
        </p:txBody>
      </p:sp>
      <p:sp>
        <p:nvSpPr>
          <p:cNvPr id="10" name="">
            <a:extLst xmlns:a="http://schemas.openxmlformats.org/drawingml/2006/main">
              <a:ext uri="{FF2B5EF4-FFF2-40B4-BE49-F238E27FC236}">
                <a16:creationId xmlns:a16="http://schemas.microsoft.com/office/drawing/2014/main" id="{F8B97768-75A2-4759-8C22-EBD0CCF1FE1A}"/>
              </a:ext>
            </a:extLst>
          </p:cNvPr>
          <p:cNvSpPr>
            <a:spLocks xmlns:a="http://schemas.openxmlformats.org/drawingml/2006/main" noGrp="1"/>
          </p:cNvSpPr>
          <p:nvPr/>
        </p:nvSpPr>
        <p:spPr>
          <a:xfrm xmlns:a="http://schemas.openxmlformats.org/drawingml/2006/main">
            <a:off x="4257675" y="24860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Studio North and its connected customer records.</a:t>
            </a:r>
          </a:p>
        </p:txBody>
      </p:sp>
      <p:sp>
        <p:nvSpPr>
          <p:cNvPr id="11" name="">
            <a:extLst xmlns:a="http://schemas.openxmlformats.org/drawingml/2006/main">
              <a:ext uri="{FF2B5EF4-FFF2-40B4-BE49-F238E27FC236}">
                <a16:creationId xmlns:a16="http://schemas.microsoft.com/office/drawing/2014/main" id="{43FFA5E6-E3AA-4F25-871A-62B4ED640E83}"/>
              </a:ext>
            </a:extLst>
          </p:cNvPr>
          <p:cNvSpPr>
            <a:spLocks xmlns:a="http://schemas.openxmlformats.org/drawingml/2006/main" noGrp="1"/>
          </p:cNvSpPr>
          <p:nvPr/>
        </p:nvSpPr>
        <p:spPr>
          <a:xfrm xmlns:a="http://schemas.openxmlformats.org/drawingml/2006/main">
            <a:off x="609600" y="3314700"/>
            <a:ext cx="123825" cy="619125"/>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9921DF-01FD-418A-9311-8A03E8EBE0A4}"/>
              </a:ext>
            </a:extLst>
          </p:cNvPr>
          <p:cNvSpPr>
            <a:spLocks xmlns:a="http://schemas.openxmlformats.org/drawingml/2006/main" noGrp="1"/>
          </p:cNvSpPr>
          <p:nvPr/>
        </p:nvSpPr>
        <p:spPr>
          <a:xfrm xmlns:a="http://schemas.openxmlformats.org/drawingml/2006/main">
            <a:off x="942975" y="33242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687780"/>
                </a:solidFill>
                <a:latin typeface="Arial"/>
                <a:ea typeface="Arial"/>
                <a:cs typeface="Arial"/>
              </a:defRPr>
            </a:defPPr>
            <a:lvl1pPr>
              <a:defRPr sz="1875" b="1">
                <a:solidFill>
                  <a:srgbClr val="687780"/>
                </a:solidFill>
                <a:latin typeface="Arial"/>
                <a:ea typeface="Arial"/>
                <a:cs typeface="Arial"/>
              </a:defRPr>
            </a:lvl1pPr>
            <a:lvl2pPr>
              <a:defRPr sz="1875" b="1">
                <a:solidFill>
                  <a:srgbClr val="687780"/>
                </a:solidFill>
                <a:latin typeface="Arial"/>
                <a:ea typeface="Arial"/>
                <a:cs typeface="Arial"/>
              </a:defRPr>
            </a:lvl2pPr>
            <a:lvl3pPr>
              <a:defRPr sz="1875" b="1">
                <a:solidFill>
                  <a:srgbClr val="687780"/>
                </a:solidFill>
                <a:latin typeface="Arial"/>
                <a:ea typeface="Arial"/>
                <a:cs typeface="Arial"/>
              </a:defRPr>
            </a:lvl3pPr>
            <a:lvl4pPr>
              <a:defRPr sz="1875" b="1">
                <a:solidFill>
                  <a:srgbClr val="687780"/>
                </a:solidFill>
                <a:latin typeface="Arial"/>
                <a:ea typeface="Arial"/>
                <a:cs typeface="Arial"/>
              </a:defRPr>
            </a:lvl4pPr>
            <a:lvl5pPr>
              <a:defRPr sz="1875" b="1">
                <a:solidFill>
                  <a:srgbClr val="687780"/>
                </a:solidFill>
                <a:latin typeface="Arial"/>
                <a:ea typeface="Arial"/>
                <a:cs typeface="Arial"/>
              </a:defRPr>
            </a:lvl5pPr>
            <a:lvl6pPr>
              <a:defRPr sz="1875" b="1">
                <a:solidFill>
                  <a:srgbClr val="687780"/>
                </a:solidFill>
                <a:latin typeface="Arial"/>
                <a:ea typeface="Arial"/>
                <a:cs typeface="Arial"/>
              </a:defRPr>
            </a:lvl6pPr>
            <a:lvl7pPr>
              <a:defRPr sz="1875" b="1">
                <a:solidFill>
                  <a:srgbClr val="687780"/>
                </a:solidFill>
                <a:latin typeface="Arial"/>
                <a:ea typeface="Arial"/>
                <a:cs typeface="Arial"/>
              </a:defRPr>
            </a:lvl7pPr>
            <a:lvl8pPr>
              <a:defRPr sz="1875" b="1">
                <a:solidFill>
                  <a:srgbClr val="687780"/>
                </a:solidFill>
                <a:latin typeface="Arial"/>
                <a:ea typeface="Arial"/>
                <a:cs typeface="Arial"/>
              </a:defRPr>
            </a:lvl8pPr>
            <a:lvl9pPr>
              <a:defRPr sz="1875" b="1">
                <a:solidFill>
                  <a:srgbClr val="687780"/>
                </a:solidFill>
                <a:latin typeface="Arial"/>
                <a:ea typeface="Arial"/>
                <a:cs typeface="Arial"/>
              </a:defRPr>
            </a:lvl9pPr>
          </a:lstStyle>
          <a:p xmlns:a="http://schemas.openxmlformats.org/drawingml/2006/main">
            <a:pPr>
              <a:defRPr sz="1875" b="1">
                <a:solidFill>
                  <a:srgbClr val="687780"/>
                </a:solidFill>
                <a:latin typeface="Arial"/>
                <a:ea typeface="Arial"/>
                <a:cs typeface="Arial"/>
              </a:defRPr>
            </a:pPr>
            <a:r>
              <a:rPr sz="1875" b="1">
                <a:solidFill>
                  <a:srgbClr val="687780"/>
                </a:solidFill>
                <a:latin typeface="Arial"/>
                <a:ea typeface="Arial"/>
                <a:cs typeface="Arial"/>
              </a:rPr>
              <a:t>Evidence interpretation</a:t>
            </a:r>
          </a:p>
        </p:txBody>
      </p:sp>
      <p:sp>
        <p:nvSpPr>
          <p:cNvPr id="13" name="">
            <a:extLst xmlns:a="http://schemas.openxmlformats.org/drawingml/2006/main">
              <a:ext uri="{FF2B5EF4-FFF2-40B4-BE49-F238E27FC236}">
                <a16:creationId xmlns:a16="http://schemas.microsoft.com/office/drawing/2014/main" id="{50AE17F1-5464-439F-B27A-B1B8F5D70701}"/>
              </a:ext>
            </a:extLst>
          </p:cNvPr>
          <p:cNvSpPr>
            <a:spLocks xmlns:a="http://schemas.openxmlformats.org/drawingml/2006/main" noGrp="1"/>
          </p:cNvSpPr>
          <p:nvPr/>
        </p:nvSpPr>
        <p:spPr>
          <a:xfrm xmlns:a="http://schemas.openxmlformats.org/drawingml/2006/main">
            <a:off x="4257675" y="33242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Observed results, predictions, and what each can establish.</a:t>
            </a:r>
          </a:p>
        </p:txBody>
      </p:sp>
      <p:sp>
        <p:nvSpPr>
          <p:cNvPr id="14" name="">
            <a:extLst xmlns:a="http://schemas.openxmlformats.org/drawingml/2006/main">
              <a:ext uri="{FF2B5EF4-FFF2-40B4-BE49-F238E27FC236}">
                <a16:creationId xmlns:a16="http://schemas.microsoft.com/office/drawing/2014/main" id="{FB91816A-C85C-4607-9BEC-380A8AACDB97}"/>
              </a:ext>
            </a:extLst>
          </p:cNvPr>
          <p:cNvSpPr>
            <a:spLocks xmlns:a="http://schemas.openxmlformats.org/drawingml/2006/main" noGrp="1"/>
          </p:cNvSpPr>
          <p:nvPr/>
        </p:nvSpPr>
        <p:spPr>
          <a:xfrm xmlns:a="http://schemas.openxmlformats.org/drawingml/2006/main">
            <a:off x="609600" y="4152900"/>
            <a:ext cx="123825" cy="619125"/>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EAD7664-07EA-4A37-8C74-7192CAF3E6E9}"/>
              </a:ext>
            </a:extLst>
          </p:cNvPr>
          <p:cNvSpPr>
            <a:spLocks xmlns:a="http://schemas.openxmlformats.org/drawingml/2006/main" noGrp="1"/>
          </p:cNvSpPr>
          <p:nvPr/>
        </p:nvSpPr>
        <p:spPr>
          <a:xfrm xmlns:a="http://schemas.openxmlformats.org/drawingml/2006/main">
            <a:off x="942975" y="41624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BB6427"/>
                </a:solidFill>
                <a:latin typeface="Arial"/>
                <a:ea typeface="Arial"/>
                <a:cs typeface="Arial"/>
              </a:defRPr>
            </a:defPPr>
            <a:lvl1pPr>
              <a:defRPr sz="1875" b="1">
                <a:solidFill>
                  <a:srgbClr val="BB6427"/>
                </a:solidFill>
                <a:latin typeface="Arial"/>
                <a:ea typeface="Arial"/>
                <a:cs typeface="Arial"/>
              </a:defRPr>
            </a:lvl1pPr>
            <a:lvl2pPr>
              <a:defRPr sz="1875" b="1">
                <a:solidFill>
                  <a:srgbClr val="BB6427"/>
                </a:solidFill>
                <a:latin typeface="Arial"/>
                <a:ea typeface="Arial"/>
                <a:cs typeface="Arial"/>
              </a:defRPr>
            </a:lvl2pPr>
            <a:lvl3pPr>
              <a:defRPr sz="1875" b="1">
                <a:solidFill>
                  <a:srgbClr val="BB6427"/>
                </a:solidFill>
                <a:latin typeface="Arial"/>
                <a:ea typeface="Arial"/>
                <a:cs typeface="Arial"/>
              </a:defRPr>
            </a:lvl3pPr>
            <a:lvl4pPr>
              <a:defRPr sz="1875" b="1">
                <a:solidFill>
                  <a:srgbClr val="BB6427"/>
                </a:solidFill>
                <a:latin typeface="Arial"/>
                <a:ea typeface="Arial"/>
                <a:cs typeface="Arial"/>
              </a:defRPr>
            </a:lvl4pPr>
            <a:lvl5pPr>
              <a:defRPr sz="1875" b="1">
                <a:solidFill>
                  <a:srgbClr val="BB6427"/>
                </a:solidFill>
                <a:latin typeface="Arial"/>
                <a:ea typeface="Arial"/>
                <a:cs typeface="Arial"/>
              </a:defRPr>
            </a:lvl5pPr>
            <a:lvl6pPr>
              <a:defRPr sz="1875" b="1">
                <a:solidFill>
                  <a:srgbClr val="BB6427"/>
                </a:solidFill>
                <a:latin typeface="Arial"/>
                <a:ea typeface="Arial"/>
                <a:cs typeface="Arial"/>
              </a:defRPr>
            </a:lvl6pPr>
            <a:lvl7pPr>
              <a:defRPr sz="1875" b="1">
                <a:solidFill>
                  <a:srgbClr val="BB6427"/>
                </a:solidFill>
                <a:latin typeface="Arial"/>
                <a:ea typeface="Arial"/>
                <a:cs typeface="Arial"/>
              </a:defRPr>
            </a:lvl7pPr>
            <a:lvl8pPr>
              <a:defRPr sz="1875" b="1">
                <a:solidFill>
                  <a:srgbClr val="BB6427"/>
                </a:solidFill>
                <a:latin typeface="Arial"/>
                <a:ea typeface="Arial"/>
                <a:cs typeface="Arial"/>
              </a:defRPr>
            </a:lvl8pPr>
            <a:lvl9pPr>
              <a:defRPr sz="1875" b="1">
                <a:solidFill>
                  <a:srgbClr val="BB6427"/>
                </a:solidFill>
                <a:latin typeface="Arial"/>
                <a:ea typeface="Arial"/>
                <a:cs typeface="Arial"/>
              </a:defRPr>
            </a:lvl9pPr>
          </a:lstStyle>
          <a:p xmlns:a="http://schemas.openxmlformats.org/drawingml/2006/main">
            <a:pPr>
              <a:defRPr sz="1875" b="1">
                <a:solidFill>
                  <a:srgbClr val="BB6427"/>
                </a:solidFill>
                <a:latin typeface="Arial"/>
                <a:ea typeface="Arial"/>
                <a:cs typeface="Arial"/>
              </a:defRPr>
            </a:pPr>
            <a:r>
              <a:rPr sz="1875" b="1">
                <a:solidFill>
                  <a:srgbClr val="BB6427"/>
                </a:solidFill>
                <a:latin typeface="Arial"/>
                <a:ea typeface="Arial"/>
                <a:cs typeface="Arial"/>
              </a:rPr>
              <a:t>Group decision</a:t>
            </a:r>
          </a:p>
        </p:txBody>
      </p:sp>
      <p:sp>
        <p:nvSpPr>
          <p:cNvPr id="16" name="">
            <a:extLst xmlns:a="http://schemas.openxmlformats.org/drawingml/2006/main">
              <a:ext uri="{FF2B5EF4-FFF2-40B4-BE49-F238E27FC236}">
                <a16:creationId xmlns:a16="http://schemas.microsoft.com/office/drawing/2014/main" id="{4B9B746E-19D5-4AB3-B78E-9DE865C0D353}"/>
              </a:ext>
            </a:extLst>
          </p:cNvPr>
          <p:cNvSpPr>
            <a:spLocks xmlns:a="http://schemas.openxmlformats.org/drawingml/2006/main" noGrp="1"/>
          </p:cNvSpPr>
          <p:nvPr/>
        </p:nvSpPr>
        <p:spPr>
          <a:xfrm xmlns:a="http://schemas.openxmlformats.org/drawingml/2006/main">
            <a:off x="4257675" y="41624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One focused judgment, discussed with your group.</a:t>
            </a:r>
          </a:p>
        </p:txBody>
      </p:sp>
    </p:spTree>
    <p:extLst>
      <p:ext uri="{BB962C8B-B14F-4D97-AF65-F5344CB8AC3E}">
        <p14:creationId xmlns:p14="http://schemas.microsoft.com/office/powerpoint/2010/main" val="9544114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5DA8369-5437-43B0-A66F-665ABC29F97A}"/>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08F7D2B-AB9A-4B6B-BBE4-AD444C06A573}"/>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Three ideas guide the entire lab</a:t>
            </a:r>
          </a:p>
        </p:txBody>
      </p:sp>
      <p:sp>
        <p:nvSpPr>
          <p:cNvPr id="3" name="">
            <a:extLst xmlns:a="http://schemas.openxmlformats.org/drawingml/2006/main">
              <a:ext uri="{FF2B5EF4-FFF2-40B4-BE49-F238E27FC236}">
                <a16:creationId xmlns:a16="http://schemas.microsoft.com/office/drawing/2014/main" id="{8D5192A1-416C-4FCC-BD4D-392605EA0638}"/>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D4921EAD-D3D4-44A7-A1D0-C2B8921AB228}"/>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BC7A19FF-2A75-4598-B667-149CBFAD4001}"/>
              </a:ext>
            </a:extLst>
          </p:cNvPr>
          <p:cNvSpPr>
            <a:spLocks xmlns:a="http://schemas.openxmlformats.org/drawingml/2006/main" noGrp="1"/>
          </p:cNvSpPr>
          <p:nvPr/>
        </p:nvSpPr>
        <p:spPr>
          <a:xfrm xmlns:a="http://schemas.openxmlformats.org/drawingml/2006/main">
            <a:off x="6096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5F52E1-C657-43D3-970A-D2010EAA92D2}"/>
              </a:ext>
            </a:extLst>
          </p:cNvPr>
          <p:cNvSpPr>
            <a:spLocks xmlns:a="http://schemas.openxmlformats.org/drawingml/2006/main" noGrp="1"/>
          </p:cNvSpPr>
          <p:nvPr/>
        </p:nvSpPr>
        <p:spPr>
          <a:xfrm xmlns:a="http://schemas.openxmlformats.org/drawingml/2006/main">
            <a:off x="6096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D04BE6-D8C0-40F1-9C9C-43D491B5C7C1}"/>
              </a:ext>
            </a:extLst>
          </p:cNvPr>
          <p:cNvSpPr>
            <a:spLocks xmlns:a="http://schemas.openxmlformats.org/drawingml/2006/main" noGrp="1"/>
          </p:cNvSpPr>
          <p:nvPr/>
        </p:nvSpPr>
        <p:spPr>
          <a:xfrm xmlns:a="http://schemas.openxmlformats.org/drawingml/2006/main">
            <a:off x="8001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1. Connected customer evidence</a:t>
            </a:r>
          </a:p>
        </p:txBody>
      </p:sp>
      <p:sp>
        <p:nvSpPr>
          <p:cNvPr id="8" name="">
            <a:extLst xmlns:a="http://schemas.openxmlformats.org/drawingml/2006/main">
              <a:ext uri="{FF2B5EF4-FFF2-40B4-BE49-F238E27FC236}">
                <a16:creationId xmlns:a16="http://schemas.microsoft.com/office/drawing/2014/main" id="{0443C643-90FA-4F22-84A2-D474EE0FB238}"/>
              </a:ext>
            </a:extLst>
          </p:cNvPr>
          <p:cNvSpPr>
            <a:spLocks xmlns:a="http://schemas.openxmlformats.org/drawingml/2006/main" noGrp="1"/>
          </p:cNvSpPr>
          <p:nvPr/>
        </p:nvSpPr>
        <p:spPr>
          <a:xfrm xmlns:a="http://schemas.openxmlformats.org/drawingml/2006/main">
            <a:off x="8001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The Universal Customer View classifies each dataset’s fields as Identifiers, Engagement, Relationship or Perception. It reveals what is recorded and what is missing.</a:t>
            </a:r>
          </a:p>
        </p:txBody>
      </p:sp>
      <p:sp>
        <p:nvSpPr>
          <p:cNvPr id="9" name="">
            <a:extLst xmlns:a="http://schemas.openxmlformats.org/drawingml/2006/main">
              <a:ext uri="{FF2B5EF4-FFF2-40B4-BE49-F238E27FC236}">
                <a16:creationId xmlns:a16="http://schemas.microsoft.com/office/drawing/2014/main" id="{41B02B3C-5BAE-4780-B8F9-D4652F67657B}"/>
              </a:ext>
            </a:extLst>
          </p:cNvPr>
          <p:cNvSpPr>
            <a:spLocks xmlns:a="http://schemas.openxmlformats.org/drawingml/2006/main" noGrp="1"/>
          </p:cNvSpPr>
          <p:nvPr/>
        </p:nvSpPr>
        <p:spPr>
          <a:xfrm xmlns:a="http://schemas.openxmlformats.org/drawingml/2006/main">
            <a:off x="43815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12DDAB0-ED95-4628-9C1E-F5E41B9146F3}"/>
              </a:ext>
            </a:extLst>
          </p:cNvPr>
          <p:cNvSpPr>
            <a:spLocks xmlns:a="http://schemas.openxmlformats.org/drawingml/2006/main" noGrp="1"/>
          </p:cNvSpPr>
          <p:nvPr/>
        </p:nvSpPr>
        <p:spPr>
          <a:xfrm xmlns:a="http://schemas.openxmlformats.org/drawingml/2006/main">
            <a:off x="43815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9D34928-1DB6-4648-868D-4466B0593A09}"/>
              </a:ext>
            </a:extLst>
          </p:cNvPr>
          <p:cNvSpPr>
            <a:spLocks xmlns:a="http://schemas.openxmlformats.org/drawingml/2006/main" noGrp="1"/>
          </p:cNvSpPr>
          <p:nvPr/>
        </p:nvSpPr>
        <p:spPr>
          <a:xfrm xmlns:a="http://schemas.openxmlformats.org/drawingml/2006/main">
            <a:off x="45720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2. Customer economics over time</a:t>
            </a:r>
          </a:p>
        </p:txBody>
      </p:sp>
      <p:sp>
        <p:nvSpPr>
          <p:cNvPr id="12" name="">
            <a:extLst xmlns:a="http://schemas.openxmlformats.org/drawingml/2006/main">
              <a:ext uri="{FF2B5EF4-FFF2-40B4-BE49-F238E27FC236}">
                <a16:creationId xmlns:a16="http://schemas.microsoft.com/office/drawing/2014/main" id="{F5AF777A-2B42-4222-B31E-21868C1A0181}"/>
              </a:ext>
            </a:extLst>
          </p:cNvPr>
          <p:cNvSpPr>
            <a:spLocks xmlns:a="http://schemas.openxmlformats.org/drawingml/2006/main" noGrp="1"/>
          </p:cNvSpPr>
          <p:nvPr/>
        </p:nvSpPr>
        <p:spPr>
          <a:xfrm xmlns:a="http://schemas.openxmlformats.org/drawingml/2006/main">
            <a:off x="45720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Joining cohorts distinguish customer age from calendar time. Retention, contribution and acquisition cost determine whether relationships create value.</a:t>
            </a:r>
          </a:p>
        </p:txBody>
      </p:sp>
      <p:sp>
        <p:nvSpPr>
          <p:cNvPr id="13" name="">
            <a:extLst xmlns:a="http://schemas.openxmlformats.org/drawingml/2006/main">
              <a:ext uri="{FF2B5EF4-FFF2-40B4-BE49-F238E27FC236}">
                <a16:creationId xmlns:a16="http://schemas.microsoft.com/office/drawing/2014/main" id="{684D0C9C-7C43-4837-AB9B-7F6052D0C9BD}"/>
              </a:ext>
            </a:extLst>
          </p:cNvPr>
          <p:cNvSpPr>
            <a:spLocks xmlns:a="http://schemas.openxmlformats.org/drawingml/2006/main" noGrp="1"/>
          </p:cNvSpPr>
          <p:nvPr/>
        </p:nvSpPr>
        <p:spPr>
          <a:xfrm xmlns:a="http://schemas.openxmlformats.org/drawingml/2006/main">
            <a:off x="8153400" y="1666875"/>
            <a:ext cx="3429000"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4D18A3-553F-4757-A5EE-8387D92160E5}"/>
              </a:ext>
            </a:extLst>
          </p:cNvPr>
          <p:cNvSpPr>
            <a:spLocks xmlns:a="http://schemas.openxmlformats.org/drawingml/2006/main" noGrp="1"/>
          </p:cNvSpPr>
          <p:nvPr/>
        </p:nvSpPr>
        <p:spPr>
          <a:xfrm xmlns:a="http://schemas.openxmlformats.org/drawingml/2006/main">
            <a:off x="81534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2C67334-9D63-4494-B37D-3C91AE2AA7B0}"/>
              </a:ext>
            </a:extLst>
          </p:cNvPr>
          <p:cNvSpPr>
            <a:spLocks xmlns:a="http://schemas.openxmlformats.org/drawingml/2006/main" noGrp="1"/>
          </p:cNvSpPr>
          <p:nvPr/>
        </p:nvSpPr>
        <p:spPr>
          <a:xfrm xmlns:a="http://schemas.openxmlformats.org/drawingml/2006/main">
            <a:off x="8343900" y="180975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3. Incremental marketing value</a:t>
            </a:r>
          </a:p>
        </p:txBody>
      </p:sp>
      <p:sp>
        <p:nvSpPr>
          <p:cNvPr id="16" name="">
            <a:extLst xmlns:a="http://schemas.openxmlformats.org/drawingml/2006/main">
              <a:ext uri="{FF2B5EF4-FFF2-40B4-BE49-F238E27FC236}">
                <a16:creationId xmlns:a16="http://schemas.microsoft.com/office/drawing/2014/main" id="{2335FCAC-827B-47BA-97E4-A0CA897535AF}"/>
              </a:ext>
            </a:extLst>
          </p:cNvPr>
          <p:cNvSpPr>
            <a:spLocks xmlns:a="http://schemas.openxmlformats.org/drawingml/2006/main" noGrp="1"/>
          </p:cNvSpPr>
          <p:nvPr/>
        </p:nvSpPr>
        <p:spPr>
          <a:xfrm xmlns:a="http://schemas.openxmlformats.org/drawingml/2006/main">
            <a:off x="8343900" y="2238375"/>
            <a:ext cx="30480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randomized campaign comparison asks what changed because of the campaign. A high customer LTV alone cannot answer that question.</a:t>
            </a:r>
          </a:p>
        </p:txBody>
      </p:sp>
      <p:sp>
        <p:nvSpPr>
          <p:cNvPr id="17" name="">
            <a:extLst xmlns:a="http://schemas.openxmlformats.org/drawingml/2006/main">
              <a:ext uri="{FF2B5EF4-FFF2-40B4-BE49-F238E27FC236}">
                <a16:creationId xmlns:a16="http://schemas.microsoft.com/office/drawing/2014/main" id="{015156F5-05D0-45D1-BF0C-1B547B88FF8D}"/>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5FF440-711D-45ED-B021-72D1E088D7DA}"/>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AI proposes the work. Saved SQL, data checks, held-out outcomes and your judgment make the work reviewable.</a:t>
            </a:r>
          </a:p>
        </p:txBody>
      </p:sp>
    </p:spTree>
    <p:extLst>
      <p:ext uri="{BB962C8B-B14F-4D97-AF65-F5344CB8AC3E}">
        <p14:creationId xmlns:p14="http://schemas.microsoft.com/office/powerpoint/2010/main" val="1795133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C3CA50-22DE-4FD3-99BD-83D11DF14533}"/>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558134A-6FCB-4DEA-B160-3DD37850CF6D}"/>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Every dataset gets its own Universal Customer View</a:t>
            </a:r>
          </a:p>
        </p:txBody>
      </p:sp>
      <p:sp>
        <p:nvSpPr>
          <p:cNvPr id="3" name="">
            <a:extLst xmlns:a="http://schemas.openxmlformats.org/drawingml/2006/main">
              <a:ext uri="{FF2B5EF4-FFF2-40B4-BE49-F238E27FC236}">
                <a16:creationId xmlns:a16="http://schemas.microsoft.com/office/drawing/2014/main" id="{3982CC4C-591F-4A67-B4BC-8D494B2D5B81}"/>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12941832-51D4-434C-A8E9-C3E3F1B21F41}"/>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520628EC-67B4-4D15-A502-EB43DED69D68}"/>
              </a:ext>
            </a:extLst>
          </p:cNvPr>
          <p:cNvSpPr>
            <a:spLocks xmlns:a="http://schemas.openxmlformats.org/drawingml/2006/main" noGrp="1"/>
          </p:cNvSpPr>
          <p:nvPr/>
        </p:nvSpPr>
        <p:spPr>
          <a:xfrm xmlns:a="http://schemas.openxmlformats.org/drawingml/2006/main">
            <a:off x="609600" y="1466850"/>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Example: people.csv contains one record per person, including prospects who never buy.</a:t>
            </a:r>
          </a:p>
        </p:txBody>
      </p:sp>
      <p:sp>
        <p:nvSpPr>
          <p:cNvPr id="6" name="">
            <a:extLst xmlns:a="http://schemas.openxmlformats.org/drawingml/2006/main">
              <a:ext uri="{FF2B5EF4-FFF2-40B4-BE49-F238E27FC236}">
                <a16:creationId xmlns:a16="http://schemas.microsoft.com/office/drawing/2014/main" id="{E189A93A-40D3-4C5D-A079-7B074204CFBC}"/>
              </a:ext>
            </a:extLst>
          </p:cNvPr>
          <p:cNvSpPr>
            <a:spLocks xmlns:a="http://schemas.openxmlformats.org/drawingml/2006/main" noGrp="1"/>
          </p:cNvSpPr>
          <p:nvPr/>
        </p:nvSpPr>
        <p:spPr>
          <a:xfrm xmlns:a="http://schemas.openxmlformats.org/drawingml/2006/main">
            <a:off x="609600" y="20669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Table 1. Field classification for people.csv</a:t>
            </a:r>
          </a:p>
        </p:txBody>
      </p:sp>
      <p:graphicFrame>
        <p:nvGraphicFramePr>
          <p:cNvPr id="7" name="">
            <a:extLst xmlns:a="http://schemas.openxmlformats.org/drawingml/2006/main">
              <a:ext uri="{FF2B5EF4-FFF2-40B4-BE49-F238E27FC236}">
                <a16:creationId xmlns:a16="http://schemas.microsoft.com/office/drawing/2014/main" id="{A8EBEF86-825D-4DBB-873B-9254219F7783}"/>
              </a:ext>
            </a:extLst>
          </p:cNvPr>
          <p:cNvGraphicFramePr/>
          <p:nvPr/>
        </p:nvGraphicFramePr>
        <p:xfrm>
          <a:off xmlns:a="http://schemas.openxmlformats.org/drawingml/2006/main" x="609600" y="2324100"/>
          <a:ext xmlns:a="http://schemas.openxmlformats.org/drawingml/2006/main" cx="10972800" cy="2228850"/>
        </p:xfrm>
        <a:graphic xmlns:a="http://schemas.openxmlformats.org/drawingml/2006/main">
          <a:graphicData uri="http://schemas.openxmlformats.org/drawingml/2006/table">
            <a:tbl>
              <a:tblPr/>
              <a:tblGrid>
                <a:gridCol w="2743200"/>
                <a:gridCol w="2743200"/>
                <a:gridCol w="2743200"/>
                <a:gridCol w="2743200"/>
              </a:tblGrid>
              <a:tr h="476250">
                <a:tc>
                  <a:txBody>
                    <a:bodyPr/>
                    <a:lstStyle/>
                    <a:p>
                      <a:r>
                        <a:rPr sz="1350" b="1">
                          <a:solidFill>
                            <a:srgbClr val="FFFFFF"/>
                          </a:solidFill>
                          <a:latin typeface="Arial"/>
                          <a:ea typeface="Arial"/>
                          <a:cs typeface="Arial"/>
                        </a:rPr>
                        <a:t>Identifiers</a:t>
                      </a:r>
                    </a:p>
                  </a:txBody>
                  <a:tcPr marL="91440" marR="91440" marT="45720" marB="45720">
                    <a:solidFill>
                      <a:srgbClr val="172D3C"/>
                    </a:solidFill>
                  </a:tcPr>
                </a:tc>
                <a:tc>
                  <a:txBody>
                    <a:bodyPr/>
                    <a:lstStyle/>
                    <a:p>
                      <a:r>
                        <a:rPr sz="1350" b="1">
                          <a:solidFill>
                            <a:srgbClr val="FFFFFF"/>
                          </a:solidFill>
                          <a:latin typeface="Arial"/>
                          <a:ea typeface="Arial"/>
                          <a:cs typeface="Arial"/>
                        </a:rPr>
                        <a:t>Engagement</a:t>
                      </a:r>
                    </a:p>
                  </a:txBody>
                  <a:tcPr marL="91440" marR="91440" marT="45720" marB="45720">
                    <a:solidFill>
                      <a:srgbClr val="172D3C"/>
                    </a:solidFill>
                  </a:tcPr>
                </a:tc>
                <a:tc>
                  <a:txBody>
                    <a:bodyPr/>
                    <a:lstStyle/>
                    <a:p>
                      <a:r>
                        <a:rPr sz="1350" b="1">
                          <a:solidFill>
                            <a:srgbClr val="FFFFFF"/>
                          </a:solidFill>
                          <a:latin typeface="Arial"/>
                          <a:ea typeface="Arial"/>
                          <a:cs typeface="Arial"/>
                        </a:rPr>
                        <a:t>Relationship</a:t>
                      </a:r>
                    </a:p>
                  </a:txBody>
                  <a:tcPr marL="91440" marR="91440" marT="45720" marB="45720">
                    <a:solidFill>
                      <a:srgbClr val="172D3C"/>
                    </a:solidFill>
                  </a:tcPr>
                </a:tc>
                <a:tc>
                  <a:txBody>
                    <a:bodyPr/>
                    <a:lstStyle/>
                    <a:p>
                      <a:r>
                        <a:rPr sz="1350" b="1">
                          <a:solidFill>
                            <a:srgbClr val="FFFFFF"/>
                          </a:solidFill>
                          <a:latin typeface="Arial"/>
                          <a:ea typeface="Arial"/>
                          <a:cs typeface="Arial"/>
                        </a:rPr>
                        <a:t>Perception</a:t>
                      </a:r>
                    </a:p>
                  </a:txBody>
                  <a:tcPr marL="91440" marR="91440" marT="45720" marB="45720">
                    <a:solidFill>
                      <a:srgbClr val="172D3C"/>
                    </a:solidFill>
                  </a:tcPr>
                </a:tc>
              </a:tr>
              <a:tr h="1752600">
                <a:tc>
                  <a:txBody>
                    <a:bodyPr/>
                    <a:lstStyle/>
                    <a:p>
                      <a:r>
                        <a:rPr sz="1425" b="0">
                          <a:solidFill>
                            <a:srgbClr val="172D3C"/>
                          </a:solidFill>
                          <a:latin typeface="Arial"/>
                          <a:ea typeface="Arial"/>
                          <a:cs typeface="Arial"/>
                        </a:rPr>
                        <a:t>person_id</a:t>
                      </a:r>
                    </a:p>
                    <a:p>
                      <a:r>
                        <a:rPr sz="1425" b="0">
                          <a:solidFill>
                            <a:srgbClr val="172D3C"/>
                          </a:solidFill>
                          <a:latin typeface="Arial"/>
                          <a:ea typeface="Arial"/>
                          <a:cs typeface="Arial"/>
                        </a:rPr>
                        <a:t>age_band</a:t>
                      </a:r>
                    </a:p>
                    <a:p>
                      <a:r>
                        <a:rPr sz="1425" b="0">
                          <a:solidFill>
                            <a:srgbClr val="172D3C"/>
                          </a:solidFill>
                          <a:latin typeface="Arial"/>
                          <a:ea typeface="Arial"/>
                          <a:cs typeface="Arial"/>
                        </a:rPr>
                        <a:t>household_type</a:t>
                      </a:r>
                    </a:p>
                    <a:p>
                      <a:r>
                        <a:rPr sz="1425" b="0">
                          <a:solidFill>
                            <a:srgbClr val="172D3C"/>
                          </a:solidFill>
                          <a:latin typeface="Arial"/>
                          <a:ea typeface="Arial"/>
                          <a:cs typeface="Arial"/>
                        </a:rPr>
                        <a:t>region</a:t>
                      </a:r>
                    </a:p>
                  </a:txBody>
                  <a:tcPr marL="91440" marR="91440" marT="45720" marB="45720">
                    <a:solidFill>
                      <a:srgbClr val="F0F5F6"/>
                    </a:solidFill>
                  </a:tcPr>
                </a:tc>
                <a:tc>
                  <a:txBody>
                    <a:bodyPr/>
                    <a:lstStyle/>
                    <a:p>
                      <a:r>
                        <a:rPr sz="1425" b="0">
                          <a:solidFill>
                            <a:srgbClr val="172D3C"/>
                          </a:solidFill>
                          <a:latin typeface="Arial"/>
                          <a:ea typeface="Arial"/>
                          <a:cs typeface="Arial"/>
                        </a:rPr>
                        <a:t>—</a:t>
                      </a:r>
                    </a:p>
                  </a:txBody>
                  <a:tcPr marL="91440" marR="91440" marT="45720" marB="45720">
                    <a:solidFill>
                      <a:srgbClr val="F0F5F6"/>
                    </a:solidFill>
                  </a:tcPr>
                </a:tc>
                <a:tc>
                  <a:txBody>
                    <a:bodyPr/>
                    <a:lstStyle/>
                    <a:p>
                      <a:r>
                        <a:rPr sz="1425" b="0">
                          <a:solidFill>
                            <a:srgbClr val="172D3C"/>
                          </a:solidFill>
                          <a:latin typeface="Arial"/>
                          <a:ea typeface="Arial"/>
                          <a:cs typeface="Arial"/>
                        </a:rPr>
                        <a:t>record_created_at</a:t>
                      </a:r>
                    </a:p>
                    <a:p>
                      <a:r>
                        <a:rPr sz="1425" b="0">
                          <a:solidFill>
                            <a:srgbClr val="172D3C"/>
                          </a:solidFill>
                          <a:latin typeface="Arial"/>
                          <a:ea typeface="Arial"/>
                          <a:cs typeface="Arial"/>
                        </a:rPr>
                        <a:t>attributes_recorded_at</a:t>
                      </a:r>
                    </a:p>
                  </a:txBody>
                  <a:tcPr marL="91440" marR="91440" marT="45720" marB="45720">
                    <a:solidFill>
                      <a:srgbClr val="F0F5F6"/>
                    </a:solidFill>
                  </a:tcPr>
                </a:tc>
                <a:tc>
                  <a:txBody>
                    <a:bodyPr/>
                    <a:lstStyle/>
                    <a:p>
                      <a:r>
                        <a:rPr sz="1425" b="0">
                          <a:solidFill>
                            <a:srgbClr val="172D3C"/>
                          </a:solidFill>
                          <a:latin typeface="Arial"/>
                          <a:ea typeface="Arial"/>
                          <a:cs typeface="Arial"/>
                        </a:rPr>
                        <a:t>primary_need</a:t>
                      </a:r>
                    </a:p>
                  </a:txBody>
                  <a:tcPr marL="91440" marR="91440" marT="45720" marB="45720">
                    <a:solidFill>
                      <a:srgbClr val="F0F5F6"/>
                    </a:solidFill>
                  </a:tcPr>
                </a:tc>
              </a:tr>
            </a:tbl>
          </a:graphicData>
        </a:graphic>
      </p:graphicFrame>
      <p:sp>
        <p:nvSpPr>
          <p:cNvPr id="8" name="">
            <a:extLst xmlns:a="http://schemas.openxmlformats.org/drawingml/2006/main">
              <a:ext uri="{FF2B5EF4-FFF2-40B4-BE49-F238E27FC236}">
                <a16:creationId xmlns:a16="http://schemas.microsoft.com/office/drawing/2014/main" id="{2BC2B38C-DCEF-4F27-A392-C6FA96A93D01}"/>
              </a:ext>
            </a:extLst>
          </p:cNvPr>
          <p:cNvSpPr>
            <a:spLocks xmlns:a="http://schemas.openxmlformats.org/drawingml/2006/main" noGrp="1"/>
          </p:cNvSpPr>
          <p:nvPr/>
        </p:nvSpPr>
        <p:spPr>
          <a:xfrm xmlns:a="http://schemas.openxmlformats.org/drawingml/2006/main">
            <a:off x="609600" y="47244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0">
                <a:solidFill>
                  <a:srgbClr val="172D3C"/>
                </a:solidFill>
                <a:latin typeface="Arial"/>
                <a:ea typeface="Arial"/>
                <a:cs typeface="Arial"/>
              </a:defRPr>
            </a:defPPr>
            <a:lvl1pPr>
              <a:defRPr sz="1650" b="0">
                <a:solidFill>
                  <a:srgbClr val="172D3C"/>
                </a:solidFill>
                <a:latin typeface="Arial"/>
                <a:ea typeface="Arial"/>
                <a:cs typeface="Arial"/>
              </a:defRPr>
            </a:lvl1pPr>
            <a:lvl2pPr>
              <a:defRPr sz="1650" b="0">
                <a:solidFill>
                  <a:srgbClr val="172D3C"/>
                </a:solidFill>
                <a:latin typeface="Arial"/>
                <a:ea typeface="Arial"/>
                <a:cs typeface="Arial"/>
              </a:defRPr>
            </a:lvl2pPr>
            <a:lvl3pPr>
              <a:defRPr sz="1650" b="0">
                <a:solidFill>
                  <a:srgbClr val="172D3C"/>
                </a:solidFill>
                <a:latin typeface="Arial"/>
                <a:ea typeface="Arial"/>
                <a:cs typeface="Arial"/>
              </a:defRPr>
            </a:lvl3pPr>
            <a:lvl4pPr>
              <a:defRPr sz="1650" b="0">
                <a:solidFill>
                  <a:srgbClr val="172D3C"/>
                </a:solidFill>
                <a:latin typeface="Arial"/>
                <a:ea typeface="Arial"/>
                <a:cs typeface="Arial"/>
              </a:defRPr>
            </a:lvl4pPr>
            <a:lvl5pPr>
              <a:defRPr sz="1650" b="0">
                <a:solidFill>
                  <a:srgbClr val="172D3C"/>
                </a:solidFill>
                <a:latin typeface="Arial"/>
                <a:ea typeface="Arial"/>
                <a:cs typeface="Arial"/>
              </a:defRPr>
            </a:lvl5pPr>
            <a:lvl6pPr>
              <a:defRPr sz="1650" b="0">
                <a:solidFill>
                  <a:srgbClr val="172D3C"/>
                </a:solidFill>
                <a:latin typeface="Arial"/>
                <a:ea typeface="Arial"/>
                <a:cs typeface="Arial"/>
              </a:defRPr>
            </a:lvl6pPr>
            <a:lvl7pPr>
              <a:defRPr sz="1650" b="0">
                <a:solidFill>
                  <a:srgbClr val="172D3C"/>
                </a:solidFill>
                <a:latin typeface="Arial"/>
                <a:ea typeface="Arial"/>
                <a:cs typeface="Arial"/>
              </a:defRPr>
            </a:lvl7pPr>
            <a:lvl8pPr>
              <a:defRPr sz="1650" b="0">
                <a:solidFill>
                  <a:srgbClr val="172D3C"/>
                </a:solidFill>
                <a:latin typeface="Arial"/>
                <a:ea typeface="Arial"/>
                <a:cs typeface="Arial"/>
              </a:defRPr>
            </a:lvl8pPr>
            <a:lvl9pPr>
              <a:defRPr sz="1650" b="0">
                <a:solidFill>
                  <a:srgbClr val="172D3C"/>
                </a:solidFill>
                <a:latin typeface="Arial"/>
                <a:ea typeface="Arial"/>
                <a:cs typeface="Arial"/>
              </a:defRPr>
            </a:lvl9pPr>
          </a:lstStyle>
          <a:p xmlns:a="http://schemas.openxmlformats.org/drawingml/2006/main">
            <a:pPr>
              <a:defRPr sz="1650" b="0">
                <a:solidFill>
                  <a:srgbClr val="172D3C"/>
                </a:solidFill>
                <a:latin typeface="Arial"/>
                <a:ea typeface="Arial"/>
                <a:cs typeface="Arial"/>
              </a:defRPr>
            </a:pPr>
            <a:r>
              <a:rPr sz="1650" b="0">
                <a:solidFill>
                  <a:srgbClr val="172D3C"/>
                </a:solidFill>
                <a:latin typeface="Arial"/>
                <a:ea typeface="Arial"/>
                <a:cs typeface="Arial"/>
              </a:rPr>
              <a:t>The stated need is a reported intention. Profile timestamps document when the relationship information became available.</a:t>
            </a:r>
          </a:p>
        </p:txBody>
      </p:sp>
      <p:sp>
        <p:nvSpPr>
          <p:cNvPr id="9" name="">
            <a:extLst xmlns:a="http://schemas.openxmlformats.org/drawingml/2006/main">
              <a:ext uri="{FF2B5EF4-FFF2-40B4-BE49-F238E27FC236}">
                <a16:creationId xmlns:a16="http://schemas.microsoft.com/office/drawing/2014/main" id="{FC1ED5AA-CEBD-40D9-BA80-616E4FD3667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308B34-FBC3-45B7-B2B7-E49883F1CBA4}"/>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Repeat this field-level table for all eight exports, then open the Archify map of keys, grains and connections.</a:t>
            </a:r>
          </a:p>
        </p:txBody>
      </p:sp>
    </p:spTree>
    <p:extLst>
      <p:ext uri="{BB962C8B-B14F-4D97-AF65-F5344CB8AC3E}">
        <p14:creationId xmlns:p14="http://schemas.microsoft.com/office/powerpoint/2010/main" val="21048027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513C3B-7A13-4022-94BF-EAC16FF4290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67DFEE4-873A-4204-AD58-978768B81497}"/>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1: who needs which onboarding route?</a:t>
            </a:r>
          </a:p>
        </p:txBody>
      </p:sp>
      <p:sp>
        <p:nvSpPr>
          <p:cNvPr id="3" name="">
            <a:extLst xmlns:a="http://schemas.openxmlformats.org/drawingml/2006/main">
              <a:ext uri="{FF2B5EF4-FFF2-40B4-BE49-F238E27FC236}">
                <a16:creationId xmlns:a16="http://schemas.microsoft.com/office/drawing/2014/main" id="{7F6F796C-0B99-4580-810D-E47A0D7F823B}"/>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8F2EFF9E-8E90-4BB2-92EE-E61C61C4E02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C6B1F388-C5E1-4F84-984D-92E49C0F658B}"/>
              </a:ext>
            </a:extLst>
          </p:cNvPr>
          <p:cNvSpPr>
            <a:spLocks xmlns:a="http://schemas.openxmlformats.org/drawingml/2006/main" noGrp="1"/>
          </p:cNvSpPr>
          <p:nvPr/>
        </p:nvSpPr>
        <p:spPr>
          <a:xfrm xmlns:a="http://schemas.openxmlformats.org/drawingml/2006/main">
            <a:off x="609600" y="14954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defRPr sz="1950" b="0">
                <a:solidFill>
                  <a:srgbClr val="172D3C"/>
                </a:solidFill>
                <a:latin typeface="Arial"/>
                <a:ea typeface="Arial"/>
                <a:cs typeface="Arial"/>
              </a:defRPr>
            </a:lvl1pPr>
            <a:lvl2pPr>
              <a:defRPr sz="1950" b="0">
                <a:solidFill>
                  <a:srgbClr val="172D3C"/>
                </a:solidFill>
                <a:latin typeface="Arial"/>
                <a:ea typeface="Arial"/>
                <a:cs typeface="Arial"/>
              </a:defRPr>
            </a:lvl2pPr>
            <a:lvl3pPr>
              <a:defRPr sz="1950" b="0">
                <a:solidFill>
                  <a:srgbClr val="172D3C"/>
                </a:solidFill>
                <a:latin typeface="Arial"/>
                <a:ea typeface="Arial"/>
                <a:cs typeface="Arial"/>
              </a:defRPr>
            </a:lvl3pPr>
            <a:lvl4pPr>
              <a:defRPr sz="1950" b="0">
                <a:solidFill>
                  <a:srgbClr val="172D3C"/>
                </a:solidFill>
                <a:latin typeface="Arial"/>
                <a:ea typeface="Arial"/>
                <a:cs typeface="Arial"/>
              </a:defRPr>
            </a:lvl4pPr>
            <a:lvl5pPr>
              <a:defRPr sz="1950" b="0">
                <a:solidFill>
                  <a:srgbClr val="172D3C"/>
                </a:solidFill>
                <a:latin typeface="Arial"/>
                <a:ea typeface="Arial"/>
                <a:cs typeface="Arial"/>
              </a:defRPr>
            </a:lvl5pPr>
            <a:lvl6pPr>
              <a:defRPr sz="1950" b="0">
                <a:solidFill>
                  <a:srgbClr val="172D3C"/>
                </a:solidFill>
                <a:latin typeface="Arial"/>
                <a:ea typeface="Arial"/>
                <a:cs typeface="Arial"/>
              </a:defRPr>
            </a:lvl6pPr>
            <a:lvl7pPr>
              <a:defRPr sz="1950" b="0">
                <a:solidFill>
                  <a:srgbClr val="172D3C"/>
                </a:solidFill>
                <a:latin typeface="Arial"/>
                <a:ea typeface="Arial"/>
                <a:cs typeface="Arial"/>
              </a:defRPr>
            </a:lvl7pPr>
            <a:lvl8pPr>
              <a:defRPr sz="1950" b="0">
                <a:solidFill>
                  <a:srgbClr val="172D3C"/>
                </a:solidFill>
                <a:latin typeface="Arial"/>
                <a:ea typeface="Arial"/>
                <a:cs typeface="Arial"/>
              </a:defRPr>
            </a:lvl8pPr>
            <a:lvl9pPr>
              <a:defRPr sz="1950" b="0">
                <a:solidFill>
                  <a:srgbClr val="172D3C"/>
                </a:solidFill>
                <a:latin typeface="Arial"/>
                <a:ea typeface="Arial"/>
                <a:cs typeface="Arial"/>
              </a:defRPr>
            </a:lvl9pPr>
          </a:lstStyle>
          <a:p xmlns:a="http://schemas.openxmlformats.org/drawingml/2006/main">
            <a:pPr>
              <a:defRPr sz="1950" b="0">
                <a:solidFill>
                  <a:srgbClr val="172D3C"/>
                </a:solidFill>
                <a:latin typeface="Arial"/>
                <a:ea typeface="Arial"/>
                <a:cs typeface="Arial"/>
              </a:defRPr>
            </a:pPr>
            <a:r>
              <a:rPr sz="1950" b="0">
                <a:solidFill>
                  <a:srgbClr val="172D3C"/>
                </a:solidFill>
                <a:latin typeface="Arial"/>
                <a:ea typeface="Arial"/>
                <a:cs typeface="Arial"/>
              </a:rPr>
              <a:t>Studio North can offer a ready-to-use template or a guided lesson. Which recorded grouping should inform these onboarding routes?</a:t>
            </a:r>
          </a:p>
        </p:txBody>
      </p:sp>
      <p:sp>
        <p:nvSpPr>
          <p:cNvPr id="6" name="">
            <a:extLst xmlns:a="http://schemas.openxmlformats.org/drawingml/2006/main">
              <a:ext uri="{FF2B5EF4-FFF2-40B4-BE49-F238E27FC236}">
                <a16:creationId xmlns:a16="http://schemas.microsoft.com/office/drawing/2014/main" id="{B57A9257-06E8-4F3C-86C9-87109DAB782B}"/>
              </a:ext>
            </a:extLst>
          </p:cNvPr>
          <p:cNvSpPr>
            <a:spLocks xmlns:a="http://schemas.openxmlformats.org/drawingml/2006/main" noGrp="1"/>
          </p:cNvSpPr>
          <p:nvPr/>
        </p:nvSpPr>
        <p:spPr>
          <a:xfrm xmlns:a="http://schemas.openxmlformats.org/drawingml/2006/main">
            <a:off x="609600" y="22574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Table 2. Two candidate grouping rules</a:t>
            </a:r>
          </a:p>
        </p:txBody>
      </p:sp>
      <p:graphicFrame>
        <p:nvGraphicFramePr>
          <p:cNvPr id="7" name="">
            <a:extLst xmlns:a="http://schemas.openxmlformats.org/drawingml/2006/main">
              <a:ext uri="{FF2B5EF4-FFF2-40B4-BE49-F238E27FC236}">
                <a16:creationId xmlns:a16="http://schemas.microsoft.com/office/drawing/2014/main" id="{C840BAC3-AE10-43A4-B07E-CB1F16542402}"/>
              </a:ext>
            </a:extLst>
          </p:cNvPr>
          <p:cNvGraphicFramePr/>
          <p:nvPr/>
        </p:nvGraphicFramePr>
        <p:xfrm>
          <a:off xmlns:a="http://schemas.openxmlformats.org/drawingml/2006/main" x="609600" y="2505075"/>
          <a:ext xmlns:a="http://schemas.openxmlformats.org/drawingml/2006/main" cx="10972800" cy="1638300"/>
        </p:xfrm>
        <a:graphic xmlns:a="http://schemas.openxmlformats.org/drawingml/2006/main">
          <a:graphicData uri="http://schemas.openxmlformats.org/drawingml/2006/table">
            <a:tbl>
              <a:tblPr/>
              <a:tblGrid>
                <a:gridCol w="2857500"/>
                <a:gridCol w="3667125"/>
                <a:gridCol w="4448175"/>
              </a:tblGrid>
              <a:tr h="546100">
                <a:tc>
                  <a:txBody>
                    <a:bodyPr/>
                    <a:lstStyle/>
                    <a:p>
                      <a:r>
                        <a:rPr sz="1350" b="1">
                          <a:solidFill>
                            <a:srgbClr val="FFFFFF"/>
                          </a:solidFill>
                          <a:latin typeface="Arial"/>
                          <a:ea typeface="Arial"/>
                          <a:cs typeface="Arial"/>
                        </a:rPr>
                        <a:t>Grouping</a:t>
                      </a:r>
                    </a:p>
                  </a:txBody>
                  <a:tcPr marL="91440" marR="91440" marT="45720" marB="45720">
                    <a:solidFill>
                      <a:srgbClr val="172D3C"/>
                    </a:solidFill>
                  </a:tcPr>
                </a:tc>
                <a:tc>
                  <a:txBody>
                    <a:bodyPr/>
                    <a:lstStyle/>
                    <a:p>
                      <a:r>
                        <a:rPr sz="1350" b="1">
                          <a:solidFill>
                            <a:srgbClr val="FFFFFF"/>
                          </a:solidFill>
                          <a:latin typeface="Arial"/>
                          <a:ea typeface="Arial"/>
                          <a:cs typeface="Arial"/>
                        </a:rPr>
                        <a:t>Two recorded groups</a:t>
                      </a:r>
                    </a:p>
                  </a:txBody>
                  <a:tcPr marL="91440" marR="91440" marT="45720" marB="45720">
                    <a:solidFill>
                      <a:srgbClr val="172D3C"/>
                    </a:solidFill>
                  </a:tcPr>
                </a:tc>
                <a:tc>
                  <a:txBody>
                    <a:bodyPr/>
                    <a:lstStyle/>
                    <a:p>
                      <a:r>
                        <a:rPr sz="1350" b="1">
                          <a:solidFill>
                            <a:srgbClr val="FFFFFF"/>
                          </a:solidFill>
                          <a:latin typeface="Arial"/>
                          <a:ea typeface="Arial"/>
                          <a:cs typeface="Arial"/>
                        </a:rPr>
                        <a:t>What the field describes</a:t>
                      </a:r>
                    </a:p>
                  </a:txBody>
                  <a:tcPr marL="91440" marR="91440" marT="45720" marB="45720">
                    <a:solidFill>
                      <a:srgbClr val="172D3C"/>
                    </a:solidFill>
                  </a:tcPr>
                </a:tc>
              </a:tr>
              <a:tr h="546100">
                <a:tc>
                  <a:txBody>
                    <a:bodyPr/>
                    <a:lstStyle/>
                    <a:p>
                      <a:r>
                        <a:rPr sz="1425" b="0">
                          <a:solidFill>
                            <a:srgbClr val="172D3C"/>
                          </a:solidFill>
                          <a:latin typeface="Arial"/>
                          <a:ea typeface="Arial"/>
                          <a:cs typeface="Arial"/>
                        </a:rPr>
                        <a:t>Age band</a:t>
                      </a:r>
                    </a:p>
                  </a:txBody>
                  <a:tcPr marL="91440" marR="91440" marT="45720" marB="45720">
                    <a:solidFill>
                      <a:srgbClr val="F0F5F6"/>
                    </a:solidFill>
                  </a:tcPr>
                </a:tc>
                <a:tc>
                  <a:txBody>
                    <a:bodyPr/>
                    <a:lstStyle/>
                    <a:p>
                      <a:r>
                        <a:rPr sz="1425" b="0">
                          <a:solidFill>
                            <a:srgbClr val="172D3C"/>
                          </a:solidFill>
                          <a:latin typeface="Arial"/>
                          <a:ea typeface="Arial"/>
                          <a:cs typeface="Arial"/>
                        </a:rPr>
                        <a:t>18–34 / 35+</a:t>
                      </a:r>
                    </a:p>
                  </a:txBody>
                  <a:tcPr marL="91440" marR="91440" marT="45720" marB="45720">
                    <a:solidFill>
                      <a:srgbClr val="F0F5F6"/>
                    </a:solidFill>
                  </a:tcPr>
                </a:tc>
                <a:tc>
                  <a:txBody>
                    <a:bodyPr/>
                    <a:lstStyle/>
                    <a:p>
                      <a:r>
                        <a:rPr sz="1425" b="0">
                          <a:solidFill>
                            <a:srgbClr val="172D3C"/>
                          </a:solidFill>
                          <a:latin typeface="Arial"/>
                          <a:ea typeface="Arial"/>
                          <a:cs typeface="Arial"/>
                        </a:rPr>
                        <a:t>A demographic characteristic.</a:t>
                      </a:r>
                    </a:p>
                  </a:txBody>
                  <a:tcPr marL="91440" marR="91440" marT="45720" marB="45720">
                    <a:solidFill>
                      <a:srgbClr val="F0F5F6"/>
                    </a:solidFill>
                  </a:tcPr>
                </a:tc>
              </a:tr>
              <a:tr h="546100">
                <a:tc>
                  <a:txBody>
                    <a:bodyPr/>
                    <a:lstStyle/>
                    <a:p>
                      <a:r>
                        <a:rPr sz="1425" b="0">
                          <a:solidFill>
                            <a:srgbClr val="172D3C"/>
                          </a:solidFill>
                          <a:latin typeface="Arial"/>
                          <a:ea typeface="Arial"/>
                          <a:cs typeface="Arial"/>
                        </a:rPr>
                        <a:t>Stated need</a:t>
                      </a:r>
                    </a:p>
                  </a:txBody>
                  <a:tcPr marL="91440" marR="91440" marT="45720" marB="45720">
                    <a:solidFill>
                      <a:srgbClr val="FFFFFF"/>
                    </a:solidFill>
                  </a:tcPr>
                </a:tc>
                <a:tc>
                  <a:txBody>
                    <a:bodyPr/>
                    <a:lstStyle/>
                    <a:p>
                      <a:r>
                        <a:rPr sz="1425" b="0">
                          <a:solidFill>
                            <a:srgbClr val="172D3C"/>
                          </a:solidFill>
                          <a:latin typeface="Arial"/>
                          <a:ea typeface="Arial"/>
                          <a:cs typeface="Arial"/>
                        </a:rPr>
                        <a:t>Save time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The goal stated before acquisition.</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BA59A76-EA5F-4CB5-9BE9-3F51F92C0E10}"/>
              </a:ext>
            </a:extLst>
          </p:cNvPr>
          <p:cNvSpPr>
            <a:spLocks xmlns:a="http://schemas.openxmlformats.org/drawingml/2006/main" noGrp="1"/>
          </p:cNvSpPr>
          <p:nvPr/>
        </p:nvSpPr>
        <p:spPr>
          <a:xfrm xmlns:a="http://schemas.openxmlformats.org/drawingml/2006/main">
            <a:off x="609600" y="44577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Choose one grouping and explain why it is relevant to this onboarding objective.</a:t>
            </a:r>
          </a:p>
        </p:txBody>
      </p:sp>
      <p:sp>
        <p:nvSpPr>
          <p:cNvPr id="9" name="">
            <a:extLst xmlns:a="http://schemas.openxmlformats.org/drawingml/2006/main">
              <a:ext uri="{FF2B5EF4-FFF2-40B4-BE49-F238E27FC236}">
                <a16:creationId xmlns:a16="http://schemas.microsoft.com/office/drawing/2014/main" id="{EEA8B120-2524-49F7-A4C9-D306A631D55B}"/>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90281C-6ACA-4601-B2C6-3129B39D6DD5}"/>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Use the conceptual journey maps to propose the routes. Later, use the SQL results to test whether the grouping explains value.</a:t>
            </a:r>
          </a:p>
        </p:txBody>
      </p:sp>
    </p:spTree>
    <p:extLst>
      <p:ext uri="{BB962C8B-B14F-4D97-AF65-F5344CB8AC3E}">
        <p14:creationId xmlns:p14="http://schemas.microsoft.com/office/powerpoint/2010/main" val="17155711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E4766CC-D17F-4880-B589-FEC906B3569F}"/>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EC0BDBE-C310-4AAE-B54F-5B42ABF52205}"/>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Turn the connected view into a reproducible query</a:t>
            </a:r>
          </a:p>
        </p:txBody>
      </p:sp>
      <p:sp>
        <p:nvSpPr>
          <p:cNvPr id="3" name="">
            <a:extLst xmlns:a="http://schemas.openxmlformats.org/drawingml/2006/main">
              <a:ext uri="{FF2B5EF4-FFF2-40B4-BE49-F238E27FC236}">
                <a16:creationId xmlns:a16="http://schemas.microsoft.com/office/drawing/2014/main" id="{2FF492A6-5E88-4838-AAA6-D03317B3E42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521C7185-1AE8-4D6C-8816-50F9014287FC}"/>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845E624-7A98-4C34-B40F-A304BDB63A0F}"/>
              </a:ext>
            </a:extLst>
          </p:cNvPr>
          <p:cNvSpPr>
            <a:spLocks xmlns:a="http://schemas.openxmlformats.org/drawingml/2006/main" noGrp="1"/>
          </p:cNvSpPr>
          <p:nvPr/>
        </p:nvSpPr>
        <p:spPr>
          <a:xfrm xmlns:a="http://schemas.openxmlformats.org/drawingml/2006/main">
            <a:off x="60960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F57FEC-B24B-4CEC-AF73-58902942A306}"/>
              </a:ext>
            </a:extLst>
          </p:cNvPr>
          <p:cNvSpPr>
            <a:spLocks xmlns:a="http://schemas.openxmlformats.org/drawingml/2006/main" noGrp="1"/>
          </p:cNvSpPr>
          <p:nvPr/>
        </p:nvSpPr>
        <p:spPr>
          <a:xfrm xmlns:a="http://schemas.openxmlformats.org/drawingml/2006/main">
            <a:off x="60960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35EFF88-C3A6-4F9C-BF9E-5D0578E3B435}"/>
              </a:ext>
            </a:extLst>
          </p:cNvPr>
          <p:cNvSpPr>
            <a:spLocks xmlns:a="http://schemas.openxmlformats.org/drawingml/2006/main" noGrp="1"/>
          </p:cNvSpPr>
          <p:nvPr/>
        </p:nvSpPr>
        <p:spPr>
          <a:xfrm xmlns:a="http://schemas.openxmlformats.org/drawingml/2006/main">
            <a:off x="80010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Inspect raw views</a:t>
            </a:r>
          </a:p>
        </p:txBody>
      </p:sp>
      <p:sp>
        <p:nvSpPr>
          <p:cNvPr id="8" name="">
            <a:extLst xmlns:a="http://schemas.openxmlformats.org/drawingml/2006/main">
              <a:ext uri="{FF2B5EF4-FFF2-40B4-BE49-F238E27FC236}">
                <a16:creationId xmlns:a16="http://schemas.microsoft.com/office/drawing/2014/main" id="{0AB28BBA-D6F0-487B-925F-4BE0EC74EC83}"/>
              </a:ext>
            </a:extLst>
          </p:cNvPr>
          <p:cNvSpPr>
            <a:spLocks xmlns:a="http://schemas.openxmlformats.org/drawingml/2006/main" noGrp="1"/>
          </p:cNvSpPr>
          <p:nvPr/>
        </p:nvSpPr>
        <p:spPr>
          <a:xfrm xmlns:a="http://schemas.openxmlformats.org/drawingml/2006/main">
            <a:off x="80010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Keep source columns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row meanings.</a:t>
            </a:r>
          </a:p>
        </p:txBody>
      </p:sp>
      <p:sp>
        <p:nvSpPr>
          <p:cNvPr id="9" name="">
            <a:extLst xmlns:a="http://schemas.openxmlformats.org/drawingml/2006/main">
              <a:ext uri="{FF2B5EF4-FFF2-40B4-BE49-F238E27FC236}">
                <a16:creationId xmlns:a16="http://schemas.microsoft.com/office/drawing/2014/main" id="{20266FBA-A844-4611-BC18-48A530B557F3}"/>
              </a:ext>
            </a:extLst>
          </p:cNvPr>
          <p:cNvSpPr>
            <a:spLocks xmlns:a="http://schemas.openxmlformats.org/drawingml/2006/main" noGrp="1"/>
          </p:cNvSpPr>
          <p:nvPr/>
        </p:nvSpPr>
        <p:spPr>
          <a:xfrm xmlns:a="http://schemas.openxmlformats.org/drawingml/2006/main">
            <a:off x="325755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FA844AB-422B-4231-A40A-057479A99AB5}"/>
              </a:ext>
            </a:extLst>
          </p:cNvPr>
          <p:cNvSpPr>
            <a:spLocks xmlns:a="http://schemas.openxmlformats.org/drawingml/2006/main" noGrp="1"/>
          </p:cNvSpPr>
          <p:nvPr/>
        </p:nvSpPr>
        <p:spPr>
          <a:xfrm xmlns:a="http://schemas.openxmlformats.org/drawingml/2006/main">
            <a:off x="340042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3698CEF-7711-47E9-B4EA-38252C804169}"/>
              </a:ext>
            </a:extLst>
          </p:cNvPr>
          <p:cNvSpPr>
            <a:spLocks xmlns:a="http://schemas.openxmlformats.org/drawingml/2006/main" noGrp="1"/>
          </p:cNvSpPr>
          <p:nvPr/>
        </p:nvSpPr>
        <p:spPr>
          <a:xfrm xmlns:a="http://schemas.openxmlformats.org/drawingml/2006/main">
            <a:off x="340042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2DF6A7-AEB9-41A2-A375-DA2589D4B2CE}"/>
              </a:ext>
            </a:extLst>
          </p:cNvPr>
          <p:cNvSpPr>
            <a:spLocks xmlns:a="http://schemas.openxmlformats.org/drawingml/2006/main" noGrp="1"/>
          </p:cNvSpPr>
          <p:nvPr/>
        </p:nvSpPr>
        <p:spPr>
          <a:xfrm xmlns:a="http://schemas.openxmlformats.org/drawingml/2006/main">
            <a:off x="359092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Define the customer clock</a:t>
            </a:r>
          </a:p>
        </p:txBody>
      </p:sp>
      <p:sp>
        <p:nvSpPr>
          <p:cNvPr id="13" name="">
            <a:extLst xmlns:a="http://schemas.openxmlformats.org/drawingml/2006/main">
              <a:ext uri="{FF2B5EF4-FFF2-40B4-BE49-F238E27FC236}">
                <a16:creationId xmlns:a16="http://schemas.microsoft.com/office/drawing/2014/main" id="{22BCB63E-97C9-43CA-8DD3-BCA245540569}"/>
              </a:ext>
            </a:extLst>
          </p:cNvPr>
          <p:cNvSpPr>
            <a:spLocks xmlns:a="http://schemas.openxmlformats.org/drawingml/2006/main" noGrp="1"/>
          </p:cNvSpPr>
          <p:nvPr/>
        </p:nvSpPr>
        <p:spPr>
          <a:xfrm xmlns:a="http://schemas.openxmlformats.org/drawingml/2006/main">
            <a:off x="359092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First paid month sets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cohort age index 0.</a:t>
            </a:r>
          </a:p>
        </p:txBody>
      </p:sp>
      <p:sp>
        <p:nvSpPr>
          <p:cNvPr id="14" name="">
            <a:extLst xmlns:a="http://schemas.openxmlformats.org/drawingml/2006/main">
              <a:ext uri="{FF2B5EF4-FFF2-40B4-BE49-F238E27FC236}">
                <a16:creationId xmlns:a16="http://schemas.microsoft.com/office/drawing/2014/main" id="{7A91A66F-C93F-4C0D-A17C-2EB60A3259F5}"/>
              </a:ext>
            </a:extLst>
          </p:cNvPr>
          <p:cNvSpPr>
            <a:spLocks xmlns:a="http://schemas.openxmlformats.org/drawingml/2006/main" noGrp="1"/>
          </p:cNvSpPr>
          <p:nvPr/>
        </p:nvSpPr>
        <p:spPr>
          <a:xfrm xmlns:a="http://schemas.openxmlformats.org/drawingml/2006/main">
            <a:off x="6048375"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86BD61C-AB2A-4DCE-B94B-7B740802B8FE}"/>
              </a:ext>
            </a:extLst>
          </p:cNvPr>
          <p:cNvSpPr>
            <a:spLocks xmlns:a="http://schemas.openxmlformats.org/drawingml/2006/main" noGrp="1"/>
          </p:cNvSpPr>
          <p:nvPr/>
        </p:nvSpPr>
        <p:spPr>
          <a:xfrm xmlns:a="http://schemas.openxmlformats.org/drawingml/2006/main">
            <a:off x="619125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F761523-74EC-4D6B-9C07-BFFDC50611EF}"/>
              </a:ext>
            </a:extLst>
          </p:cNvPr>
          <p:cNvSpPr>
            <a:spLocks xmlns:a="http://schemas.openxmlformats.org/drawingml/2006/main" noGrp="1"/>
          </p:cNvSpPr>
          <p:nvPr/>
        </p:nvSpPr>
        <p:spPr>
          <a:xfrm xmlns:a="http://schemas.openxmlformats.org/drawingml/2006/main">
            <a:off x="619125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E698B38-71B2-4167-971F-2F5D657C6683}"/>
              </a:ext>
            </a:extLst>
          </p:cNvPr>
          <p:cNvSpPr>
            <a:spLocks xmlns:a="http://schemas.openxmlformats.org/drawingml/2006/main" noGrp="1"/>
          </p:cNvSpPr>
          <p:nvPr/>
        </p:nvSpPr>
        <p:spPr>
          <a:xfrm xmlns:a="http://schemas.openxmlformats.org/drawingml/2006/main">
            <a:off x="638175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Build SQL outputs</a:t>
            </a:r>
          </a:p>
        </p:txBody>
      </p:sp>
      <p:sp>
        <p:nvSpPr>
          <p:cNvPr id="18" name="">
            <a:extLst xmlns:a="http://schemas.openxmlformats.org/drawingml/2006/main">
              <a:ext uri="{FF2B5EF4-FFF2-40B4-BE49-F238E27FC236}">
                <a16:creationId xmlns:a16="http://schemas.microsoft.com/office/drawing/2014/main" id="{922C3192-3ED1-4C1F-B6D8-DE65440415C3}"/>
              </a:ext>
            </a:extLst>
          </p:cNvPr>
          <p:cNvSpPr>
            <a:spLocks xmlns:a="http://schemas.openxmlformats.org/drawingml/2006/main" noGrp="1"/>
          </p:cNvSpPr>
          <p:nvPr/>
        </p:nvSpPr>
        <p:spPr>
          <a:xfrm xmlns:a="http://schemas.openxmlformats.org/drawingml/2006/main">
            <a:off x="638175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Save the exact SQL</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ordered results.</a:t>
            </a:r>
          </a:p>
        </p:txBody>
      </p:sp>
      <p:sp>
        <p:nvSpPr>
          <p:cNvPr id="19" name="">
            <a:extLst xmlns:a="http://schemas.openxmlformats.org/drawingml/2006/main">
              <a:ext uri="{FF2B5EF4-FFF2-40B4-BE49-F238E27FC236}">
                <a16:creationId xmlns:a16="http://schemas.microsoft.com/office/drawing/2014/main" id="{E89D8D81-2A38-4648-AA85-F06BD48AE3FC}"/>
              </a:ext>
            </a:extLst>
          </p:cNvPr>
          <p:cNvSpPr>
            <a:spLocks xmlns:a="http://schemas.openxmlformats.org/drawingml/2006/main" noGrp="1"/>
          </p:cNvSpPr>
          <p:nvPr/>
        </p:nvSpPr>
        <p:spPr>
          <a:xfrm xmlns:a="http://schemas.openxmlformats.org/drawingml/2006/main">
            <a:off x="883920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933E711-9D4D-4F10-AC7F-76E67A5C7F1B}"/>
              </a:ext>
            </a:extLst>
          </p:cNvPr>
          <p:cNvSpPr>
            <a:spLocks xmlns:a="http://schemas.openxmlformats.org/drawingml/2006/main" noGrp="1"/>
          </p:cNvSpPr>
          <p:nvPr/>
        </p:nvSpPr>
        <p:spPr>
          <a:xfrm xmlns:a="http://schemas.openxmlformats.org/drawingml/2006/main">
            <a:off x="898207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0A9D74D-C8F2-43BC-9964-A8CEC9F2DC39}"/>
              </a:ext>
            </a:extLst>
          </p:cNvPr>
          <p:cNvSpPr>
            <a:spLocks xmlns:a="http://schemas.openxmlformats.org/drawingml/2006/main" noGrp="1"/>
          </p:cNvSpPr>
          <p:nvPr/>
        </p:nvSpPr>
        <p:spPr>
          <a:xfrm xmlns:a="http://schemas.openxmlformats.org/drawingml/2006/main">
            <a:off x="898207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04F0D49-1877-4468-A596-0EE86C7247B5}"/>
              </a:ext>
            </a:extLst>
          </p:cNvPr>
          <p:cNvSpPr>
            <a:spLocks xmlns:a="http://schemas.openxmlformats.org/drawingml/2006/main" noGrp="1"/>
          </p:cNvSpPr>
          <p:nvPr/>
        </p:nvSpPr>
        <p:spPr>
          <a:xfrm xmlns:a="http://schemas.openxmlformats.org/drawingml/2006/main">
            <a:off x="917257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Reconcile the totals</a:t>
            </a:r>
          </a:p>
        </p:txBody>
      </p:sp>
      <p:sp>
        <p:nvSpPr>
          <p:cNvPr id="23" name="">
            <a:extLst xmlns:a="http://schemas.openxmlformats.org/drawingml/2006/main">
              <a:ext uri="{FF2B5EF4-FFF2-40B4-BE49-F238E27FC236}">
                <a16:creationId xmlns:a16="http://schemas.microsoft.com/office/drawing/2014/main" id="{F8B9E658-4DE8-4112-84D1-81C5B9F92671}"/>
              </a:ext>
            </a:extLst>
          </p:cNvPr>
          <p:cNvSpPr>
            <a:spLocks xmlns:a="http://schemas.openxmlformats.org/drawingml/2006/main" noGrp="1"/>
          </p:cNvSpPr>
          <p:nvPr/>
        </p:nvSpPr>
        <p:spPr>
          <a:xfrm xmlns:a="http://schemas.openxmlformats.org/drawingml/2006/main">
            <a:off x="917257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duplicate money;</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missing controls.</a:t>
            </a:r>
          </a:p>
        </p:txBody>
      </p:sp>
      <p:sp>
        <p:nvSpPr>
          <p:cNvPr id="24" name="">
            <a:extLst xmlns:a="http://schemas.openxmlformats.org/drawingml/2006/main">
              <a:ext uri="{FF2B5EF4-FFF2-40B4-BE49-F238E27FC236}">
                <a16:creationId xmlns:a16="http://schemas.microsoft.com/office/drawing/2014/main" id="{2CD3789F-2017-4698-9B58-B8496EB48962}"/>
              </a:ext>
            </a:extLst>
          </p:cNvPr>
          <p:cNvSpPr>
            <a:spLocks xmlns:a="http://schemas.openxmlformats.org/drawingml/2006/main" noGrp="1"/>
          </p:cNvSpPr>
          <p:nvPr/>
        </p:nvSpPr>
        <p:spPr>
          <a:xfrm xmlns:a="http://schemas.openxmlformats.org/drawingml/2006/main">
            <a:off x="609600" y="3743325"/>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Figure 1. From source views to reconciled cohort evidence</a:t>
            </a:r>
          </a:p>
        </p:txBody>
      </p:sp>
      <p:sp>
        <p:nvSpPr>
          <p:cNvPr id="25" name="">
            <a:extLst xmlns:a="http://schemas.openxmlformats.org/drawingml/2006/main">
              <a:ext uri="{FF2B5EF4-FFF2-40B4-BE49-F238E27FC236}">
                <a16:creationId xmlns:a16="http://schemas.microsoft.com/office/drawing/2014/main" id="{933FEFB4-E5AC-4D28-99D6-A4CE073CE975}"/>
              </a:ext>
            </a:extLst>
          </p:cNvPr>
          <p:cNvSpPr>
            <a:spLocks xmlns:a="http://schemas.openxmlformats.org/drawingml/2006/main" noGrp="1"/>
          </p:cNvSpPr>
          <p:nvPr/>
        </p:nvSpPr>
        <p:spPr>
          <a:xfrm xmlns:a="http://schemas.openxmlformats.org/drawingml/2006/main">
            <a:off x="609600" y="405765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1">
                <a:solidFill>
                  <a:srgbClr val="3191B5"/>
                </a:solidFill>
                <a:latin typeface="Arial"/>
                <a:ea typeface="Arial"/>
                <a:cs typeface="Arial"/>
              </a:defRPr>
            </a:defPPr>
            <a:lvl1pPr>
              <a:defRPr sz="1650" b="1">
                <a:solidFill>
                  <a:srgbClr val="3191B5"/>
                </a:solidFill>
                <a:latin typeface="Arial"/>
                <a:ea typeface="Arial"/>
                <a:cs typeface="Arial"/>
              </a:defRPr>
            </a:lvl1pPr>
            <a:lvl2pPr>
              <a:defRPr sz="1650" b="1">
                <a:solidFill>
                  <a:srgbClr val="3191B5"/>
                </a:solidFill>
                <a:latin typeface="Arial"/>
                <a:ea typeface="Arial"/>
                <a:cs typeface="Arial"/>
              </a:defRPr>
            </a:lvl2pPr>
            <a:lvl3pPr>
              <a:defRPr sz="1650" b="1">
                <a:solidFill>
                  <a:srgbClr val="3191B5"/>
                </a:solidFill>
                <a:latin typeface="Arial"/>
                <a:ea typeface="Arial"/>
                <a:cs typeface="Arial"/>
              </a:defRPr>
            </a:lvl3pPr>
            <a:lvl4pPr>
              <a:defRPr sz="1650" b="1">
                <a:solidFill>
                  <a:srgbClr val="3191B5"/>
                </a:solidFill>
                <a:latin typeface="Arial"/>
                <a:ea typeface="Arial"/>
                <a:cs typeface="Arial"/>
              </a:defRPr>
            </a:lvl4pPr>
            <a:lvl5pPr>
              <a:defRPr sz="1650" b="1">
                <a:solidFill>
                  <a:srgbClr val="3191B5"/>
                </a:solidFill>
                <a:latin typeface="Arial"/>
                <a:ea typeface="Arial"/>
                <a:cs typeface="Arial"/>
              </a:defRPr>
            </a:lvl5pPr>
            <a:lvl6pPr>
              <a:defRPr sz="1650" b="1">
                <a:solidFill>
                  <a:srgbClr val="3191B5"/>
                </a:solidFill>
                <a:latin typeface="Arial"/>
                <a:ea typeface="Arial"/>
                <a:cs typeface="Arial"/>
              </a:defRPr>
            </a:lvl6pPr>
            <a:lvl7pPr>
              <a:defRPr sz="1650" b="1">
                <a:solidFill>
                  <a:srgbClr val="3191B5"/>
                </a:solidFill>
                <a:latin typeface="Arial"/>
                <a:ea typeface="Arial"/>
                <a:cs typeface="Arial"/>
              </a:defRPr>
            </a:lvl7pPr>
            <a:lvl8pPr>
              <a:defRPr sz="1650" b="1">
                <a:solidFill>
                  <a:srgbClr val="3191B5"/>
                </a:solidFill>
                <a:latin typeface="Arial"/>
                <a:ea typeface="Arial"/>
                <a:cs typeface="Arial"/>
              </a:defRPr>
            </a:lvl8pPr>
            <a:lvl9pPr>
              <a:defRPr sz="1650" b="1">
                <a:solidFill>
                  <a:srgbClr val="3191B5"/>
                </a:solidFill>
                <a:latin typeface="Arial"/>
                <a:ea typeface="Arial"/>
                <a:cs typeface="Arial"/>
              </a:defRPr>
            </a:lvl9pPr>
          </a:lstStyle>
          <a:p xmlns:a="http://schemas.openxmlformats.org/drawingml/2006/main">
            <a:pPr>
              <a:defRPr sz="1650" b="1">
                <a:solidFill>
                  <a:srgbClr val="3191B5"/>
                </a:solidFill>
                <a:latin typeface="Arial"/>
                <a:ea typeface="Arial"/>
                <a:cs typeface="Arial"/>
              </a:defRPr>
            </a:pPr>
            <a:r>
              <a:rPr sz="1650" b="1">
                <a:solidFill>
                  <a:srgbClr val="3191B5"/>
                </a:solidFill>
                <a:latin typeface="Arial"/>
                <a:ea typeface="Arial"/>
                <a:cs typeface="Arial"/>
              </a:rPr>
              <a:t>Prompt to try</a:t>
            </a:r>
          </a:p>
        </p:txBody>
      </p:sp>
      <p:sp>
        <p:nvSpPr>
          <p:cNvPr id="26" name="">
            <a:extLst xmlns:a="http://schemas.openxmlformats.org/drawingml/2006/main">
              <a:ext uri="{FF2B5EF4-FFF2-40B4-BE49-F238E27FC236}">
                <a16:creationId xmlns:a16="http://schemas.microsoft.com/office/drawing/2014/main" id="{4AA6EB10-AEF1-4C62-A07A-CEA2E9EC9FE5}"/>
              </a:ext>
            </a:extLst>
          </p:cNvPr>
          <p:cNvSpPr>
            <a:spLocks xmlns:a="http://schemas.openxmlformats.org/drawingml/2006/main" noGrp="1"/>
          </p:cNvSpPr>
          <p:nvPr/>
        </p:nvSpPr>
        <p:spPr>
          <a:xfrm xmlns:a="http://schemas.openxmlformats.org/drawingml/2006/main">
            <a:off x="609600" y="4467225"/>
            <a:ext cx="10972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“Show the SQL that calculates retained customers and contribution by joining month and customer age. Explain the denominator and preserve unobserved future ages as missing.”</a:t>
            </a:r>
          </a:p>
        </p:txBody>
      </p:sp>
      <p:sp>
        <p:nvSpPr>
          <p:cNvPr id="27" name="">
            <a:extLst xmlns:a="http://schemas.openxmlformats.org/drawingml/2006/main">
              <a:ext uri="{FF2B5EF4-FFF2-40B4-BE49-F238E27FC236}">
                <a16:creationId xmlns:a16="http://schemas.microsoft.com/office/drawing/2014/main" id="{FFAC051F-E42E-420B-8F65-34A53A1C27C6}"/>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33AF0E9-92DB-4944-A78A-3A857435C009}"/>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 SQL script makes a calculation inspectable; the data definitions determine whether it answers the right question.</a:t>
            </a:r>
          </a:p>
        </p:txBody>
      </p:sp>
    </p:spTree>
    <p:extLst>
      <p:ext uri="{BB962C8B-B14F-4D97-AF65-F5344CB8AC3E}">
        <p14:creationId xmlns:p14="http://schemas.microsoft.com/office/powerpoint/2010/main" val="19870364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95D29-FC94-4E3F-BA95-160668D5FEF7}"/>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3091A9-2955-4F9A-AD4D-CEA1DDEA7391}"/>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A cohort follows the same original customers</a:t>
            </a:r>
          </a:p>
        </p:txBody>
      </p:sp>
      <p:sp>
        <p:nvSpPr>
          <p:cNvPr id="3" name="">
            <a:extLst xmlns:a="http://schemas.openxmlformats.org/drawingml/2006/main">
              <a:ext uri="{FF2B5EF4-FFF2-40B4-BE49-F238E27FC236}">
                <a16:creationId xmlns:a16="http://schemas.microsoft.com/office/drawing/2014/main" id="{BABD57A8-84E1-4119-AFD7-7A0279A2761E}"/>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3BEDD81C-2FC7-4C25-8EB8-266696FF7F0E}"/>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9078A918-20A1-4986-8238-D4B7A3661276}"/>
              </a:ext>
            </a:extLst>
          </p:cNvPr>
          <p:cNvSpPr>
            <a:spLocks xmlns:a="http://schemas.openxmlformats.org/drawingml/2006/main" noGrp="1"/>
          </p:cNvSpPr>
          <p:nvPr/>
        </p:nvSpPr>
        <p:spPr>
          <a:xfrm xmlns:a="http://schemas.openxmlformats.org/drawingml/2006/main">
            <a:off x="609600" y="1381125"/>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Table 3. Retained share by joining cohort and customer age (months)</a:t>
            </a:r>
          </a:p>
        </p:txBody>
      </p:sp>
      <p:graphicFrame>
        <p:nvGraphicFramePr>
          <p:cNvPr id="6" name="">
            <a:extLst xmlns:a="http://schemas.openxmlformats.org/drawingml/2006/main">
              <a:ext uri="{FF2B5EF4-FFF2-40B4-BE49-F238E27FC236}">
                <a16:creationId xmlns:a16="http://schemas.microsoft.com/office/drawing/2014/main" id="{FEBC066B-D962-4025-B8A8-D9E483B9B9E6}"/>
              </a:ext>
            </a:extLst>
          </p:cNvPr>
          <p:cNvGraphicFramePr/>
          <p:nvPr/>
        </p:nvGraphicFramePr>
        <p:xfrm>
          <a:off xmlns:a="http://schemas.openxmlformats.org/drawingml/2006/main" x="609600" y="1685925"/>
          <a:ext xmlns:a="http://schemas.openxmlformats.org/drawingml/2006/main" cx="10972800" cy="4048125"/>
        </p:xfrm>
        <a:graphic xmlns:a="http://schemas.openxmlformats.org/drawingml/2006/main">
          <a:graphicData uri="http://schemas.openxmlformats.org/drawingml/2006/table">
            <a:tbl>
              <a:tblPr/>
              <a:tblGrid>
                <a:gridCol w="1143000"/>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gridCol w="409575"/>
              </a:tblGrid>
              <a:tr h="161925">
                <a:tc>
                  <a:txBody>
                    <a:bodyPr/>
                    <a:lstStyle/>
                    <a:p>
                      <a:r>
                        <a:rPr sz="938" b="1">
                          <a:solidFill>
                            <a:srgbClr val="FFFFFF"/>
                          </a:solidFill>
                          <a:latin typeface="Arial"/>
                          <a:ea typeface="Arial"/>
                          <a:cs typeface="Arial"/>
                        </a:rPr>
                        <a:t>Cohort</a:t>
                      </a:r>
                    </a:p>
                  </a:txBody>
                  <a:tcPr marL="28575" marR="28575" marT="7620" marB="7620">
                    <a:solidFill>
                      <a:srgbClr val="172D3C"/>
                    </a:solidFill>
                  </a:tcPr>
                </a:tc>
                <a:tc>
                  <a:txBody>
                    <a:bodyPr/>
                    <a:lstStyle/>
                    <a:p>
                      <a:r>
                        <a:rPr sz="938" b="1">
                          <a:solidFill>
                            <a:srgbClr val="FFFFFF"/>
                          </a:solidFill>
                          <a:latin typeface="Arial"/>
                          <a:ea typeface="Arial"/>
                          <a:cs typeface="Arial"/>
                        </a:rPr>
                        <a:t>0</a:t>
                      </a:r>
                    </a:p>
                  </a:txBody>
                  <a:tcPr marL="28575" marR="28575" marT="7620" marB="7620">
                    <a:solidFill>
                      <a:srgbClr val="172D3C"/>
                    </a:solidFill>
                  </a:tcPr>
                </a:tc>
                <a:tc>
                  <a:txBody>
                    <a:bodyPr/>
                    <a:lstStyle/>
                    <a:p>
                      <a:r>
                        <a:rPr sz="938" b="1">
                          <a:solidFill>
                            <a:srgbClr val="FFFFFF"/>
                          </a:solidFill>
                          <a:latin typeface="Arial"/>
                          <a:ea typeface="Arial"/>
                          <a:cs typeface="Arial"/>
                        </a:rPr>
                        <a:t>1</a:t>
                      </a:r>
                    </a:p>
                  </a:txBody>
                  <a:tcPr marL="28575" marR="28575" marT="7620" marB="7620">
                    <a:solidFill>
                      <a:srgbClr val="172D3C"/>
                    </a:solidFill>
                  </a:tcPr>
                </a:tc>
                <a:tc>
                  <a:txBody>
                    <a:bodyPr/>
                    <a:lstStyle/>
                    <a:p>
                      <a:r>
                        <a:rPr sz="938" b="1">
                          <a:solidFill>
                            <a:srgbClr val="FFFFFF"/>
                          </a:solidFill>
                          <a:latin typeface="Arial"/>
                          <a:ea typeface="Arial"/>
                          <a:cs typeface="Arial"/>
                        </a:rPr>
                        <a:t>2</a:t>
                      </a:r>
                    </a:p>
                  </a:txBody>
                  <a:tcPr marL="28575" marR="28575" marT="7620" marB="7620">
                    <a:solidFill>
                      <a:srgbClr val="172D3C"/>
                    </a:solidFill>
                  </a:tcPr>
                </a:tc>
                <a:tc>
                  <a:txBody>
                    <a:bodyPr/>
                    <a:lstStyle/>
                    <a:p>
                      <a:r>
                        <a:rPr sz="938" b="1">
                          <a:solidFill>
                            <a:srgbClr val="FFFFFF"/>
                          </a:solidFill>
                          <a:latin typeface="Arial"/>
                          <a:ea typeface="Arial"/>
                          <a:cs typeface="Arial"/>
                        </a:rPr>
                        <a:t>3</a:t>
                      </a:r>
                    </a:p>
                  </a:txBody>
                  <a:tcPr marL="28575" marR="28575" marT="7620" marB="7620">
                    <a:solidFill>
                      <a:srgbClr val="172D3C"/>
                    </a:solidFill>
                  </a:tcPr>
                </a:tc>
                <a:tc>
                  <a:txBody>
                    <a:bodyPr/>
                    <a:lstStyle/>
                    <a:p>
                      <a:r>
                        <a:rPr sz="938" b="1">
                          <a:solidFill>
                            <a:srgbClr val="FFFFFF"/>
                          </a:solidFill>
                          <a:latin typeface="Arial"/>
                          <a:ea typeface="Arial"/>
                          <a:cs typeface="Arial"/>
                        </a:rPr>
                        <a:t>4</a:t>
                      </a:r>
                    </a:p>
                  </a:txBody>
                  <a:tcPr marL="28575" marR="28575" marT="7620" marB="7620">
                    <a:solidFill>
                      <a:srgbClr val="172D3C"/>
                    </a:solidFill>
                  </a:tcPr>
                </a:tc>
                <a:tc>
                  <a:txBody>
                    <a:bodyPr/>
                    <a:lstStyle/>
                    <a:p>
                      <a:r>
                        <a:rPr sz="938" b="1">
                          <a:solidFill>
                            <a:srgbClr val="FFFFFF"/>
                          </a:solidFill>
                          <a:latin typeface="Arial"/>
                          <a:ea typeface="Arial"/>
                          <a:cs typeface="Arial"/>
                        </a:rPr>
                        <a:t>5</a:t>
                      </a:r>
                    </a:p>
                  </a:txBody>
                  <a:tcPr marL="28575" marR="28575" marT="7620" marB="7620">
                    <a:solidFill>
                      <a:srgbClr val="172D3C"/>
                    </a:solidFill>
                  </a:tcPr>
                </a:tc>
                <a:tc>
                  <a:txBody>
                    <a:bodyPr/>
                    <a:lstStyle/>
                    <a:p>
                      <a:r>
                        <a:rPr sz="938" b="1">
                          <a:solidFill>
                            <a:srgbClr val="FFFFFF"/>
                          </a:solidFill>
                          <a:latin typeface="Arial"/>
                          <a:ea typeface="Arial"/>
                          <a:cs typeface="Arial"/>
                        </a:rPr>
                        <a:t>6</a:t>
                      </a:r>
                    </a:p>
                  </a:txBody>
                  <a:tcPr marL="28575" marR="28575" marT="7620" marB="7620">
                    <a:solidFill>
                      <a:srgbClr val="172D3C"/>
                    </a:solidFill>
                  </a:tcPr>
                </a:tc>
                <a:tc>
                  <a:txBody>
                    <a:bodyPr/>
                    <a:lstStyle/>
                    <a:p>
                      <a:r>
                        <a:rPr sz="938" b="1">
                          <a:solidFill>
                            <a:srgbClr val="FFFFFF"/>
                          </a:solidFill>
                          <a:latin typeface="Arial"/>
                          <a:ea typeface="Arial"/>
                          <a:cs typeface="Arial"/>
                        </a:rPr>
                        <a:t>7</a:t>
                      </a:r>
                    </a:p>
                  </a:txBody>
                  <a:tcPr marL="28575" marR="28575" marT="7620" marB="7620">
                    <a:solidFill>
                      <a:srgbClr val="172D3C"/>
                    </a:solidFill>
                  </a:tcPr>
                </a:tc>
                <a:tc>
                  <a:txBody>
                    <a:bodyPr/>
                    <a:lstStyle/>
                    <a:p>
                      <a:r>
                        <a:rPr sz="938" b="1">
                          <a:solidFill>
                            <a:srgbClr val="FFFFFF"/>
                          </a:solidFill>
                          <a:latin typeface="Arial"/>
                          <a:ea typeface="Arial"/>
                          <a:cs typeface="Arial"/>
                        </a:rPr>
                        <a:t>8</a:t>
                      </a:r>
                    </a:p>
                  </a:txBody>
                  <a:tcPr marL="28575" marR="28575" marT="7620" marB="7620">
                    <a:solidFill>
                      <a:srgbClr val="172D3C"/>
                    </a:solidFill>
                  </a:tcPr>
                </a:tc>
                <a:tc>
                  <a:txBody>
                    <a:bodyPr/>
                    <a:lstStyle/>
                    <a:p>
                      <a:r>
                        <a:rPr sz="938" b="1">
                          <a:solidFill>
                            <a:srgbClr val="FFFFFF"/>
                          </a:solidFill>
                          <a:latin typeface="Arial"/>
                          <a:ea typeface="Arial"/>
                          <a:cs typeface="Arial"/>
                        </a:rPr>
                        <a:t>9</a:t>
                      </a:r>
                    </a:p>
                  </a:txBody>
                  <a:tcPr marL="28575" marR="28575" marT="7620" marB="7620">
                    <a:solidFill>
                      <a:srgbClr val="172D3C"/>
                    </a:solidFill>
                  </a:tcPr>
                </a:tc>
                <a:tc>
                  <a:txBody>
                    <a:bodyPr/>
                    <a:lstStyle/>
                    <a:p>
                      <a:r>
                        <a:rPr sz="938" b="1">
                          <a:solidFill>
                            <a:srgbClr val="FFFFFF"/>
                          </a:solidFill>
                          <a:latin typeface="Arial"/>
                          <a:ea typeface="Arial"/>
                          <a:cs typeface="Arial"/>
                        </a:rPr>
                        <a:t>10</a:t>
                      </a:r>
                    </a:p>
                  </a:txBody>
                  <a:tcPr marL="28575" marR="28575" marT="7620" marB="7620">
                    <a:solidFill>
                      <a:srgbClr val="172D3C"/>
                    </a:solidFill>
                  </a:tcPr>
                </a:tc>
                <a:tc>
                  <a:txBody>
                    <a:bodyPr/>
                    <a:lstStyle/>
                    <a:p>
                      <a:r>
                        <a:rPr sz="938" b="1">
                          <a:solidFill>
                            <a:srgbClr val="FFFFFF"/>
                          </a:solidFill>
                          <a:latin typeface="Arial"/>
                          <a:ea typeface="Arial"/>
                          <a:cs typeface="Arial"/>
                        </a:rPr>
                        <a:t>11</a:t>
                      </a:r>
                    </a:p>
                  </a:txBody>
                  <a:tcPr marL="28575" marR="28575" marT="7620" marB="7620">
                    <a:solidFill>
                      <a:srgbClr val="172D3C"/>
                    </a:solidFill>
                  </a:tcPr>
                </a:tc>
                <a:tc>
                  <a:txBody>
                    <a:bodyPr/>
                    <a:lstStyle/>
                    <a:p>
                      <a:r>
                        <a:rPr sz="938" b="1">
                          <a:solidFill>
                            <a:srgbClr val="FFFFFF"/>
                          </a:solidFill>
                          <a:latin typeface="Arial"/>
                          <a:ea typeface="Arial"/>
                          <a:cs typeface="Arial"/>
                        </a:rPr>
                        <a:t>12</a:t>
                      </a:r>
                    </a:p>
                  </a:txBody>
                  <a:tcPr marL="28575" marR="28575" marT="7620" marB="7620">
                    <a:solidFill>
                      <a:srgbClr val="172D3C"/>
                    </a:solidFill>
                  </a:tcPr>
                </a:tc>
                <a:tc>
                  <a:txBody>
                    <a:bodyPr/>
                    <a:lstStyle/>
                    <a:p>
                      <a:r>
                        <a:rPr sz="938" b="1">
                          <a:solidFill>
                            <a:srgbClr val="FFFFFF"/>
                          </a:solidFill>
                          <a:latin typeface="Arial"/>
                          <a:ea typeface="Arial"/>
                          <a:cs typeface="Arial"/>
                        </a:rPr>
                        <a:t>13</a:t>
                      </a:r>
                    </a:p>
                  </a:txBody>
                  <a:tcPr marL="28575" marR="28575" marT="7620" marB="7620">
                    <a:solidFill>
                      <a:srgbClr val="172D3C"/>
                    </a:solidFill>
                  </a:tcPr>
                </a:tc>
                <a:tc>
                  <a:txBody>
                    <a:bodyPr/>
                    <a:lstStyle/>
                    <a:p>
                      <a:r>
                        <a:rPr sz="938" b="1">
                          <a:solidFill>
                            <a:srgbClr val="FFFFFF"/>
                          </a:solidFill>
                          <a:latin typeface="Arial"/>
                          <a:ea typeface="Arial"/>
                          <a:cs typeface="Arial"/>
                        </a:rPr>
                        <a:t>14</a:t>
                      </a:r>
                    </a:p>
                  </a:txBody>
                  <a:tcPr marL="28575" marR="28575" marT="7620" marB="7620">
                    <a:solidFill>
                      <a:srgbClr val="172D3C"/>
                    </a:solidFill>
                  </a:tcPr>
                </a:tc>
                <a:tc>
                  <a:txBody>
                    <a:bodyPr/>
                    <a:lstStyle/>
                    <a:p>
                      <a:r>
                        <a:rPr sz="938" b="1">
                          <a:solidFill>
                            <a:srgbClr val="FFFFFF"/>
                          </a:solidFill>
                          <a:latin typeface="Arial"/>
                          <a:ea typeface="Arial"/>
                          <a:cs typeface="Arial"/>
                        </a:rPr>
                        <a:t>15</a:t>
                      </a:r>
                    </a:p>
                  </a:txBody>
                  <a:tcPr marL="28575" marR="28575" marT="7620" marB="7620">
                    <a:solidFill>
                      <a:srgbClr val="172D3C"/>
                    </a:solidFill>
                  </a:tcPr>
                </a:tc>
                <a:tc>
                  <a:txBody>
                    <a:bodyPr/>
                    <a:lstStyle/>
                    <a:p>
                      <a:r>
                        <a:rPr sz="938" b="1">
                          <a:solidFill>
                            <a:srgbClr val="FFFFFF"/>
                          </a:solidFill>
                          <a:latin typeface="Arial"/>
                          <a:ea typeface="Arial"/>
                          <a:cs typeface="Arial"/>
                        </a:rPr>
                        <a:t>16</a:t>
                      </a:r>
                    </a:p>
                  </a:txBody>
                  <a:tcPr marL="28575" marR="28575" marT="7620" marB="7620">
                    <a:solidFill>
                      <a:srgbClr val="172D3C"/>
                    </a:solidFill>
                  </a:tcPr>
                </a:tc>
                <a:tc>
                  <a:txBody>
                    <a:bodyPr/>
                    <a:lstStyle/>
                    <a:p>
                      <a:r>
                        <a:rPr sz="938" b="1">
                          <a:solidFill>
                            <a:srgbClr val="FFFFFF"/>
                          </a:solidFill>
                          <a:latin typeface="Arial"/>
                          <a:ea typeface="Arial"/>
                          <a:cs typeface="Arial"/>
                        </a:rPr>
                        <a:t>17</a:t>
                      </a:r>
                    </a:p>
                  </a:txBody>
                  <a:tcPr marL="28575" marR="28575" marT="7620" marB="7620">
                    <a:solidFill>
                      <a:srgbClr val="172D3C"/>
                    </a:solidFill>
                  </a:tcPr>
                </a:tc>
                <a:tc>
                  <a:txBody>
                    <a:bodyPr/>
                    <a:lstStyle/>
                    <a:p>
                      <a:r>
                        <a:rPr sz="938" b="1">
                          <a:solidFill>
                            <a:srgbClr val="FFFFFF"/>
                          </a:solidFill>
                          <a:latin typeface="Arial"/>
                          <a:ea typeface="Arial"/>
                          <a:cs typeface="Arial"/>
                        </a:rPr>
                        <a:t>18</a:t>
                      </a:r>
                    </a:p>
                  </a:txBody>
                  <a:tcPr marL="28575" marR="28575" marT="7620" marB="7620">
                    <a:solidFill>
                      <a:srgbClr val="172D3C"/>
                    </a:solidFill>
                  </a:tcPr>
                </a:tc>
                <a:tc>
                  <a:txBody>
                    <a:bodyPr/>
                    <a:lstStyle/>
                    <a:p>
                      <a:r>
                        <a:rPr sz="938" b="1">
                          <a:solidFill>
                            <a:srgbClr val="FFFFFF"/>
                          </a:solidFill>
                          <a:latin typeface="Arial"/>
                          <a:ea typeface="Arial"/>
                          <a:cs typeface="Arial"/>
                        </a:rPr>
                        <a:t>19</a:t>
                      </a:r>
                    </a:p>
                  </a:txBody>
                  <a:tcPr marL="28575" marR="28575" marT="7620" marB="7620">
                    <a:solidFill>
                      <a:srgbClr val="172D3C"/>
                    </a:solidFill>
                  </a:tcPr>
                </a:tc>
                <a:tc>
                  <a:txBody>
                    <a:bodyPr/>
                    <a:lstStyle/>
                    <a:p>
                      <a:r>
                        <a:rPr sz="938" b="1">
                          <a:solidFill>
                            <a:srgbClr val="FFFFFF"/>
                          </a:solidFill>
                          <a:latin typeface="Arial"/>
                          <a:ea typeface="Arial"/>
                          <a:cs typeface="Arial"/>
                        </a:rPr>
                        <a:t>20</a:t>
                      </a:r>
                    </a:p>
                  </a:txBody>
                  <a:tcPr marL="28575" marR="28575" marT="7620" marB="7620">
                    <a:solidFill>
                      <a:srgbClr val="172D3C"/>
                    </a:solidFill>
                  </a:tcPr>
                </a:tc>
                <a:tc>
                  <a:txBody>
                    <a:bodyPr/>
                    <a:lstStyle/>
                    <a:p>
                      <a:r>
                        <a:rPr sz="938" b="1">
                          <a:solidFill>
                            <a:srgbClr val="FFFFFF"/>
                          </a:solidFill>
                          <a:latin typeface="Arial"/>
                          <a:ea typeface="Arial"/>
                          <a:cs typeface="Arial"/>
                        </a:rPr>
                        <a:t>21</a:t>
                      </a:r>
                    </a:p>
                  </a:txBody>
                  <a:tcPr marL="28575" marR="28575" marT="7620" marB="7620">
                    <a:solidFill>
                      <a:srgbClr val="172D3C"/>
                    </a:solidFill>
                  </a:tcPr>
                </a:tc>
                <a:tc>
                  <a:txBody>
                    <a:bodyPr/>
                    <a:lstStyle/>
                    <a:p>
                      <a:r>
                        <a:rPr sz="938" b="1">
                          <a:solidFill>
                            <a:srgbClr val="FFFFFF"/>
                          </a:solidFill>
                          <a:latin typeface="Arial"/>
                          <a:ea typeface="Arial"/>
                          <a:cs typeface="Arial"/>
                        </a:rPr>
                        <a:t>22</a:t>
                      </a:r>
                    </a:p>
                  </a:txBody>
                  <a:tcPr marL="28575" marR="28575" marT="7620" marB="7620">
                    <a:solidFill>
                      <a:srgbClr val="172D3C"/>
                    </a:solidFill>
                  </a:tcPr>
                </a:tc>
                <a:tc>
                  <a:txBody>
                    <a:bodyPr/>
                    <a:lstStyle/>
                    <a:p>
                      <a:r>
                        <a:rPr sz="938" b="1">
                          <a:solidFill>
                            <a:srgbClr val="FFFFFF"/>
                          </a:solidFill>
                          <a:latin typeface="Arial"/>
                          <a:ea typeface="Arial"/>
                          <a:cs typeface="Arial"/>
                        </a:rPr>
                        <a:t>23</a:t>
                      </a:r>
                    </a:p>
                  </a:txBody>
                  <a:tcPr marL="28575" marR="28575" marT="7620" marB="7620">
                    <a:solidFill>
                      <a:srgbClr val="172D3C"/>
                    </a:solidFill>
                  </a:tcPr>
                </a:tc>
              </a:tr>
              <a:tr h="161925">
                <a:tc>
                  <a:txBody>
                    <a:bodyPr/>
                    <a:lstStyle/>
                    <a:p>
                      <a:r>
                        <a:rPr sz="938" b="0">
                          <a:solidFill>
                            <a:srgbClr val="172D3C"/>
                          </a:solidFill>
                          <a:latin typeface="Arial"/>
                          <a:ea typeface="Arial"/>
                          <a:cs typeface="Arial"/>
                        </a:rPr>
                        <a:t>2024-01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86%</a:t>
                      </a:r>
                    </a:p>
                  </a:txBody>
                  <a:tcPr marL="28575" marR="28575" marT="7620" marB="7620">
                    <a:solidFill>
                      <a:srgbClr val="F0F5F6"/>
                    </a:solidFill>
                  </a:tcPr>
                </a:tc>
                <a:tc>
                  <a:txBody>
                    <a:bodyPr/>
                    <a:lstStyle/>
                    <a:p>
                      <a:r>
                        <a:rPr sz="938" b="0">
                          <a:solidFill>
                            <a:srgbClr val="172D3C"/>
                          </a:solidFill>
                          <a:latin typeface="Arial"/>
                          <a:ea typeface="Arial"/>
                          <a:cs typeface="Arial"/>
                        </a:rPr>
                        <a:t>75%</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55%</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35%</a:t>
                      </a:r>
                    </a:p>
                  </a:txBody>
                  <a:tcPr marL="28575" marR="28575" marT="7620" marB="7620">
                    <a:solidFill>
                      <a:srgbClr val="F0F5F6"/>
                    </a:solidFill>
                  </a:tcPr>
                </a:tc>
                <a:tc>
                  <a:txBody>
                    <a:bodyPr/>
                    <a:lstStyle/>
                    <a:p>
                      <a:r>
                        <a:rPr sz="938" b="0">
                          <a:solidFill>
                            <a:srgbClr val="172D3C"/>
                          </a:solidFill>
                          <a:latin typeface="Arial"/>
                          <a:ea typeface="Arial"/>
                          <a:cs typeface="Arial"/>
                        </a:rPr>
                        <a:t>33%</a:t>
                      </a:r>
                    </a:p>
                  </a:txBody>
                  <a:tcPr marL="28575" marR="28575" marT="7620" marB="7620">
                    <a:solidFill>
                      <a:srgbClr val="F0F5F6"/>
                    </a:solidFill>
                  </a:tcPr>
                </a:tc>
                <a:tc>
                  <a:txBody>
                    <a:bodyPr/>
                    <a:lstStyle/>
                    <a:p>
                      <a:r>
                        <a:rPr sz="938" b="0">
                          <a:solidFill>
                            <a:srgbClr val="172D3C"/>
                          </a:solidFill>
                          <a:latin typeface="Arial"/>
                          <a:ea typeface="Arial"/>
                          <a:cs typeface="Arial"/>
                        </a:rPr>
                        <a:t>30%</a:t>
                      </a:r>
                    </a:p>
                  </a:txBody>
                  <a:tcPr marL="28575" marR="28575" marT="7620" marB="7620">
                    <a:solidFill>
                      <a:srgbClr val="F0F5F6"/>
                    </a:solidFill>
                  </a:tcPr>
                </a:tc>
                <a:tc>
                  <a:txBody>
                    <a:bodyPr/>
                    <a:lstStyle/>
                    <a:p>
                      <a:r>
                        <a:rPr sz="938" b="0">
                          <a:solidFill>
                            <a:srgbClr val="172D3C"/>
                          </a:solidFill>
                          <a:latin typeface="Arial"/>
                          <a:ea typeface="Arial"/>
                          <a:cs typeface="Arial"/>
                        </a:rPr>
                        <a:t>26%</a:t>
                      </a:r>
                    </a:p>
                  </a:txBody>
                  <a:tcPr marL="28575" marR="28575" marT="7620" marB="7620">
                    <a:solidFill>
                      <a:srgbClr val="F0F5F6"/>
                    </a:solidFill>
                  </a:tcPr>
                </a:tc>
                <a:tc>
                  <a:txBody>
                    <a:bodyPr/>
                    <a:lstStyle/>
                    <a:p>
                      <a:r>
                        <a:rPr sz="938" b="0">
                          <a:solidFill>
                            <a:srgbClr val="172D3C"/>
                          </a:solidFill>
                          <a:latin typeface="Arial"/>
                          <a:ea typeface="Arial"/>
                          <a:cs typeface="Arial"/>
                        </a:rPr>
                        <a:t>25%</a:t>
                      </a:r>
                    </a:p>
                  </a:txBody>
                  <a:tcPr marL="28575" marR="28575" marT="7620" marB="7620">
                    <a:solidFill>
                      <a:srgbClr val="F0F5F6"/>
                    </a:solidFill>
                  </a:tcPr>
                </a:tc>
                <a:tc>
                  <a:txBody>
                    <a:bodyPr/>
                    <a:lstStyle/>
                    <a:p>
                      <a:r>
                        <a:rPr sz="938" b="0">
                          <a:solidFill>
                            <a:srgbClr val="172D3C"/>
                          </a:solidFill>
                          <a:latin typeface="Arial"/>
                          <a:ea typeface="Arial"/>
                          <a:cs typeface="Arial"/>
                        </a:rPr>
                        <a:t>25%</a:t>
                      </a:r>
                    </a:p>
                  </a:txBody>
                  <a:tcPr marL="28575" marR="28575" marT="7620" marB="7620">
                    <a:solidFill>
                      <a:srgbClr val="F0F5F6"/>
                    </a:solidFill>
                  </a:tcPr>
                </a:tc>
                <a:tc>
                  <a:txBody>
                    <a:bodyPr/>
                    <a:lstStyle/>
                    <a:p>
                      <a:r>
                        <a:rPr sz="938" b="0">
                          <a:solidFill>
                            <a:srgbClr val="172D3C"/>
                          </a:solidFill>
                          <a:latin typeface="Arial"/>
                          <a:ea typeface="Arial"/>
                          <a:cs typeface="Arial"/>
                        </a:rPr>
                        <a:t>24%</a:t>
                      </a:r>
                    </a:p>
                  </a:txBody>
                  <a:tcPr marL="28575" marR="28575" marT="7620" marB="7620">
                    <a:solidFill>
                      <a:srgbClr val="F0F5F6"/>
                    </a:solidFill>
                  </a:tcPr>
                </a:tc>
                <a:tc>
                  <a:txBody>
                    <a:bodyPr/>
                    <a:lstStyle/>
                    <a:p>
                      <a:r>
                        <a:rPr sz="938" b="0">
                          <a:solidFill>
                            <a:srgbClr val="172D3C"/>
                          </a:solidFill>
                          <a:latin typeface="Arial"/>
                          <a:ea typeface="Arial"/>
                          <a:cs typeface="Arial"/>
                        </a:rPr>
                        <a:t>23%</a:t>
                      </a:r>
                    </a:p>
                  </a:txBody>
                  <a:tcPr marL="28575" marR="28575" marT="7620" marB="7620">
                    <a:solidFill>
                      <a:srgbClr val="F0F5F6"/>
                    </a:solidFill>
                  </a:tcPr>
                </a:tc>
                <a:tc>
                  <a:txBody>
                    <a:bodyPr/>
                    <a:lstStyle/>
                    <a:p>
                      <a:r>
                        <a:rPr sz="938" b="0">
                          <a:solidFill>
                            <a:srgbClr val="172D3C"/>
                          </a:solidFill>
                          <a:latin typeface="Arial"/>
                          <a:ea typeface="Arial"/>
                          <a:cs typeface="Arial"/>
                        </a:rPr>
                        <a:t>22%</a:t>
                      </a:r>
                    </a:p>
                  </a:txBody>
                  <a:tcPr marL="28575" marR="28575" marT="7620" marB="7620">
                    <a:solidFill>
                      <a:srgbClr val="F0F5F6"/>
                    </a:solidFill>
                  </a:tcPr>
                </a:tc>
                <a:tc>
                  <a:txBody>
                    <a:bodyPr/>
                    <a:lstStyle/>
                    <a:p>
                      <a:r>
                        <a:rPr sz="938" b="0">
                          <a:solidFill>
                            <a:srgbClr val="172D3C"/>
                          </a:solidFill>
                          <a:latin typeface="Arial"/>
                          <a:ea typeface="Arial"/>
                          <a:cs typeface="Arial"/>
                        </a:rPr>
                        <a:t>22%</a:t>
                      </a:r>
                    </a:p>
                  </a:txBody>
                  <a:tcPr marL="28575" marR="28575" marT="7620" marB="7620">
                    <a:solidFill>
                      <a:srgbClr val="F0F5F6"/>
                    </a:solidFill>
                  </a:tcPr>
                </a:tc>
                <a:tc>
                  <a:txBody>
                    <a:bodyPr/>
                    <a:lstStyle/>
                    <a:p>
                      <a:r>
                        <a:rPr sz="938" b="0">
                          <a:solidFill>
                            <a:srgbClr val="172D3C"/>
                          </a:solidFill>
                          <a:latin typeface="Arial"/>
                          <a:ea typeface="Arial"/>
                          <a:cs typeface="Arial"/>
                        </a:rPr>
                        <a:t>21%</a:t>
                      </a:r>
                    </a:p>
                  </a:txBody>
                  <a:tcPr marL="28575" marR="28575" marT="7620" marB="7620">
                    <a:solidFill>
                      <a:srgbClr val="F0F5F6"/>
                    </a:solidFill>
                  </a:tcPr>
                </a:tc>
                <a:tc>
                  <a:txBody>
                    <a:bodyPr/>
                    <a:lstStyle/>
                    <a:p>
                      <a:r>
                        <a:rPr sz="938" b="0">
                          <a:solidFill>
                            <a:srgbClr val="172D3C"/>
                          </a:solidFill>
                          <a:latin typeface="Arial"/>
                          <a:ea typeface="Arial"/>
                          <a:cs typeface="Arial"/>
                        </a:rPr>
                        <a:t>20%</a:t>
                      </a:r>
                    </a:p>
                  </a:txBody>
                  <a:tcPr marL="28575" marR="28575" marT="7620" marB="7620">
                    <a:solidFill>
                      <a:srgbClr val="F0F5F6"/>
                    </a:solidFill>
                  </a:tcPr>
                </a:tc>
                <a:tc>
                  <a:txBody>
                    <a:bodyPr/>
                    <a:lstStyle/>
                    <a:p>
                      <a:r>
                        <a:rPr sz="938" b="0">
                          <a:solidFill>
                            <a:srgbClr val="172D3C"/>
                          </a:solidFill>
                          <a:latin typeface="Arial"/>
                          <a:ea typeface="Arial"/>
                          <a:cs typeface="Arial"/>
                        </a:rPr>
                        <a:t>20%</a:t>
                      </a:r>
                    </a:p>
                  </a:txBody>
                  <a:tcPr marL="28575" marR="28575" marT="7620" marB="7620">
                    <a:solidFill>
                      <a:srgbClr val="F0F5F6"/>
                    </a:solidFill>
                  </a:tcPr>
                </a:tc>
                <a:tc>
                  <a:txBody>
                    <a:bodyPr/>
                    <a:lstStyle/>
                    <a:p>
                      <a:r>
                        <a:rPr sz="938" b="0">
                          <a:solidFill>
                            <a:srgbClr val="172D3C"/>
                          </a:solidFill>
                          <a:latin typeface="Arial"/>
                          <a:ea typeface="Arial"/>
                          <a:cs typeface="Arial"/>
                        </a:rPr>
                        <a:t>20%</a:t>
                      </a:r>
                    </a:p>
                  </a:txBody>
                  <a:tcPr marL="28575" marR="28575" marT="7620" marB="7620">
                    <a:solidFill>
                      <a:srgbClr val="F0F5F6"/>
                    </a:solidFill>
                  </a:tcPr>
                </a:tc>
                <a:tc>
                  <a:txBody>
                    <a:bodyPr/>
                    <a:lstStyle/>
                    <a:p>
                      <a:r>
                        <a:rPr sz="938" b="0">
                          <a:solidFill>
                            <a:srgbClr val="172D3C"/>
                          </a:solidFill>
                          <a:latin typeface="Arial"/>
                          <a:ea typeface="Arial"/>
                          <a:cs typeface="Arial"/>
                        </a:rPr>
                        <a:t>20%</a:t>
                      </a:r>
                    </a:p>
                  </a:txBody>
                  <a:tcPr marL="28575" marR="28575" marT="7620" marB="7620">
                    <a:solidFill>
                      <a:srgbClr val="F0F5F6"/>
                    </a:solidFill>
                  </a:tcPr>
                </a:tc>
                <a:tc>
                  <a:txBody>
                    <a:bodyPr/>
                    <a:lstStyle/>
                    <a:p>
                      <a:r>
                        <a:rPr sz="938" b="0">
                          <a:solidFill>
                            <a:srgbClr val="172D3C"/>
                          </a:solidFill>
                          <a:latin typeface="Arial"/>
                          <a:ea typeface="Arial"/>
                          <a:cs typeface="Arial"/>
                        </a:rPr>
                        <a:t>19%</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86%</a:t>
                      </a:r>
                    </a:p>
                  </a:txBody>
                  <a:tcPr marL="28575" marR="28575" marT="7620" marB="7620">
                    <a:solidFill>
                      <a:srgbClr val="FFFFFF"/>
                    </a:solidFill>
                  </a:tcPr>
                </a:tc>
                <a:tc>
                  <a:txBody>
                    <a:bodyPr/>
                    <a:lstStyle/>
                    <a:p>
                      <a:r>
                        <a:rPr sz="938" b="0">
                          <a:solidFill>
                            <a:srgbClr val="172D3C"/>
                          </a:solidFill>
                          <a:latin typeface="Arial"/>
                          <a:ea typeface="Arial"/>
                          <a:cs typeface="Arial"/>
                        </a:rPr>
                        <a:t>76%</a:t>
                      </a:r>
                    </a:p>
                  </a:txBody>
                  <a:tcPr marL="28575" marR="28575" marT="7620" marB="7620">
                    <a:solidFill>
                      <a:srgbClr val="FFFFFF"/>
                    </a:solidFill>
                  </a:tcPr>
                </a:tc>
                <a:tc>
                  <a:txBody>
                    <a:bodyPr/>
                    <a:lstStyle/>
                    <a:p>
                      <a:r>
                        <a:rPr sz="938" b="0">
                          <a:solidFill>
                            <a:srgbClr val="172D3C"/>
                          </a:solidFill>
                          <a:latin typeface="Arial"/>
                          <a:ea typeface="Arial"/>
                          <a:cs typeface="Arial"/>
                        </a:rPr>
                        <a:t>67%</a:t>
                      </a:r>
                    </a:p>
                  </a:txBody>
                  <a:tcPr marL="28575" marR="28575" marT="7620" marB="7620">
                    <a:solidFill>
                      <a:srgbClr val="FFFFFF"/>
                    </a:solidFill>
                  </a:tcPr>
                </a:tc>
                <a:tc>
                  <a:txBody>
                    <a:bodyPr/>
                    <a:lstStyle/>
                    <a:p>
                      <a:r>
                        <a:rPr sz="938" b="0">
                          <a:solidFill>
                            <a:srgbClr val="172D3C"/>
                          </a:solidFill>
                          <a:latin typeface="Arial"/>
                          <a:ea typeface="Arial"/>
                          <a:cs typeface="Arial"/>
                        </a:rPr>
                        <a:t>59%</a:t>
                      </a:r>
                    </a:p>
                  </a:txBody>
                  <a:tcPr marL="28575" marR="28575" marT="7620" marB="7620">
                    <a:solidFill>
                      <a:srgbClr val="FFFFFF"/>
                    </a:solidFill>
                  </a:tcPr>
                </a:tc>
                <a:tc>
                  <a:txBody>
                    <a:bodyPr/>
                    <a:lstStyle/>
                    <a:p>
                      <a:r>
                        <a:rPr sz="938" b="0">
                          <a:solidFill>
                            <a:srgbClr val="172D3C"/>
                          </a:solidFill>
                          <a:latin typeface="Arial"/>
                          <a:ea typeface="Arial"/>
                          <a:cs typeface="Arial"/>
                        </a:rPr>
                        <a:t>52%</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45%</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36%</a:t>
                      </a:r>
                    </a:p>
                  </a:txBody>
                  <a:tcPr marL="28575" marR="28575" marT="7620" marB="7620">
                    <a:solidFill>
                      <a:srgbClr val="FFFFFF"/>
                    </a:solidFill>
                  </a:tcPr>
                </a:tc>
                <a:tc>
                  <a:txBody>
                    <a:bodyPr/>
                    <a:lstStyle/>
                    <a:p>
                      <a:r>
                        <a:rPr sz="938" b="0">
                          <a:solidFill>
                            <a:srgbClr val="172D3C"/>
                          </a:solidFill>
                          <a:latin typeface="Arial"/>
                          <a:ea typeface="Arial"/>
                          <a:cs typeface="Arial"/>
                        </a:rPr>
                        <a:t>33%</a:t>
                      </a:r>
                    </a:p>
                  </a:txBody>
                  <a:tcPr marL="28575" marR="28575" marT="7620" marB="7620">
                    <a:solidFill>
                      <a:srgbClr val="FFFFFF"/>
                    </a:solidFill>
                  </a:tcPr>
                </a:tc>
                <a:tc>
                  <a:txBody>
                    <a:bodyPr/>
                    <a:lstStyle/>
                    <a:p>
                      <a:r>
                        <a:rPr sz="938" b="0">
                          <a:solidFill>
                            <a:srgbClr val="172D3C"/>
                          </a:solidFill>
                          <a:latin typeface="Arial"/>
                          <a:ea typeface="Arial"/>
                          <a:cs typeface="Arial"/>
                        </a:rPr>
                        <a:t>31%</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29%</a:t>
                      </a:r>
                    </a:p>
                  </a:txBody>
                  <a:tcPr marL="28575" marR="28575" marT="7620" marB="7620">
                    <a:solidFill>
                      <a:srgbClr val="FFFFFF"/>
                    </a:solidFill>
                  </a:tcPr>
                </a:tc>
                <a:tc>
                  <a:txBody>
                    <a:bodyPr/>
                    <a:lstStyle/>
                    <a:p>
                      <a:r>
                        <a:rPr sz="938" b="0">
                          <a:solidFill>
                            <a:srgbClr val="172D3C"/>
                          </a:solidFill>
                          <a:latin typeface="Arial"/>
                          <a:ea typeface="Arial"/>
                          <a:cs typeface="Arial"/>
                        </a:rPr>
                        <a:t>27%</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25%</a:t>
                      </a:r>
                    </a:p>
                  </a:txBody>
                  <a:tcPr marL="28575" marR="28575" marT="7620" marB="7620">
                    <a:solidFill>
                      <a:srgbClr val="FFFFFF"/>
                    </a:solidFill>
                  </a:tcPr>
                </a:tc>
                <a:tc>
                  <a:txBody>
                    <a:bodyPr/>
                    <a:lstStyle/>
                    <a:p>
                      <a:r>
                        <a:rPr sz="938" b="0">
                          <a:solidFill>
                            <a:srgbClr val="172D3C"/>
                          </a:solidFill>
                          <a:latin typeface="Arial"/>
                          <a:ea typeface="Arial"/>
                          <a:cs typeface="Arial"/>
                        </a:rPr>
                        <a:t>23%</a:t>
                      </a:r>
                    </a:p>
                  </a:txBody>
                  <a:tcPr marL="28575" marR="28575" marT="7620" marB="7620">
                    <a:solidFill>
                      <a:srgbClr val="FFFFFF"/>
                    </a:solidFill>
                  </a:tcPr>
                </a:tc>
                <a:tc>
                  <a:txBody>
                    <a:bodyPr/>
                    <a:lstStyle/>
                    <a:p>
                      <a:r>
                        <a:rPr sz="938" b="0">
                          <a:solidFill>
                            <a:srgbClr val="172D3C"/>
                          </a:solidFill>
                          <a:latin typeface="Arial"/>
                          <a:ea typeface="Arial"/>
                          <a:cs typeface="Arial"/>
                        </a:rPr>
                        <a:t>21%</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2024-03</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89%</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72%</a:t>
                      </a:r>
                    </a:p>
                  </a:txBody>
                  <a:tcPr marL="28575" marR="28575" marT="7620" marB="7620">
                    <a:solidFill>
                      <a:srgbClr val="F0F5F6"/>
                    </a:solidFill>
                  </a:tcPr>
                </a:tc>
                <a:tc>
                  <a:txBody>
                    <a:bodyPr/>
                    <a:lstStyle/>
                    <a:p>
                      <a:r>
                        <a:rPr sz="938" b="0">
                          <a:solidFill>
                            <a:srgbClr val="172D3C"/>
                          </a:solidFill>
                          <a:latin typeface="Arial"/>
                          <a:ea typeface="Arial"/>
                          <a:cs typeface="Arial"/>
                        </a:rPr>
                        <a:t>67%</a:t>
                      </a:r>
                    </a:p>
                  </a:txBody>
                  <a:tcPr marL="28575" marR="28575" marT="7620" marB="7620">
                    <a:solidFill>
                      <a:srgbClr val="F0F5F6"/>
                    </a:solidFill>
                  </a:tcPr>
                </a:tc>
                <a:tc>
                  <a:txBody>
                    <a:bodyPr/>
                    <a:lstStyle/>
                    <a:p>
                      <a:r>
                        <a:rPr sz="938" b="0">
                          <a:solidFill>
                            <a:srgbClr val="172D3C"/>
                          </a:solidFill>
                          <a:latin typeface="Arial"/>
                          <a:ea typeface="Arial"/>
                          <a:cs typeface="Arial"/>
                        </a:rPr>
                        <a:t>59%</a:t>
                      </a:r>
                    </a:p>
                  </a:txBody>
                  <a:tcPr marL="28575" marR="28575" marT="7620" marB="7620">
                    <a:solidFill>
                      <a:srgbClr val="F0F5F6"/>
                    </a:solidFill>
                  </a:tcPr>
                </a:tc>
                <a:tc>
                  <a:txBody>
                    <a:bodyPr/>
                    <a:lstStyle/>
                    <a:p>
                      <a:r>
                        <a:rPr sz="938" b="0">
                          <a:solidFill>
                            <a:srgbClr val="172D3C"/>
                          </a:solidFill>
                          <a:latin typeface="Arial"/>
                          <a:ea typeface="Arial"/>
                          <a:cs typeface="Arial"/>
                        </a:rPr>
                        <a:t>56%</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52%</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46%</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43%</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37%</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2024-04</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78%</a:t>
                      </a:r>
                    </a:p>
                  </a:txBody>
                  <a:tcPr marL="28575" marR="28575" marT="7620" marB="7620">
                    <a:solidFill>
                      <a:srgbClr val="FFFFFF"/>
                    </a:solidFill>
                  </a:tcPr>
                </a:tc>
                <a:tc>
                  <a:txBody>
                    <a:bodyPr/>
                    <a:lstStyle/>
                    <a:p>
                      <a:r>
                        <a:rPr sz="938" b="0">
                          <a:solidFill>
                            <a:srgbClr val="172D3C"/>
                          </a:solidFill>
                          <a:latin typeface="Arial"/>
                          <a:ea typeface="Arial"/>
                          <a:cs typeface="Arial"/>
                        </a:rPr>
                        <a:t>66%</a:t>
                      </a:r>
                    </a:p>
                  </a:txBody>
                  <a:tcPr marL="28575" marR="28575" marT="7620" marB="7620">
                    <a:solidFill>
                      <a:srgbClr val="FFFFFF"/>
                    </a:solidFill>
                  </a:tcPr>
                </a:tc>
                <a:tc>
                  <a:txBody>
                    <a:bodyPr/>
                    <a:lstStyle/>
                    <a:p>
                      <a:r>
                        <a:rPr sz="938" b="0">
                          <a:solidFill>
                            <a:srgbClr val="172D3C"/>
                          </a:solidFill>
                          <a:latin typeface="Arial"/>
                          <a:ea typeface="Arial"/>
                          <a:cs typeface="Arial"/>
                        </a:rPr>
                        <a:t>60%</a:t>
                      </a:r>
                    </a:p>
                  </a:txBody>
                  <a:tcPr marL="28575" marR="28575" marT="7620" marB="7620">
                    <a:solidFill>
                      <a:srgbClr val="FFFFFF"/>
                    </a:solidFill>
                  </a:tcPr>
                </a:tc>
                <a:tc>
                  <a:txBody>
                    <a:bodyPr/>
                    <a:lstStyle/>
                    <a:p>
                      <a:r>
                        <a:rPr sz="938" b="0">
                          <a:solidFill>
                            <a:srgbClr val="172D3C"/>
                          </a:solidFill>
                          <a:latin typeface="Arial"/>
                          <a:ea typeface="Arial"/>
                          <a:cs typeface="Arial"/>
                        </a:rPr>
                        <a:t>55%</a:t>
                      </a:r>
                    </a:p>
                  </a:txBody>
                  <a:tcPr marL="28575" marR="28575" marT="7620" marB="7620">
                    <a:solidFill>
                      <a:srgbClr val="FFFFFF"/>
                    </a:solidFill>
                  </a:tcPr>
                </a:tc>
                <a:tc>
                  <a:txBody>
                    <a:bodyPr/>
                    <a:lstStyle/>
                    <a:p>
                      <a:r>
                        <a:rPr sz="938" b="0">
                          <a:solidFill>
                            <a:srgbClr val="172D3C"/>
                          </a:solidFill>
                          <a:latin typeface="Arial"/>
                          <a:ea typeface="Arial"/>
                          <a:cs typeface="Arial"/>
                        </a:rPr>
                        <a:t>51%</a:t>
                      </a:r>
                    </a:p>
                  </a:txBody>
                  <a:tcPr marL="28575" marR="28575" marT="7620" marB="7620">
                    <a:solidFill>
                      <a:srgbClr val="FFFFFF"/>
                    </a:solidFill>
                  </a:tcPr>
                </a:tc>
                <a:tc>
                  <a:txBody>
                    <a:bodyPr/>
                    <a:lstStyle/>
                    <a:p>
                      <a:r>
                        <a:rPr sz="938" b="0">
                          <a:solidFill>
                            <a:srgbClr val="172D3C"/>
                          </a:solidFill>
                          <a:latin typeface="Arial"/>
                          <a:ea typeface="Arial"/>
                          <a:cs typeface="Arial"/>
                        </a:rPr>
                        <a:t>48%</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45%</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35%</a:t>
                      </a:r>
                    </a:p>
                  </a:txBody>
                  <a:tcPr marL="28575" marR="28575" marT="7620" marB="7620">
                    <a:solidFill>
                      <a:srgbClr val="FFFFFF"/>
                    </a:solidFill>
                  </a:tcPr>
                </a:tc>
                <a:tc>
                  <a:txBody>
                    <a:bodyPr/>
                    <a:lstStyle/>
                    <a:p>
                      <a:r>
                        <a:rPr sz="938" b="0">
                          <a:solidFill>
                            <a:srgbClr val="172D3C"/>
                          </a:solidFill>
                          <a:latin typeface="Arial"/>
                          <a:ea typeface="Arial"/>
                          <a:cs typeface="Arial"/>
                        </a:rPr>
                        <a:t>33%</a:t>
                      </a:r>
                    </a:p>
                  </a:txBody>
                  <a:tcPr marL="28575" marR="28575" marT="7620" marB="7620">
                    <a:solidFill>
                      <a:srgbClr val="FFFFFF"/>
                    </a:solidFill>
                  </a:tcPr>
                </a:tc>
                <a:tc>
                  <a:txBody>
                    <a:bodyPr/>
                    <a:lstStyle/>
                    <a:p>
                      <a:r>
                        <a:rPr sz="938" b="0">
                          <a:solidFill>
                            <a:srgbClr val="172D3C"/>
                          </a:solidFill>
                          <a:latin typeface="Arial"/>
                          <a:ea typeface="Arial"/>
                          <a:cs typeface="Arial"/>
                        </a:rPr>
                        <a:t>33%</a:t>
                      </a:r>
                    </a:p>
                  </a:txBody>
                  <a:tcPr marL="28575" marR="28575" marT="7620" marB="7620">
                    <a:solidFill>
                      <a:srgbClr val="FFFFFF"/>
                    </a:solidFill>
                  </a:tcPr>
                </a:tc>
                <a:tc>
                  <a:txBody>
                    <a:bodyPr/>
                    <a:lstStyle/>
                    <a:p>
                      <a:r>
                        <a:rPr sz="938" b="0">
                          <a:solidFill>
                            <a:srgbClr val="172D3C"/>
                          </a:solidFill>
                          <a:latin typeface="Arial"/>
                          <a:ea typeface="Arial"/>
                          <a:cs typeface="Arial"/>
                        </a:rPr>
                        <a:t>31%</a:t>
                      </a:r>
                    </a:p>
                  </a:txBody>
                  <a:tcPr marL="28575" marR="28575" marT="7620" marB="7620">
                    <a:solidFill>
                      <a:srgbClr val="FFFFFF"/>
                    </a:solidFill>
                  </a:tcPr>
                </a:tc>
                <a:tc>
                  <a:txBody>
                    <a:bodyPr/>
                    <a:lstStyle/>
                    <a:p>
                      <a:r>
                        <a:rPr sz="938" b="0">
                          <a:solidFill>
                            <a:srgbClr val="172D3C"/>
                          </a:solidFill>
                          <a:latin typeface="Arial"/>
                          <a:ea typeface="Arial"/>
                          <a:cs typeface="Arial"/>
                        </a:rPr>
                        <a:t>30%</a:t>
                      </a:r>
                    </a:p>
                  </a:txBody>
                  <a:tcPr marL="28575" marR="28575" marT="7620" marB="7620">
                    <a:solidFill>
                      <a:srgbClr val="FFFFFF"/>
                    </a:solidFill>
                  </a:tcPr>
                </a:tc>
                <a:tc>
                  <a:txBody>
                    <a:bodyPr/>
                    <a:lstStyle/>
                    <a:p>
                      <a:r>
                        <a:rPr sz="938" b="0">
                          <a:solidFill>
                            <a:srgbClr val="172D3C"/>
                          </a:solidFill>
                          <a:latin typeface="Arial"/>
                          <a:ea typeface="Arial"/>
                          <a:cs typeface="Arial"/>
                        </a:rPr>
                        <a:t>28%</a:t>
                      </a:r>
                    </a:p>
                  </a:txBody>
                  <a:tcPr marL="28575" marR="28575" marT="7620" marB="7620">
                    <a:solidFill>
                      <a:srgbClr val="FFFFFF"/>
                    </a:solidFill>
                  </a:tcPr>
                </a:tc>
                <a:tc>
                  <a:txBody>
                    <a:bodyPr/>
                    <a:lstStyle/>
                    <a:p>
                      <a:r>
                        <a:rPr sz="938" b="0">
                          <a:solidFill>
                            <a:srgbClr val="172D3C"/>
                          </a:solidFill>
                          <a:latin typeface="Arial"/>
                          <a:ea typeface="Arial"/>
                          <a:cs typeface="Arial"/>
                        </a:rPr>
                        <a:t>28%</a:t>
                      </a:r>
                    </a:p>
                  </a:txBody>
                  <a:tcPr marL="28575" marR="28575" marT="7620" marB="7620">
                    <a:solidFill>
                      <a:srgbClr val="FFFFFF"/>
                    </a:solidFill>
                  </a:tcPr>
                </a:tc>
                <a:tc>
                  <a:txBody>
                    <a:bodyPr/>
                    <a:lstStyle/>
                    <a:p>
                      <a:r>
                        <a:rPr sz="938" b="0">
                          <a:solidFill>
                            <a:srgbClr val="172D3C"/>
                          </a:solidFill>
                          <a:latin typeface="Arial"/>
                          <a:ea typeface="Arial"/>
                          <a:cs typeface="Arial"/>
                        </a:rPr>
                        <a:t>28%</a:t>
                      </a:r>
                    </a:p>
                  </a:txBody>
                  <a:tcPr marL="28575" marR="28575" marT="7620" marB="7620">
                    <a:solidFill>
                      <a:srgbClr val="FFFFFF"/>
                    </a:solidFill>
                  </a:tcPr>
                </a:tc>
                <a:tc>
                  <a:txBody>
                    <a:bodyPr/>
                    <a:lstStyle/>
                    <a:p>
                      <a:r>
                        <a:rPr sz="938" b="0">
                          <a:solidFill>
                            <a:srgbClr val="172D3C"/>
                          </a:solidFill>
                          <a:latin typeface="Arial"/>
                          <a:ea typeface="Arial"/>
                          <a:cs typeface="Arial"/>
                        </a:rPr>
                        <a:t>26%</a:t>
                      </a:r>
                    </a:p>
                  </a:txBody>
                  <a:tcPr marL="28575" marR="28575" marT="7620" marB="7620">
                    <a:solidFill>
                      <a:srgbClr val="FFFFFF"/>
                    </a:solidFill>
                  </a:tcPr>
                </a:tc>
                <a:tc>
                  <a:txBody>
                    <a:bodyPr/>
                    <a:lstStyle/>
                    <a:p>
                      <a:r>
                        <a:rPr sz="938" b="0">
                          <a:solidFill>
                            <a:srgbClr val="172D3C"/>
                          </a:solidFill>
                          <a:latin typeface="Arial"/>
                          <a:ea typeface="Arial"/>
                          <a:cs typeface="Arial"/>
                        </a:rPr>
                        <a:t>24%</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2024-05</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82%</a:t>
                      </a:r>
                    </a:p>
                  </a:txBody>
                  <a:tcPr marL="28575" marR="28575" marT="7620" marB="7620">
                    <a:solidFill>
                      <a:srgbClr val="F0F5F6"/>
                    </a:solidFill>
                  </a:tcPr>
                </a:tc>
                <a:tc>
                  <a:txBody>
                    <a:bodyPr/>
                    <a:lstStyle/>
                    <a:p>
                      <a:r>
                        <a:rPr sz="938" b="0">
                          <a:solidFill>
                            <a:srgbClr val="172D3C"/>
                          </a:solidFill>
                          <a:latin typeface="Arial"/>
                          <a:ea typeface="Arial"/>
                          <a:cs typeface="Arial"/>
                        </a:rPr>
                        <a:t>70%</a:t>
                      </a:r>
                    </a:p>
                  </a:txBody>
                  <a:tcPr marL="28575" marR="28575" marT="7620" marB="7620">
                    <a:solidFill>
                      <a:srgbClr val="F0F5F6"/>
                    </a:solidFill>
                  </a:tcPr>
                </a:tc>
                <a:tc>
                  <a:txBody>
                    <a:bodyPr/>
                    <a:lstStyle/>
                    <a:p>
                      <a:r>
                        <a:rPr sz="938" b="0">
                          <a:solidFill>
                            <a:srgbClr val="172D3C"/>
                          </a:solidFill>
                          <a:latin typeface="Arial"/>
                          <a:ea typeface="Arial"/>
                          <a:cs typeface="Arial"/>
                        </a:rPr>
                        <a:t>65%</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58%</a:t>
                      </a:r>
                    </a:p>
                  </a:txBody>
                  <a:tcPr marL="28575" marR="28575" marT="7620" marB="7620">
                    <a:solidFill>
                      <a:srgbClr val="F0F5F6"/>
                    </a:solidFill>
                  </a:tcPr>
                </a:tc>
                <a:tc>
                  <a:txBody>
                    <a:bodyPr/>
                    <a:lstStyle/>
                    <a:p>
                      <a:r>
                        <a:rPr sz="938" b="0">
                          <a:solidFill>
                            <a:srgbClr val="172D3C"/>
                          </a:solidFill>
                          <a:latin typeface="Arial"/>
                          <a:ea typeface="Arial"/>
                          <a:cs typeface="Arial"/>
                        </a:rPr>
                        <a:t>55%</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35%</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32%</a:t>
                      </a:r>
                    </a:p>
                  </a:txBody>
                  <a:tcPr marL="28575" marR="28575" marT="7620" marB="7620">
                    <a:solidFill>
                      <a:srgbClr val="F0F5F6"/>
                    </a:solidFill>
                  </a:tcPr>
                </a:tc>
                <a:tc>
                  <a:txBody>
                    <a:bodyPr/>
                    <a:lstStyle/>
                    <a:p>
                      <a:r>
                        <a:rPr sz="938" b="0">
                          <a:solidFill>
                            <a:srgbClr val="172D3C"/>
                          </a:solidFill>
                          <a:latin typeface="Arial"/>
                          <a:ea typeface="Arial"/>
                          <a:cs typeface="Arial"/>
                        </a:rPr>
                        <a:t>31%</a:t>
                      </a:r>
                    </a:p>
                  </a:txBody>
                  <a:tcPr marL="28575" marR="28575" marT="7620" marB="7620">
                    <a:solidFill>
                      <a:srgbClr val="F0F5F6"/>
                    </a:solidFill>
                  </a:tcPr>
                </a:tc>
                <a:tc>
                  <a:txBody>
                    <a:bodyPr/>
                    <a:lstStyle/>
                    <a:p>
                      <a:r>
                        <a:rPr sz="938" b="0">
                          <a:solidFill>
                            <a:srgbClr val="172D3C"/>
                          </a:solidFill>
                          <a:latin typeface="Arial"/>
                          <a:ea typeface="Arial"/>
                          <a:cs typeface="Arial"/>
                        </a:rPr>
                        <a:t>30%</a:t>
                      </a:r>
                    </a:p>
                  </a:txBody>
                  <a:tcPr marL="28575" marR="28575" marT="7620" marB="7620">
                    <a:solidFill>
                      <a:srgbClr val="F0F5F6"/>
                    </a:solidFill>
                  </a:tcPr>
                </a:tc>
                <a:tc>
                  <a:txBody>
                    <a:bodyPr/>
                    <a:lstStyle/>
                    <a:p>
                      <a:r>
                        <a:rPr sz="938" b="0">
                          <a:solidFill>
                            <a:srgbClr val="172D3C"/>
                          </a:solidFill>
                          <a:latin typeface="Arial"/>
                          <a:ea typeface="Arial"/>
                          <a:cs typeface="Arial"/>
                        </a:rPr>
                        <a:t>30%</a:t>
                      </a:r>
                    </a:p>
                  </a:txBody>
                  <a:tcPr marL="28575" marR="28575" marT="7620" marB="7620">
                    <a:solidFill>
                      <a:srgbClr val="F0F5F6"/>
                    </a:solidFill>
                  </a:tcPr>
                </a:tc>
                <a:tc>
                  <a:txBody>
                    <a:bodyPr/>
                    <a:lstStyle/>
                    <a:p>
                      <a:r>
                        <a:rPr sz="938" b="0">
                          <a:solidFill>
                            <a:srgbClr val="172D3C"/>
                          </a:solidFill>
                          <a:latin typeface="Arial"/>
                          <a:ea typeface="Arial"/>
                          <a:cs typeface="Arial"/>
                        </a:rPr>
                        <a:t>29%</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2024-06</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85%</a:t>
                      </a:r>
                    </a:p>
                  </a:txBody>
                  <a:tcPr marL="28575" marR="28575" marT="7620" marB="7620">
                    <a:solidFill>
                      <a:srgbClr val="FFFFFF"/>
                    </a:solidFill>
                  </a:tcPr>
                </a:tc>
                <a:tc>
                  <a:txBody>
                    <a:bodyPr/>
                    <a:lstStyle/>
                    <a:p>
                      <a:r>
                        <a:rPr sz="938" b="0">
                          <a:solidFill>
                            <a:srgbClr val="172D3C"/>
                          </a:solidFill>
                          <a:latin typeface="Arial"/>
                          <a:ea typeface="Arial"/>
                          <a:cs typeface="Arial"/>
                        </a:rPr>
                        <a:t>74%</a:t>
                      </a:r>
                    </a:p>
                  </a:txBody>
                  <a:tcPr marL="28575" marR="28575" marT="7620" marB="7620">
                    <a:solidFill>
                      <a:srgbClr val="FFFFFF"/>
                    </a:solidFill>
                  </a:tcPr>
                </a:tc>
                <a:tc>
                  <a:txBody>
                    <a:bodyPr/>
                    <a:lstStyle/>
                    <a:p>
                      <a:r>
                        <a:rPr sz="938" b="0">
                          <a:solidFill>
                            <a:srgbClr val="172D3C"/>
                          </a:solidFill>
                          <a:latin typeface="Arial"/>
                          <a:ea typeface="Arial"/>
                          <a:cs typeface="Arial"/>
                        </a:rPr>
                        <a:t>67%</a:t>
                      </a:r>
                    </a:p>
                  </a:txBody>
                  <a:tcPr marL="28575" marR="28575" marT="7620" marB="7620">
                    <a:solidFill>
                      <a:srgbClr val="FFFFFF"/>
                    </a:solidFill>
                  </a:tcPr>
                </a:tc>
                <a:tc>
                  <a:txBody>
                    <a:bodyPr/>
                    <a:lstStyle/>
                    <a:p>
                      <a:r>
                        <a:rPr sz="938" b="0">
                          <a:solidFill>
                            <a:srgbClr val="172D3C"/>
                          </a:solidFill>
                          <a:latin typeface="Arial"/>
                          <a:ea typeface="Arial"/>
                          <a:cs typeface="Arial"/>
                        </a:rPr>
                        <a:t>59%</a:t>
                      </a:r>
                    </a:p>
                  </a:txBody>
                  <a:tcPr marL="28575" marR="28575" marT="7620" marB="7620">
                    <a:solidFill>
                      <a:srgbClr val="FFFFFF"/>
                    </a:solidFill>
                  </a:tcPr>
                </a:tc>
                <a:tc>
                  <a:txBody>
                    <a:bodyPr/>
                    <a:lstStyle/>
                    <a:p>
                      <a:r>
                        <a:rPr sz="938" b="0">
                          <a:solidFill>
                            <a:srgbClr val="172D3C"/>
                          </a:solidFill>
                          <a:latin typeface="Arial"/>
                          <a:ea typeface="Arial"/>
                          <a:cs typeface="Arial"/>
                        </a:rPr>
                        <a:t>55%</a:t>
                      </a:r>
                    </a:p>
                  </a:txBody>
                  <a:tcPr marL="28575" marR="28575" marT="7620" marB="7620">
                    <a:solidFill>
                      <a:srgbClr val="FFFFFF"/>
                    </a:solidFill>
                  </a:tcPr>
                </a:tc>
                <a:tc>
                  <a:txBody>
                    <a:bodyPr/>
                    <a:lstStyle/>
                    <a:p>
                      <a:r>
                        <a:rPr sz="938" b="0">
                          <a:solidFill>
                            <a:srgbClr val="172D3C"/>
                          </a:solidFill>
                          <a:latin typeface="Arial"/>
                          <a:ea typeface="Arial"/>
                          <a:cs typeface="Arial"/>
                        </a:rPr>
                        <a:t>54%</a:t>
                      </a:r>
                    </a:p>
                  </a:txBody>
                  <a:tcPr marL="28575" marR="28575" marT="7620" marB="7620">
                    <a:solidFill>
                      <a:srgbClr val="FFFFFF"/>
                    </a:solidFill>
                  </a:tcPr>
                </a:tc>
                <a:tc>
                  <a:txBody>
                    <a:bodyPr/>
                    <a:lstStyle/>
                    <a:p>
                      <a:r>
                        <a:rPr sz="938" b="0">
                          <a:solidFill>
                            <a:srgbClr val="172D3C"/>
                          </a:solidFill>
                          <a:latin typeface="Arial"/>
                          <a:ea typeface="Arial"/>
                          <a:cs typeface="Arial"/>
                        </a:rPr>
                        <a:t>51%</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41%</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36%</a:t>
                      </a:r>
                    </a:p>
                  </a:txBody>
                  <a:tcPr marL="28575" marR="28575" marT="7620" marB="7620">
                    <a:solidFill>
                      <a:srgbClr val="FFFFFF"/>
                    </a:solidFill>
                  </a:tcPr>
                </a:tc>
                <a:tc>
                  <a:txBody>
                    <a:bodyPr/>
                    <a:lstStyle/>
                    <a:p>
                      <a:r>
                        <a:rPr sz="938" b="0">
                          <a:solidFill>
                            <a:srgbClr val="172D3C"/>
                          </a:solidFill>
                          <a:latin typeface="Arial"/>
                          <a:ea typeface="Arial"/>
                          <a:cs typeface="Arial"/>
                        </a:rPr>
                        <a:t>36%</a:t>
                      </a:r>
                    </a:p>
                  </a:txBody>
                  <a:tcPr marL="28575" marR="28575" marT="7620" marB="7620">
                    <a:solidFill>
                      <a:srgbClr val="FFFFFF"/>
                    </a:solidFill>
                  </a:tcPr>
                </a:tc>
                <a:tc>
                  <a:txBody>
                    <a:bodyPr/>
                    <a:lstStyle/>
                    <a:p>
                      <a:r>
                        <a:rPr sz="938" b="0">
                          <a:solidFill>
                            <a:srgbClr val="172D3C"/>
                          </a:solidFill>
                          <a:latin typeface="Arial"/>
                          <a:ea typeface="Arial"/>
                          <a:cs typeface="Arial"/>
                        </a:rPr>
                        <a:t>34%</a:t>
                      </a:r>
                    </a:p>
                  </a:txBody>
                  <a:tcPr marL="28575" marR="28575" marT="7620" marB="7620">
                    <a:solidFill>
                      <a:srgbClr val="FFFFFF"/>
                    </a:solidFill>
                  </a:tcPr>
                </a:tc>
                <a:tc>
                  <a:txBody>
                    <a:bodyPr/>
                    <a:lstStyle/>
                    <a:p>
                      <a:r>
                        <a:rPr sz="938" b="0">
                          <a:solidFill>
                            <a:srgbClr val="172D3C"/>
                          </a:solidFill>
                          <a:latin typeface="Arial"/>
                          <a:ea typeface="Arial"/>
                          <a:cs typeface="Arial"/>
                        </a:rPr>
                        <a:t>34%</a:t>
                      </a:r>
                    </a:p>
                  </a:txBody>
                  <a:tcPr marL="28575" marR="28575" marT="7620" marB="7620">
                    <a:solidFill>
                      <a:srgbClr val="FFFFFF"/>
                    </a:solidFill>
                  </a:tcPr>
                </a:tc>
                <a:tc>
                  <a:txBody>
                    <a:bodyPr/>
                    <a:lstStyle/>
                    <a:p>
                      <a:r>
                        <a:rPr sz="938" b="0">
                          <a:solidFill>
                            <a:srgbClr val="172D3C"/>
                          </a:solidFill>
                          <a:latin typeface="Arial"/>
                          <a:ea typeface="Arial"/>
                          <a:cs typeface="Arial"/>
                        </a:rPr>
                        <a:t>32%</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2024-07</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76%</a:t>
                      </a:r>
                    </a:p>
                  </a:txBody>
                  <a:tcPr marL="28575" marR="28575" marT="7620" marB="7620">
                    <a:solidFill>
                      <a:srgbClr val="F0F5F6"/>
                    </a:solidFill>
                  </a:tcPr>
                </a:tc>
                <a:tc>
                  <a:txBody>
                    <a:bodyPr/>
                    <a:lstStyle/>
                    <a:p>
                      <a:r>
                        <a:rPr sz="938" b="0">
                          <a:solidFill>
                            <a:srgbClr val="172D3C"/>
                          </a:solidFill>
                          <a:latin typeface="Arial"/>
                          <a:ea typeface="Arial"/>
                          <a:cs typeface="Arial"/>
                        </a:rPr>
                        <a:t>70%</a:t>
                      </a:r>
                    </a:p>
                  </a:txBody>
                  <a:tcPr marL="28575" marR="28575" marT="7620" marB="7620">
                    <a:solidFill>
                      <a:srgbClr val="F0F5F6"/>
                    </a:solidFill>
                  </a:tcPr>
                </a:tc>
                <a:tc>
                  <a:txBody>
                    <a:bodyPr/>
                    <a:lstStyle/>
                    <a:p>
                      <a:r>
                        <a:rPr sz="938" b="0">
                          <a:solidFill>
                            <a:srgbClr val="172D3C"/>
                          </a:solidFill>
                          <a:latin typeface="Arial"/>
                          <a:ea typeface="Arial"/>
                          <a:cs typeface="Arial"/>
                        </a:rPr>
                        <a:t>65%</a:t>
                      </a:r>
                    </a:p>
                  </a:txBody>
                  <a:tcPr marL="28575" marR="28575" marT="7620" marB="7620">
                    <a:solidFill>
                      <a:srgbClr val="F0F5F6"/>
                    </a:solidFill>
                  </a:tcPr>
                </a:tc>
                <a:tc>
                  <a:txBody>
                    <a:bodyPr/>
                    <a:lstStyle/>
                    <a:p>
                      <a:r>
                        <a:rPr sz="938" b="0">
                          <a:solidFill>
                            <a:srgbClr val="172D3C"/>
                          </a:solidFill>
                          <a:latin typeface="Arial"/>
                          <a:ea typeface="Arial"/>
                          <a:cs typeface="Arial"/>
                        </a:rPr>
                        <a:t>62%</a:t>
                      </a:r>
                    </a:p>
                  </a:txBody>
                  <a:tcPr marL="28575" marR="28575" marT="7620" marB="7620">
                    <a:solidFill>
                      <a:srgbClr val="F0F5F6"/>
                    </a:solidFill>
                  </a:tcPr>
                </a:tc>
                <a:tc>
                  <a:txBody>
                    <a:bodyPr/>
                    <a:lstStyle/>
                    <a:p>
                      <a:r>
                        <a:rPr sz="938" b="0">
                          <a:solidFill>
                            <a:srgbClr val="172D3C"/>
                          </a:solidFill>
                          <a:latin typeface="Arial"/>
                          <a:ea typeface="Arial"/>
                          <a:cs typeface="Arial"/>
                        </a:rPr>
                        <a:t>58%</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43%</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38%</a:t>
                      </a:r>
                    </a:p>
                  </a:txBody>
                  <a:tcPr marL="28575" marR="28575" marT="7620" marB="7620">
                    <a:solidFill>
                      <a:srgbClr val="F0F5F6"/>
                    </a:solidFill>
                  </a:tcPr>
                </a:tc>
                <a:tc>
                  <a:txBody>
                    <a:bodyPr/>
                    <a:lstStyle/>
                    <a:p>
                      <a:r>
                        <a:rPr sz="938" b="0">
                          <a:solidFill>
                            <a:srgbClr val="172D3C"/>
                          </a:solidFill>
                          <a:latin typeface="Arial"/>
                          <a:ea typeface="Arial"/>
                          <a:cs typeface="Arial"/>
                        </a:rPr>
                        <a:t>37%</a:t>
                      </a:r>
                    </a:p>
                  </a:txBody>
                  <a:tcPr marL="28575" marR="28575" marT="7620" marB="7620">
                    <a:solidFill>
                      <a:srgbClr val="F0F5F6"/>
                    </a:solidFill>
                  </a:tcPr>
                </a:tc>
                <a:tc>
                  <a:txBody>
                    <a:bodyPr/>
                    <a:lstStyle/>
                    <a:p>
                      <a:r>
                        <a:rPr sz="938" b="0">
                          <a:solidFill>
                            <a:srgbClr val="172D3C"/>
                          </a:solidFill>
                          <a:latin typeface="Arial"/>
                          <a:ea typeface="Arial"/>
                          <a:cs typeface="Arial"/>
                        </a:rPr>
                        <a:t>35%</a:t>
                      </a:r>
                    </a:p>
                  </a:txBody>
                  <a:tcPr marL="28575" marR="28575" marT="7620" marB="7620">
                    <a:solidFill>
                      <a:srgbClr val="F0F5F6"/>
                    </a:solidFill>
                  </a:tcPr>
                </a:tc>
                <a:tc>
                  <a:txBody>
                    <a:bodyPr/>
                    <a:lstStyle/>
                    <a:p>
                      <a:r>
                        <a:rPr sz="938" b="0">
                          <a:solidFill>
                            <a:srgbClr val="172D3C"/>
                          </a:solidFill>
                          <a:latin typeface="Arial"/>
                          <a:ea typeface="Arial"/>
                          <a:cs typeface="Arial"/>
                        </a:rPr>
                        <a:t>34%</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2024-08</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86%</a:t>
                      </a:r>
                    </a:p>
                  </a:txBody>
                  <a:tcPr marL="28575" marR="28575" marT="7620" marB="7620">
                    <a:solidFill>
                      <a:srgbClr val="FFFFFF"/>
                    </a:solidFill>
                  </a:tcPr>
                </a:tc>
                <a:tc>
                  <a:txBody>
                    <a:bodyPr/>
                    <a:lstStyle/>
                    <a:p>
                      <a:r>
                        <a:rPr sz="938" b="0">
                          <a:solidFill>
                            <a:srgbClr val="172D3C"/>
                          </a:solidFill>
                          <a:latin typeface="Arial"/>
                          <a:ea typeface="Arial"/>
                          <a:cs typeface="Arial"/>
                        </a:rPr>
                        <a:t>76%</a:t>
                      </a:r>
                    </a:p>
                  </a:txBody>
                  <a:tcPr marL="28575" marR="28575" marT="7620" marB="7620">
                    <a:solidFill>
                      <a:srgbClr val="FFFFFF"/>
                    </a:solidFill>
                  </a:tcPr>
                </a:tc>
                <a:tc>
                  <a:txBody>
                    <a:bodyPr/>
                    <a:lstStyle/>
                    <a:p>
                      <a:r>
                        <a:rPr sz="938" b="0">
                          <a:solidFill>
                            <a:srgbClr val="172D3C"/>
                          </a:solidFill>
                          <a:latin typeface="Arial"/>
                          <a:ea typeface="Arial"/>
                          <a:cs typeface="Arial"/>
                        </a:rPr>
                        <a:t>69%</a:t>
                      </a:r>
                    </a:p>
                  </a:txBody>
                  <a:tcPr marL="28575" marR="28575" marT="7620" marB="7620">
                    <a:solidFill>
                      <a:srgbClr val="FFFFFF"/>
                    </a:solidFill>
                  </a:tcPr>
                </a:tc>
                <a:tc>
                  <a:txBody>
                    <a:bodyPr/>
                    <a:lstStyle/>
                    <a:p>
                      <a:r>
                        <a:rPr sz="938" b="0">
                          <a:solidFill>
                            <a:srgbClr val="172D3C"/>
                          </a:solidFill>
                          <a:latin typeface="Arial"/>
                          <a:ea typeface="Arial"/>
                          <a:cs typeface="Arial"/>
                        </a:rPr>
                        <a:t>64%</a:t>
                      </a:r>
                    </a:p>
                  </a:txBody>
                  <a:tcPr marL="28575" marR="28575" marT="7620" marB="7620">
                    <a:solidFill>
                      <a:srgbClr val="FFFFFF"/>
                    </a:solidFill>
                  </a:tcPr>
                </a:tc>
                <a:tc>
                  <a:txBody>
                    <a:bodyPr/>
                    <a:lstStyle/>
                    <a:p>
                      <a:r>
                        <a:rPr sz="938" b="0">
                          <a:solidFill>
                            <a:srgbClr val="172D3C"/>
                          </a:solidFill>
                          <a:latin typeface="Arial"/>
                          <a:ea typeface="Arial"/>
                          <a:cs typeface="Arial"/>
                        </a:rPr>
                        <a:t>60%</a:t>
                      </a:r>
                    </a:p>
                  </a:txBody>
                  <a:tcPr marL="28575" marR="28575" marT="7620" marB="7620">
                    <a:solidFill>
                      <a:srgbClr val="FFFFFF"/>
                    </a:solidFill>
                  </a:tcPr>
                </a:tc>
                <a:tc>
                  <a:txBody>
                    <a:bodyPr/>
                    <a:lstStyle/>
                    <a:p>
                      <a:r>
                        <a:rPr sz="938" b="0">
                          <a:solidFill>
                            <a:srgbClr val="172D3C"/>
                          </a:solidFill>
                          <a:latin typeface="Arial"/>
                          <a:ea typeface="Arial"/>
                          <a:cs typeface="Arial"/>
                        </a:rPr>
                        <a:t>56%</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51%</a:t>
                      </a:r>
                    </a:p>
                  </a:txBody>
                  <a:tcPr marL="28575" marR="28575" marT="7620" marB="7620">
                    <a:solidFill>
                      <a:srgbClr val="FFFFFF"/>
                    </a:solidFill>
                  </a:tcPr>
                </a:tc>
                <a:tc>
                  <a:txBody>
                    <a:bodyPr/>
                    <a:lstStyle/>
                    <a:p>
                      <a:r>
                        <a:rPr sz="938" b="0">
                          <a:solidFill>
                            <a:srgbClr val="172D3C"/>
                          </a:solidFill>
                          <a:latin typeface="Arial"/>
                          <a:ea typeface="Arial"/>
                          <a:cs typeface="Arial"/>
                        </a:rPr>
                        <a:t>50%</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45%</a:t>
                      </a:r>
                    </a:p>
                  </a:txBody>
                  <a:tcPr marL="28575" marR="28575" marT="7620" marB="7620">
                    <a:solidFill>
                      <a:srgbClr val="FFFFFF"/>
                    </a:solidFill>
                  </a:tcPr>
                </a:tc>
                <a:tc>
                  <a:txBody>
                    <a:bodyPr/>
                    <a:lstStyle/>
                    <a:p>
                      <a:r>
                        <a:rPr sz="938" b="0">
                          <a:solidFill>
                            <a:srgbClr val="172D3C"/>
                          </a:solidFill>
                          <a:latin typeface="Arial"/>
                          <a:ea typeface="Arial"/>
                          <a:cs typeface="Arial"/>
                        </a:rPr>
                        <a:t>43%</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38%</a:t>
                      </a:r>
                    </a:p>
                  </a:txBody>
                  <a:tcPr marL="28575" marR="28575" marT="7620" marB="7620">
                    <a:solidFill>
                      <a:srgbClr val="FFFFFF"/>
                    </a:solidFill>
                  </a:tcPr>
                </a:tc>
                <a:tc>
                  <a:txBody>
                    <a:bodyPr/>
                    <a:lstStyle/>
                    <a:p>
                      <a:r>
                        <a:rPr sz="938" b="0">
                          <a:solidFill>
                            <a:srgbClr val="172D3C"/>
                          </a:solidFill>
                          <a:latin typeface="Arial"/>
                          <a:ea typeface="Arial"/>
                          <a:cs typeface="Arial"/>
                        </a:rPr>
                        <a:t>37%</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2024-09</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79%</a:t>
                      </a:r>
                    </a:p>
                  </a:txBody>
                  <a:tcPr marL="28575" marR="28575" marT="7620" marB="7620">
                    <a:solidFill>
                      <a:srgbClr val="F0F5F6"/>
                    </a:solidFill>
                  </a:tcPr>
                </a:tc>
                <a:tc>
                  <a:txBody>
                    <a:bodyPr/>
                    <a:lstStyle/>
                    <a:p>
                      <a:r>
                        <a:rPr sz="938" b="0">
                          <a:solidFill>
                            <a:srgbClr val="172D3C"/>
                          </a:solidFill>
                          <a:latin typeface="Arial"/>
                          <a:ea typeface="Arial"/>
                          <a:cs typeface="Arial"/>
                        </a:rPr>
                        <a:t>72%</a:t>
                      </a:r>
                    </a:p>
                  </a:txBody>
                  <a:tcPr marL="28575" marR="28575" marT="7620" marB="7620">
                    <a:solidFill>
                      <a:srgbClr val="F0F5F6"/>
                    </a:solidFill>
                  </a:tcPr>
                </a:tc>
                <a:tc>
                  <a:txBody>
                    <a:bodyPr/>
                    <a:lstStyle/>
                    <a:p>
                      <a:r>
                        <a:rPr sz="938" b="0">
                          <a:solidFill>
                            <a:srgbClr val="172D3C"/>
                          </a:solidFill>
                          <a:latin typeface="Arial"/>
                          <a:ea typeface="Arial"/>
                          <a:cs typeface="Arial"/>
                        </a:rPr>
                        <a:t>65%</a:t>
                      </a:r>
                    </a:p>
                  </a:txBody>
                  <a:tcPr marL="28575" marR="28575" marT="7620" marB="7620">
                    <a:solidFill>
                      <a:srgbClr val="F0F5F6"/>
                    </a:solidFill>
                  </a:tcPr>
                </a:tc>
                <a:tc>
                  <a:txBody>
                    <a:bodyPr/>
                    <a:lstStyle/>
                    <a:p>
                      <a:r>
                        <a:rPr sz="938" b="0">
                          <a:solidFill>
                            <a:srgbClr val="172D3C"/>
                          </a:solidFill>
                          <a:latin typeface="Arial"/>
                          <a:ea typeface="Arial"/>
                          <a:cs typeface="Arial"/>
                        </a:rPr>
                        <a:t>60%</a:t>
                      </a:r>
                    </a:p>
                  </a:txBody>
                  <a:tcPr marL="28575" marR="28575" marT="7620" marB="7620">
                    <a:solidFill>
                      <a:srgbClr val="F0F5F6"/>
                    </a:solidFill>
                  </a:tcPr>
                </a:tc>
                <a:tc>
                  <a:txBody>
                    <a:bodyPr/>
                    <a:lstStyle/>
                    <a:p>
                      <a:r>
                        <a:rPr sz="938" b="0">
                          <a:solidFill>
                            <a:srgbClr val="172D3C"/>
                          </a:solidFill>
                          <a:latin typeface="Arial"/>
                          <a:ea typeface="Arial"/>
                          <a:cs typeface="Arial"/>
                        </a:rPr>
                        <a:t>56%</a:t>
                      </a:r>
                    </a:p>
                  </a:txBody>
                  <a:tcPr marL="28575" marR="28575" marT="7620" marB="7620">
                    <a:solidFill>
                      <a:srgbClr val="F0F5F6"/>
                    </a:solidFill>
                  </a:tcPr>
                </a:tc>
                <a:tc>
                  <a:txBody>
                    <a:bodyPr/>
                    <a:lstStyle/>
                    <a:p>
                      <a:r>
                        <a:rPr sz="938" b="0">
                          <a:solidFill>
                            <a:srgbClr val="172D3C"/>
                          </a:solidFill>
                          <a:latin typeface="Arial"/>
                          <a:ea typeface="Arial"/>
                          <a:cs typeface="Arial"/>
                        </a:rPr>
                        <a:t>51%</a:t>
                      </a:r>
                    </a:p>
                  </a:txBody>
                  <a:tcPr marL="28575" marR="28575" marT="7620" marB="7620">
                    <a:solidFill>
                      <a:srgbClr val="F0F5F6"/>
                    </a:solidFill>
                  </a:tcPr>
                </a:tc>
                <a:tc>
                  <a:txBody>
                    <a:bodyPr/>
                    <a:lstStyle/>
                    <a:p>
                      <a:r>
                        <a:rPr sz="938" b="0">
                          <a:solidFill>
                            <a:srgbClr val="172D3C"/>
                          </a:solidFill>
                          <a:latin typeface="Arial"/>
                          <a:ea typeface="Arial"/>
                          <a:cs typeface="Arial"/>
                        </a:rPr>
                        <a:t>51%</a:t>
                      </a:r>
                    </a:p>
                  </a:txBody>
                  <a:tcPr marL="28575" marR="28575" marT="7620" marB="7620">
                    <a:solidFill>
                      <a:srgbClr val="F0F5F6"/>
                    </a:solidFill>
                  </a:tcPr>
                </a:tc>
                <a:tc>
                  <a:txBody>
                    <a:bodyPr/>
                    <a:lstStyle/>
                    <a:p>
                      <a:r>
                        <a:rPr sz="938" b="0">
                          <a:solidFill>
                            <a:srgbClr val="172D3C"/>
                          </a:solidFill>
                          <a:latin typeface="Arial"/>
                          <a:ea typeface="Arial"/>
                          <a:cs typeface="Arial"/>
                        </a:rPr>
                        <a:t>47%</a:t>
                      </a:r>
                    </a:p>
                  </a:txBody>
                  <a:tcPr marL="28575" marR="28575" marT="7620" marB="7620">
                    <a:solidFill>
                      <a:srgbClr val="F0F5F6"/>
                    </a:solidFill>
                  </a:tcPr>
                </a:tc>
                <a:tc>
                  <a:txBody>
                    <a:bodyPr/>
                    <a:lstStyle/>
                    <a:p>
                      <a:r>
                        <a:rPr sz="938" b="0">
                          <a:solidFill>
                            <a:srgbClr val="172D3C"/>
                          </a:solidFill>
                          <a:latin typeface="Arial"/>
                          <a:ea typeface="Arial"/>
                          <a:cs typeface="Arial"/>
                        </a:rPr>
                        <a:t>46%</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43%</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40%</a:t>
                      </a:r>
                    </a:p>
                  </a:txBody>
                  <a:tcPr marL="28575" marR="28575" marT="7620" marB="7620">
                    <a:solidFill>
                      <a:srgbClr val="F0F5F6"/>
                    </a:solidFill>
                  </a:tcPr>
                </a:tc>
                <a:tc>
                  <a:txBody>
                    <a:bodyPr/>
                    <a:lstStyle/>
                    <a:p>
                      <a:r>
                        <a:rPr sz="938" b="0">
                          <a:solidFill>
                            <a:srgbClr val="172D3C"/>
                          </a:solidFill>
                          <a:latin typeface="Arial"/>
                          <a:ea typeface="Arial"/>
                          <a:cs typeface="Arial"/>
                        </a:rPr>
                        <a:t>39%</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2024-10</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87%</a:t>
                      </a:r>
                    </a:p>
                  </a:txBody>
                  <a:tcPr marL="28575" marR="28575" marT="7620" marB="7620">
                    <a:solidFill>
                      <a:srgbClr val="FFFFFF"/>
                    </a:solidFill>
                  </a:tcPr>
                </a:tc>
                <a:tc>
                  <a:txBody>
                    <a:bodyPr/>
                    <a:lstStyle/>
                    <a:p>
                      <a:r>
                        <a:rPr sz="938" b="0">
                          <a:solidFill>
                            <a:srgbClr val="172D3C"/>
                          </a:solidFill>
                          <a:latin typeface="Arial"/>
                          <a:ea typeface="Arial"/>
                          <a:cs typeface="Arial"/>
                        </a:rPr>
                        <a:t>76%</a:t>
                      </a:r>
                    </a:p>
                  </a:txBody>
                  <a:tcPr marL="28575" marR="28575" marT="7620" marB="7620">
                    <a:solidFill>
                      <a:srgbClr val="FFFFFF"/>
                    </a:solidFill>
                  </a:tcPr>
                </a:tc>
                <a:tc>
                  <a:txBody>
                    <a:bodyPr/>
                    <a:lstStyle/>
                    <a:p>
                      <a:r>
                        <a:rPr sz="938" b="0">
                          <a:solidFill>
                            <a:srgbClr val="172D3C"/>
                          </a:solidFill>
                          <a:latin typeface="Arial"/>
                          <a:ea typeface="Arial"/>
                          <a:cs typeface="Arial"/>
                        </a:rPr>
                        <a:t>70%</a:t>
                      </a:r>
                    </a:p>
                  </a:txBody>
                  <a:tcPr marL="28575" marR="28575" marT="7620" marB="7620">
                    <a:solidFill>
                      <a:srgbClr val="FFFFFF"/>
                    </a:solidFill>
                  </a:tcPr>
                </a:tc>
                <a:tc>
                  <a:txBody>
                    <a:bodyPr/>
                    <a:lstStyle/>
                    <a:p>
                      <a:r>
                        <a:rPr sz="938" b="0">
                          <a:solidFill>
                            <a:srgbClr val="172D3C"/>
                          </a:solidFill>
                          <a:latin typeface="Arial"/>
                          <a:ea typeface="Arial"/>
                          <a:cs typeface="Arial"/>
                        </a:rPr>
                        <a:t>63%</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51%</a:t>
                      </a:r>
                    </a:p>
                  </a:txBody>
                  <a:tcPr marL="28575" marR="28575" marT="7620" marB="7620">
                    <a:solidFill>
                      <a:srgbClr val="FFFFFF"/>
                    </a:solidFill>
                  </a:tcPr>
                </a:tc>
                <a:tc>
                  <a:txBody>
                    <a:bodyPr/>
                    <a:lstStyle/>
                    <a:p>
                      <a:r>
                        <a:rPr sz="938" b="0">
                          <a:solidFill>
                            <a:srgbClr val="172D3C"/>
                          </a:solidFill>
                          <a:latin typeface="Arial"/>
                          <a:ea typeface="Arial"/>
                          <a:cs typeface="Arial"/>
                        </a:rPr>
                        <a:t>48%</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45%</a:t>
                      </a:r>
                    </a:p>
                  </a:txBody>
                  <a:tcPr marL="28575" marR="28575" marT="7620" marB="7620">
                    <a:solidFill>
                      <a:srgbClr val="FFFFFF"/>
                    </a:solidFill>
                  </a:tcPr>
                </a:tc>
                <a:tc>
                  <a:txBody>
                    <a:bodyPr/>
                    <a:lstStyle/>
                    <a:p>
                      <a:r>
                        <a:rPr sz="938" b="0">
                          <a:solidFill>
                            <a:srgbClr val="172D3C"/>
                          </a:solidFill>
                          <a:latin typeface="Arial"/>
                          <a:ea typeface="Arial"/>
                          <a:cs typeface="Arial"/>
                        </a:rPr>
                        <a:t>43%</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39%</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2024-11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70%</a:t>
                      </a:r>
                    </a:p>
                  </a:txBody>
                  <a:tcPr marL="28575" marR="28575" marT="7620" marB="7620">
                    <a:solidFill>
                      <a:srgbClr val="F0F5F6"/>
                    </a:solidFill>
                  </a:tcPr>
                </a:tc>
                <a:tc>
                  <a:txBody>
                    <a:bodyPr/>
                    <a:lstStyle/>
                    <a:p>
                      <a:r>
                        <a:rPr sz="938" b="0">
                          <a:solidFill>
                            <a:srgbClr val="172D3C"/>
                          </a:solidFill>
                          <a:latin typeface="Arial"/>
                          <a:ea typeface="Arial"/>
                          <a:cs typeface="Arial"/>
                        </a:rPr>
                        <a:t>66%</a:t>
                      </a:r>
                    </a:p>
                  </a:txBody>
                  <a:tcPr marL="28575" marR="28575" marT="7620" marB="7620">
                    <a:solidFill>
                      <a:srgbClr val="F0F5F6"/>
                    </a:solidFill>
                  </a:tcPr>
                </a:tc>
                <a:tc>
                  <a:txBody>
                    <a:bodyPr/>
                    <a:lstStyle/>
                    <a:p>
                      <a:r>
                        <a:rPr sz="938" b="0">
                          <a:solidFill>
                            <a:srgbClr val="172D3C"/>
                          </a:solidFill>
                          <a:latin typeface="Arial"/>
                          <a:ea typeface="Arial"/>
                          <a:cs typeface="Arial"/>
                        </a:rPr>
                        <a:t>61%</a:t>
                      </a:r>
                    </a:p>
                  </a:txBody>
                  <a:tcPr marL="28575" marR="28575" marT="7620" marB="7620">
                    <a:solidFill>
                      <a:srgbClr val="F0F5F6"/>
                    </a:solidFill>
                  </a:tcPr>
                </a:tc>
                <a:tc>
                  <a:txBody>
                    <a:bodyPr/>
                    <a:lstStyle/>
                    <a:p>
                      <a:r>
                        <a:rPr sz="938" b="0">
                          <a:solidFill>
                            <a:srgbClr val="172D3C"/>
                          </a:solidFill>
                          <a:latin typeface="Arial"/>
                          <a:ea typeface="Arial"/>
                          <a:cs typeface="Arial"/>
                        </a:rPr>
                        <a:t>56%</a:t>
                      </a:r>
                    </a:p>
                  </a:txBody>
                  <a:tcPr marL="28575" marR="28575" marT="7620" marB="7620">
                    <a:solidFill>
                      <a:srgbClr val="F0F5F6"/>
                    </a:solidFill>
                  </a:tcPr>
                </a:tc>
                <a:tc>
                  <a:txBody>
                    <a:bodyPr/>
                    <a:lstStyle/>
                    <a:p>
                      <a:r>
                        <a:rPr sz="938" b="0">
                          <a:solidFill>
                            <a:srgbClr val="172D3C"/>
                          </a:solidFill>
                          <a:latin typeface="Arial"/>
                          <a:ea typeface="Arial"/>
                          <a:cs typeface="Arial"/>
                        </a:rPr>
                        <a:t>53%</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44%</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41%</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2024-12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88%</a:t>
                      </a:r>
                    </a:p>
                  </a:txBody>
                  <a:tcPr marL="28575" marR="28575" marT="7620" marB="7620">
                    <a:solidFill>
                      <a:srgbClr val="FFFFFF"/>
                    </a:solidFill>
                  </a:tcPr>
                </a:tc>
                <a:tc>
                  <a:txBody>
                    <a:bodyPr/>
                    <a:lstStyle/>
                    <a:p>
                      <a:r>
                        <a:rPr sz="938" b="0">
                          <a:solidFill>
                            <a:srgbClr val="172D3C"/>
                          </a:solidFill>
                          <a:latin typeface="Arial"/>
                          <a:ea typeface="Arial"/>
                          <a:cs typeface="Arial"/>
                        </a:rPr>
                        <a:t>75%</a:t>
                      </a:r>
                    </a:p>
                  </a:txBody>
                  <a:tcPr marL="28575" marR="28575" marT="7620" marB="7620">
                    <a:solidFill>
                      <a:srgbClr val="FFFFFF"/>
                    </a:solidFill>
                  </a:tcPr>
                </a:tc>
                <a:tc>
                  <a:txBody>
                    <a:bodyPr/>
                    <a:lstStyle/>
                    <a:p>
                      <a:r>
                        <a:rPr sz="938" b="0">
                          <a:solidFill>
                            <a:srgbClr val="172D3C"/>
                          </a:solidFill>
                          <a:latin typeface="Arial"/>
                          <a:ea typeface="Arial"/>
                          <a:cs typeface="Arial"/>
                        </a:rPr>
                        <a:t>65%</a:t>
                      </a:r>
                    </a:p>
                  </a:txBody>
                  <a:tcPr marL="28575" marR="28575" marT="7620" marB="7620">
                    <a:solidFill>
                      <a:srgbClr val="FFFFFF"/>
                    </a:solidFill>
                  </a:tcPr>
                </a:tc>
                <a:tc>
                  <a:txBody>
                    <a:bodyPr/>
                    <a:lstStyle/>
                    <a:p>
                      <a:r>
                        <a:rPr sz="938" b="0">
                          <a:solidFill>
                            <a:srgbClr val="172D3C"/>
                          </a:solidFill>
                          <a:latin typeface="Arial"/>
                          <a:ea typeface="Arial"/>
                          <a:cs typeface="Arial"/>
                        </a:rPr>
                        <a:t>58%</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46%</a:t>
                      </a:r>
                    </a:p>
                  </a:txBody>
                  <a:tcPr marL="28575" marR="28575" marT="7620" marB="7620">
                    <a:solidFill>
                      <a:srgbClr val="FFFFFF"/>
                    </a:solidFill>
                  </a:tcPr>
                </a:tc>
                <a:tc>
                  <a:txBody>
                    <a:bodyPr/>
                    <a:lstStyle/>
                    <a:p>
                      <a:r>
                        <a:rPr sz="938" b="0">
                          <a:solidFill>
                            <a:srgbClr val="172D3C"/>
                          </a:solidFill>
                          <a:latin typeface="Arial"/>
                          <a:ea typeface="Arial"/>
                          <a:cs typeface="Arial"/>
                        </a:rPr>
                        <a:t>44%</a:t>
                      </a:r>
                    </a:p>
                  </a:txBody>
                  <a:tcPr marL="28575" marR="28575" marT="7620" marB="7620">
                    <a:solidFill>
                      <a:srgbClr val="FFFFFF"/>
                    </a:solidFill>
                  </a:tcPr>
                </a:tc>
                <a:tc>
                  <a:txBody>
                    <a:bodyPr/>
                    <a:lstStyle/>
                    <a:p>
                      <a:r>
                        <a:rPr sz="938" b="0">
                          <a:solidFill>
                            <a:srgbClr val="172D3C"/>
                          </a:solidFill>
                          <a:latin typeface="Arial"/>
                          <a:ea typeface="Arial"/>
                          <a:cs typeface="Arial"/>
                        </a:rPr>
                        <a:t>43%</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42%</a:t>
                      </a:r>
                    </a:p>
                  </a:txBody>
                  <a:tcPr marL="28575" marR="28575" marT="7620" marB="7620">
                    <a:solidFill>
                      <a:srgbClr val="FFFFFF"/>
                    </a:solidFill>
                  </a:tcPr>
                </a:tc>
                <a:tc>
                  <a:txBody>
                    <a:bodyPr/>
                    <a:lstStyle/>
                    <a:p>
                      <a:r>
                        <a:rPr sz="938" b="0">
                          <a:solidFill>
                            <a:srgbClr val="172D3C"/>
                          </a:solidFill>
                          <a:latin typeface="Arial"/>
                          <a:ea typeface="Arial"/>
                          <a:cs typeface="Arial"/>
                        </a:rPr>
                        <a:t>40%</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82%</a:t>
                      </a:r>
                    </a:p>
                  </a:txBody>
                  <a:tcPr marL="28575" marR="28575" marT="7620" marB="7620">
                    <a:solidFill>
                      <a:srgbClr val="F0F5F6"/>
                    </a:solidFill>
                  </a:tcPr>
                </a:tc>
                <a:tc>
                  <a:txBody>
                    <a:bodyPr/>
                    <a:lstStyle/>
                    <a:p>
                      <a:r>
                        <a:rPr sz="938" b="0">
                          <a:solidFill>
                            <a:srgbClr val="172D3C"/>
                          </a:solidFill>
                          <a:latin typeface="Arial"/>
                          <a:ea typeface="Arial"/>
                          <a:cs typeface="Arial"/>
                        </a:rPr>
                        <a:t>71%</a:t>
                      </a:r>
                    </a:p>
                  </a:txBody>
                  <a:tcPr marL="28575" marR="28575" marT="7620" marB="7620">
                    <a:solidFill>
                      <a:srgbClr val="F0F5F6"/>
                    </a:solidFill>
                  </a:tcPr>
                </a:tc>
                <a:tc>
                  <a:txBody>
                    <a:bodyPr/>
                    <a:lstStyle/>
                    <a:p>
                      <a:r>
                        <a:rPr sz="938" b="0">
                          <a:solidFill>
                            <a:srgbClr val="172D3C"/>
                          </a:solidFill>
                          <a:latin typeface="Arial"/>
                          <a:ea typeface="Arial"/>
                          <a:cs typeface="Arial"/>
                        </a:rPr>
                        <a:t>63%</a:t>
                      </a:r>
                    </a:p>
                  </a:txBody>
                  <a:tcPr marL="28575" marR="28575" marT="7620" marB="7620">
                    <a:solidFill>
                      <a:srgbClr val="F0F5F6"/>
                    </a:solidFill>
                  </a:tcPr>
                </a:tc>
                <a:tc>
                  <a:txBody>
                    <a:bodyPr/>
                    <a:lstStyle/>
                    <a:p>
                      <a:r>
                        <a:rPr sz="938" b="0">
                          <a:solidFill>
                            <a:srgbClr val="172D3C"/>
                          </a:solidFill>
                          <a:latin typeface="Arial"/>
                          <a:ea typeface="Arial"/>
                          <a:cs typeface="Arial"/>
                        </a:rPr>
                        <a:t>58%</a:t>
                      </a:r>
                    </a:p>
                  </a:txBody>
                  <a:tcPr marL="28575" marR="28575" marT="7620" marB="7620">
                    <a:solidFill>
                      <a:srgbClr val="F0F5F6"/>
                    </a:solidFill>
                  </a:tcPr>
                </a:tc>
                <a:tc>
                  <a:txBody>
                    <a:bodyPr/>
                    <a:lstStyle/>
                    <a:p>
                      <a:r>
                        <a:rPr sz="938" b="0">
                          <a:solidFill>
                            <a:srgbClr val="172D3C"/>
                          </a:solidFill>
                          <a:latin typeface="Arial"/>
                          <a:ea typeface="Arial"/>
                          <a:cs typeface="Arial"/>
                        </a:rPr>
                        <a:t>53%</a:t>
                      </a:r>
                    </a:p>
                  </a:txBody>
                  <a:tcPr marL="28575" marR="28575" marT="7620" marB="7620">
                    <a:solidFill>
                      <a:srgbClr val="F0F5F6"/>
                    </a:solidFill>
                  </a:tcPr>
                </a:tc>
                <a:tc>
                  <a:txBody>
                    <a:bodyPr/>
                    <a:lstStyle/>
                    <a:p>
                      <a:r>
                        <a:rPr sz="938" b="0">
                          <a:solidFill>
                            <a:srgbClr val="172D3C"/>
                          </a:solidFill>
                          <a:latin typeface="Arial"/>
                          <a:ea typeface="Arial"/>
                          <a:cs typeface="Arial"/>
                        </a:rPr>
                        <a:t>52%</a:t>
                      </a:r>
                    </a:p>
                  </a:txBody>
                  <a:tcPr marL="28575" marR="28575" marT="7620" marB="7620">
                    <a:solidFill>
                      <a:srgbClr val="F0F5F6"/>
                    </a:solidFill>
                  </a:tcPr>
                </a:tc>
                <a:tc>
                  <a:txBody>
                    <a:bodyPr/>
                    <a:lstStyle/>
                    <a:p>
                      <a:r>
                        <a:rPr sz="938" b="0">
                          <a:solidFill>
                            <a:srgbClr val="172D3C"/>
                          </a:solidFill>
                          <a:latin typeface="Arial"/>
                          <a:ea typeface="Arial"/>
                          <a:cs typeface="Arial"/>
                        </a:rPr>
                        <a:t>49%</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45%</a:t>
                      </a:r>
                    </a:p>
                  </a:txBody>
                  <a:tcPr marL="28575" marR="28575" marT="7620" marB="7620">
                    <a:solidFill>
                      <a:srgbClr val="F0F5F6"/>
                    </a:solidFill>
                  </a:tcPr>
                </a:tc>
                <a:tc>
                  <a:txBody>
                    <a:bodyPr/>
                    <a:lstStyle/>
                    <a:p>
                      <a:r>
                        <a:rPr sz="938" b="0">
                          <a:solidFill>
                            <a:srgbClr val="172D3C"/>
                          </a:solidFill>
                          <a:latin typeface="Arial"/>
                          <a:ea typeface="Arial"/>
                          <a:cs typeface="Arial"/>
                        </a:rPr>
                        <a:t>43%</a:t>
                      </a:r>
                    </a:p>
                  </a:txBody>
                  <a:tcPr marL="28575" marR="28575" marT="7620" marB="7620">
                    <a:solidFill>
                      <a:srgbClr val="F0F5F6"/>
                    </a:solidFill>
                  </a:tcPr>
                </a:tc>
                <a:tc>
                  <a:txBody>
                    <a:bodyPr/>
                    <a:lstStyle/>
                    <a:p>
                      <a:r>
                        <a:rPr sz="938" b="0">
                          <a:solidFill>
                            <a:srgbClr val="172D3C"/>
                          </a:solidFill>
                          <a:latin typeface="Arial"/>
                          <a:ea typeface="Arial"/>
                          <a:cs typeface="Arial"/>
                        </a:rPr>
                        <a:t>42%</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83%</a:t>
                      </a:r>
                    </a:p>
                  </a:txBody>
                  <a:tcPr marL="28575" marR="28575" marT="7620" marB="7620">
                    <a:solidFill>
                      <a:srgbClr val="FFFFFF"/>
                    </a:solidFill>
                  </a:tcPr>
                </a:tc>
                <a:tc>
                  <a:txBody>
                    <a:bodyPr/>
                    <a:lstStyle/>
                    <a:p>
                      <a:r>
                        <a:rPr sz="938" b="0">
                          <a:solidFill>
                            <a:srgbClr val="172D3C"/>
                          </a:solidFill>
                          <a:latin typeface="Arial"/>
                          <a:ea typeface="Arial"/>
                          <a:cs typeface="Arial"/>
                        </a:rPr>
                        <a:t>76%</a:t>
                      </a:r>
                    </a:p>
                  </a:txBody>
                  <a:tcPr marL="28575" marR="28575" marT="7620" marB="7620">
                    <a:solidFill>
                      <a:srgbClr val="FFFFFF"/>
                    </a:solidFill>
                  </a:tcPr>
                </a:tc>
                <a:tc>
                  <a:txBody>
                    <a:bodyPr/>
                    <a:lstStyle/>
                    <a:p>
                      <a:r>
                        <a:rPr sz="938" b="0">
                          <a:solidFill>
                            <a:srgbClr val="172D3C"/>
                          </a:solidFill>
                          <a:latin typeface="Arial"/>
                          <a:ea typeface="Arial"/>
                          <a:cs typeface="Arial"/>
                        </a:rPr>
                        <a:t>73%</a:t>
                      </a:r>
                    </a:p>
                  </a:txBody>
                  <a:tcPr marL="28575" marR="28575" marT="7620" marB="7620">
                    <a:solidFill>
                      <a:srgbClr val="FFFFFF"/>
                    </a:solidFill>
                  </a:tcPr>
                </a:tc>
                <a:tc>
                  <a:txBody>
                    <a:bodyPr/>
                    <a:lstStyle/>
                    <a:p>
                      <a:r>
                        <a:rPr sz="938" b="0">
                          <a:solidFill>
                            <a:srgbClr val="172D3C"/>
                          </a:solidFill>
                          <a:latin typeface="Arial"/>
                          <a:ea typeface="Arial"/>
                          <a:cs typeface="Arial"/>
                        </a:rPr>
                        <a:t>70%</a:t>
                      </a:r>
                    </a:p>
                  </a:txBody>
                  <a:tcPr marL="28575" marR="28575" marT="7620" marB="7620">
                    <a:solidFill>
                      <a:srgbClr val="FFFFFF"/>
                    </a:solidFill>
                  </a:tcPr>
                </a:tc>
                <a:tc>
                  <a:txBody>
                    <a:bodyPr/>
                    <a:lstStyle/>
                    <a:p>
                      <a:r>
                        <a:rPr sz="938" b="0">
                          <a:solidFill>
                            <a:srgbClr val="172D3C"/>
                          </a:solidFill>
                          <a:latin typeface="Arial"/>
                          <a:ea typeface="Arial"/>
                          <a:cs typeface="Arial"/>
                        </a:rPr>
                        <a:t>64%</a:t>
                      </a:r>
                    </a:p>
                  </a:txBody>
                  <a:tcPr marL="28575" marR="28575" marT="7620" marB="7620">
                    <a:solidFill>
                      <a:srgbClr val="FFFFFF"/>
                    </a:solidFill>
                  </a:tcPr>
                </a:tc>
                <a:tc>
                  <a:txBody>
                    <a:bodyPr/>
                    <a:lstStyle/>
                    <a:p>
                      <a:r>
                        <a:rPr sz="938" b="0">
                          <a:solidFill>
                            <a:srgbClr val="172D3C"/>
                          </a:solidFill>
                          <a:latin typeface="Arial"/>
                          <a:ea typeface="Arial"/>
                          <a:cs typeface="Arial"/>
                        </a:rPr>
                        <a:t>59%</a:t>
                      </a:r>
                    </a:p>
                  </a:txBody>
                  <a:tcPr marL="28575" marR="28575" marT="7620" marB="7620">
                    <a:solidFill>
                      <a:srgbClr val="FFFFFF"/>
                    </a:solidFill>
                  </a:tcPr>
                </a:tc>
                <a:tc>
                  <a:txBody>
                    <a:bodyPr/>
                    <a:lstStyle/>
                    <a:p>
                      <a:r>
                        <a:rPr sz="938" b="0">
                          <a:solidFill>
                            <a:srgbClr val="172D3C"/>
                          </a:solidFill>
                          <a:latin typeface="Arial"/>
                          <a:ea typeface="Arial"/>
                          <a:cs typeface="Arial"/>
                        </a:rPr>
                        <a:t>55%</a:t>
                      </a:r>
                    </a:p>
                  </a:txBody>
                  <a:tcPr marL="28575" marR="28575" marT="7620" marB="7620">
                    <a:solidFill>
                      <a:srgbClr val="FFFFFF"/>
                    </a:solidFill>
                  </a:tcPr>
                </a:tc>
                <a:tc>
                  <a:txBody>
                    <a:bodyPr/>
                    <a:lstStyle/>
                    <a:p>
                      <a:r>
                        <a:rPr sz="938" b="0">
                          <a:solidFill>
                            <a:srgbClr val="172D3C"/>
                          </a:solidFill>
                          <a:latin typeface="Arial"/>
                          <a:ea typeface="Arial"/>
                          <a:cs typeface="Arial"/>
                        </a:rPr>
                        <a:t>52%</a:t>
                      </a:r>
                    </a:p>
                  </a:txBody>
                  <a:tcPr marL="28575" marR="28575" marT="7620" marB="7620">
                    <a:solidFill>
                      <a:srgbClr val="FFFFFF"/>
                    </a:solidFill>
                  </a:tcPr>
                </a:tc>
                <a:tc>
                  <a:txBody>
                    <a:bodyPr/>
                    <a:lstStyle/>
                    <a:p>
                      <a:r>
                        <a:rPr sz="938" b="0">
                          <a:solidFill>
                            <a:srgbClr val="172D3C"/>
                          </a:solidFill>
                          <a:latin typeface="Arial"/>
                          <a:ea typeface="Arial"/>
                          <a:cs typeface="Arial"/>
                        </a:rPr>
                        <a:t>49%</a:t>
                      </a:r>
                    </a:p>
                  </a:txBody>
                  <a:tcPr marL="28575" marR="28575" marT="7620" marB="7620">
                    <a:solidFill>
                      <a:srgbClr val="FFFFFF"/>
                    </a:solidFill>
                  </a:tcPr>
                </a:tc>
                <a:tc>
                  <a:txBody>
                    <a:bodyPr/>
                    <a:lstStyle/>
                    <a:p>
                      <a:r>
                        <a:rPr sz="938" b="0">
                          <a:solidFill>
                            <a:srgbClr val="172D3C"/>
                          </a:solidFill>
                          <a:latin typeface="Arial"/>
                          <a:ea typeface="Arial"/>
                          <a:cs typeface="Arial"/>
                        </a:rPr>
                        <a:t>47%</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2025-03</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81%</a:t>
                      </a:r>
                    </a:p>
                  </a:txBody>
                  <a:tcPr marL="28575" marR="28575" marT="7620" marB="7620">
                    <a:solidFill>
                      <a:srgbClr val="F0F5F6"/>
                    </a:solidFill>
                  </a:tcPr>
                </a:tc>
                <a:tc>
                  <a:txBody>
                    <a:bodyPr/>
                    <a:lstStyle/>
                    <a:p>
                      <a:r>
                        <a:rPr sz="938" b="0">
                          <a:solidFill>
                            <a:srgbClr val="172D3C"/>
                          </a:solidFill>
                          <a:latin typeface="Arial"/>
                          <a:ea typeface="Arial"/>
                          <a:cs typeface="Arial"/>
                        </a:rPr>
                        <a:t>71%</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61%</a:t>
                      </a:r>
                    </a:p>
                  </a:txBody>
                  <a:tcPr marL="28575" marR="28575" marT="7620" marB="7620">
                    <a:solidFill>
                      <a:srgbClr val="F0F5F6"/>
                    </a:solidFill>
                  </a:tcPr>
                </a:tc>
                <a:tc>
                  <a:txBody>
                    <a:bodyPr/>
                    <a:lstStyle/>
                    <a:p>
                      <a:r>
                        <a:rPr sz="938" b="0">
                          <a:solidFill>
                            <a:srgbClr val="172D3C"/>
                          </a:solidFill>
                          <a:latin typeface="Arial"/>
                          <a:ea typeface="Arial"/>
                          <a:cs typeface="Arial"/>
                        </a:rPr>
                        <a:t>58%</a:t>
                      </a:r>
                    </a:p>
                  </a:txBody>
                  <a:tcPr marL="28575" marR="28575" marT="7620" marB="7620">
                    <a:solidFill>
                      <a:srgbClr val="F0F5F6"/>
                    </a:solidFill>
                  </a:tcPr>
                </a:tc>
                <a:tc>
                  <a:txBody>
                    <a:bodyPr/>
                    <a:lstStyle/>
                    <a:p>
                      <a:r>
                        <a:rPr sz="938" b="0">
                          <a:solidFill>
                            <a:srgbClr val="172D3C"/>
                          </a:solidFill>
                          <a:latin typeface="Arial"/>
                          <a:ea typeface="Arial"/>
                          <a:cs typeface="Arial"/>
                        </a:rPr>
                        <a:t>54%</a:t>
                      </a:r>
                    </a:p>
                  </a:txBody>
                  <a:tcPr marL="28575" marR="28575" marT="7620" marB="7620">
                    <a:solidFill>
                      <a:srgbClr val="F0F5F6"/>
                    </a:solidFill>
                  </a:tcPr>
                </a:tc>
                <a:tc>
                  <a:txBody>
                    <a:bodyPr/>
                    <a:lstStyle/>
                    <a:p>
                      <a:r>
                        <a:rPr sz="938" b="0">
                          <a:solidFill>
                            <a:srgbClr val="172D3C"/>
                          </a:solidFill>
                          <a:latin typeface="Arial"/>
                          <a:ea typeface="Arial"/>
                          <a:cs typeface="Arial"/>
                        </a:rPr>
                        <a:t>52%</a:t>
                      </a:r>
                    </a:p>
                  </a:txBody>
                  <a:tcPr marL="28575" marR="28575" marT="7620" marB="7620">
                    <a:solidFill>
                      <a:srgbClr val="F0F5F6"/>
                    </a:solidFill>
                  </a:tcPr>
                </a:tc>
                <a:tc>
                  <a:txBody>
                    <a:bodyPr/>
                    <a:lstStyle/>
                    <a:p>
                      <a:r>
                        <a:rPr sz="938" b="0">
                          <a:solidFill>
                            <a:srgbClr val="172D3C"/>
                          </a:solidFill>
                          <a:latin typeface="Arial"/>
                          <a:ea typeface="Arial"/>
                          <a:cs typeface="Arial"/>
                        </a:rPr>
                        <a:t>50%</a:t>
                      </a:r>
                    </a:p>
                  </a:txBody>
                  <a:tcPr marL="28575" marR="28575" marT="7620" marB="7620">
                    <a:solidFill>
                      <a:srgbClr val="F0F5F6"/>
                    </a:solidFill>
                  </a:tcPr>
                </a:tc>
                <a:tc>
                  <a:txBody>
                    <a:bodyPr/>
                    <a:lstStyle/>
                    <a:p>
                      <a:r>
                        <a:rPr sz="938" b="0">
                          <a:solidFill>
                            <a:srgbClr val="172D3C"/>
                          </a:solidFill>
                          <a:latin typeface="Arial"/>
                          <a:ea typeface="Arial"/>
                          <a:cs typeface="Arial"/>
                        </a:rPr>
                        <a:t>48%</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2025-04</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86%</a:t>
                      </a:r>
                    </a:p>
                  </a:txBody>
                  <a:tcPr marL="28575" marR="28575" marT="7620" marB="7620">
                    <a:solidFill>
                      <a:srgbClr val="FFFFFF"/>
                    </a:solidFill>
                  </a:tcPr>
                </a:tc>
                <a:tc>
                  <a:txBody>
                    <a:bodyPr/>
                    <a:lstStyle/>
                    <a:p>
                      <a:r>
                        <a:rPr sz="938" b="0">
                          <a:solidFill>
                            <a:srgbClr val="172D3C"/>
                          </a:solidFill>
                          <a:latin typeface="Arial"/>
                          <a:ea typeface="Arial"/>
                          <a:cs typeface="Arial"/>
                        </a:rPr>
                        <a:t>81%</a:t>
                      </a:r>
                    </a:p>
                  </a:txBody>
                  <a:tcPr marL="28575" marR="28575" marT="7620" marB="7620">
                    <a:solidFill>
                      <a:srgbClr val="FFFFFF"/>
                    </a:solidFill>
                  </a:tcPr>
                </a:tc>
                <a:tc>
                  <a:txBody>
                    <a:bodyPr/>
                    <a:lstStyle/>
                    <a:p>
                      <a:r>
                        <a:rPr sz="938" b="0">
                          <a:solidFill>
                            <a:srgbClr val="172D3C"/>
                          </a:solidFill>
                          <a:latin typeface="Arial"/>
                          <a:ea typeface="Arial"/>
                          <a:cs typeface="Arial"/>
                        </a:rPr>
                        <a:t>73%</a:t>
                      </a:r>
                    </a:p>
                  </a:txBody>
                  <a:tcPr marL="28575" marR="28575" marT="7620" marB="7620">
                    <a:solidFill>
                      <a:srgbClr val="FFFFFF"/>
                    </a:solidFill>
                  </a:tcPr>
                </a:tc>
                <a:tc>
                  <a:txBody>
                    <a:bodyPr/>
                    <a:lstStyle/>
                    <a:p>
                      <a:r>
                        <a:rPr sz="938" b="0">
                          <a:solidFill>
                            <a:srgbClr val="172D3C"/>
                          </a:solidFill>
                          <a:latin typeface="Arial"/>
                          <a:ea typeface="Arial"/>
                          <a:cs typeface="Arial"/>
                        </a:rPr>
                        <a:t>69%</a:t>
                      </a:r>
                    </a:p>
                  </a:txBody>
                  <a:tcPr marL="28575" marR="28575" marT="7620" marB="7620">
                    <a:solidFill>
                      <a:srgbClr val="FFFFFF"/>
                    </a:solidFill>
                  </a:tcPr>
                </a:tc>
                <a:tc>
                  <a:txBody>
                    <a:bodyPr/>
                    <a:lstStyle/>
                    <a:p>
                      <a:r>
                        <a:rPr sz="938" b="0">
                          <a:solidFill>
                            <a:srgbClr val="172D3C"/>
                          </a:solidFill>
                          <a:latin typeface="Arial"/>
                          <a:ea typeface="Arial"/>
                          <a:cs typeface="Arial"/>
                        </a:rPr>
                        <a:t>64%</a:t>
                      </a:r>
                    </a:p>
                  </a:txBody>
                  <a:tcPr marL="28575" marR="28575" marT="7620" marB="7620">
                    <a:solidFill>
                      <a:srgbClr val="FFFFFF"/>
                    </a:solidFill>
                  </a:tcPr>
                </a:tc>
                <a:tc>
                  <a:txBody>
                    <a:bodyPr/>
                    <a:lstStyle/>
                    <a:p>
                      <a:r>
                        <a:rPr sz="938" b="0">
                          <a:solidFill>
                            <a:srgbClr val="172D3C"/>
                          </a:solidFill>
                          <a:latin typeface="Arial"/>
                          <a:ea typeface="Arial"/>
                          <a:cs typeface="Arial"/>
                        </a:rPr>
                        <a:t>61%</a:t>
                      </a:r>
                    </a:p>
                  </a:txBody>
                  <a:tcPr marL="28575" marR="28575" marT="7620" marB="7620">
                    <a:solidFill>
                      <a:srgbClr val="FFFFFF"/>
                    </a:solidFill>
                  </a:tcPr>
                </a:tc>
                <a:tc>
                  <a:txBody>
                    <a:bodyPr/>
                    <a:lstStyle/>
                    <a:p>
                      <a:r>
                        <a:rPr sz="938" b="0">
                          <a:solidFill>
                            <a:srgbClr val="172D3C"/>
                          </a:solidFill>
                          <a:latin typeface="Arial"/>
                          <a:ea typeface="Arial"/>
                          <a:cs typeface="Arial"/>
                        </a:rPr>
                        <a:t>57%</a:t>
                      </a:r>
                    </a:p>
                  </a:txBody>
                  <a:tcPr marL="28575" marR="28575" marT="7620" marB="7620">
                    <a:solidFill>
                      <a:srgbClr val="FFFFFF"/>
                    </a:solidFill>
                  </a:tcPr>
                </a:tc>
                <a:tc>
                  <a:txBody>
                    <a:bodyPr/>
                    <a:lstStyle/>
                    <a:p>
                      <a:r>
                        <a:rPr sz="938" b="0">
                          <a:solidFill>
                            <a:srgbClr val="172D3C"/>
                          </a:solidFill>
                          <a:latin typeface="Arial"/>
                          <a:ea typeface="Arial"/>
                          <a:cs typeface="Arial"/>
                        </a:rPr>
                        <a:t>53%</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2025-05</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90%</a:t>
                      </a:r>
                    </a:p>
                  </a:txBody>
                  <a:tcPr marL="28575" marR="28575" marT="7620" marB="7620">
                    <a:solidFill>
                      <a:srgbClr val="F0F5F6"/>
                    </a:solidFill>
                  </a:tcPr>
                </a:tc>
                <a:tc>
                  <a:txBody>
                    <a:bodyPr/>
                    <a:lstStyle/>
                    <a:p>
                      <a:r>
                        <a:rPr sz="938" b="0">
                          <a:solidFill>
                            <a:srgbClr val="172D3C"/>
                          </a:solidFill>
                          <a:latin typeface="Arial"/>
                          <a:ea typeface="Arial"/>
                          <a:cs typeface="Arial"/>
                        </a:rPr>
                        <a:t>82%</a:t>
                      </a:r>
                    </a:p>
                  </a:txBody>
                  <a:tcPr marL="28575" marR="28575" marT="7620" marB="7620">
                    <a:solidFill>
                      <a:srgbClr val="F0F5F6"/>
                    </a:solidFill>
                  </a:tcPr>
                </a:tc>
                <a:tc>
                  <a:txBody>
                    <a:bodyPr/>
                    <a:lstStyle/>
                    <a:p>
                      <a:r>
                        <a:rPr sz="938" b="0">
                          <a:solidFill>
                            <a:srgbClr val="172D3C"/>
                          </a:solidFill>
                          <a:latin typeface="Arial"/>
                          <a:ea typeface="Arial"/>
                          <a:cs typeface="Arial"/>
                        </a:rPr>
                        <a:t>75%</a:t>
                      </a:r>
                    </a:p>
                  </a:txBody>
                  <a:tcPr marL="28575" marR="28575" marT="7620" marB="7620">
                    <a:solidFill>
                      <a:srgbClr val="F0F5F6"/>
                    </a:solidFill>
                  </a:tcPr>
                </a:tc>
                <a:tc>
                  <a:txBody>
                    <a:bodyPr/>
                    <a:lstStyle/>
                    <a:p>
                      <a:r>
                        <a:rPr sz="938" b="0">
                          <a:solidFill>
                            <a:srgbClr val="172D3C"/>
                          </a:solidFill>
                          <a:latin typeface="Arial"/>
                          <a:ea typeface="Arial"/>
                          <a:cs typeface="Arial"/>
                        </a:rPr>
                        <a:t>73%</a:t>
                      </a:r>
                    </a:p>
                  </a:txBody>
                  <a:tcPr marL="28575" marR="28575" marT="7620" marB="7620">
                    <a:solidFill>
                      <a:srgbClr val="F0F5F6"/>
                    </a:solidFill>
                  </a:tcPr>
                </a:tc>
                <a:tc>
                  <a:txBody>
                    <a:bodyPr/>
                    <a:lstStyle/>
                    <a:p>
                      <a:r>
                        <a:rPr sz="938" b="0">
                          <a:solidFill>
                            <a:srgbClr val="172D3C"/>
                          </a:solidFill>
                          <a:latin typeface="Arial"/>
                          <a:ea typeface="Arial"/>
                          <a:cs typeface="Arial"/>
                        </a:rPr>
                        <a:t>69%</a:t>
                      </a:r>
                    </a:p>
                  </a:txBody>
                  <a:tcPr marL="28575" marR="28575" marT="7620" marB="7620">
                    <a:solidFill>
                      <a:srgbClr val="F0F5F6"/>
                    </a:solidFill>
                  </a:tcPr>
                </a:tc>
                <a:tc>
                  <a:txBody>
                    <a:bodyPr/>
                    <a:lstStyle/>
                    <a:p>
                      <a:r>
                        <a:rPr sz="938" b="0">
                          <a:solidFill>
                            <a:srgbClr val="172D3C"/>
                          </a:solidFill>
                          <a:latin typeface="Arial"/>
                          <a:ea typeface="Arial"/>
                          <a:cs typeface="Arial"/>
                        </a:rPr>
                        <a:t>64%</a:t>
                      </a:r>
                    </a:p>
                  </a:txBody>
                  <a:tcPr marL="28575" marR="28575" marT="7620" marB="7620">
                    <a:solidFill>
                      <a:srgbClr val="F0F5F6"/>
                    </a:solidFill>
                  </a:tcPr>
                </a:tc>
                <a:tc>
                  <a:txBody>
                    <a:bodyPr/>
                    <a:lstStyle/>
                    <a:p>
                      <a:r>
                        <a:rPr sz="938" b="0">
                          <a:solidFill>
                            <a:srgbClr val="172D3C"/>
                          </a:solidFill>
                          <a:latin typeface="Arial"/>
                          <a:ea typeface="Arial"/>
                          <a:cs typeface="Arial"/>
                        </a:rPr>
                        <a:t>62%</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2025-06</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88%</a:t>
                      </a:r>
                    </a:p>
                  </a:txBody>
                  <a:tcPr marL="28575" marR="28575" marT="7620" marB="7620">
                    <a:solidFill>
                      <a:srgbClr val="FFFFFF"/>
                    </a:solidFill>
                  </a:tcPr>
                </a:tc>
                <a:tc>
                  <a:txBody>
                    <a:bodyPr/>
                    <a:lstStyle/>
                    <a:p>
                      <a:r>
                        <a:rPr sz="938" b="0">
                          <a:solidFill>
                            <a:srgbClr val="172D3C"/>
                          </a:solidFill>
                          <a:latin typeface="Arial"/>
                          <a:ea typeface="Arial"/>
                          <a:cs typeface="Arial"/>
                        </a:rPr>
                        <a:t>82%</a:t>
                      </a:r>
                    </a:p>
                  </a:txBody>
                  <a:tcPr marL="28575" marR="28575" marT="7620" marB="7620">
                    <a:solidFill>
                      <a:srgbClr val="FFFFFF"/>
                    </a:solidFill>
                  </a:tcPr>
                </a:tc>
                <a:tc>
                  <a:txBody>
                    <a:bodyPr/>
                    <a:lstStyle/>
                    <a:p>
                      <a:r>
                        <a:rPr sz="938" b="0">
                          <a:solidFill>
                            <a:srgbClr val="172D3C"/>
                          </a:solidFill>
                          <a:latin typeface="Arial"/>
                          <a:ea typeface="Arial"/>
                          <a:cs typeface="Arial"/>
                        </a:rPr>
                        <a:t>75%</a:t>
                      </a:r>
                    </a:p>
                  </a:txBody>
                  <a:tcPr marL="28575" marR="28575" marT="7620" marB="7620">
                    <a:solidFill>
                      <a:srgbClr val="FFFFFF"/>
                    </a:solidFill>
                  </a:tcPr>
                </a:tc>
                <a:tc>
                  <a:txBody>
                    <a:bodyPr/>
                    <a:lstStyle/>
                    <a:p>
                      <a:r>
                        <a:rPr sz="938" b="0">
                          <a:solidFill>
                            <a:srgbClr val="172D3C"/>
                          </a:solidFill>
                          <a:latin typeface="Arial"/>
                          <a:ea typeface="Arial"/>
                          <a:cs typeface="Arial"/>
                        </a:rPr>
                        <a:t>71%</a:t>
                      </a:r>
                    </a:p>
                  </a:txBody>
                  <a:tcPr marL="28575" marR="28575" marT="7620" marB="7620">
                    <a:solidFill>
                      <a:srgbClr val="FFFFFF"/>
                    </a:solidFill>
                  </a:tcPr>
                </a:tc>
                <a:tc>
                  <a:txBody>
                    <a:bodyPr/>
                    <a:lstStyle/>
                    <a:p>
                      <a:r>
                        <a:rPr sz="938" b="0">
                          <a:solidFill>
                            <a:srgbClr val="172D3C"/>
                          </a:solidFill>
                          <a:latin typeface="Arial"/>
                          <a:ea typeface="Arial"/>
                          <a:cs typeface="Arial"/>
                        </a:rPr>
                        <a:t>67%</a:t>
                      </a:r>
                    </a:p>
                  </a:txBody>
                  <a:tcPr marL="28575" marR="28575" marT="7620" marB="7620">
                    <a:solidFill>
                      <a:srgbClr val="FFFFFF"/>
                    </a:solidFill>
                  </a:tcPr>
                </a:tc>
                <a:tc>
                  <a:txBody>
                    <a:bodyPr/>
                    <a:lstStyle/>
                    <a:p>
                      <a:r>
                        <a:rPr sz="938" b="0">
                          <a:solidFill>
                            <a:srgbClr val="172D3C"/>
                          </a:solidFill>
                          <a:latin typeface="Arial"/>
                          <a:ea typeface="Arial"/>
                          <a:cs typeface="Arial"/>
                        </a:rPr>
                        <a:t>65%</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2025-07</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87%</a:t>
                      </a:r>
                    </a:p>
                  </a:txBody>
                  <a:tcPr marL="28575" marR="28575" marT="7620" marB="7620">
                    <a:solidFill>
                      <a:srgbClr val="F0F5F6"/>
                    </a:solidFill>
                  </a:tcPr>
                </a:tc>
                <a:tc>
                  <a:txBody>
                    <a:bodyPr/>
                    <a:lstStyle/>
                    <a:p>
                      <a:r>
                        <a:rPr sz="938" b="0">
                          <a:solidFill>
                            <a:srgbClr val="172D3C"/>
                          </a:solidFill>
                          <a:latin typeface="Arial"/>
                          <a:ea typeface="Arial"/>
                          <a:cs typeface="Arial"/>
                        </a:rPr>
                        <a:t>78%</a:t>
                      </a:r>
                    </a:p>
                  </a:txBody>
                  <a:tcPr marL="28575" marR="28575" marT="7620" marB="7620">
                    <a:solidFill>
                      <a:srgbClr val="F0F5F6"/>
                    </a:solidFill>
                  </a:tcPr>
                </a:tc>
                <a:tc>
                  <a:txBody>
                    <a:bodyPr/>
                    <a:lstStyle/>
                    <a:p>
                      <a:r>
                        <a:rPr sz="938" b="0">
                          <a:solidFill>
                            <a:srgbClr val="172D3C"/>
                          </a:solidFill>
                          <a:latin typeface="Arial"/>
                          <a:ea typeface="Arial"/>
                          <a:cs typeface="Arial"/>
                        </a:rPr>
                        <a:t>73%</a:t>
                      </a:r>
                    </a:p>
                  </a:txBody>
                  <a:tcPr marL="28575" marR="28575" marT="7620" marB="7620">
                    <a:solidFill>
                      <a:srgbClr val="F0F5F6"/>
                    </a:solidFill>
                  </a:tcPr>
                </a:tc>
                <a:tc>
                  <a:txBody>
                    <a:bodyPr/>
                    <a:lstStyle/>
                    <a:p>
                      <a:r>
                        <a:rPr sz="938" b="0">
                          <a:solidFill>
                            <a:srgbClr val="172D3C"/>
                          </a:solidFill>
                          <a:latin typeface="Arial"/>
                          <a:ea typeface="Arial"/>
                          <a:cs typeface="Arial"/>
                        </a:rPr>
                        <a:t>70%</a:t>
                      </a:r>
                    </a:p>
                  </a:txBody>
                  <a:tcPr marL="28575" marR="28575" marT="7620" marB="7620">
                    <a:solidFill>
                      <a:srgbClr val="F0F5F6"/>
                    </a:solidFill>
                  </a:tcPr>
                </a:tc>
                <a:tc>
                  <a:txBody>
                    <a:bodyPr/>
                    <a:lstStyle/>
                    <a:p>
                      <a:r>
                        <a:rPr sz="938" b="0">
                          <a:solidFill>
                            <a:srgbClr val="172D3C"/>
                          </a:solidFill>
                          <a:latin typeface="Arial"/>
                          <a:ea typeface="Arial"/>
                          <a:cs typeface="Arial"/>
                        </a:rPr>
                        <a:t>67%</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2025-08</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88%</a:t>
                      </a:r>
                    </a:p>
                  </a:txBody>
                  <a:tcPr marL="28575" marR="28575" marT="7620" marB="7620">
                    <a:solidFill>
                      <a:srgbClr val="FFFFFF"/>
                    </a:solidFill>
                  </a:tcPr>
                </a:tc>
                <a:tc>
                  <a:txBody>
                    <a:bodyPr/>
                    <a:lstStyle/>
                    <a:p>
                      <a:r>
                        <a:rPr sz="938" b="0">
                          <a:solidFill>
                            <a:srgbClr val="172D3C"/>
                          </a:solidFill>
                          <a:latin typeface="Arial"/>
                          <a:ea typeface="Arial"/>
                          <a:cs typeface="Arial"/>
                        </a:rPr>
                        <a:t>80%</a:t>
                      </a:r>
                    </a:p>
                  </a:txBody>
                  <a:tcPr marL="28575" marR="28575" marT="7620" marB="7620">
                    <a:solidFill>
                      <a:srgbClr val="FFFFFF"/>
                    </a:solidFill>
                  </a:tcPr>
                </a:tc>
                <a:tc>
                  <a:txBody>
                    <a:bodyPr/>
                    <a:lstStyle/>
                    <a:p>
                      <a:r>
                        <a:rPr sz="938" b="0">
                          <a:solidFill>
                            <a:srgbClr val="172D3C"/>
                          </a:solidFill>
                          <a:latin typeface="Arial"/>
                          <a:ea typeface="Arial"/>
                          <a:cs typeface="Arial"/>
                        </a:rPr>
                        <a:t>75%</a:t>
                      </a:r>
                    </a:p>
                  </a:txBody>
                  <a:tcPr marL="28575" marR="28575" marT="7620" marB="7620">
                    <a:solidFill>
                      <a:srgbClr val="FFFFFF"/>
                    </a:solidFill>
                  </a:tcPr>
                </a:tc>
                <a:tc>
                  <a:txBody>
                    <a:bodyPr/>
                    <a:lstStyle/>
                    <a:p>
                      <a:r>
                        <a:rPr sz="938" b="0">
                          <a:solidFill>
                            <a:srgbClr val="172D3C"/>
                          </a:solidFill>
                          <a:latin typeface="Arial"/>
                          <a:ea typeface="Arial"/>
                          <a:cs typeface="Arial"/>
                        </a:rPr>
                        <a:t>69%</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2025-09</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94%</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83%</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2025-10</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93%</a:t>
                      </a:r>
                    </a:p>
                  </a:txBody>
                  <a:tcPr marL="28575" marR="28575" marT="7620" marB="7620">
                    <a:solidFill>
                      <a:srgbClr val="FFFFFF"/>
                    </a:solidFill>
                  </a:tcPr>
                </a:tc>
                <a:tc>
                  <a:txBody>
                    <a:bodyPr/>
                    <a:lstStyle/>
                    <a:p>
                      <a:r>
                        <a:rPr sz="938" b="0">
                          <a:solidFill>
                            <a:srgbClr val="172D3C"/>
                          </a:solidFill>
                          <a:latin typeface="Arial"/>
                          <a:ea typeface="Arial"/>
                          <a:cs typeface="Arial"/>
                        </a:rPr>
                        <a:t>89%</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r h="161925">
                <a:tc>
                  <a:txBody>
                    <a:bodyPr/>
                    <a:lstStyle/>
                    <a:p>
                      <a:r>
                        <a:rPr sz="938" b="0">
                          <a:solidFill>
                            <a:srgbClr val="172D3C"/>
                          </a:solidFill>
                          <a:latin typeface="Arial"/>
                          <a:ea typeface="Arial"/>
                          <a:cs typeface="Arial"/>
                        </a:rPr>
                        <a:t>2025-11</a:t>
                      </a:r>
                    </a:p>
                  </a:txBody>
                  <a:tcPr marL="28575" marR="28575" marT="7620" marB="7620">
                    <a:solidFill>
                      <a:srgbClr val="F0F5F6"/>
                    </a:solidFill>
                  </a:tcPr>
                </a:tc>
                <a:tc>
                  <a:txBody>
                    <a:bodyPr/>
                    <a:lstStyle/>
                    <a:p>
                      <a:r>
                        <a:rPr sz="938" b="0">
                          <a:solidFill>
                            <a:srgbClr val="172D3C"/>
                          </a:solidFill>
                          <a:latin typeface="Arial"/>
                          <a:ea typeface="Arial"/>
                          <a:cs typeface="Arial"/>
                        </a:rPr>
                        <a:t>100%</a:t>
                      </a:r>
                    </a:p>
                  </a:txBody>
                  <a:tcPr marL="28575" marR="28575" marT="7620" marB="7620">
                    <a:solidFill>
                      <a:srgbClr val="F0F5F6"/>
                    </a:solidFill>
                  </a:tcPr>
                </a:tc>
                <a:tc>
                  <a:txBody>
                    <a:bodyPr/>
                    <a:lstStyle/>
                    <a:p>
                      <a:r>
                        <a:rPr sz="938" b="0">
                          <a:solidFill>
                            <a:srgbClr val="172D3C"/>
                          </a:solidFill>
                          <a:latin typeface="Arial"/>
                          <a:ea typeface="Arial"/>
                          <a:cs typeface="Arial"/>
                        </a:rPr>
                        <a:t>88%</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c>
                  <a:txBody>
                    <a:bodyPr/>
                    <a:lstStyle/>
                    <a:p>
                      <a:r>
                        <a:rPr sz="938" b="0">
                          <a:solidFill>
                            <a:srgbClr val="172D3C"/>
                          </a:solidFill>
                          <a:latin typeface="Arial"/>
                          <a:ea typeface="Arial"/>
                          <a:cs typeface="Arial"/>
                        </a:rPr>
                        <a:t>—</a:t>
                      </a:r>
                    </a:p>
                  </a:txBody>
                  <a:tcPr marL="28575" marR="28575" marT="7620" marB="7620">
                    <a:solidFill>
                      <a:srgbClr val="F0F5F6"/>
                    </a:solidFill>
                  </a:tcPr>
                </a:tc>
              </a:tr>
              <a:tr h="161925">
                <a:tc>
                  <a:txBody>
                    <a:bodyPr/>
                    <a:lstStyle/>
                    <a:p>
                      <a:r>
                        <a:rPr sz="938" b="0">
                          <a:solidFill>
                            <a:srgbClr val="172D3C"/>
                          </a:solidFill>
                          <a:latin typeface="Arial"/>
                          <a:ea typeface="Arial"/>
                          <a:cs typeface="Arial"/>
                        </a:rPr>
                        <a:t>2025-12</a:t>
                      </a:r>
                    </a:p>
                  </a:txBody>
                  <a:tcPr marL="28575" marR="28575" marT="7620" marB="7620">
                    <a:solidFill>
                      <a:srgbClr val="FFFFFF"/>
                    </a:solidFill>
                  </a:tcPr>
                </a:tc>
                <a:tc>
                  <a:txBody>
                    <a:bodyPr/>
                    <a:lstStyle/>
                    <a:p>
                      <a:r>
                        <a:rPr sz="938" b="0">
                          <a:solidFill>
                            <a:srgbClr val="172D3C"/>
                          </a:solidFill>
                          <a:latin typeface="Arial"/>
                          <a:ea typeface="Arial"/>
                          <a:cs typeface="Arial"/>
                        </a:rPr>
                        <a:t>100%</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c>
                  <a:txBody>
                    <a:bodyPr/>
                    <a:lstStyle/>
                    <a:p>
                      <a:r>
                        <a:rPr sz="938" b="0">
                          <a:solidFill>
                            <a:srgbClr val="172D3C"/>
                          </a:solidFill>
                          <a:latin typeface="Arial"/>
                          <a:ea typeface="Arial"/>
                          <a:cs typeface="Arial"/>
                        </a:rPr>
                        <a:t>—</a:t>
                      </a:r>
                    </a:p>
                  </a:txBody>
                  <a:tcPr marL="28575" marR="28575" marT="7620" marB="76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1C6E587-2CFA-4939-BB4B-B8039600EE3E}"/>
              </a:ext>
            </a:extLst>
          </p:cNvPr>
          <p:cNvSpPr>
            <a:spLocks xmlns:a="http://schemas.openxmlformats.org/drawingml/2006/main" noGrp="1"/>
          </p:cNvSpPr>
          <p:nvPr/>
        </p:nvSpPr>
        <p:spPr>
          <a:xfrm xmlns:a="http://schemas.openxmlformats.org/drawingml/2006/main">
            <a:off x="609600" y="5819775"/>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0">
                <a:solidFill>
                  <a:srgbClr val="172D3C"/>
                </a:solidFill>
                <a:latin typeface="Arial"/>
                <a:ea typeface="Arial"/>
                <a:cs typeface="Arial"/>
              </a:defRPr>
            </a:defPPr>
            <a:lvl1pPr>
              <a:defRPr sz="1425" b="0">
                <a:solidFill>
                  <a:srgbClr val="172D3C"/>
                </a:solidFill>
                <a:latin typeface="Arial"/>
                <a:ea typeface="Arial"/>
                <a:cs typeface="Arial"/>
              </a:defRPr>
            </a:lvl1pPr>
            <a:lvl2pPr>
              <a:defRPr sz="1425" b="0">
                <a:solidFill>
                  <a:srgbClr val="172D3C"/>
                </a:solidFill>
                <a:latin typeface="Arial"/>
                <a:ea typeface="Arial"/>
                <a:cs typeface="Arial"/>
              </a:defRPr>
            </a:lvl2pPr>
            <a:lvl3pPr>
              <a:defRPr sz="1425" b="0">
                <a:solidFill>
                  <a:srgbClr val="172D3C"/>
                </a:solidFill>
                <a:latin typeface="Arial"/>
                <a:ea typeface="Arial"/>
                <a:cs typeface="Arial"/>
              </a:defRPr>
            </a:lvl3pPr>
            <a:lvl4pPr>
              <a:defRPr sz="1425" b="0">
                <a:solidFill>
                  <a:srgbClr val="172D3C"/>
                </a:solidFill>
                <a:latin typeface="Arial"/>
                <a:ea typeface="Arial"/>
                <a:cs typeface="Arial"/>
              </a:defRPr>
            </a:lvl4pPr>
            <a:lvl5pPr>
              <a:defRPr sz="1425" b="0">
                <a:solidFill>
                  <a:srgbClr val="172D3C"/>
                </a:solidFill>
                <a:latin typeface="Arial"/>
                <a:ea typeface="Arial"/>
                <a:cs typeface="Arial"/>
              </a:defRPr>
            </a:lvl5pPr>
            <a:lvl6pPr>
              <a:defRPr sz="1425" b="0">
                <a:solidFill>
                  <a:srgbClr val="172D3C"/>
                </a:solidFill>
                <a:latin typeface="Arial"/>
                <a:ea typeface="Arial"/>
                <a:cs typeface="Arial"/>
              </a:defRPr>
            </a:lvl6pPr>
            <a:lvl7pPr>
              <a:defRPr sz="1425" b="0">
                <a:solidFill>
                  <a:srgbClr val="172D3C"/>
                </a:solidFill>
                <a:latin typeface="Arial"/>
                <a:ea typeface="Arial"/>
                <a:cs typeface="Arial"/>
              </a:defRPr>
            </a:lvl7pPr>
            <a:lvl8pPr>
              <a:defRPr sz="1425" b="0">
                <a:solidFill>
                  <a:srgbClr val="172D3C"/>
                </a:solidFill>
                <a:latin typeface="Arial"/>
                <a:ea typeface="Arial"/>
                <a:cs typeface="Arial"/>
              </a:defRPr>
            </a:lvl8pPr>
            <a:lvl9pPr>
              <a:defRPr sz="1425" b="0">
                <a:solidFill>
                  <a:srgbClr val="172D3C"/>
                </a:solidFill>
                <a:latin typeface="Arial"/>
                <a:ea typeface="Arial"/>
                <a:cs typeface="Arial"/>
              </a:defRPr>
            </a:lvl9pPr>
          </a:lstStyle>
          <a:p xmlns:a="http://schemas.openxmlformats.org/drawingml/2006/main">
            <a:pPr>
              <a:defRPr sz="1425" b="0">
                <a:solidFill>
                  <a:srgbClr val="172D3C"/>
                </a:solidFill>
                <a:latin typeface="Arial"/>
                <a:ea typeface="Arial"/>
                <a:cs typeface="Arial"/>
              </a:defRPr>
            </a:pPr>
            <a:r>
              <a:rPr sz="1425" b="0">
                <a:solidFill>
                  <a:srgbClr val="172D3C"/>
                </a:solidFill>
                <a:latin typeface="Arial"/>
                <a:ea typeface="Arial"/>
                <a:cs typeface="Arial"/>
              </a:rPr>
              <a:t>Read across for one cohort over time, or down for different cohorts at the same age. Future ages stay missing.</a:t>
            </a:r>
          </a:p>
        </p:txBody>
      </p:sp>
    </p:spTree>
    <p:extLst>
      <p:ext uri="{BB962C8B-B14F-4D97-AF65-F5344CB8AC3E}">
        <p14:creationId xmlns:p14="http://schemas.microsoft.com/office/powerpoint/2010/main" val="20903244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4E4CD943-1F1A-4B03-B80A-6CB2270C47D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1F7B70B-CABB-47DB-8799-1F37B5C4E6AD}"/>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2: is improvement visible within groups?</a:t>
            </a:r>
          </a:p>
        </p:txBody>
      </p:sp>
      <p:sp>
        <p:nvSpPr>
          <p:cNvPr id="3" name="">
            <a:extLst xmlns:a="http://schemas.openxmlformats.org/drawingml/2006/main">
              <a:ext uri="{FF2B5EF4-FFF2-40B4-BE49-F238E27FC236}">
                <a16:creationId xmlns:a16="http://schemas.microsoft.com/office/drawing/2014/main" id="{3674426F-DB9E-4869-A52B-946E50E5462B}"/>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650C8A5C-3DBC-49F3-9F78-0E47C03C9C7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A6073E7B-4790-4598-B495-18C8E2C39C87}"/>
              </a:ext>
            </a:extLst>
          </p:cNvPr>
          <p:cNvSpPr>
            <a:spLocks xmlns:a="http://schemas.openxmlformats.org/drawingml/2006/main" noGrp="1"/>
          </p:cNvSpPr>
          <p:nvPr/>
        </p:nvSpPr>
        <p:spPr>
          <a:xfrm xmlns:a="http://schemas.openxmlformats.org/drawingml/2006/main">
            <a:off x="609600" y="1333500"/>
            <a:ext cx="628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Figure 2. Same-age retention across all 24 joining cohorts</a:t>
            </a:r>
          </a:p>
        </p:txBody>
      </p:sp>
      <p:sp>
        <p:nvSpPr>
          <p:cNvPr id="6" name="">
            <a:extLst xmlns:a="http://schemas.openxmlformats.org/drawingml/2006/main">
              <a:ext uri="{FF2B5EF4-FFF2-40B4-BE49-F238E27FC236}">
                <a16:creationId xmlns:a16="http://schemas.microsoft.com/office/drawing/2014/main" id="{917C665E-B84B-45E6-9885-64AC359A41B7}"/>
              </a:ext>
            </a:extLst>
          </p:cNvPr>
          <p:cNvSpPr>
            <a:spLocks xmlns:a="http://schemas.openxmlformats.org/drawingml/2006/main" noGrp="1"/>
          </p:cNvSpPr>
          <p:nvPr/>
        </p:nvSpPr>
        <p:spPr>
          <a:xfrm xmlns:a="http://schemas.openxmlformats.org/drawingml/2006/main">
            <a:off x="7524750" y="1409700"/>
            <a:ext cx="123825" cy="85725"/>
          </a:xfrm>
          <a:prstGeom xmlns:a="http://schemas.openxmlformats.org/drawingml/2006/main" prst="rect">
            <a:avLst/>
          </a:prstGeom>
          <a:solidFill xmlns:a="http://schemas.openxmlformats.org/drawingml/2006/main">
            <a:srgbClr val="B4404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480C836-DF66-436D-96A1-54653F486C01}"/>
              </a:ext>
            </a:extLst>
          </p:cNvPr>
          <p:cNvSpPr>
            <a:spLocks xmlns:a="http://schemas.openxmlformats.org/drawingml/2006/main" noGrp="1"/>
          </p:cNvSpPr>
          <p:nvPr/>
        </p:nvSpPr>
        <p:spPr>
          <a:xfrm xmlns:a="http://schemas.openxmlformats.org/drawingml/2006/main">
            <a:off x="7648575" y="1409700"/>
            <a:ext cx="123825" cy="85725"/>
          </a:xfrm>
          <a:prstGeom xmlns:a="http://schemas.openxmlformats.org/drawingml/2006/main" prst="rect">
            <a:avLst/>
          </a:prstGeom>
          <a:solidFill xmlns:a="http://schemas.openxmlformats.org/drawingml/2006/main">
            <a:srgbClr val="AE424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D4857B-CB11-4B91-95BB-C7E9E5895A90}"/>
              </a:ext>
            </a:extLst>
          </p:cNvPr>
          <p:cNvSpPr>
            <a:spLocks xmlns:a="http://schemas.openxmlformats.org/drawingml/2006/main" noGrp="1"/>
          </p:cNvSpPr>
          <p:nvPr/>
        </p:nvSpPr>
        <p:spPr>
          <a:xfrm xmlns:a="http://schemas.openxmlformats.org/drawingml/2006/main">
            <a:off x="7772400" y="1409700"/>
            <a:ext cx="123825" cy="85725"/>
          </a:xfrm>
          <a:prstGeom xmlns:a="http://schemas.openxmlformats.org/drawingml/2006/main" prst="rect">
            <a:avLst/>
          </a:prstGeom>
          <a:solidFill xmlns:a="http://schemas.openxmlformats.org/drawingml/2006/main">
            <a:srgbClr val="A843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59AE8E1-A695-4D15-B6D5-6C8C6C31757A}"/>
              </a:ext>
            </a:extLst>
          </p:cNvPr>
          <p:cNvSpPr>
            <a:spLocks xmlns:a="http://schemas.openxmlformats.org/drawingml/2006/main" noGrp="1"/>
          </p:cNvSpPr>
          <p:nvPr/>
        </p:nvSpPr>
        <p:spPr>
          <a:xfrm xmlns:a="http://schemas.openxmlformats.org/drawingml/2006/main">
            <a:off x="7896225" y="1409700"/>
            <a:ext cx="123825" cy="85725"/>
          </a:xfrm>
          <a:prstGeom xmlns:a="http://schemas.openxmlformats.org/drawingml/2006/main" prst="rect">
            <a:avLst/>
          </a:prstGeom>
          <a:solidFill xmlns:a="http://schemas.openxmlformats.org/drawingml/2006/main">
            <a:srgbClr val="A3454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8553399-F72B-4195-9D62-986B17184F52}"/>
              </a:ext>
            </a:extLst>
          </p:cNvPr>
          <p:cNvSpPr>
            <a:spLocks xmlns:a="http://schemas.openxmlformats.org/drawingml/2006/main" noGrp="1"/>
          </p:cNvSpPr>
          <p:nvPr/>
        </p:nvSpPr>
        <p:spPr>
          <a:xfrm xmlns:a="http://schemas.openxmlformats.org/drawingml/2006/main">
            <a:off x="8020050" y="1409700"/>
            <a:ext cx="123825" cy="85725"/>
          </a:xfrm>
          <a:prstGeom xmlns:a="http://schemas.openxmlformats.org/drawingml/2006/main" prst="rect">
            <a:avLst/>
          </a:prstGeom>
          <a:solidFill xmlns:a="http://schemas.openxmlformats.org/drawingml/2006/main">
            <a:srgbClr val="9D465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7074054-F6E7-4184-AA0C-8D281DF82F7B}"/>
              </a:ext>
            </a:extLst>
          </p:cNvPr>
          <p:cNvSpPr>
            <a:spLocks xmlns:a="http://schemas.openxmlformats.org/drawingml/2006/main" noGrp="1"/>
          </p:cNvSpPr>
          <p:nvPr/>
        </p:nvSpPr>
        <p:spPr>
          <a:xfrm xmlns:a="http://schemas.openxmlformats.org/drawingml/2006/main">
            <a:off x="8143875" y="1409700"/>
            <a:ext cx="123825" cy="85725"/>
          </a:xfrm>
          <a:prstGeom xmlns:a="http://schemas.openxmlformats.org/drawingml/2006/main" prst="rect">
            <a:avLst/>
          </a:prstGeom>
          <a:solidFill xmlns:a="http://schemas.openxmlformats.org/drawingml/2006/main">
            <a:srgbClr val="97485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66E5E1-3443-4481-9EC4-918A97B500A9}"/>
              </a:ext>
            </a:extLst>
          </p:cNvPr>
          <p:cNvSpPr>
            <a:spLocks xmlns:a="http://schemas.openxmlformats.org/drawingml/2006/main" noGrp="1"/>
          </p:cNvSpPr>
          <p:nvPr/>
        </p:nvSpPr>
        <p:spPr>
          <a:xfrm xmlns:a="http://schemas.openxmlformats.org/drawingml/2006/main">
            <a:off x="8267700" y="1409700"/>
            <a:ext cx="123825" cy="85725"/>
          </a:xfrm>
          <a:prstGeom xmlns:a="http://schemas.openxmlformats.org/drawingml/2006/main" prst="rect">
            <a:avLst/>
          </a:prstGeom>
          <a:solidFill xmlns:a="http://schemas.openxmlformats.org/drawingml/2006/main">
            <a:srgbClr val="91495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8AB5250-564E-49B2-B195-BAB1064E3F4E}"/>
              </a:ext>
            </a:extLst>
          </p:cNvPr>
          <p:cNvSpPr>
            <a:spLocks xmlns:a="http://schemas.openxmlformats.org/drawingml/2006/main" noGrp="1"/>
          </p:cNvSpPr>
          <p:nvPr/>
        </p:nvSpPr>
        <p:spPr>
          <a:xfrm xmlns:a="http://schemas.openxmlformats.org/drawingml/2006/main">
            <a:off x="8391525" y="1409700"/>
            <a:ext cx="123825" cy="85725"/>
          </a:xfrm>
          <a:prstGeom xmlns:a="http://schemas.openxmlformats.org/drawingml/2006/main" prst="rect">
            <a:avLst/>
          </a:prstGeom>
          <a:solidFill xmlns:a="http://schemas.openxmlformats.org/drawingml/2006/main">
            <a:srgbClr val="8C4B6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EB70BC1-1E8C-4C37-90A5-3B053CF75A2E}"/>
              </a:ext>
            </a:extLst>
          </p:cNvPr>
          <p:cNvSpPr>
            <a:spLocks xmlns:a="http://schemas.openxmlformats.org/drawingml/2006/main" noGrp="1"/>
          </p:cNvSpPr>
          <p:nvPr/>
        </p:nvSpPr>
        <p:spPr>
          <a:xfrm xmlns:a="http://schemas.openxmlformats.org/drawingml/2006/main">
            <a:off x="8515350" y="1409700"/>
            <a:ext cx="123825" cy="85725"/>
          </a:xfrm>
          <a:prstGeom xmlns:a="http://schemas.openxmlformats.org/drawingml/2006/main" prst="rect">
            <a:avLst/>
          </a:prstGeom>
          <a:solidFill xmlns:a="http://schemas.openxmlformats.org/drawingml/2006/main">
            <a:srgbClr val="864C6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C5CFD88-EF41-4628-AE9A-BEDC36587A1B}"/>
              </a:ext>
            </a:extLst>
          </p:cNvPr>
          <p:cNvSpPr>
            <a:spLocks xmlns:a="http://schemas.openxmlformats.org/drawingml/2006/main" noGrp="1"/>
          </p:cNvSpPr>
          <p:nvPr/>
        </p:nvSpPr>
        <p:spPr>
          <a:xfrm xmlns:a="http://schemas.openxmlformats.org/drawingml/2006/main">
            <a:off x="8639175" y="1409700"/>
            <a:ext cx="123825" cy="85725"/>
          </a:xfrm>
          <a:prstGeom xmlns:a="http://schemas.openxmlformats.org/drawingml/2006/main" prst="rect">
            <a:avLst/>
          </a:prstGeom>
          <a:solidFill xmlns:a="http://schemas.openxmlformats.org/drawingml/2006/main">
            <a:srgbClr val="804E6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7B0CCDF-4CD0-4957-9ED8-0429E65F4E2D}"/>
              </a:ext>
            </a:extLst>
          </p:cNvPr>
          <p:cNvSpPr>
            <a:spLocks xmlns:a="http://schemas.openxmlformats.org/drawingml/2006/main" noGrp="1"/>
          </p:cNvSpPr>
          <p:nvPr/>
        </p:nvSpPr>
        <p:spPr>
          <a:xfrm xmlns:a="http://schemas.openxmlformats.org/drawingml/2006/main">
            <a:off x="8763000" y="1409700"/>
            <a:ext cx="123825" cy="85725"/>
          </a:xfrm>
          <a:prstGeom xmlns:a="http://schemas.openxmlformats.org/drawingml/2006/main" prst="rect">
            <a:avLst/>
          </a:prstGeom>
          <a:solidFill xmlns:a="http://schemas.openxmlformats.org/drawingml/2006/main">
            <a:srgbClr val="7A4F7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1302395-5072-488F-AD72-703C51AF3982}"/>
              </a:ext>
            </a:extLst>
          </p:cNvPr>
          <p:cNvSpPr>
            <a:spLocks xmlns:a="http://schemas.openxmlformats.org/drawingml/2006/main" noGrp="1"/>
          </p:cNvSpPr>
          <p:nvPr/>
        </p:nvSpPr>
        <p:spPr>
          <a:xfrm xmlns:a="http://schemas.openxmlformats.org/drawingml/2006/main">
            <a:off x="8886825" y="1409700"/>
            <a:ext cx="123825" cy="85725"/>
          </a:xfrm>
          <a:prstGeom xmlns:a="http://schemas.openxmlformats.org/drawingml/2006/main" prst="rect">
            <a:avLst/>
          </a:prstGeom>
          <a:solidFill xmlns:a="http://schemas.openxmlformats.org/drawingml/2006/main">
            <a:srgbClr val="74517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4CA0A02-FB9A-4457-96DE-7B04FA16A9BB}"/>
              </a:ext>
            </a:extLst>
          </p:cNvPr>
          <p:cNvSpPr>
            <a:spLocks xmlns:a="http://schemas.openxmlformats.org/drawingml/2006/main" noGrp="1"/>
          </p:cNvSpPr>
          <p:nvPr/>
        </p:nvSpPr>
        <p:spPr>
          <a:xfrm xmlns:a="http://schemas.openxmlformats.org/drawingml/2006/main">
            <a:off x="9010650" y="1409700"/>
            <a:ext cx="123825" cy="85725"/>
          </a:xfrm>
          <a:prstGeom xmlns:a="http://schemas.openxmlformats.org/drawingml/2006/main" prst="rect">
            <a:avLst/>
          </a:prstGeom>
          <a:solidFill xmlns:a="http://schemas.openxmlformats.org/drawingml/2006/main">
            <a:srgbClr val="6F527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DC8F4F4-840D-4F79-B5A8-9D68EE500BB6}"/>
              </a:ext>
            </a:extLst>
          </p:cNvPr>
          <p:cNvSpPr>
            <a:spLocks xmlns:a="http://schemas.openxmlformats.org/drawingml/2006/main" noGrp="1"/>
          </p:cNvSpPr>
          <p:nvPr/>
        </p:nvSpPr>
        <p:spPr>
          <a:xfrm xmlns:a="http://schemas.openxmlformats.org/drawingml/2006/main">
            <a:off x="9134475" y="1409700"/>
            <a:ext cx="123825" cy="85725"/>
          </a:xfrm>
          <a:prstGeom xmlns:a="http://schemas.openxmlformats.org/drawingml/2006/main" prst="rect">
            <a:avLst/>
          </a:prstGeom>
          <a:solidFill xmlns:a="http://schemas.openxmlformats.org/drawingml/2006/main">
            <a:srgbClr val="69547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8C8AB22-FEEC-4630-88BB-D1724A7621D6}"/>
              </a:ext>
            </a:extLst>
          </p:cNvPr>
          <p:cNvSpPr>
            <a:spLocks xmlns:a="http://schemas.openxmlformats.org/drawingml/2006/main" noGrp="1"/>
          </p:cNvSpPr>
          <p:nvPr/>
        </p:nvSpPr>
        <p:spPr>
          <a:xfrm xmlns:a="http://schemas.openxmlformats.org/drawingml/2006/main">
            <a:off x="9258300" y="1409700"/>
            <a:ext cx="123825" cy="85725"/>
          </a:xfrm>
          <a:prstGeom xmlns:a="http://schemas.openxmlformats.org/drawingml/2006/main" prst="rect">
            <a:avLst/>
          </a:prstGeom>
          <a:solidFill xmlns:a="http://schemas.openxmlformats.org/drawingml/2006/main">
            <a:srgbClr val="635583"/>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8370A34-DE10-4FE7-A4E2-0DC5911F15F9}"/>
              </a:ext>
            </a:extLst>
          </p:cNvPr>
          <p:cNvSpPr>
            <a:spLocks xmlns:a="http://schemas.openxmlformats.org/drawingml/2006/main" noGrp="1"/>
          </p:cNvSpPr>
          <p:nvPr/>
        </p:nvSpPr>
        <p:spPr>
          <a:xfrm xmlns:a="http://schemas.openxmlformats.org/drawingml/2006/main">
            <a:off x="9382125" y="1409700"/>
            <a:ext cx="123825" cy="85725"/>
          </a:xfrm>
          <a:prstGeom xmlns:a="http://schemas.openxmlformats.org/drawingml/2006/main" prst="rect">
            <a:avLst/>
          </a:prstGeom>
          <a:solidFill xmlns:a="http://schemas.openxmlformats.org/drawingml/2006/main">
            <a:srgbClr val="5D578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2034287-4BF8-49F4-9BFE-06EBC5D8A62A}"/>
              </a:ext>
            </a:extLst>
          </p:cNvPr>
          <p:cNvSpPr>
            <a:spLocks xmlns:a="http://schemas.openxmlformats.org/drawingml/2006/main" noGrp="1"/>
          </p:cNvSpPr>
          <p:nvPr/>
        </p:nvSpPr>
        <p:spPr>
          <a:xfrm xmlns:a="http://schemas.openxmlformats.org/drawingml/2006/main">
            <a:off x="9505950" y="1409700"/>
            <a:ext cx="123825" cy="85725"/>
          </a:xfrm>
          <a:prstGeom xmlns:a="http://schemas.openxmlformats.org/drawingml/2006/main" prst="rect">
            <a:avLst/>
          </a:prstGeom>
          <a:solidFill xmlns:a="http://schemas.openxmlformats.org/drawingml/2006/main">
            <a:srgbClr val="57588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A2F14F7-6A09-4637-A2D4-131ECEDA8CB2}"/>
              </a:ext>
            </a:extLst>
          </p:cNvPr>
          <p:cNvSpPr>
            <a:spLocks xmlns:a="http://schemas.openxmlformats.org/drawingml/2006/main" noGrp="1"/>
          </p:cNvSpPr>
          <p:nvPr/>
        </p:nvSpPr>
        <p:spPr>
          <a:xfrm xmlns:a="http://schemas.openxmlformats.org/drawingml/2006/main">
            <a:off x="9629775" y="1409700"/>
            <a:ext cx="123825" cy="85725"/>
          </a:xfrm>
          <a:prstGeom xmlns:a="http://schemas.openxmlformats.org/drawingml/2006/main" prst="rect">
            <a:avLst/>
          </a:prstGeom>
          <a:solidFill xmlns:a="http://schemas.openxmlformats.org/drawingml/2006/main">
            <a:srgbClr val="525A9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473DF34-4D71-4CB2-ADF5-EF6588B2E096}"/>
              </a:ext>
            </a:extLst>
          </p:cNvPr>
          <p:cNvSpPr>
            <a:spLocks xmlns:a="http://schemas.openxmlformats.org/drawingml/2006/main" noGrp="1"/>
          </p:cNvSpPr>
          <p:nvPr/>
        </p:nvSpPr>
        <p:spPr>
          <a:xfrm xmlns:a="http://schemas.openxmlformats.org/drawingml/2006/main">
            <a:off x="9753600" y="1409700"/>
            <a:ext cx="123825" cy="85725"/>
          </a:xfrm>
          <a:prstGeom xmlns:a="http://schemas.openxmlformats.org/drawingml/2006/main" prst="rect">
            <a:avLst/>
          </a:prstGeom>
          <a:solidFill xmlns:a="http://schemas.openxmlformats.org/drawingml/2006/main">
            <a:srgbClr val="4C5B9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006581A-C5DD-4C51-997E-EBB7BFFFE712}"/>
              </a:ext>
            </a:extLst>
          </p:cNvPr>
          <p:cNvSpPr>
            <a:spLocks xmlns:a="http://schemas.openxmlformats.org/drawingml/2006/main" noGrp="1"/>
          </p:cNvSpPr>
          <p:nvPr/>
        </p:nvSpPr>
        <p:spPr>
          <a:xfrm xmlns:a="http://schemas.openxmlformats.org/drawingml/2006/main">
            <a:off x="9877425" y="1409700"/>
            <a:ext cx="123825" cy="85725"/>
          </a:xfrm>
          <a:prstGeom xmlns:a="http://schemas.openxmlformats.org/drawingml/2006/main" prst="rect">
            <a:avLst/>
          </a:prstGeom>
          <a:solidFill xmlns:a="http://schemas.openxmlformats.org/drawingml/2006/main">
            <a:srgbClr val="465D9B"/>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604DC6A-FAAE-4029-A10D-2AEFABE850E2}"/>
              </a:ext>
            </a:extLst>
          </p:cNvPr>
          <p:cNvSpPr>
            <a:spLocks xmlns:a="http://schemas.openxmlformats.org/drawingml/2006/main" noGrp="1"/>
          </p:cNvSpPr>
          <p:nvPr/>
        </p:nvSpPr>
        <p:spPr>
          <a:xfrm xmlns:a="http://schemas.openxmlformats.org/drawingml/2006/main">
            <a:off x="10001250" y="1409700"/>
            <a:ext cx="123825" cy="85725"/>
          </a:xfrm>
          <a:prstGeom xmlns:a="http://schemas.openxmlformats.org/drawingml/2006/main" prst="rect">
            <a:avLst/>
          </a:prstGeom>
          <a:solidFill xmlns:a="http://schemas.openxmlformats.org/drawingml/2006/main">
            <a:srgbClr val="405EA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4F1D6B0-B8CA-4457-B7FC-D0C1BBDC3F2B}"/>
              </a:ext>
            </a:extLst>
          </p:cNvPr>
          <p:cNvSpPr>
            <a:spLocks xmlns:a="http://schemas.openxmlformats.org/drawingml/2006/main" noGrp="1"/>
          </p:cNvSpPr>
          <p:nvPr/>
        </p:nvSpPr>
        <p:spPr>
          <a:xfrm xmlns:a="http://schemas.openxmlformats.org/drawingml/2006/main">
            <a:off x="10125075" y="1409700"/>
            <a:ext cx="123825" cy="85725"/>
          </a:xfrm>
          <a:prstGeom xmlns:a="http://schemas.openxmlformats.org/drawingml/2006/main" prst="rect">
            <a:avLst/>
          </a:prstGeom>
          <a:solidFill xmlns:a="http://schemas.openxmlformats.org/drawingml/2006/main">
            <a:srgbClr val="3B60A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2A6B052-EFFE-4416-929E-7A330780FDAE}"/>
              </a:ext>
            </a:extLst>
          </p:cNvPr>
          <p:cNvSpPr>
            <a:spLocks xmlns:a="http://schemas.openxmlformats.org/drawingml/2006/main" noGrp="1"/>
          </p:cNvSpPr>
          <p:nvPr/>
        </p:nvSpPr>
        <p:spPr>
          <a:xfrm xmlns:a="http://schemas.openxmlformats.org/drawingml/2006/main">
            <a:off x="10248900" y="1409700"/>
            <a:ext cx="123825" cy="85725"/>
          </a:xfrm>
          <a:prstGeom xmlns:a="http://schemas.openxmlformats.org/drawingml/2006/main" prst="rect">
            <a:avLst/>
          </a:prstGeom>
          <a:solidFill xmlns:a="http://schemas.openxmlformats.org/drawingml/2006/main">
            <a:srgbClr val="3561A9"/>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C128CB7-DB1B-49CA-B83B-B03C7DCF6DE4}"/>
              </a:ext>
            </a:extLst>
          </p:cNvPr>
          <p:cNvSpPr>
            <a:spLocks xmlns:a="http://schemas.openxmlformats.org/drawingml/2006/main" noGrp="1"/>
          </p:cNvSpPr>
          <p:nvPr/>
        </p:nvSpPr>
        <p:spPr>
          <a:xfrm xmlns:a="http://schemas.openxmlformats.org/drawingml/2006/main">
            <a:off x="10372725" y="1409700"/>
            <a:ext cx="123825" cy="85725"/>
          </a:xfrm>
          <a:prstGeom xmlns:a="http://schemas.openxmlformats.org/drawingml/2006/main" prst="rect">
            <a:avLst/>
          </a:prstGeom>
          <a:solidFill xmlns:a="http://schemas.openxmlformats.org/drawingml/2006/main">
            <a:srgbClr val="2F63AE"/>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7023BD40-2BEE-4C68-AAFE-A09113B30617}"/>
              </a:ext>
            </a:extLst>
          </p:cNvPr>
          <p:cNvSpPr>
            <a:spLocks xmlns:a="http://schemas.openxmlformats.org/drawingml/2006/main" noGrp="1"/>
          </p:cNvSpPr>
          <p:nvPr/>
        </p:nvSpPr>
        <p:spPr>
          <a:xfrm xmlns:a="http://schemas.openxmlformats.org/drawingml/2006/main">
            <a:off x="7524750" y="154305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75" b="0">
                <a:solidFill>
                  <a:srgbClr val="687780"/>
                </a:solidFill>
                <a:latin typeface="Arial"/>
                <a:ea typeface="Arial"/>
                <a:cs typeface="Arial"/>
              </a:defRPr>
            </a:defPPr>
            <a:lvl1pPr>
              <a:defRPr sz="975" b="0">
                <a:solidFill>
                  <a:srgbClr val="687780"/>
                </a:solidFill>
                <a:latin typeface="Arial"/>
                <a:ea typeface="Arial"/>
                <a:cs typeface="Arial"/>
              </a:defRPr>
            </a:lvl1pPr>
            <a:lvl2pPr>
              <a:defRPr sz="975" b="0">
                <a:solidFill>
                  <a:srgbClr val="687780"/>
                </a:solidFill>
                <a:latin typeface="Arial"/>
                <a:ea typeface="Arial"/>
                <a:cs typeface="Arial"/>
              </a:defRPr>
            </a:lvl2pPr>
            <a:lvl3pPr>
              <a:defRPr sz="975" b="0">
                <a:solidFill>
                  <a:srgbClr val="687780"/>
                </a:solidFill>
                <a:latin typeface="Arial"/>
                <a:ea typeface="Arial"/>
                <a:cs typeface="Arial"/>
              </a:defRPr>
            </a:lvl3pPr>
            <a:lvl4pPr>
              <a:defRPr sz="975" b="0">
                <a:solidFill>
                  <a:srgbClr val="687780"/>
                </a:solidFill>
                <a:latin typeface="Arial"/>
                <a:ea typeface="Arial"/>
                <a:cs typeface="Arial"/>
              </a:defRPr>
            </a:lvl4pPr>
            <a:lvl5pPr>
              <a:defRPr sz="975" b="0">
                <a:solidFill>
                  <a:srgbClr val="687780"/>
                </a:solidFill>
                <a:latin typeface="Arial"/>
                <a:ea typeface="Arial"/>
                <a:cs typeface="Arial"/>
              </a:defRPr>
            </a:lvl5pPr>
            <a:lvl6pPr>
              <a:defRPr sz="975" b="0">
                <a:solidFill>
                  <a:srgbClr val="687780"/>
                </a:solidFill>
                <a:latin typeface="Arial"/>
                <a:ea typeface="Arial"/>
                <a:cs typeface="Arial"/>
              </a:defRPr>
            </a:lvl6pPr>
            <a:lvl7pPr>
              <a:defRPr sz="975" b="0">
                <a:solidFill>
                  <a:srgbClr val="687780"/>
                </a:solidFill>
                <a:latin typeface="Arial"/>
                <a:ea typeface="Arial"/>
                <a:cs typeface="Arial"/>
              </a:defRPr>
            </a:lvl7pPr>
            <a:lvl8pPr>
              <a:defRPr sz="975" b="0">
                <a:solidFill>
                  <a:srgbClr val="687780"/>
                </a:solidFill>
                <a:latin typeface="Arial"/>
                <a:ea typeface="Arial"/>
                <a:cs typeface="Arial"/>
              </a:defRPr>
            </a:lvl8pPr>
            <a:lvl9pPr>
              <a:defRPr sz="975" b="0">
                <a:solidFill>
                  <a:srgbClr val="687780"/>
                </a:solidFill>
                <a:latin typeface="Arial"/>
                <a:ea typeface="Arial"/>
                <a:cs typeface="Arial"/>
              </a:defRPr>
            </a:lvl9pPr>
          </a:lstStyle>
          <a:p xmlns:a="http://schemas.openxmlformats.org/drawingml/2006/main">
            <a:pPr>
              <a:defRPr sz="975" b="0">
                <a:solidFill>
                  <a:srgbClr val="687780"/>
                </a:solidFill>
                <a:latin typeface="Arial"/>
                <a:ea typeface="Arial"/>
                <a:cs typeface="Arial"/>
              </a:defRPr>
            </a:pPr>
            <a:r>
              <a:rPr sz="975" b="0">
                <a:solidFill>
                  <a:srgbClr val="687780"/>
                </a:solidFill>
                <a:latin typeface="Arial"/>
                <a:ea typeface="Arial"/>
                <a:cs typeface="Arial"/>
              </a:rPr>
              <a:t>Older</a:t>
            </a:r>
          </a:p>
        </p:txBody>
      </p:sp>
      <p:sp>
        <p:nvSpPr>
          <p:cNvPr id="31" name="">
            <a:extLst xmlns:a="http://schemas.openxmlformats.org/drawingml/2006/main">
              <a:ext uri="{FF2B5EF4-FFF2-40B4-BE49-F238E27FC236}">
                <a16:creationId xmlns:a16="http://schemas.microsoft.com/office/drawing/2014/main" id="{C46646B6-59B0-49C0-973B-2EC34DEE2723}"/>
              </a:ext>
            </a:extLst>
          </p:cNvPr>
          <p:cNvSpPr>
            <a:spLocks xmlns:a="http://schemas.openxmlformats.org/drawingml/2006/main" noGrp="1"/>
          </p:cNvSpPr>
          <p:nvPr/>
        </p:nvSpPr>
        <p:spPr>
          <a:xfrm xmlns:a="http://schemas.openxmlformats.org/drawingml/2006/main">
            <a:off x="9944100" y="154305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75" b="0">
                <a:solidFill>
                  <a:srgbClr val="687780"/>
                </a:solidFill>
                <a:latin typeface="Arial"/>
                <a:ea typeface="Arial"/>
                <a:cs typeface="Arial"/>
              </a:defRPr>
            </a:defPPr>
            <a:lvl1pPr>
              <a:defRPr sz="975" b="0">
                <a:solidFill>
                  <a:srgbClr val="687780"/>
                </a:solidFill>
                <a:latin typeface="Arial"/>
                <a:ea typeface="Arial"/>
                <a:cs typeface="Arial"/>
              </a:defRPr>
            </a:lvl1pPr>
            <a:lvl2pPr>
              <a:defRPr sz="975" b="0">
                <a:solidFill>
                  <a:srgbClr val="687780"/>
                </a:solidFill>
                <a:latin typeface="Arial"/>
                <a:ea typeface="Arial"/>
                <a:cs typeface="Arial"/>
              </a:defRPr>
            </a:lvl2pPr>
            <a:lvl3pPr>
              <a:defRPr sz="975" b="0">
                <a:solidFill>
                  <a:srgbClr val="687780"/>
                </a:solidFill>
                <a:latin typeface="Arial"/>
                <a:ea typeface="Arial"/>
                <a:cs typeface="Arial"/>
              </a:defRPr>
            </a:lvl3pPr>
            <a:lvl4pPr>
              <a:defRPr sz="975" b="0">
                <a:solidFill>
                  <a:srgbClr val="687780"/>
                </a:solidFill>
                <a:latin typeface="Arial"/>
                <a:ea typeface="Arial"/>
                <a:cs typeface="Arial"/>
              </a:defRPr>
            </a:lvl4pPr>
            <a:lvl5pPr>
              <a:defRPr sz="975" b="0">
                <a:solidFill>
                  <a:srgbClr val="687780"/>
                </a:solidFill>
                <a:latin typeface="Arial"/>
                <a:ea typeface="Arial"/>
                <a:cs typeface="Arial"/>
              </a:defRPr>
            </a:lvl5pPr>
            <a:lvl6pPr>
              <a:defRPr sz="975" b="0">
                <a:solidFill>
                  <a:srgbClr val="687780"/>
                </a:solidFill>
                <a:latin typeface="Arial"/>
                <a:ea typeface="Arial"/>
                <a:cs typeface="Arial"/>
              </a:defRPr>
            </a:lvl6pPr>
            <a:lvl7pPr>
              <a:defRPr sz="975" b="0">
                <a:solidFill>
                  <a:srgbClr val="687780"/>
                </a:solidFill>
                <a:latin typeface="Arial"/>
                <a:ea typeface="Arial"/>
                <a:cs typeface="Arial"/>
              </a:defRPr>
            </a:lvl7pPr>
            <a:lvl8pPr>
              <a:defRPr sz="975" b="0">
                <a:solidFill>
                  <a:srgbClr val="687780"/>
                </a:solidFill>
                <a:latin typeface="Arial"/>
                <a:ea typeface="Arial"/>
                <a:cs typeface="Arial"/>
              </a:defRPr>
            </a:lvl8pPr>
            <a:lvl9pPr>
              <a:defRPr sz="975" b="0">
                <a:solidFill>
                  <a:srgbClr val="687780"/>
                </a:solidFill>
                <a:latin typeface="Arial"/>
                <a:ea typeface="Arial"/>
                <a:cs typeface="Arial"/>
              </a:defRPr>
            </a:lvl9pPr>
          </a:lstStyle>
          <a:p xmlns:a="http://schemas.openxmlformats.org/drawingml/2006/main">
            <a:pPr>
              <a:defRPr sz="975" b="0">
                <a:solidFill>
                  <a:srgbClr val="687780"/>
                </a:solidFill>
                <a:latin typeface="Arial"/>
                <a:ea typeface="Arial"/>
                <a:cs typeface="Arial"/>
              </a:defRPr>
            </a:pPr>
            <a:r>
              <a:rPr sz="975" b="0">
                <a:solidFill>
                  <a:srgbClr val="687780"/>
                </a:solidFill>
                <a:latin typeface="Arial"/>
                <a:ea typeface="Arial"/>
                <a:cs typeface="Arial"/>
              </a:rPr>
              <a:t>Newer</a:t>
            </a:r>
          </a:p>
        </p:txBody>
      </p:sp>
      <p:graphicFrame>
        <p:nvGraphicFramePr>
          <p:cNvPr id="32" name="Chart">
            <a:extLst xmlns:a="http://schemas.openxmlformats.org/drawingml/2006/main">
              <a:ext uri="{FF2B5EF4-FFF2-40B4-BE49-F238E27FC236}">
                <a16:creationId xmlns:a16="http://schemas.microsoft.com/office/drawing/2014/main" id="{2391C27B-D67E-4E5F-B665-3D11296BB803}"/>
              </a:ext>
            </a:extLst>
          </p:cNvPr>
          <p:cNvGraphicFramePr/>
          <p:nvPr/>
        </p:nvGraphicFramePr>
        <p:xfrm>
          <a:off xmlns:a="http://schemas.openxmlformats.org/drawingml/2006/main" x="609600" y="1781175"/>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35d0055e30d14b67"/>
          </a:graphicData>
        </a:graphic>
      </p:graphicFrame>
      <p:graphicFrame>
        <p:nvGraphicFramePr>
          <p:cNvPr id="33" name="Chart">
            <a:extLst xmlns:a="http://schemas.openxmlformats.org/drawingml/2006/main">
              <a:ext uri="{FF2B5EF4-FFF2-40B4-BE49-F238E27FC236}">
                <a16:creationId xmlns:a16="http://schemas.microsoft.com/office/drawing/2014/main" id="{7F1D5CB5-E202-49F1-9626-BDC8ACE7C5A3}"/>
              </a:ext>
            </a:extLst>
          </p:cNvPr>
          <p:cNvGraphicFramePr/>
          <p:nvPr/>
        </p:nvGraphicFramePr>
        <p:xfrm>
          <a:off xmlns:a="http://schemas.openxmlformats.org/drawingml/2006/main" x="6229350" y="1781175"/>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effc0e0a4a134b99"/>
          </a:graphicData>
        </a:graphic>
      </p:graphicFrame>
      <p:graphicFrame>
        <p:nvGraphicFramePr>
          <p:cNvPr id="34" name="Chart">
            <a:extLst xmlns:a="http://schemas.openxmlformats.org/drawingml/2006/main">
              <a:ext uri="{FF2B5EF4-FFF2-40B4-BE49-F238E27FC236}">
                <a16:creationId xmlns:a16="http://schemas.microsoft.com/office/drawing/2014/main" id="{DCB633E9-D596-4E02-8F2E-A47D2ABDA8EF}"/>
              </a:ext>
            </a:extLst>
          </p:cNvPr>
          <p:cNvGraphicFramePr/>
          <p:nvPr/>
        </p:nvGraphicFramePr>
        <p:xfrm>
          <a:off xmlns:a="http://schemas.openxmlformats.org/drawingml/2006/main" x="609600" y="3562350"/>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c6a86e2b12814101"/>
          </a:graphicData>
        </a:graphic>
      </p:graphicFrame>
      <p:graphicFrame>
        <p:nvGraphicFramePr>
          <p:cNvPr id="35" name="Chart">
            <a:extLst xmlns:a="http://schemas.openxmlformats.org/drawingml/2006/main">
              <a:ext uri="{FF2B5EF4-FFF2-40B4-BE49-F238E27FC236}">
                <a16:creationId xmlns:a16="http://schemas.microsoft.com/office/drawing/2014/main" id="{D720EA7E-2CBF-4372-BB69-719F45B54D61}"/>
              </a:ext>
            </a:extLst>
          </p:cNvPr>
          <p:cNvGraphicFramePr/>
          <p:nvPr/>
        </p:nvGraphicFramePr>
        <p:xfrm>
          <a:off xmlns:a="http://schemas.openxmlformats.org/drawingml/2006/main" x="6229350" y="3562350"/>
          <a:ext xmlns:a="http://schemas.openxmlformats.org/drawingml/2006/main" cx="5353050" cy="1743075"/>
        </p:xfrm>
        <a:graphic xmlns:a="http://schemas.openxmlformats.org/drawingml/2006/main">
          <a:graphicData uri="http://schemas.openxmlformats.org/drawingml/2006/chart">
            <c:chart xmlns:r="http://schemas.openxmlformats.org/officeDocument/2006/relationships" xmlns:c="http://schemas.openxmlformats.org/drawingml/2006/chart" r:id="R34851d8c6bde429a"/>
          </a:graphicData>
        </a:graphic>
      </p:graphicFrame>
      <p:sp>
        <p:nvSpPr>
          <p:cNvPr id="36" name="">
            <a:extLst xmlns:a="http://schemas.openxmlformats.org/drawingml/2006/main">
              <a:ext uri="{FF2B5EF4-FFF2-40B4-BE49-F238E27FC236}">
                <a16:creationId xmlns:a16="http://schemas.microsoft.com/office/drawing/2014/main" id="{E00DE445-A4BD-4385-9C22-C50602E4069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2326934A-0C02-4158-91B1-5EFC67267FC9}"/>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Do newer cohorts retain better at the same age? Is the progress broad or concentrated?</a:t>
            </a:r>
          </a:p>
        </p:txBody>
      </p:sp>
    </p:spTree>
    <p:extLst>
      <p:ext uri="{BB962C8B-B14F-4D97-AF65-F5344CB8AC3E}">
        <p14:creationId xmlns:p14="http://schemas.microsoft.com/office/powerpoint/2010/main" val="235914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867364-148A-46CD-A9A1-2ED0C07507F8}"/>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6C6CCA-3EAC-4FCC-B356-0457D3D349AF}"/>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Joining cohorts accumulate into the company</a:t>
            </a:r>
          </a:p>
        </p:txBody>
      </p:sp>
      <p:sp>
        <p:nvSpPr>
          <p:cNvPr id="3" name="">
            <a:extLst xmlns:a="http://schemas.openxmlformats.org/drawingml/2006/main">
              <a:ext uri="{FF2B5EF4-FFF2-40B4-BE49-F238E27FC236}">
                <a16:creationId xmlns:a16="http://schemas.microsoft.com/office/drawing/2014/main" id="{6447D4F5-F158-4A9F-AE02-AAB5113DBBB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60F4FD04-69CA-4FF7-811B-0418645B4889}"/>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48AEA1D4-73C9-4C0F-A40F-7095BF7609FB}"/>
              </a:ext>
            </a:extLst>
          </p:cNvPr>
          <p:cNvSpPr>
            <a:spLocks xmlns:a="http://schemas.openxmlformats.org/drawingml/2006/main" noGrp="1"/>
          </p:cNvSpPr>
          <p:nvPr/>
        </p:nvSpPr>
        <p:spPr>
          <a:xfrm xmlns:a="http://schemas.openxmlformats.org/drawingml/2006/main">
            <a:off x="609600" y="1333500"/>
            <a:ext cx="109728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Figure 3. Retained subscribers by joining cohort and calendar month</a:t>
            </a:r>
          </a:p>
        </p:txBody>
      </p:sp>
      <p:graphicFrame>
        <p:nvGraphicFramePr>
          <p:cNvPr id="6" name="Chart">
            <a:extLst xmlns:a="http://schemas.openxmlformats.org/drawingml/2006/main">
              <a:ext uri="{FF2B5EF4-FFF2-40B4-BE49-F238E27FC236}">
                <a16:creationId xmlns:a16="http://schemas.microsoft.com/office/drawing/2014/main" id="{9B62141D-26A9-4739-808B-9B1FAA204DA4}"/>
              </a:ext>
            </a:extLst>
          </p:cNvPr>
          <p:cNvGraphicFramePr/>
          <p:nvPr/>
        </p:nvGraphicFramePr>
        <p:xfrm>
          <a:off xmlns:a="http://schemas.openxmlformats.org/drawingml/2006/main" x="609600" y="1619250"/>
          <a:ext xmlns:a="http://schemas.openxmlformats.org/drawingml/2006/main" cx="10972800" cy="3476625"/>
        </p:xfrm>
        <a:graphic xmlns:a="http://schemas.openxmlformats.org/drawingml/2006/main">
          <a:graphicData uri="http://schemas.openxmlformats.org/drawingml/2006/chart">
            <c:chart xmlns:r="http://schemas.openxmlformats.org/officeDocument/2006/relationships" xmlns:c="http://schemas.openxmlformats.org/drawingml/2006/chart" r:id="R7c5bb6d776c44f8f"/>
          </a:graphicData>
        </a:graphic>
      </p:graphicFrame>
      <p:sp>
        <p:nvSpPr>
          <p:cNvPr id="7" name="">
            <a:extLst xmlns:a="http://schemas.openxmlformats.org/drawingml/2006/main">
              <a:ext uri="{FF2B5EF4-FFF2-40B4-BE49-F238E27FC236}">
                <a16:creationId xmlns:a16="http://schemas.microsoft.com/office/drawing/2014/main" id="{A197B923-96A6-4D1F-9D56-5136FA27FFD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1F3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9922BE-CC13-410C-8F92-D3D7EF7C35FB}"/>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Each band is one joining cohort. The height is the retained customer base, not cumulative acquisitions.</a:t>
            </a:r>
          </a:p>
        </p:txBody>
      </p:sp>
    </p:spTree>
    <p:extLst>
      <p:ext uri="{BB962C8B-B14F-4D97-AF65-F5344CB8AC3E}">
        <p14:creationId xmlns:p14="http://schemas.microsoft.com/office/powerpoint/2010/main" val="7141508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6AF791-6783-4660-AD3B-17B2E449190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73E566-3D03-45D4-A43F-2988DB21677A}"/>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3: is one month enough to decide?</a:t>
            </a:r>
          </a:p>
        </p:txBody>
      </p:sp>
      <p:sp>
        <p:nvSpPr>
          <p:cNvPr id="3" name="">
            <a:extLst xmlns:a="http://schemas.openxmlformats.org/drawingml/2006/main">
              <a:ext uri="{FF2B5EF4-FFF2-40B4-BE49-F238E27FC236}">
                <a16:creationId xmlns:a16="http://schemas.microsoft.com/office/drawing/2014/main" id="{43F13D05-4F6C-4A99-B021-E179874AE20A}"/>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895C2820-20A8-4354-8808-9A7352DBA9ED}"/>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55B980BF-3B77-4A7E-83C5-15469B7E5D61}"/>
              </a:ext>
            </a:extLst>
          </p:cNvPr>
          <p:cNvSpPr>
            <a:spLocks xmlns:a="http://schemas.openxmlformats.org/drawingml/2006/main" noGrp="1"/>
          </p:cNvSpPr>
          <p:nvPr/>
        </p:nvSpPr>
        <p:spPr>
          <a:xfrm xmlns:a="http://schemas.openxmlformats.org/drawingml/2006/main">
            <a:off x="609600" y="14954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0">
                <a:solidFill>
                  <a:srgbClr val="172D3C"/>
                </a:solidFill>
                <a:latin typeface="Arial"/>
                <a:ea typeface="Arial"/>
                <a:cs typeface="Arial"/>
              </a:defRPr>
            </a:defPPr>
            <a:lvl1pPr>
              <a:defRPr sz="1875" b="0">
                <a:solidFill>
                  <a:srgbClr val="172D3C"/>
                </a:solidFill>
                <a:latin typeface="Arial"/>
                <a:ea typeface="Arial"/>
                <a:cs typeface="Arial"/>
              </a:defRPr>
            </a:lvl1pPr>
            <a:lvl2pPr>
              <a:defRPr sz="1875" b="0">
                <a:solidFill>
                  <a:srgbClr val="172D3C"/>
                </a:solidFill>
                <a:latin typeface="Arial"/>
                <a:ea typeface="Arial"/>
                <a:cs typeface="Arial"/>
              </a:defRPr>
            </a:lvl2pPr>
            <a:lvl3pPr>
              <a:defRPr sz="1875" b="0">
                <a:solidFill>
                  <a:srgbClr val="172D3C"/>
                </a:solidFill>
                <a:latin typeface="Arial"/>
                <a:ea typeface="Arial"/>
                <a:cs typeface="Arial"/>
              </a:defRPr>
            </a:lvl3pPr>
            <a:lvl4pPr>
              <a:defRPr sz="1875" b="0">
                <a:solidFill>
                  <a:srgbClr val="172D3C"/>
                </a:solidFill>
                <a:latin typeface="Arial"/>
                <a:ea typeface="Arial"/>
                <a:cs typeface="Arial"/>
              </a:defRPr>
            </a:lvl4pPr>
            <a:lvl5pPr>
              <a:defRPr sz="1875" b="0">
                <a:solidFill>
                  <a:srgbClr val="172D3C"/>
                </a:solidFill>
                <a:latin typeface="Arial"/>
                <a:ea typeface="Arial"/>
                <a:cs typeface="Arial"/>
              </a:defRPr>
            </a:lvl5pPr>
            <a:lvl6pPr>
              <a:defRPr sz="1875" b="0">
                <a:solidFill>
                  <a:srgbClr val="172D3C"/>
                </a:solidFill>
                <a:latin typeface="Arial"/>
                <a:ea typeface="Arial"/>
                <a:cs typeface="Arial"/>
              </a:defRPr>
            </a:lvl6pPr>
            <a:lvl7pPr>
              <a:defRPr sz="1875" b="0">
                <a:solidFill>
                  <a:srgbClr val="172D3C"/>
                </a:solidFill>
                <a:latin typeface="Arial"/>
                <a:ea typeface="Arial"/>
                <a:cs typeface="Arial"/>
              </a:defRPr>
            </a:lvl7pPr>
            <a:lvl8pPr>
              <a:defRPr sz="1875" b="0">
                <a:solidFill>
                  <a:srgbClr val="172D3C"/>
                </a:solidFill>
                <a:latin typeface="Arial"/>
                <a:ea typeface="Arial"/>
                <a:cs typeface="Arial"/>
              </a:defRPr>
            </a:lvl8pPr>
            <a:lvl9pPr>
              <a:defRPr sz="1875" b="0">
                <a:solidFill>
                  <a:srgbClr val="172D3C"/>
                </a:solidFill>
                <a:latin typeface="Arial"/>
                <a:ea typeface="Arial"/>
                <a:cs typeface="Arial"/>
              </a:defRPr>
            </a:lvl9pPr>
          </a:lstStyle>
          <a:p xmlns:a="http://schemas.openxmlformats.org/drawingml/2006/main">
            <a:pPr>
              <a:defRPr sz="1875" b="0">
                <a:solidFill>
                  <a:srgbClr val="172D3C"/>
                </a:solidFill>
                <a:latin typeface="Arial"/>
                <a:ea typeface="Arial"/>
                <a:cs typeface="Arial"/>
              </a:defRPr>
            </a:pPr>
            <a:r>
              <a:rPr sz="1875" b="0">
                <a:solidFill>
                  <a:srgbClr val="172D3C"/>
                </a:solidFill>
                <a:latin typeface="Arial"/>
                <a:ea typeface="Arial"/>
                <a:cs typeface="Arial"/>
              </a:rPr>
              <a:t>Each campaign randomized 250 prospects to treatment and 250 to its own control. Follow-up lasts about one month.</a:t>
            </a:r>
          </a:p>
        </p:txBody>
      </p:sp>
      <p:sp>
        <p:nvSpPr>
          <p:cNvPr id="6" name="">
            <a:extLst xmlns:a="http://schemas.openxmlformats.org/drawingml/2006/main">
              <a:ext uri="{FF2B5EF4-FFF2-40B4-BE49-F238E27FC236}">
                <a16:creationId xmlns:a16="http://schemas.microsoft.com/office/drawing/2014/main" id="{6F979B4A-70C5-4AC2-8CBB-4CFB33B45817}"/>
              </a:ext>
            </a:extLst>
          </p:cNvPr>
          <p:cNvSpPr>
            <a:spLocks xmlns:a="http://schemas.openxmlformats.org/drawingml/2006/main" noGrp="1"/>
          </p:cNvSpPr>
          <p:nvPr/>
        </p:nvSpPr>
        <p:spPr>
          <a:xfrm xmlns:a="http://schemas.openxmlformats.org/drawingml/2006/main">
            <a:off x="609600" y="21431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Table 4. Experimental contribution after acquisition spending</a:t>
            </a:r>
          </a:p>
        </p:txBody>
      </p:sp>
      <p:graphicFrame>
        <p:nvGraphicFramePr>
          <p:cNvPr id="7" name="">
            <a:extLst xmlns:a="http://schemas.openxmlformats.org/drawingml/2006/main">
              <a:ext uri="{FF2B5EF4-FFF2-40B4-BE49-F238E27FC236}">
                <a16:creationId xmlns:a16="http://schemas.microsoft.com/office/drawing/2014/main" id="{AE2521B9-1167-4960-B03D-7B51B95D76BF}"/>
              </a:ext>
            </a:extLst>
          </p:cNvPr>
          <p:cNvGraphicFramePr/>
          <p:nvPr/>
        </p:nvGraphicFramePr>
        <p:xfrm>
          <a:off xmlns:a="http://schemas.openxmlformats.org/drawingml/2006/main" x="609600" y="2381250"/>
          <a:ext xmlns:a="http://schemas.openxmlformats.org/drawingml/2006/main" cx="10972800" cy="1714500"/>
        </p:xfrm>
        <a:graphic xmlns:a="http://schemas.openxmlformats.org/drawingml/2006/main">
          <a:graphicData uri="http://schemas.openxmlformats.org/drawingml/2006/table">
            <a:tbl>
              <a:tblPr/>
              <a:tblGrid>
                <a:gridCol w="3429000"/>
                <a:gridCol w="1619250"/>
                <a:gridCol w="2857500"/>
                <a:gridCol w="3067050"/>
              </a:tblGrid>
              <a:tr h="571500">
                <a:tc>
                  <a:txBody>
                    <a:bodyPr/>
                    <a:lstStyle/>
                    <a:p>
                      <a:r>
                        <a:rPr sz="1350" b="1">
                          <a:solidFill>
                            <a:srgbClr val="FFFFFF"/>
                          </a:solidFill>
                          <a:latin typeface="Arial"/>
                          <a:ea typeface="Arial"/>
                          <a:cs typeface="Arial"/>
                        </a:rPr>
                        <a:t>Test</a:t>
                      </a:r>
                    </a:p>
                  </a:txBody>
                  <a:tcPr marL="91440" marR="91440" marT="45720" marB="45720">
                    <a:solidFill>
                      <a:srgbClr val="172D3C"/>
                    </a:solidFill>
                  </a:tcPr>
                </a:tc>
                <a:tc>
                  <a:txBody>
                    <a:bodyPr/>
                    <a:lstStyle/>
                    <a:p>
                      <a:r>
                        <a:rPr sz="1350" b="1">
                          <a:solidFill>
                            <a:srgbClr val="FFFFFF"/>
                          </a:solidFill>
                          <a:latin typeface="Arial"/>
                          <a:ea typeface="Arial"/>
                          <a:cs typeface="Arial"/>
                        </a:rPr>
                        <a:t>Follow-up</a:t>
                      </a:r>
                    </a:p>
                  </a:txBody>
                  <a:tcPr marL="91440" marR="91440" marT="45720" marB="45720">
                    <a:solidFill>
                      <a:srgbClr val="172D3C"/>
                    </a:solidFill>
                  </a:tcPr>
                </a:tc>
                <a:tc>
                  <a:txBody>
                    <a:bodyPr/>
                    <a:lstStyle/>
                    <a:p>
                      <a:r>
                        <a:rPr sz="1350" b="1">
                          <a:solidFill>
                            <a:srgbClr val="FFFFFF"/>
                          </a:solidFill>
                          <a:latin typeface="Arial"/>
                          <a:ea typeface="Arial"/>
                          <a:cs typeface="Arial"/>
                        </a:rPr>
                        <a:t>Incremental contribution after media / prospect</a:t>
                      </a:r>
                    </a:p>
                  </a:txBody>
                  <a:tcPr marL="91440" marR="91440" marT="45720" marB="45720">
                    <a:solidFill>
                      <a:srgbClr val="172D3C"/>
                    </a:solidFill>
                  </a:tcPr>
                </a:tc>
                <a:tc>
                  <a:txBody>
                    <a:bodyPr/>
                    <a:lstStyle/>
                    <a:p>
                      <a:r>
                        <a:rPr sz="1350" b="1">
                          <a:solidFill>
                            <a:srgbClr val="FFFFFF"/>
                          </a:solidFill>
                          <a:latin typeface="Arial"/>
                          <a:ea typeface="Arial"/>
                          <a:cs typeface="Arial"/>
                        </a:rPr>
                        <a:t>Approx. 95% interval</a:t>
                      </a:r>
                    </a:p>
                  </a:txBody>
                  <a:tcPr marL="91440" marR="91440" marT="45720" marB="45720">
                    <a:solidFill>
                      <a:srgbClr val="172D3C"/>
                    </a:solidFill>
                  </a:tcPr>
                </a:tc>
              </a:tr>
              <a:tr h="571500">
                <a:tc>
                  <a:txBody>
                    <a:bodyPr/>
                    <a:lstStyle/>
                    <a:p>
                      <a:r>
                        <a:rPr sz="1425" b="0">
                          <a:solidFill>
                            <a:srgbClr val="172D3C"/>
                          </a:solidFill>
                          <a:latin typeface="Arial"/>
                          <a:ea typeface="Arial"/>
                          <a:cs typeface="Arial"/>
                        </a:rPr>
                        <a:t>search / save time</a:t>
                      </a:r>
                    </a:p>
                  </a:txBody>
                  <a:tcPr marL="91440" marR="91440" marT="45720" marB="45720">
                    <a:solidFill>
                      <a:srgbClr val="F0F5F6"/>
                    </a:solidFill>
                  </a:tcPr>
                </a:tc>
                <a:tc>
                  <a:txBody>
                    <a:bodyPr/>
                    <a:lstStyle/>
                    <a:p>
                      <a:r>
                        <a:rPr sz="1425" b="0">
                          <a:solidFill>
                            <a:srgbClr val="172D3C"/>
                          </a:solidFill>
                          <a:latin typeface="Arial"/>
                          <a:ea typeface="Arial"/>
                          <a:cs typeface="Arial"/>
                        </a:rPr>
                        <a:t>31 days</a:t>
                      </a:r>
                    </a:p>
                  </a:txBody>
                  <a:tcPr marL="91440" marR="91440" marT="45720" marB="45720">
                    <a:solidFill>
                      <a:srgbClr val="F0F5F6"/>
                    </a:solidFill>
                  </a:tcPr>
                </a:tc>
                <a:tc>
                  <a:txBody>
                    <a:bodyPr/>
                    <a:lstStyle/>
                    <a:p>
                      <a:r>
                        <a:rPr sz="1425" b="0">
                          <a:solidFill>
                            <a:srgbClr val="172D3C"/>
                          </a:solidFill>
                          <a:latin typeface="Arial"/>
                          <a:ea typeface="Arial"/>
                          <a:cs typeface="Arial"/>
                        </a:rPr>
                        <a:t>-$0.65</a:t>
                      </a:r>
                    </a:p>
                  </a:txBody>
                  <a:tcPr marL="91440" marR="91440" marT="45720" marB="45720">
                    <a:solidFill>
                      <a:srgbClr val="F0F5F6"/>
                    </a:solidFill>
                  </a:tcPr>
                </a:tc>
                <a:tc>
                  <a:txBody>
                    <a:bodyPr/>
                    <a:lstStyle/>
                    <a:p>
                      <a:r>
                        <a:rPr sz="1425" b="0">
                          <a:solidFill>
                            <a:srgbClr val="172D3C"/>
                          </a:solidFill>
                          <a:latin typeface="Arial"/>
                          <a:ea typeface="Arial"/>
                          <a:cs typeface="Arial"/>
                        </a:rPr>
                        <a:t>-$2.29 to $0.98</a:t>
                      </a:r>
                    </a:p>
                  </a:txBody>
                  <a:tcPr marL="91440" marR="91440" marT="45720" marB="45720">
                    <a:solidFill>
                      <a:srgbClr val="F0F5F6"/>
                    </a:solidFill>
                  </a:tcPr>
                </a:tc>
              </a:tr>
              <a:tr h="571500">
                <a:tc>
                  <a:txBody>
                    <a:bodyPr/>
                    <a:lstStyle/>
                    <a:p>
                      <a:r>
                        <a:rPr sz="1425" b="0">
                          <a:solidFill>
                            <a:srgbClr val="172D3C"/>
                          </a:solidFill>
                          <a:latin typeface="Arial"/>
                          <a:ea typeface="Arial"/>
                          <a:cs typeface="Arial"/>
                        </a:rPr>
                        <a:t>partner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30 days</a:t>
                      </a:r>
                    </a:p>
                  </a:txBody>
                  <a:tcPr marL="91440" marR="91440" marT="45720" marB="45720">
                    <a:solidFill>
                      <a:srgbClr val="FFFFFF"/>
                    </a:solidFill>
                  </a:tcPr>
                </a:tc>
                <a:tc>
                  <a:txBody>
                    <a:bodyPr/>
                    <a:lstStyle/>
                    <a:p>
                      <a:r>
                        <a:rPr sz="1425" b="0">
                          <a:solidFill>
                            <a:srgbClr val="172D3C"/>
                          </a:solidFill>
                          <a:latin typeface="Arial"/>
                          <a:ea typeface="Arial"/>
                          <a:cs typeface="Arial"/>
                        </a:rPr>
                        <a:t>-$1.31</a:t>
                      </a:r>
                    </a:p>
                  </a:txBody>
                  <a:tcPr marL="91440" marR="91440" marT="45720" marB="45720">
                    <a:solidFill>
                      <a:srgbClr val="FFFFFF"/>
                    </a:solidFill>
                  </a:tcPr>
                </a:tc>
                <a:tc>
                  <a:txBody>
                    <a:bodyPr/>
                    <a:lstStyle/>
                    <a:p>
                      <a:r>
                        <a:rPr sz="1425" b="0">
                          <a:solidFill>
                            <a:srgbClr val="172D3C"/>
                          </a:solidFill>
                          <a:latin typeface="Arial"/>
                          <a:ea typeface="Arial"/>
                          <a:cs typeface="Arial"/>
                        </a:rPr>
                        <a:t>-$3.13 to $0.51</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6717D9A0-0891-43B3-9270-C62FA62B5B47}"/>
              </a:ext>
            </a:extLst>
          </p:cNvPr>
          <p:cNvSpPr>
            <a:spLocks xmlns:a="http://schemas.openxmlformats.org/drawingml/2006/main" noGrp="1"/>
          </p:cNvSpPr>
          <p:nvPr/>
        </p:nvSpPr>
        <p:spPr>
          <a:xfrm xmlns:a="http://schemas.openxmlformats.org/drawingml/2006/main">
            <a:off x="609600" y="43529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Would you scale, stop, or keep measuring? What evidence would change your decision?</a:t>
            </a:r>
          </a:p>
        </p:txBody>
      </p:sp>
      <p:sp>
        <p:nvSpPr>
          <p:cNvPr id="9" name="">
            <a:extLst xmlns:a="http://schemas.openxmlformats.org/drawingml/2006/main">
              <a:ext uri="{FF2B5EF4-FFF2-40B4-BE49-F238E27FC236}">
                <a16:creationId xmlns:a16="http://schemas.microsoft.com/office/drawing/2014/main" id="{A45A9CD2-E630-49FE-96FE-F77A63B1D32F}"/>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BC31B2-BB38-426D-9910-3B00BD27A009}"/>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Cohort payback takes months. Predicted customer LTV cannot replace longer experimental follow-up.</a:t>
            </a:r>
          </a:p>
        </p:txBody>
      </p:sp>
    </p:spTree>
    <p:extLst>
      <p:ext uri="{BB962C8B-B14F-4D97-AF65-F5344CB8AC3E}">
        <p14:creationId xmlns:p14="http://schemas.microsoft.com/office/powerpoint/2010/main" val="70483174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2BC9246-A86A-49C2-8211-98D5D85DE908}"/>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8717341-9724-4716-B1EE-B0A997A1F518}"/>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Model renewal and revenue before forecasting LTV</a:t>
            </a:r>
          </a:p>
        </p:txBody>
      </p:sp>
      <p:sp>
        <p:nvSpPr>
          <p:cNvPr id="3" name="">
            <a:extLst xmlns:a="http://schemas.openxmlformats.org/drawingml/2006/main">
              <a:ext uri="{FF2B5EF4-FFF2-40B4-BE49-F238E27FC236}">
                <a16:creationId xmlns:a16="http://schemas.microsoft.com/office/drawing/2014/main" id="{DEC661CF-7BC2-444B-B58D-9016BD68F51F}"/>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09753182-5C3F-4581-8E5D-AD4EE9BB0C2D}"/>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974C5307-BC03-42DF-80A9-74771CD5E9D7}"/>
              </a:ext>
            </a:extLst>
          </p:cNvPr>
          <p:cNvSpPr>
            <a:spLocks xmlns:a="http://schemas.openxmlformats.org/drawingml/2006/main" noGrp="1"/>
          </p:cNvSpPr>
          <p:nvPr/>
        </p:nvSpPr>
        <p:spPr>
          <a:xfrm xmlns:a="http://schemas.openxmlformats.org/drawingml/2006/main">
            <a:off x="6096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3C3DE0-916C-444C-9647-9CDEEF2A08DA}"/>
              </a:ext>
            </a:extLst>
          </p:cNvPr>
          <p:cNvSpPr>
            <a:spLocks xmlns:a="http://schemas.openxmlformats.org/drawingml/2006/main" noGrp="1"/>
          </p:cNvSpPr>
          <p:nvPr/>
        </p:nvSpPr>
        <p:spPr>
          <a:xfrm xmlns:a="http://schemas.openxmlformats.org/drawingml/2006/main">
            <a:off x="6096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86FC7F1-5FCD-4384-A9CE-51CF4CDA902C}"/>
              </a:ext>
            </a:extLst>
          </p:cNvPr>
          <p:cNvSpPr>
            <a:spLocks xmlns:a="http://schemas.openxmlformats.org/drawingml/2006/main" noGrp="1"/>
          </p:cNvSpPr>
          <p:nvPr/>
        </p:nvSpPr>
        <p:spPr>
          <a:xfrm xmlns:a="http://schemas.openxmlformats.org/drawingml/2006/main">
            <a:off x="8001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Retention model</a:t>
            </a:r>
          </a:p>
        </p:txBody>
      </p:sp>
      <p:sp>
        <p:nvSpPr>
          <p:cNvPr id="8" name="">
            <a:extLst xmlns:a="http://schemas.openxmlformats.org/drawingml/2006/main">
              <a:ext uri="{FF2B5EF4-FFF2-40B4-BE49-F238E27FC236}">
                <a16:creationId xmlns:a16="http://schemas.microsoft.com/office/drawing/2014/main" id="{083DA841-4C93-483F-861E-EEE7958DCF6C}"/>
              </a:ext>
            </a:extLst>
          </p:cNvPr>
          <p:cNvSpPr>
            <a:spLocks xmlns:a="http://schemas.openxmlformats.org/drawingml/2006/main" noGrp="1"/>
          </p:cNvSpPr>
          <p:nvPr/>
        </p:nvSpPr>
        <p:spPr>
          <a:xfrm xmlns:a="http://schemas.openxmlformats.org/drawingml/2006/main">
            <a:off x="8001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hierarchical shifted Beta-Geometric model represents persistent differences in churn risk. Cohort and group information share strength where histories are short.</a:t>
            </a:r>
          </a:p>
        </p:txBody>
      </p:sp>
      <p:sp>
        <p:nvSpPr>
          <p:cNvPr id="9" name="">
            <a:extLst xmlns:a="http://schemas.openxmlformats.org/drawingml/2006/main">
              <a:ext uri="{FF2B5EF4-FFF2-40B4-BE49-F238E27FC236}">
                <a16:creationId xmlns:a16="http://schemas.microsoft.com/office/drawing/2014/main" id="{8F2F56E3-9D0E-451C-B431-9B41FE8FFC8A}"/>
              </a:ext>
            </a:extLst>
          </p:cNvPr>
          <p:cNvSpPr>
            <a:spLocks xmlns:a="http://schemas.openxmlformats.org/drawingml/2006/main" noGrp="1"/>
          </p:cNvSpPr>
          <p:nvPr/>
        </p:nvSpPr>
        <p:spPr>
          <a:xfrm xmlns:a="http://schemas.openxmlformats.org/drawingml/2006/main">
            <a:off x="43815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1D9894-9ADB-4023-9256-8C57EA7C007B}"/>
              </a:ext>
            </a:extLst>
          </p:cNvPr>
          <p:cNvSpPr>
            <a:spLocks xmlns:a="http://schemas.openxmlformats.org/drawingml/2006/main" noGrp="1"/>
          </p:cNvSpPr>
          <p:nvPr/>
        </p:nvSpPr>
        <p:spPr>
          <a:xfrm xmlns:a="http://schemas.openxmlformats.org/drawingml/2006/main">
            <a:off x="43815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D8DE951-ED7B-4F54-80A1-934C8D63D462}"/>
              </a:ext>
            </a:extLst>
          </p:cNvPr>
          <p:cNvSpPr>
            <a:spLocks xmlns:a="http://schemas.openxmlformats.org/drawingml/2006/main" noGrp="1"/>
          </p:cNvSpPr>
          <p:nvPr/>
        </p:nvSpPr>
        <p:spPr>
          <a:xfrm xmlns:a="http://schemas.openxmlformats.org/drawingml/2006/main">
            <a:off x="45720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Revenue model</a:t>
            </a:r>
          </a:p>
        </p:txBody>
      </p:sp>
      <p:sp>
        <p:nvSpPr>
          <p:cNvPr id="12" name="">
            <a:extLst xmlns:a="http://schemas.openxmlformats.org/drawingml/2006/main">
              <a:ext uri="{FF2B5EF4-FFF2-40B4-BE49-F238E27FC236}">
                <a16:creationId xmlns:a16="http://schemas.microsoft.com/office/drawing/2014/main" id="{C1B3660C-9908-48C7-92A4-CD295B05E802}"/>
              </a:ext>
            </a:extLst>
          </p:cNvPr>
          <p:cNvSpPr>
            <a:spLocks xmlns:a="http://schemas.openxmlformats.org/drawingml/2006/main" noGrp="1"/>
          </p:cNvSpPr>
          <p:nvPr/>
        </p:nvSpPr>
        <p:spPr>
          <a:xfrm xmlns:a="http://schemas.openxmlformats.org/drawingml/2006/main">
            <a:off x="45720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Gamma model describes positive revenue among retained customers. Combine this forecast with retention, variable costs and observed contribution.</a:t>
            </a:r>
          </a:p>
        </p:txBody>
      </p:sp>
      <p:sp>
        <p:nvSpPr>
          <p:cNvPr id="13" name="">
            <a:extLst xmlns:a="http://schemas.openxmlformats.org/drawingml/2006/main">
              <a:ext uri="{FF2B5EF4-FFF2-40B4-BE49-F238E27FC236}">
                <a16:creationId xmlns:a16="http://schemas.microsoft.com/office/drawing/2014/main" id="{73A47F96-27C8-417F-BC45-281DF3293030}"/>
              </a:ext>
            </a:extLst>
          </p:cNvPr>
          <p:cNvSpPr>
            <a:spLocks xmlns:a="http://schemas.openxmlformats.org/drawingml/2006/main" noGrp="1"/>
          </p:cNvSpPr>
          <p:nvPr/>
        </p:nvSpPr>
        <p:spPr>
          <a:xfrm xmlns:a="http://schemas.openxmlformats.org/drawingml/2006/main">
            <a:off x="81534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81CA45-E26A-4BFB-8497-16200E538729}"/>
              </a:ext>
            </a:extLst>
          </p:cNvPr>
          <p:cNvSpPr>
            <a:spLocks xmlns:a="http://schemas.openxmlformats.org/drawingml/2006/main" noGrp="1"/>
          </p:cNvSpPr>
          <p:nvPr/>
        </p:nvSpPr>
        <p:spPr>
          <a:xfrm xmlns:a="http://schemas.openxmlformats.org/drawingml/2006/main">
            <a:off x="81534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5941911-4899-4D3E-B225-F52E7B610CC2}"/>
              </a:ext>
            </a:extLst>
          </p:cNvPr>
          <p:cNvSpPr>
            <a:spLocks xmlns:a="http://schemas.openxmlformats.org/drawingml/2006/main" noGrp="1"/>
          </p:cNvSpPr>
          <p:nvPr/>
        </p:nvSpPr>
        <p:spPr>
          <a:xfrm xmlns:a="http://schemas.openxmlformats.org/drawingml/2006/main">
            <a:off x="83439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Validation</a:t>
            </a:r>
          </a:p>
        </p:txBody>
      </p:sp>
      <p:sp>
        <p:nvSpPr>
          <p:cNvPr id="16" name="">
            <a:extLst xmlns:a="http://schemas.openxmlformats.org/drawingml/2006/main">
              <a:ext uri="{FF2B5EF4-FFF2-40B4-BE49-F238E27FC236}">
                <a16:creationId xmlns:a16="http://schemas.microsoft.com/office/drawing/2014/main" id="{E727BE60-EAA5-4EA6-8350-9DC8C173DA01}"/>
              </a:ext>
            </a:extLst>
          </p:cNvPr>
          <p:cNvSpPr>
            <a:spLocks xmlns:a="http://schemas.openxmlformats.org/drawingml/2006/main" noGrp="1"/>
          </p:cNvSpPr>
          <p:nvPr/>
        </p:nvSpPr>
        <p:spPr>
          <a:xfrm xmlns:a="http://schemas.openxmlformats.org/drawingml/2006/main">
            <a:off x="83439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Compare chronological holdout predictions with a simple baseline and an Orduz-style neural network. Keep uncertainty visible; a fitted curve is not a guarantee.</a:t>
            </a:r>
          </a:p>
        </p:txBody>
      </p:sp>
      <p:sp>
        <p:nvSpPr>
          <p:cNvPr id="17" name="">
            <a:extLst xmlns:a="http://schemas.openxmlformats.org/drawingml/2006/main">
              <a:ext uri="{FF2B5EF4-FFF2-40B4-BE49-F238E27FC236}">
                <a16:creationId xmlns:a16="http://schemas.microsoft.com/office/drawing/2014/main" id="{56A6884B-57BA-46EE-A126-44C5A2FCF117}"/>
              </a:ext>
            </a:extLst>
          </p:cNvPr>
          <p:cNvSpPr>
            <a:spLocks xmlns:a="http://schemas.openxmlformats.org/drawingml/2006/main" noGrp="1"/>
          </p:cNvSpPr>
          <p:nvPr/>
        </p:nvSpPr>
        <p:spPr>
          <a:xfrm xmlns:a="http://schemas.openxmlformats.org/drawingml/2006/main">
            <a:off x="609600" y="44386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172D3C"/>
                </a:solidFill>
                <a:latin typeface="Arial"/>
                <a:ea typeface="Arial"/>
                <a:cs typeface="Arial"/>
              </a:defRPr>
            </a:defPPr>
            <a:lvl1pPr>
              <a:defRPr sz="1800" b="1">
                <a:solidFill>
                  <a:srgbClr val="172D3C"/>
                </a:solidFill>
                <a:latin typeface="Arial"/>
                <a:ea typeface="Arial"/>
                <a:cs typeface="Arial"/>
              </a:defRPr>
            </a:lvl1pPr>
            <a:lvl2pPr>
              <a:defRPr sz="1800" b="1">
                <a:solidFill>
                  <a:srgbClr val="172D3C"/>
                </a:solidFill>
                <a:latin typeface="Arial"/>
                <a:ea typeface="Arial"/>
                <a:cs typeface="Arial"/>
              </a:defRPr>
            </a:lvl2pPr>
            <a:lvl3pPr>
              <a:defRPr sz="1800" b="1">
                <a:solidFill>
                  <a:srgbClr val="172D3C"/>
                </a:solidFill>
                <a:latin typeface="Arial"/>
                <a:ea typeface="Arial"/>
                <a:cs typeface="Arial"/>
              </a:defRPr>
            </a:lvl3pPr>
            <a:lvl4pPr>
              <a:defRPr sz="1800" b="1">
                <a:solidFill>
                  <a:srgbClr val="172D3C"/>
                </a:solidFill>
                <a:latin typeface="Arial"/>
                <a:ea typeface="Arial"/>
                <a:cs typeface="Arial"/>
              </a:defRPr>
            </a:lvl4pPr>
            <a:lvl5pPr>
              <a:defRPr sz="1800" b="1">
                <a:solidFill>
                  <a:srgbClr val="172D3C"/>
                </a:solidFill>
                <a:latin typeface="Arial"/>
                <a:ea typeface="Arial"/>
                <a:cs typeface="Arial"/>
              </a:defRPr>
            </a:lvl5pPr>
            <a:lvl6pPr>
              <a:defRPr sz="1800" b="1">
                <a:solidFill>
                  <a:srgbClr val="172D3C"/>
                </a:solidFill>
                <a:latin typeface="Arial"/>
                <a:ea typeface="Arial"/>
                <a:cs typeface="Arial"/>
              </a:defRPr>
            </a:lvl6pPr>
            <a:lvl7pPr>
              <a:defRPr sz="1800" b="1">
                <a:solidFill>
                  <a:srgbClr val="172D3C"/>
                </a:solidFill>
                <a:latin typeface="Arial"/>
                <a:ea typeface="Arial"/>
                <a:cs typeface="Arial"/>
              </a:defRPr>
            </a:lvl7pPr>
            <a:lvl8pPr>
              <a:defRPr sz="1800" b="1">
                <a:solidFill>
                  <a:srgbClr val="172D3C"/>
                </a:solidFill>
                <a:latin typeface="Arial"/>
                <a:ea typeface="Arial"/>
                <a:cs typeface="Arial"/>
              </a:defRPr>
            </a:lvl8pPr>
            <a:lvl9pPr>
              <a:defRPr sz="1800" b="1">
                <a:solidFill>
                  <a:srgbClr val="172D3C"/>
                </a:solidFill>
                <a:latin typeface="Arial"/>
                <a:ea typeface="Arial"/>
                <a:cs typeface="Arial"/>
              </a:defRPr>
            </a:lvl9pPr>
          </a:lstStyle>
          <a:p xmlns:a="http://schemas.openxmlformats.org/drawingml/2006/main">
            <a:pPr>
              <a:defRPr sz="1800" b="1">
                <a:solidFill>
                  <a:srgbClr val="172D3C"/>
                </a:solidFill>
                <a:latin typeface="Arial"/>
                <a:ea typeface="Arial"/>
                <a:cs typeface="Arial"/>
              </a:defRPr>
            </a:pPr>
            <a:r>
              <a:rPr sz="1800" b="1">
                <a:solidFill>
                  <a:srgbClr val="172D3C"/>
                </a:solidFill>
                <a:latin typeface="Arial"/>
                <a:ea typeface="Arial"/>
                <a:cs typeface="Arial"/>
              </a:rPr>
              <a:t>Use a common 12-month horizon. Net LTV subtracts CAC; cash payback tracks undiscounted recovery.</a:t>
            </a:r>
          </a:p>
        </p:txBody>
      </p:sp>
      <p:sp>
        <p:nvSpPr>
          <p:cNvPr id="18" name="">
            <a:extLst xmlns:a="http://schemas.openxmlformats.org/drawingml/2006/main">
              <a:ext uri="{FF2B5EF4-FFF2-40B4-BE49-F238E27FC236}">
                <a16:creationId xmlns:a16="http://schemas.microsoft.com/office/drawing/2014/main" id="{7458BE00-89B0-4BAD-90FA-D1A236F6630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FD5376A-F02A-4A31-B1CC-B5E428143CFB}"/>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Run the locked NumPyro/JAX models on CPU with uv. Describe the model before showing its results.</a:t>
            </a:r>
          </a:p>
        </p:txBody>
      </p:sp>
    </p:spTree>
    <p:extLst>
      <p:ext uri="{BB962C8B-B14F-4D97-AF65-F5344CB8AC3E}">
        <p14:creationId xmlns:p14="http://schemas.microsoft.com/office/powerpoint/2010/main" val="6718047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A8C339-015D-40F3-B73C-638B0098380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45B60A-9D6C-4325-A01C-7DECB5324AFC}"/>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Hand your team a decision and a reproducible report</a:t>
            </a:r>
          </a:p>
        </p:txBody>
      </p:sp>
      <p:sp>
        <p:nvSpPr>
          <p:cNvPr id="3" name="">
            <a:extLst xmlns:a="http://schemas.openxmlformats.org/drawingml/2006/main">
              <a:ext uri="{FF2B5EF4-FFF2-40B4-BE49-F238E27FC236}">
                <a16:creationId xmlns:a16="http://schemas.microsoft.com/office/drawing/2014/main" id="{A98DEB47-72CE-44B3-A07E-63495A40306C}"/>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92186482-9642-47B4-B2EF-74AF64E23FE4}"/>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0E647B1F-0427-4FDF-B19A-6087274F2A32}"/>
              </a:ext>
            </a:extLst>
          </p:cNvPr>
          <p:cNvSpPr>
            <a:spLocks xmlns:a="http://schemas.openxmlformats.org/drawingml/2006/main" noGrp="1"/>
          </p:cNvSpPr>
          <p:nvPr/>
        </p:nvSpPr>
        <p:spPr>
          <a:xfrm xmlns:a="http://schemas.openxmlformats.org/drawingml/2006/main">
            <a:off x="609600" y="14954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325" b="1">
                <a:solidFill>
                  <a:srgbClr val="087F8C"/>
                </a:solidFill>
                <a:latin typeface="Arial"/>
                <a:ea typeface="Arial"/>
                <a:cs typeface="Arial"/>
              </a:defRPr>
            </a:defPPr>
            <a:lvl1pPr>
              <a:defRPr sz="2325" b="1">
                <a:solidFill>
                  <a:srgbClr val="087F8C"/>
                </a:solidFill>
                <a:latin typeface="Arial"/>
                <a:ea typeface="Arial"/>
                <a:cs typeface="Arial"/>
              </a:defRPr>
            </a:lvl1pPr>
            <a:lvl2pPr>
              <a:defRPr sz="2325" b="1">
                <a:solidFill>
                  <a:srgbClr val="087F8C"/>
                </a:solidFill>
                <a:latin typeface="Arial"/>
                <a:ea typeface="Arial"/>
                <a:cs typeface="Arial"/>
              </a:defRPr>
            </a:lvl2pPr>
            <a:lvl3pPr>
              <a:defRPr sz="2325" b="1">
                <a:solidFill>
                  <a:srgbClr val="087F8C"/>
                </a:solidFill>
                <a:latin typeface="Arial"/>
                <a:ea typeface="Arial"/>
                <a:cs typeface="Arial"/>
              </a:defRPr>
            </a:lvl3pPr>
            <a:lvl4pPr>
              <a:defRPr sz="2325" b="1">
                <a:solidFill>
                  <a:srgbClr val="087F8C"/>
                </a:solidFill>
                <a:latin typeface="Arial"/>
                <a:ea typeface="Arial"/>
                <a:cs typeface="Arial"/>
              </a:defRPr>
            </a:lvl4pPr>
            <a:lvl5pPr>
              <a:defRPr sz="2325" b="1">
                <a:solidFill>
                  <a:srgbClr val="087F8C"/>
                </a:solidFill>
                <a:latin typeface="Arial"/>
                <a:ea typeface="Arial"/>
                <a:cs typeface="Arial"/>
              </a:defRPr>
            </a:lvl5pPr>
            <a:lvl6pPr>
              <a:defRPr sz="2325" b="1">
                <a:solidFill>
                  <a:srgbClr val="087F8C"/>
                </a:solidFill>
                <a:latin typeface="Arial"/>
                <a:ea typeface="Arial"/>
                <a:cs typeface="Arial"/>
              </a:defRPr>
            </a:lvl6pPr>
            <a:lvl7pPr>
              <a:defRPr sz="2325" b="1">
                <a:solidFill>
                  <a:srgbClr val="087F8C"/>
                </a:solidFill>
                <a:latin typeface="Arial"/>
                <a:ea typeface="Arial"/>
                <a:cs typeface="Arial"/>
              </a:defRPr>
            </a:lvl7pPr>
            <a:lvl8pPr>
              <a:defRPr sz="2325" b="1">
                <a:solidFill>
                  <a:srgbClr val="087F8C"/>
                </a:solidFill>
                <a:latin typeface="Arial"/>
                <a:ea typeface="Arial"/>
                <a:cs typeface="Arial"/>
              </a:defRPr>
            </a:lvl8pPr>
            <a:lvl9pPr>
              <a:defRPr sz="2325" b="1">
                <a:solidFill>
                  <a:srgbClr val="087F8C"/>
                </a:solidFill>
                <a:latin typeface="Arial"/>
                <a:ea typeface="Arial"/>
                <a:cs typeface="Arial"/>
              </a:defRPr>
            </a:lvl9pPr>
          </a:lstStyle>
          <a:p xmlns:a="http://schemas.openxmlformats.org/drawingml/2006/main">
            <a:pPr>
              <a:defRPr sz="2325" b="1">
                <a:solidFill>
                  <a:srgbClr val="087F8C"/>
                </a:solidFill>
                <a:latin typeface="Arial"/>
                <a:ea typeface="Arial"/>
                <a:cs typeface="Arial"/>
              </a:defRPr>
            </a:pPr>
            <a:r>
              <a:rPr sz="2325" b="1">
                <a:solidFill>
                  <a:srgbClr val="087F8C"/>
                </a:solidFill>
                <a:latin typeface="Arial"/>
                <a:ea typeface="Arial"/>
                <a:cs typeface="Arial"/>
              </a:rPr>
              <a:t>Are successive cohorts becoming more valuable relative to acquisition cost?</a:t>
            </a:r>
          </a:p>
        </p:txBody>
      </p:sp>
      <p:sp>
        <p:nvSpPr>
          <p:cNvPr id="6" name="">
            <a:extLst xmlns:a="http://schemas.openxmlformats.org/drawingml/2006/main">
              <a:ext uri="{FF2B5EF4-FFF2-40B4-BE49-F238E27FC236}">
                <a16:creationId xmlns:a16="http://schemas.microsoft.com/office/drawing/2014/main" id="{A79D66E5-9513-4BC6-8F71-D21E7206EB41}"/>
              </a:ext>
            </a:extLst>
          </p:cNvPr>
          <p:cNvSpPr>
            <a:spLocks xmlns:a="http://schemas.openxmlformats.org/drawingml/2006/main" noGrp="1"/>
          </p:cNvSpPr>
          <p:nvPr/>
        </p:nvSpPr>
        <p:spPr>
          <a:xfrm xmlns:a="http://schemas.openxmlformats.org/drawingml/2006/main">
            <a:off x="609600" y="2143125"/>
            <a:ext cx="109728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050" b="0">
                <a:solidFill>
                  <a:srgbClr val="687780"/>
                </a:solidFill>
                <a:latin typeface="Arial"/>
                <a:ea typeface="Arial"/>
                <a:cs typeface="Arial"/>
              </a:defRPr>
            </a:defPPr>
            <a:lvl1pPr>
              <a:defRPr sz="1050" b="0">
                <a:solidFill>
                  <a:srgbClr val="687780"/>
                </a:solidFill>
                <a:latin typeface="Arial"/>
                <a:ea typeface="Arial"/>
                <a:cs typeface="Arial"/>
              </a:defRPr>
            </a:lvl1pPr>
            <a:lvl2pPr>
              <a:defRPr sz="1050" b="0">
                <a:solidFill>
                  <a:srgbClr val="687780"/>
                </a:solidFill>
                <a:latin typeface="Arial"/>
                <a:ea typeface="Arial"/>
                <a:cs typeface="Arial"/>
              </a:defRPr>
            </a:lvl2pPr>
            <a:lvl3pPr>
              <a:defRPr sz="1050" b="0">
                <a:solidFill>
                  <a:srgbClr val="687780"/>
                </a:solidFill>
                <a:latin typeface="Arial"/>
                <a:ea typeface="Arial"/>
                <a:cs typeface="Arial"/>
              </a:defRPr>
            </a:lvl3pPr>
            <a:lvl4pPr>
              <a:defRPr sz="1050" b="0">
                <a:solidFill>
                  <a:srgbClr val="687780"/>
                </a:solidFill>
                <a:latin typeface="Arial"/>
                <a:ea typeface="Arial"/>
                <a:cs typeface="Arial"/>
              </a:defRPr>
            </a:lvl4pPr>
            <a:lvl5pPr>
              <a:defRPr sz="1050" b="0">
                <a:solidFill>
                  <a:srgbClr val="687780"/>
                </a:solidFill>
                <a:latin typeface="Arial"/>
                <a:ea typeface="Arial"/>
                <a:cs typeface="Arial"/>
              </a:defRPr>
            </a:lvl5pPr>
            <a:lvl6pPr>
              <a:defRPr sz="1050" b="0">
                <a:solidFill>
                  <a:srgbClr val="687780"/>
                </a:solidFill>
                <a:latin typeface="Arial"/>
                <a:ea typeface="Arial"/>
                <a:cs typeface="Arial"/>
              </a:defRPr>
            </a:lvl6pPr>
            <a:lvl7pPr>
              <a:defRPr sz="1050" b="0">
                <a:solidFill>
                  <a:srgbClr val="687780"/>
                </a:solidFill>
                <a:latin typeface="Arial"/>
                <a:ea typeface="Arial"/>
                <a:cs typeface="Arial"/>
              </a:defRPr>
            </a:lvl7pPr>
            <a:lvl8pPr>
              <a:defRPr sz="1050" b="0">
                <a:solidFill>
                  <a:srgbClr val="687780"/>
                </a:solidFill>
                <a:latin typeface="Arial"/>
                <a:ea typeface="Arial"/>
                <a:cs typeface="Arial"/>
              </a:defRPr>
            </a:lvl8pPr>
            <a:lvl9pPr>
              <a:defRPr sz="1050" b="0">
                <a:solidFill>
                  <a:srgbClr val="687780"/>
                </a:solidFill>
                <a:latin typeface="Arial"/>
                <a:ea typeface="Arial"/>
                <a:cs typeface="Arial"/>
              </a:defRPr>
            </a:lvl9pPr>
          </a:lstStyle>
          <a:p xmlns:a="http://schemas.openxmlformats.org/drawingml/2006/main">
            <a:pPr>
              <a:defRPr sz="1050" b="0">
                <a:solidFill>
                  <a:srgbClr val="687780"/>
                </a:solidFill>
                <a:latin typeface="Arial"/>
                <a:ea typeface="Arial"/>
                <a:cs typeface="Arial"/>
              </a:defRPr>
            </a:pPr>
            <a:r>
              <a:rPr sz="1050" b="0">
                <a:solidFill>
                  <a:srgbClr val="687780"/>
                </a:solidFill>
                <a:latin typeface="Arial"/>
                <a:ea typeface="Arial"/>
                <a:cs typeface="Arial"/>
              </a:rPr>
              <a:t>Table 5. The executive handoff</a:t>
            </a:r>
          </a:p>
        </p:txBody>
      </p:sp>
      <p:graphicFrame>
        <p:nvGraphicFramePr>
          <p:cNvPr id="7" name="">
            <a:extLst xmlns:a="http://schemas.openxmlformats.org/drawingml/2006/main">
              <a:ext uri="{FF2B5EF4-FFF2-40B4-BE49-F238E27FC236}">
                <a16:creationId xmlns:a16="http://schemas.microsoft.com/office/drawing/2014/main" id="{075DE6F9-65AE-449F-8AA3-C9684EC5D839}"/>
              </a:ext>
            </a:extLst>
          </p:cNvPr>
          <p:cNvGraphicFramePr/>
          <p:nvPr/>
        </p:nvGraphicFramePr>
        <p:xfrm>
          <a:off xmlns:a="http://schemas.openxmlformats.org/drawingml/2006/main" x="609600" y="2362200"/>
          <a:ext xmlns:a="http://schemas.openxmlformats.org/drawingml/2006/main" cx="10972800" cy="2190750"/>
        </p:xfrm>
        <a:graphic xmlns:a="http://schemas.openxmlformats.org/drawingml/2006/main">
          <a:graphicData uri="http://schemas.openxmlformats.org/drawingml/2006/table">
            <a:tbl>
              <a:tblPr/>
              <a:tblGrid>
                <a:gridCol w="2952750"/>
                <a:gridCol w="8020050"/>
              </a:tblGrid>
              <a:tr h="438150">
                <a:tc>
                  <a:txBody>
                    <a:bodyPr/>
                    <a:lstStyle/>
                    <a:p>
                      <a:r>
                        <a:rPr sz="1350" b="1">
                          <a:solidFill>
                            <a:srgbClr val="FFFFFF"/>
                          </a:solidFill>
                          <a:latin typeface="Arial"/>
                          <a:ea typeface="Arial"/>
                          <a:cs typeface="Arial"/>
                        </a:rPr>
                        <a:t>Report component</a:t>
                      </a:r>
                    </a:p>
                  </a:txBody>
                  <a:tcPr marL="91440" marR="91440" marT="45720" marB="45720">
                    <a:solidFill>
                      <a:srgbClr val="172D3C"/>
                    </a:solidFill>
                  </a:tcPr>
                </a:tc>
                <a:tc>
                  <a:txBody>
                    <a:bodyPr/>
                    <a:lstStyle/>
                    <a:p>
                      <a:r>
                        <a:rPr sz="1350" b="1">
                          <a:solidFill>
                            <a:srgbClr val="FFFFFF"/>
                          </a:solidFill>
                          <a:latin typeface="Arial"/>
                          <a:ea typeface="Arial"/>
                          <a:cs typeface="Arial"/>
                        </a:rPr>
                        <a:t>What your team should receive</a:t>
                      </a:r>
                    </a:p>
                  </a:txBody>
                  <a:tcPr marL="91440" marR="91440" marT="45720" marB="45720">
                    <a:solidFill>
                      <a:srgbClr val="172D3C"/>
                    </a:solidFill>
                  </a:tcPr>
                </a:tc>
              </a:tr>
              <a:tr h="438150">
                <a:tc>
                  <a:txBody>
                    <a:bodyPr/>
                    <a:lstStyle/>
                    <a:p>
                      <a:r>
                        <a:rPr sz="1425" b="0">
                          <a:solidFill>
                            <a:srgbClr val="172D3C"/>
                          </a:solidFill>
                          <a:latin typeface="Arial"/>
                          <a:ea typeface="Arial"/>
                          <a:cs typeface="Arial"/>
                        </a:rPr>
                        <a:t>Executive summary</a:t>
                      </a:r>
                    </a:p>
                  </a:txBody>
                  <a:tcPr marL="91440" marR="91440" marT="45720" marB="45720">
                    <a:solidFill>
                      <a:srgbClr val="F0F5F6"/>
                    </a:solidFill>
                  </a:tcPr>
                </a:tc>
                <a:tc>
                  <a:txBody>
                    <a:bodyPr/>
                    <a:lstStyle/>
                    <a:p>
                      <a:r>
                        <a:rPr sz="1425" b="0">
                          <a:solidFill>
                            <a:srgbClr val="172D3C"/>
                          </a:solidFill>
                          <a:latin typeface="Arial"/>
                          <a:ea typeface="Arial"/>
                          <a:cs typeface="Arial"/>
                        </a:rPr>
                        <a:t>The business, a supported verdict, a proposed action and what would change it.</a:t>
                      </a:r>
                    </a:p>
                  </a:txBody>
                  <a:tcPr marL="91440" marR="91440" marT="45720" marB="45720">
                    <a:solidFill>
                      <a:srgbClr val="F0F5F6"/>
                    </a:solidFill>
                  </a:tcPr>
                </a:tc>
              </a:tr>
              <a:tr h="438150">
                <a:tc>
                  <a:txBody>
                    <a:bodyPr/>
                    <a:lstStyle/>
                    <a:p>
                      <a:r>
                        <a:rPr sz="1425" b="0">
                          <a:solidFill>
                            <a:srgbClr val="172D3C"/>
                          </a:solidFill>
                          <a:latin typeface="Arial"/>
                          <a:ea typeface="Arial"/>
                          <a:cs typeface="Arial"/>
                        </a:rPr>
                        <a:t>Observed and forecast evidence</a:t>
                      </a:r>
                    </a:p>
                  </a:txBody>
                  <a:tcPr marL="91440" marR="91440" marT="45720" marB="45720">
                    <a:solidFill>
                      <a:srgbClr val="FFFFFF"/>
                    </a:solidFill>
                  </a:tcPr>
                </a:tc>
                <a:tc>
                  <a:txBody>
                    <a:bodyPr/>
                    <a:lstStyle/>
                    <a:p>
                      <a:r>
                        <a:rPr sz="1425" b="0">
                          <a:solidFill>
                            <a:srgbClr val="172D3C"/>
                          </a:solidFill>
                          <a:latin typeface="Arial"/>
                          <a:ea typeface="Arial"/>
                          <a:cs typeface="Arial"/>
                        </a:rPr>
                        <a:t>Same-age retention, revenue, contribution, CAC and cash payback.</a:t>
                      </a:r>
                    </a:p>
                  </a:txBody>
                  <a:tcPr marL="91440" marR="91440" marT="45720" marB="45720">
                    <a:solidFill>
                      <a:srgbClr val="FFFFFF"/>
                    </a:solidFill>
                  </a:tcPr>
                </a:tc>
              </a:tr>
              <a:tr h="438150">
                <a:tc>
                  <a:txBody>
                    <a:bodyPr/>
                    <a:lstStyle/>
                    <a:p>
                      <a:r>
                        <a:rPr sz="1425" b="0">
                          <a:solidFill>
                            <a:srgbClr val="172D3C"/>
                          </a:solidFill>
                          <a:latin typeface="Arial"/>
                          <a:ea typeface="Arial"/>
                          <a:cs typeface="Arial"/>
                        </a:rPr>
                        <a:t>Model appendix</a:t>
                      </a:r>
                    </a:p>
                  </a:txBody>
                  <a:tcPr marL="91440" marR="91440" marT="45720" marB="45720">
                    <a:solidFill>
                      <a:srgbClr val="F0F5F6"/>
                    </a:solidFill>
                  </a:tcPr>
                </a:tc>
                <a:tc>
                  <a:txBody>
                    <a:bodyPr/>
                    <a:lstStyle/>
                    <a:p>
                      <a:r>
                        <a:rPr sz="1425" b="0">
                          <a:solidFill>
                            <a:srgbClr val="172D3C"/>
                          </a:solidFill>
                          <a:latin typeface="Arial"/>
                          <a:ea typeface="Arial"/>
                          <a:cs typeface="Arial"/>
                        </a:rPr>
                        <a:t>Model story, parameters, priors, uncertainty and chronological validation.</a:t>
                      </a:r>
                    </a:p>
                  </a:txBody>
                  <a:tcPr marL="91440" marR="91440" marT="45720" marB="45720">
                    <a:solidFill>
                      <a:srgbClr val="F0F5F6"/>
                    </a:solidFill>
                  </a:tcPr>
                </a:tc>
              </a:tr>
              <a:tr h="438150">
                <a:tc>
                  <a:txBody>
                    <a:bodyPr/>
                    <a:lstStyle/>
                    <a:p>
                      <a:r>
                        <a:rPr sz="1425" b="0">
                          <a:solidFill>
                            <a:srgbClr val="172D3C"/>
                          </a:solidFill>
                          <a:latin typeface="Arial"/>
                          <a:ea typeface="Arial"/>
                          <a:cs typeface="Arial"/>
                        </a:rPr>
                        <a:t>Data and reproducibility appendix</a:t>
                      </a:r>
                    </a:p>
                  </a:txBody>
                  <a:tcPr marL="91440" marR="91440" marT="45720" marB="45720">
                    <a:solidFill>
                      <a:srgbClr val="FFFFFF"/>
                    </a:solidFill>
                  </a:tcPr>
                </a:tc>
                <a:tc>
                  <a:txBody>
                    <a:bodyPr/>
                    <a:lstStyle/>
                    <a:p>
                      <a:r>
                        <a:rPr sz="1425" b="0">
                          <a:solidFill>
                            <a:srgbClr val="172D3C"/>
                          </a:solidFill>
                          <a:latin typeface="Arial"/>
                          <a:ea typeface="Arial"/>
                          <a:cs typeface="Arial"/>
                        </a:rPr>
                        <a:t>UCV tables, Archify key map and saved SQL; saved manifests accompany the report.</a:t>
                      </a:r>
                    </a:p>
                  </a:txBody>
                  <a:tcPr marL="91440" marR="91440" marT="45720" marB="45720">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7CC098CC-3265-40A1-9694-F08F66DE5B27}"/>
              </a:ext>
            </a:extLst>
          </p:cNvPr>
          <p:cNvSpPr>
            <a:spLocks xmlns:a="http://schemas.openxmlformats.org/drawingml/2006/main" noGrp="1"/>
          </p:cNvSpPr>
          <p:nvPr/>
        </p:nvSpPr>
        <p:spPr>
          <a:xfrm xmlns:a="http://schemas.openxmlformats.org/drawingml/2006/main">
            <a:off x="609600" y="47625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725" b="1">
                <a:solidFill>
                  <a:srgbClr val="BB6427"/>
                </a:solidFill>
                <a:latin typeface="Arial"/>
                <a:ea typeface="Arial"/>
                <a:cs typeface="Arial"/>
              </a:defRPr>
            </a:defPPr>
            <a:lvl1pPr>
              <a:defRPr sz="1725" b="1">
                <a:solidFill>
                  <a:srgbClr val="BB6427"/>
                </a:solidFill>
                <a:latin typeface="Arial"/>
                <a:ea typeface="Arial"/>
                <a:cs typeface="Arial"/>
              </a:defRPr>
            </a:lvl1pPr>
            <a:lvl2pPr>
              <a:defRPr sz="1725" b="1">
                <a:solidFill>
                  <a:srgbClr val="BB6427"/>
                </a:solidFill>
                <a:latin typeface="Arial"/>
                <a:ea typeface="Arial"/>
                <a:cs typeface="Arial"/>
              </a:defRPr>
            </a:lvl2pPr>
            <a:lvl3pPr>
              <a:defRPr sz="1725" b="1">
                <a:solidFill>
                  <a:srgbClr val="BB6427"/>
                </a:solidFill>
                <a:latin typeface="Arial"/>
                <a:ea typeface="Arial"/>
                <a:cs typeface="Arial"/>
              </a:defRPr>
            </a:lvl3pPr>
            <a:lvl4pPr>
              <a:defRPr sz="1725" b="1">
                <a:solidFill>
                  <a:srgbClr val="BB6427"/>
                </a:solidFill>
                <a:latin typeface="Arial"/>
                <a:ea typeface="Arial"/>
                <a:cs typeface="Arial"/>
              </a:defRPr>
            </a:lvl4pPr>
            <a:lvl5pPr>
              <a:defRPr sz="1725" b="1">
                <a:solidFill>
                  <a:srgbClr val="BB6427"/>
                </a:solidFill>
                <a:latin typeface="Arial"/>
                <a:ea typeface="Arial"/>
                <a:cs typeface="Arial"/>
              </a:defRPr>
            </a:lvl5pPr>
            <a:lvl6pPr>
              <a:defRPr sz="1725" b="1">
                <a:solidFill>
                  <a:srgbClr val="BB6427"/>
                </a:solidFill>
                <a:latin typeface="Arial"/>
                <a:ea typeface="Arial"/>
                <a:cs typeface="Arial"/>
              </a:defRPr>
            </a:lvl6pPr>
            <a:lvl7pPr>
              <a:defRPr sz="1725" b="1">
                <a:solidFill>
                  <a:srgbClr val="BB6427"/>
                </a:solidFill>
                <a:latin typeface="Arial"/>
                <a:ea typeface="Arial"/>
                <a:cs typeface="Arial"/>
              </a:defRPr>
            </a:lvl7pPr>
            <a:lvl8pPr>
              <a:defRPr sz="1725" b="1">
                <a:solidFill>
                  <a:srgbClr val="BB6427"/>
                </a:solidFill>
                <a:latin typeface="Arial"/>
                <a:ea typeface="Arial"/>
                <a:cs typeface="Arial"/>
              </a:defRPr>
            </a:lvl8pPr>
            <a:lvl9pPr>
              <a:defRPr sz="1725" b="1">
                <a:solidFill>
                  <a:srgbClr val="BB6427"/>
                </a:solidFill>
                <a:latin typeface="Arial"/>
                <a:ea typeface="Arial"/>
                <a:cs typeface="Arial"/>
              </a:defRPr>
            </a:lvl9pPr>
          </a:lstStyle>
          <a:p xmlns:a="http://schemas.openxmlformats.org/drawingml/2006/main">
            <a:pPr>
              <a:defRPr sz="1725" b="1">
                <a:solidFill>
                  <a:srgbClr val="BB6427"/>
                </a:solidFill>
                <a:latin typeface="Arial"/>
                <a:ea typeface="Arial"/>
                <a:cs typeface="Arial"/>
              </a:defRPr>
            </a:pPr>
            <a:r>
              <a:rPr sz="1725" b="1">
                <a:solidFill>
                  <a:srgbClr val="BB6427"/>
                </a:solidFill>
                <a:latin typeface="Arial"/>
                <a:ea typeface="Arial"/>
                <a:cs typeface="Arial"/>
              </a:rPr>
              <a:t>Bonus challenge: forecast 2026 outcomes for these 24 cohorts with another CPU-capable model. Submit for instructor-held evaluation.</a:t>
            </a:r>
          </a:p>
        </p:txBody>
      </p:sp>
      <p:sp>
        <p:nvSpPr>
          <p:cNvPr id="9" name="">
            <a:extLst xmlns:a="http://schemas.openxmlformats.org/drawingml/2006/main">
              <a:ext uri="{FF2B5EF4-FFF2-40B4-BE49-F238E27FC236}">
                <a16:creationId xmlns:a16="http://schemas.microsoft.com/office/drawing/2014/main" id="{ED13D620-2F13-4598-A794-A2DF581F2A6D}"/>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3A2F11-CD8F-47A1-A114-E63A3BC62230}"/>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The report skill carries the style and appendices. Label every figure and table; preserve the evidence trail.</a:t>
            </a:r>
          </a:p>
        </p:txBody>
      </p:sp>
    </p:spTree>
    <p:extLst>
      <p:ext uri="{BB962C8B-B14F-4D97-AF65-F5344CB8AC3E}">
        <p14:creationId xmlns:p14="http://schemas.microsoft.com/office/powerpoint/2010/main" val="4174001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2026-10-29T14:21:21.6060000Z</dcterms:created>
  <dcterms:modified xsi:type="dcterms:W3CDTF">2026-10-29T14:21:21.6060000Z</dcterms:modified>
</coreProperties>
</file>